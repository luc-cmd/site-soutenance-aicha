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c03ef8a8-0ca0-7025-d4ef-ebfce7078a05}">
          <p14:sldIdLst>
            <p14:sldId id="256"/>
            <p14:sldId id="257"/>
          </p14:sldIdLst>
        </p14:section>
        <p14:section name="Introduction" id="{45e9c790-8f6a-b268-107f-87b84ce5ffbd}">
          <p14:sldIdLst>
            <p14:sldId id="258"/>
          </p14:sldIdLst>
        </p14:section>
        <p14:section name="Structure d’accueil" id="{a3131918-6708-0b54-3995-3eea0b0fafc4}">
          <p14:sldIdLst>
            <p14:sldId id="259"/>
            <p14:sldId id="260"/>
            <p14:sldId id="261"/>
            <p14:sldId id="262"/>
            <p14:sldId id="263"/>
            <p14:sldId id="264"/>
          </p14:sldIdLst>
        </p14:section>
        <p14:section name="Travaux effectués" id="{2a497f0c-ce75-1150-e7b0-e5f2b6714c29}">
          <p14:sldIdLst>
            <p14:sldId id="265"/>
            <p14:sldId id="266"/>
          </p14:sldIdLst>
        </p14:section>
        <p14:section name="Problématique et hypothèses" id="{17d1c6c6-5529-3438-15b5-717c35493fd6}">
          <p14:sldIdLst>
            <p14:sldId id="267"/>
            <p14:sldId id="268"/>
          </p14:sldIdLst>
        </p14:section>
        <p14:section name="Méthodologie" id="{6e8117ec-5f66-5d75-f789-6e9ce86ab26a}">
          <p14:sldIdLst>
            <p14:sldId id="269"/>
          </p14:sldIdLst>
        </p14:section>
        <p14:section name="Résultats" id="{9dadfbd4-8355-d3b5-6ec7-7979fbff7bff}">
          <p14:sldIdLst>
            <p14:sldId id="270"/>
            <p14:sldId id="271"/>
            <p14:sldId id="272"/>
          </p14:sldIdLst>
        </p14:section>
        <p14:section name="Recommandations" id="{3fe320aa-f323-fd05-8df6-1e126af3757c}">
          <p14:sldIdLst>
            <p14:sldId id="273"/>
            <p14:sldId id="274"/>
          </p14:sldIdLst>
        </p14:section>
        <p14:section name="Conclusion" id="{3fdc6ea8-92fb-3a78-e7f0-5d089d16721c}">
          <p14:sldIdLst>
            <p14:sldId id="275"/>
            <p14:sldId id="276"/>
          </p14:sldIdLst>
        </p14:section>
        <p14:section name="Annexes" id="{5f40068d-23c7-efde-40a7-18d273e16c5e}">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Courriers traités par jour</c:v>
                </c:pt>
              </c:strCache>
            </c:strRef>
          </c:tx>
          <c:spPr>
            <a:solidFill>
              <a:srgbClr val="1B3F9E"/>
            </a:solidFill>
            <a:effectLst/>
          </c:spPr>
          <c:invertIfNegative val="0"/>
          <c:dLbls>
            <c:numFmt formatCode="General" sourceLinked="0"/>
            <c:txPr>
              <a:bodyPr/>
              <a:lstStyle/>
              <a:p>
                <a:pPr>
                  <a:defRPr b="1" i="0" strike="noStrike" sz="1200" u="none">
                    <a:solidFill>
                      <a:srgbClr val="0E1C46"/>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Secrétariat général</c:v>
                  </c:pt>
                  <c:pt idx="1">
                    <c:v>DST</c:v>
                  </c:pt>
                  <c:pt idx="2">
                    <c:v>DPDPS</c:v>
                  </c:pt>
                </c:lvl>
              </c:multiLvlStrCache>
            </c:multiLvlStrRef>
          </c:cat>
          <c:val>
            <c:numRef>
              <c:f>Sheet1!$B$2:$B$4</c:f>
              <c:numCache>
                <c:formatCode>General</c:formatCode>
                <c:ptCount val="3"/>
                <c:pt idx="0">
                  <c:v>12.5</c:v>
                </c:pt>
                <c:pt idx="1">
                  <c:v>8</c:v>
                </c:pt>
                <c:pt idx="2">
                  <c:v>4</c:v>
                </c:pt>
              </c:numCache>
            </c:numRef>
          </c:val>
        </c:ser>
        <c:ser>
          <c:idx val="1"/>
          <c:order val="1"/>
          <c:tx>
            <c:strRef>
              <c:f>Sheet1!$C$1</c:f>
              <c:strCache>
                <c:ptCount val="1"/>
                <c:pt idx="0">
                  <c:v>Ancienneté (années)</c:v>
                </c:pt>
              </c:strCache>
            </c:strRef>
          </c:tx>
          <c:spPr>
            <a:solidFill>
              <a:srgbClr val="00923A"/>
            </a:solidFill>
            <a:effectLst/>
          </c:spPr>
          <c:invertIfNegative val="0"/>
          <c:dLbls>
            <c:numFmt formatCode="General" sourceLinked="0"/>
            <c:txPr>
              <a:bodyPr/>
              <a:lstStyle/>
              <a:p>
                <a:pPr>
                  <a:defRPr b="1" i="0" strike="noStrike" sz="1200" u="none">
                    <a:solidFill>
                      <a:srgbClr val="0E1C46"/>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Secrétariat général</c:v>
                  </c:pt>
                  <c:pt idx="1">
                    <c:v>DST</c:v>
                  </c:pt>
                  <c:pt idx="2">
                    <c:v>DPDPS</c:v>
                  </c:pt>
                </c:lvl>
              </c:multiLvlStrCache>
            </c:multiLvlStrRef>
          </c:cat>
          <c:val>
            <c:numRef>
              <c:f>Sheet1!$C$2:$C$4</c:f>
              <c:numCache>
                <c:formatCode>General</c:formatCode>
                <c:ptCount val="3"/>
                <c:pt idx="0">
                  <c:v>10</c:v>
                </c:pt>
                <c:pt idx="1">
                  <c:v>7</c:v>
                </c:pt>
                <c:pt idx="2">
                  <c:v>2</c:v>
                </c:pt>
              </c:numCache>
            </c:numRef>
          </c:val>
        </c:ser>
        <c:dLbls>
          <c:numFmt formatCode="General" sourceLinked="0"/>
          <c:txPr>
            <a:bodyPr/>
            <a:lstStyle/>
            <a:p>
              <a:pPr>
                <a:defRPr b="1" i="0" strike="noStrike" sz="1200" u="none">
                  <a:solidFill>
                    <a:srgbClr val="0E1C46"/>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17C"/>
                </a:solidFill>
                <a:latin typeface="Calibri"/>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9525" cap="flat">
              <a:solidFill>
                <a:srgbClr val="E6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17C"/>
                </a:solidFill>
                <a:latin typeface="Calibri"/>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Monsieur le Président du jury, de nous avoir donné la parole.
Monsieur le Président du jury, honorables membres du jury, chers parents, amis et invités, soyez les bienvenus à notre soutenance de mémoire de fin de formation, en vue de l'obtention du diplôme de Licence Professionnelle en Assistance administrative, spécialité Assistant Manager. Notre thème est intitulé : « Analyse du système de gestion du courrier administratif dans une collectivité locale : cas de la Mairie de Doumassessé ».
Avant de commencer, permettez-nous de remercier les membres du jury, qui ont accepté d'évaluer ce travail, ainsi que toutes les personnes qui ont contribué à sa réalisation : notre encadreur, notre co-encadreur, le personnel de la Mairie de Doumassessé qui nous a accueillie pendant le stage, ainsi que l'ensemble de nos enseignants.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exposé s'articule en six points : nous présenterons d'abord la structure d'accueil, puis les travaux effectués pendant le stage. Nous aborderons ensuite la problématique, les hypothèses et les objectifs, avant de décrire la méthodologie. Nous exposerons alors les résultats et la vérification des hypothèses, puis nos recommandations, avant de conclure.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toute administration, l'information circule d'abord par le courrier. Une demande d'un citoyen, une invitation d'un partenaire, une décision du Maire : tout passe par un circuit de réception, d'enregistrement, de transmission et d'archivage. Quand ce circuit fonctionne bien, les dossiers sont traités rapidement. Quand il fonctionne mal, les documents se perdent, les retards s'accumulent et l'usager perd confiance.
Dans le cadre de la Licence Professionnelle en Assistance administrative, nous avons effectué un stage de treize semaines, du 11 mai au 12 août 2026, à la Commune du Golfe 3, Mairie de Doumassessé. Nous avons été affectée au secrétariat général, le service par lequel passe la quasi-totalité du courrier de la commune. C'est ce qui nous a donné l'idée d'étudier ce circuit de l'intérieur.
Ce sujet présente un triple intérêt : personnel, parce qu'il est au cœur de notre métier d'assistante ; académique, parce qu'il nous a permis d'appliquer une méthode de recherche à une situation réelle ; et social, parce que la qualité du circuit du courrier touche directement les usagers de la mairie.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Commune du Golfe 3, dont le siège est la Mairie de Doumassessé, est l'une des 117 communes du Togo créées par la loi n° 2017-008 du 29 juin 2017. Elle fait partie des treize communes du District autonome du Grand Lomé. Elle couvre environ 17 kilomètres carrés, compte huit quartiers et environ 52 679 habitants selon le dernier recensement.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commune fait partie de la région Maritime, au sud du pays, sur le golfe de Guinée.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Elle est l’une des treize communes du District autonome du Grand Lomé.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Elle couvre environ 17 kilomètres carrés, compte huit quartiers et environ 52 679 habitants.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siège est la Mairie de Doumassessé, où s’est déroulé notre stage, au secrétariat général.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 plan de l'organisation, la commune est dirigée par un conseil municipal de dix-neuf membres, dont le Maire et trois adjoints. Le secrétariat général coordonne quatre directions : la Direction administrative et financière, la Direction de la planification du développement et de la promotion sociale, la Direction des services techniques, et la Direction de l'état civil et de la transition numérique.
La commune a pour mission d'assurer l'administration et le développement de son territoire. Elle intervient notamment dans l'état civil, l'assainissement, l'urbanisme, l'action sociale et la gestion des infrastructures communautaires. Le secrétariat général, où nous avons été affectée, est le service central : il reçoit, enregistre, oriente et suit les courriers, et prépare les dossiers soumis au Secrétaire Général et au Maire.
Après avoir présenté le cadre institutionnel de la Commune du Golfe 3, venons-en aux travaux que nous avons effectués au sein du secrétariat général.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secrétariat général, nos tâches principales ont été les suivantes : l'accueil et l'orientation des usagers ; la réception du courrier arrivé, avec la vérification, la décharge et l'apposition des cachets ; l'enregistrement dans le registre et sur la fiche d'affectation ; la transmission du courrier vers le Secrétaire Général, le Maire, puis les directions ; et le traitement du courrier départ, de la rédaction jusqu'à l'expédition contre décharge.
Concrètement, lorsqu'un courrier arrive, l'agent vérifie qu'il est bien adressé à la mairie, établit une décharge, appose le cachet de la mairie puis le cachet « Arrivée », qui porte le numéro d'enregistrement. Le courrier est inscrit au registre, résumé sur une fiche d'affectation, puis placé dans un parapheur. La Cheffe du secrétariat propose une orientation, le Secrétaire Général porte ses observations et son paraphe, et le Maire donne ses instructions. Le courrier revient enfin au secrétariat, qui le transmet à la direction compétente contre signature dans le registre de transmission.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aussi réalisé des tâches périphériques : rédaction de documents administratifs, reproduction, impression, numérisation, classement et archivage.
Ensuite, nous avons effectué une rotation dans les autres services : le service des marchés publics, la Direction de la planification du développement et de la promotion sociale, l'état civil, les services techniques et la Direction administrative et financière. Cette rotation nous a permis de constater que le circuit du courrier se prolonge de la même façon dans chaque direction.
Ce stage nous a beaucoup apporté : sur le plan professionnel, la rigueur et la maîtrise des outils du secrétariat ; sur le plan relationnel, le travail en équipe ; et sur le plan académique, la confirmation de l'utilité de notre formation, tout en nous montrant l'importance de renforcer nos compétences numériques.
Cette expérience de terrain nous a conduite à nous interroger sur la manière dont le courrier est réellement traité. Abordons à présent la problématique, les hypothèses et les objectifs de notre étude.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premier regard, le circuit du courrier de la mairie est bien organisé. Mais nous avons observé certaines difficultés : le temps parfois nécessaire pour qu'un courrier arrive à son destinataire, les limites d'un suivi entièrement manuel, et la dépendance du circuit envers quelques responsables.
D'où notre question principale : dans quelle mesure le système de gestion des courriers de la Mairie de Doumassessé permet-il un traitement rapide, fiable et traçable de l'information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y répondre, nous avons formulé trois hypothèses spécifiques.
Première hypothèse : le circuit est formellement structuré, mais son application dépend de la disponibilité des responsables habilités à signer.
Deuxième hypothèse : l'insuffisance des moyens matériels et logistiques ralentit le traitement et le suivi des courriers.
Troisième hypothèse : l'absence d'un outil numérique formalisé et de procédures écrites limite la traçabilité et l'harmonisation du traitement.
Notre objectif général était d'analyser le fonctionnement de ce système, d'en identifier les forces et les faiblesses, et de proposer des pistes d'amélioration.
Pour vérifier ces trois hypothèses, il nous fallait une démarche rigoureuse. Voyons la méthodologie que nous avons suivie.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adopté une approche qualitative, avec trois techniques de collecte.
D'abord, l'observation participante, pendant les treize semaines de stage au secrétariat général, consignée dans un journal de bord. Ensuite, des entretiens semi-directifs auprès d'un échantillon raisonné de six personnes : trois agents qui traitent le courrier, au secrétariat général, à la Direction des services techniques (DST) et à la Direction de la planification du développement et de la promotion sociale (DPDPS), et trois usagers venus déposer un courrier. Enfin, l'analyse documentaire des registres et des fiches utilisés.
Les données ont été analysées par analyse de contenu, puis croisées entre elles pour valider les constats. Nous précisons que cet échantillon réduit est une limite de notre étude, que nous avons signalée dans le rapport.
Les entretiens avec les agents portaient sur leur ancienneté, le volume de courrier traité, les délais avant signature, l'usage des canaux numériques, leurs difficultés et leur avis sur un outil numérique. Avec les usagers, nous avons abordé l'accueil, l'orientation, la remise d'un justificatif et la clarté du circuit.
Cette démarche étant exposée, voyons ce que révèlent les résultats.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principaux résultats.
Les volumes traités sont très différents : de dix à quinze courriers par jour au secrétariat général, contre huit à la DST et quatre à la DPDPS.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Premièrement, le circuit fonctionne et la traçabilité est assurée. Les étapes sont claires et respectées, chaque courrier fait l'objet d'une décharge, et pendant toute notre période d'observation, aucun courrier n'a été perdu ni mal classé. Les trois usagers interrogés ont été reçus rapidement, orientés sans difficulté et ont tous reçu un justificatif de dépôt.
Deuxièmement, le circuit dépend de quelques personnes. Les délais avant signature varient d'un à trois jours selon la disponibilité des signataires, et l'agent du secrétariat général cite l'absence des responsables comme sa principale difficulté. Le secrétariat ne compte que deux agents titulaires, et aucun agent n'est spécifiquement chargé de la distribution du courrier entre les bureaux.
Troisièmement, les moyens sont limités. Le suivi repose entièrement sur des registres papier, le secrétariat ne dispose que de deux ordinateurs et d'un photocopieur, les fournitures manquent souvent, et l'agent de la DPDPS signale l'indisponibilité du véhicule de transmission. Les bureaux sont également exigus : au secrétariat général, deux armoires, un photocopieur et deux tables occupent presque tout l'espace, et à la DPDPS, plus de six agents partagent un même bureau. Ces conditions rendent le travail moins confortable et moins efficace.
Quatrièmement, un usage numérique informel existe déjà. Les trois agents utilisent WhatsApp ou le courriel pour les urgences, mais sans trace officielle, et le courrier papier est quand même envoyé en parallèle. Tous les trois sont favorables à un outil numérique plus formel.
Enfin, nous avons relevé l'absence de procédures écrites communes : l'agent de la DST regrette l'absence de modèle standard de réponse, et les pratiques d'enregistrement varient d'une direction à l'autre. Les volumes traités sont aussi très différents : de dix à quinze courriers par jour au secrétariat général, contre huit à la DST et quatre à la DPDPS.
Il convient maintenant de confronter ces résultats à nos hypothèses de départ.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partir de ces résultats : la première hypothèse est confirmée, puisque les délais dépendent bien de la disponibilité des signataires. La troisième hypothèse est aussi confirmée : les échanges numériques échappent aux registres et il n'existe pas de procédures écrites communes.
En revanche, la deuxième hypothèse n'est que partiellement confirmée : les moyens limités ralentissent le travail, mais ils n'ont pas empêché une bonne traçabilité, puisqu'aucune perte n'a été constatée.
Notre hypothèse principale est donc partiellement confirmée : le système est bien organisé et fiable, mais son efficacité reste limitée par la dépendance envers quelques responsables, par des moyens insuffisants et par l'absence d'outils numériques formalisés.
Ces limites étant établies, voici les recommandations que nous proposons.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améliorer ce système, nous formulons sept recommandations, dont voici les principales.
Un : mettre en place un registre numérique partagé, par exemple un simple tableau commun, avec un numéro unique pour chaque courrier, avec l'appui de la Direction de l'état civil et de la transition numérique.
Deux : formaliser les échanges numériques, avec une adresse électronique institutionnelle par direction.
Trois : assurer la continuité, en désignant des suppléants, en élargissant les délégations de signature pour les courriers courants et en rédigeant un guide de procédures.
Quatre : désigner un agent de liaison pour la distribution interne, et améliorer l'approvisionnement en fournitures.
Nous proposons également d'établir un état périodique des besoins en fournitures avec un stock de sécurité, de réaménager les bureaux à court terme puis de prévoir leur extension, et de former le personnel à la gestion documentaire et aux outils numériques. Pour chaque mesure, nous avons indiqué dans le rapport le responsable, l'échéance et le niveau de coût.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plupart de ces mesures sont peu coûteuses et peuvent être mises en œuvre rapidement.
Ces pistes d'amélioration étant présentées, nous arrivons à la conclusion de notre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terme de cette étude, nous pouvons répondre à notre question de départ : le système de gestion du courrier de la mairie permet un traitement fiable et traçable de l'information, mais sa rapidité reste limitée par la dépendance envers quelques responsables et par l'insuffisance des moyens.
En conclusion, cette étude montre que la Mairie de Doumassessé dispose d'un circuit du courrier sérieux et fiable, grâce à l'engagement de son personnel. Mais pour répondre aux exigences d'une administration moderne, ce circuit doit devenir moins dépendant de quelques personnes, mieux équipé et progressivement numérique.
À titre personnel, ce stage a confirmé notre intérêt pour le métier d'assistante manager et nous a montré l'importance de la rigueur, de la discrétion et des outils numériques dans la gestion administrative.
Il serait intéressant, dans une prochaine étude, de mesurer de façon systématique les délais de traitement sur un échantillon de courriers.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vous remercions pour votre aimable attention, et nous restons à votre disposition pour vos questions et vos remarques.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réserve, à montrer si le jury pose une question sur la gestion électronique des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réserve, à montrer si le jury demande ce que la population gagnerait à ces changements.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 Target="slide10.xml"/><Relationship Id="rId3" Type="http://schemas.openxmlformats.org/officeDocument/2006/relationships/slide" Target="slide12.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8.xml"/><Relationship Id="rId7" Type="http://schemas.openxmlformats.org/officeDocument/2006/relationships/image" Target="../media/image-2-1.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2.xml"/><Relationship Id="rId6" Type="http://schemas.openxmlformats.org/officeDocument/2006/relationships/slide" Target="slide14.xml"/><Relationship Id="rId7" Type="http://schemas.openxmlformats.org/officeDocument/2006/relationships/slide" Target="slide15.xml"/><Relationship Id="rId8" Type="http://schemas.openxmlformats.org/officeDocument/2006/relationships/slide" Target="slide18.xml"/><Relationship Id="rId1" Type="http://schemas.openxmlformats.org/officeDocument/2006/relationships/image" Target="../media/image-4-1.png"/><Relationship Id="rId2" Type="http://schemas.openxmlformats.org/officeDocument/2006/relationships/image" Target="../media/image-4-2.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slide" Target="slide6.xml"/><Relationship Id="rId5" Type="http://schemas.openxmlformats.org/officeDocument/2006/relationships/slide" Target="slide4.xml"/><Relationship Id="rId6" Type="http://schemas.openxmlformats.org/officeDocument/2006/relationships/slide" Target="slide10.xml"/><Relationship Id="rId7" Type="http://schemas.openxmlformats.org/officeDocument/2006/relationships/slide" Target="slide12.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8.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5" Type="http://schemas.openxmlformats.org/officeDocument/2006/relationships/slide" Target="slide7.xml"/><Relationship Id="rId6" Type="http://schemas.openxmlformats.org/officeDocument/2006/relationships/slide" Target="slide4.xml"/><Relationship Id="rId7" Type="http://schemas.openxmlformats.org/officeDocument/2006/relationships/slide" Target="slide10.xml"/><Relationship Id="rId8" Type="http://schemas.openxmlformats.org/officeDocument/2006/relationships/slide" Target="slide12.xml"/><Relationship Id="rId9" Type="http://schemas.openxmlformats.org/officeDocument/2006/relationships/slide" Target="slide14.xml"/><Relationship Id="rId10" Type="http://schemas.openxmlformats.org/officeDocument/2006/relationships/slide" Target="slide15.xml"/><Relationship Id="rId11" Type="http://schemas.openxmlformats.org/officeDocument/2006/relationships/slide" Target="slide18.xm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slide" Target="slide8.xml"/><Relationship Id="rId6" Type="http://schemas.openxmlformats.org/officeDocument/2006/relationships/slide" Target="slide4.xml"/><Relationship Id="rId7" Type="http://schemas.openxmlformats.org/officeDocument/2006/relationships/slide" Target="slide10.xml"/><Relationship Id="rId8" Type="http://schemas.openxmlformats.org/officeDocument/2006/relationships/slide" Target="slide12.xml"/><Relationship Id="rId9" Type="http://schemas.openxmlformats.org/officeDocument/2006/relationships/slide" Target="slide14.xml"/><Relationship Id="rId10" Type="http://schemas.openxmlformats.org/officeDocument/2006/relationships/slide" Target="slide15.xml"/><Relationship Id="rId11" Type="http://schemas.openxmlformats.org/officeDocument/2006/relationships/slide" Target="slide18.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jpeg"/><Relationship Id="rId4" Type="http://schemas.openxmlformats.org/officeDocument/2006/relationships/image" Target="../media/image-7-4.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4" Type="http://schemas.openxmlformats.org/officeDocument/2006/relationships/slide" Target="slide4.xml"/><Relationship Id="rId5" Type="http://schemas.openxmlformats.org/officeDocument/2006/relationships/slide" Target="slide10.xml"/><Relationship Id="rId6" Type="http://schemas.openxmlformats.org/officeDocument/2006/relationships/slide" Target="slide12.xml"/><Relationship Id="rId7" Type="http://schemas.openxmlformats.org/officeDocument/2006/relationships/slide" Target="slide14.xml"/><Relationship Id="rId8" Type="http://schemas.openxmlformats.org/officeDocument/2006/relationships/slide" Target="slide15.xml"/><Relationship Id="rId9" Type="http://schemas.openxmlformats.org/officeDocument/2006/relationships/slide" Target="slide18.xml"/><Relationship Id="rId1" Type="http://schemas.openxmlformats.org/officeDocument/2006/relationships/image" Target="../media/image-8-1.png"/><Relationship Id="rId2" Type="http://schemas.openxmlformats.org/officeDocument/2006/relationships/image" Target="../media/image-8-2.jpeg"/><Relationship Id="rId3" Type="http://schemas.openxmlformats.org/officeDocument/2006/relationships/image" Target="../media/image-8-3.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8.xml"/><Relationship Id="rId1" Type="http://schemas.openxmlformats.org/officeDocument/2006/relationships/image" Target="../media/image-9-1.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2.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8.xml"/><Relationship Id="rId1" Type="http://schemas.openxmlformats.org/officeDocument/2006/relationships/image" Target="../media/image-10-1.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8.xml"/><Relationship Id="rId1" Type="http://schemas.openxmlformats.org/officeDocument/2006/relationships/image" Target="../media/image-11-1.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8.xml"/><Relationship Id="rId1" Type="http://schemas.openxmlformats.org/officeDocument/2006/relationships/image" Target="../media/image-12-1.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8.xml"/><Relationship Id="rId1" Type="http://schemas.openxmlformats.org/officeDocument/2006/relationships/image" Target="../media/image-13-1.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slide" Target="slide15.xml"/><Relationship Id="rId6" Type="http://schemas.openxmlformats.org/officeDocument/2006/relationships/slide" Target="slide18.xml"/><Relationship Id="rId1" Type="http://schemas.openxmlformats.org/officeDocument/2006/relationships/image" Target="../media/image-14-1.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 Target="slide4.xml"/><Relationship Id="rId4" Type="http://schemas.openxmlformats.org/officeDocument/2006/relationships/slide" Target="slide10.xml"/><Relationship Id="rId5" Type="http://schemas.openxmlformats.org/officeDocument/2006/relationships/slide" Target="slide12.xml"/><Relationship Id="rId6" Type="http://schemas.openxmlformats.org/officeDocument/2006/relationships/slide" Target="slide14.xml"/><Relationship Id="rId7" Type="http://schemas.openxmlformats.org/officeDocument/2006/relationships/slide" Target="slide18.xml"/><Relationship Id="rId1" Type="http://schemas.openxmlformats.org/officeDocument/2006/relationships/chart" Target="/ppt/charts/chart1.xml"/><Relationship Id="rId2" Type="http://schemas.openxmlformats.org/officeDocument/2006/relationships/image" Target="../media/image-15-1.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8.xml"/><Relationship Id="rId1" Type="http://schemas.openxmlformats.org/officeDocument/2006/relationships/image" Target="../media/image-16-1.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8.xml"/><Relationship Id="rId1" Type="http://schemas.openxmlformats.org/officeDocument/2006/relationships/image" Target="../media/image-17-1.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slide" Target="slide14.xml"/><Relationship Id="rId6" Type="http://schemas.openxmlformats.org/officeDocument/2006/relationships/slide" Target="slide15.xml"/><Relationship Id="rId1" Type="http://schemas.openxmlformats.org/officeDocument/2006/relationships/image" Target="../media/image-18-1.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8.xml"/><Relationship Id="rId1" Type="http://schemas.openxmlformats.org/officeDocument/2006/relationships/image" Target="../media/image-19-1.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panel"/>
          <p:cNvSpPr/>
          <p:nvPr/>
        </p:nvSpPr>
        <p:spPr>
          <a:xfrm>
            <a:off x="8366760" y="0"/>
            <a:ext cx="3824935" cy="6858000"/>
          </a:xfrm>
          <a:prstGeom prst="rect">
            <a:avLst/>
          </a:prstGeom>
          <a:solidFill>
            <a:srgbClr val="1B3F9E"/>
          </a:solidFill>
          <a:ln w="12700">
            <a:solidFill>
              <a:srgbClr val="1B3F9E"/>
            </a:solidFill>
            <a:prstDash val="solid"/>
          </a:ln>
        </p:spPr>
      </p:sp>
      <p:sp>
        <p:nvSpPr>
          <p:cNvPr id="3" name="!!panelg"/>
          <p:cNvSpPr/>
          <p:nvPr/>
        </p:nvSpPr>
        <p:spPr>
          <a:xfrm>
            <a:off x="8366760" y="0"/>
            <a:ext cx="82296" cy="6858000"/>
          </a:xfrm>
          <a:prstGeom prst="rect">
            <a:avLst/>
          </a:prstGeom>
          <a:solidFill>
            <a:srgbClr val="00923A"/>
          </a:solidFill>
          <a:ln w="12700">
            <a:solidFill>
              <a:srgbClr val="00923A"/>
            </a:solidFill>
            <a:prstDash val="solid"/>
          </a:ln>
        </p:spPr>
      </p:sp>
      <p:sp>
        <p:nvSpPr>
          <p:cNvPr id="4" name="!!panely"/>
          <p:cNvSpPr/>
          <p:nvPr/>
        </p:nvSpPr>
        <p:spPr>
          <a:xfrm>
            <a:off x="8449056" y="0"/>
            <a:ext cx="45720" cy="6858000"/>
          </a:xfrm>
          <a:prstGeom prst="rect">
            <a:avLst/>
          </a:prstGeom>
          <a:solidFill>
            <a:srgbClr val="FCC600"/>
          </a:solidFill>
          <a:ln w="12700">
            <a:solidFill>
              <a:srgbClr val="FCC600"/>
            </a:solidFill>
            <a:prstDash val="solid"/>
          </a:ln>
        </p:spPr>
      </p:sp>
      <p:sp>
        <p:nvSpPr>
          <p:cNvPr id="5" name="logobg"/>
          <p:cNvSpPr/>
          <p:nvPr/>
        </p:nvSpPr>
        <p:spPr>
          <a:xfrm>
            <a:off x="9006840" y="685800"/>
            <a:ext cx="960120" cy="822960"/>
          </a:xfrm>
          <a:prstGeom prst="rect">
            <a:avLst/>
          </a:prstGeom>
          <a:solidFill>
            <a:srgbClr val="FFFFFF"/>
          </a:solidFill>
          <a:ln w="12700">
            <a:solidFill>
              <a:srgbClr val="FFFFFF"/>
            </a:solidFill>
            <a:prstDash val="solid"/>
          </a:ln>
        </p:spPr>
      </p:sp>
      <p:pic>
        <p:nvPicPr>
          <p:cNvPr id="6" name="!!logo" descr="Université de Kara">    </p:cNvPr>
          <p:cNvPicPr>
            <a:picLocks noChangeAspect="1"/>
          </p:cNvPicPr>
          <p:nvPr/>
        </p:nvPicPr>
        <p:blipFill>
          <a:blip r:embed="rId1"/>
          <a:stretch>
            <a:fillRect/>
          </a:stretch>
        </p:blipFill>
        <p:spPr>
          <a:xfrm>
            <a:off x="9116568" y="768096"/>
            <a:ext cx="749808" cy="621792"/>
          </a:xfrm>
          <a:prstGeom prst="rect">
            <a:avLst/>
          </a:prstGeom>
        </p:spPr>
      </p:pic>
      <p:sp>
        <p:nvSpPr>
          <p:cNvPr id="7" name="univ"/>
          <p:cNvSpPr txBox="1"/>
          <p:nvPr/>
        </p:nvSpPr>
        <p:spPr>
          <a:xfrm>
            <a:off x="9006840" y="1691640"/>
            <a:ext cx="2834640" cy="822960"/>
          </a:xfrm>
          <a:prstGeom prst="rect">
            <a:avLst/>
          </a:prstGeom>
          <a:noFill/>
          <a:ln/>
        </p:spPr>
        <p:txBody>
          <a:bodyPr wrap="square" lIns="0" tIns="0" rIns="0" bIns="0" rtlCol="0" anchor="t"/>
          <a:lstStyle/>
          <a:p>
            <a:pPr indent="0" marL="0">
              <a:buNone/>
            </a:pPr>
            <a:r>
              <a:rPr lang="fr-FR" altLang="en-US" sz="1700" b="1" dirty="0">
                <a:solidFill>
                  <a:srgbClr val="FFFFFF"/>
                </a:solidFill>
                <a:latin typeface="Calibri" pitchFamily="34" charset="0"/>
                <a:ea typeface="Calibri" pitchFamily="34" charset="-122"/>
                <a:cs typeface="Calibri" pitchFamily="34" charset="-120"/>
              </a:rPr>
              <a:t>Université de Kara</a:t>
            </a:r>
            <a:endParaRPr lang="fr-FR" sz="1700" dirty="0"/>
          </a:p>
          <a:p>
            <a:pPr indent="0" marL="0">
              <a:buNone/>
            </a:pPr>
            <a:r>
              <a:rPr lang="fr-FR" altLang="en-US" sz="1300" dirty="0">
                <a:solidFill>
                  <a:srgbClr val="D5DDF2"/>
                </a:solidFill>
                <a:latin typeface="Calibri" pitchFamily="34" charset="0"/>
                <a:ea typeface="Calibri" pitchFamily="34" charset="-122"/>
                <a:cs typeface="Calibri" pitchFamily="34" charset="-120"/>
              </a:rPr>
              <a:t>Faculté de droit et des sciences politiques</a:t>
            </a:r>
            <a:endParaRPr lang="fr-FR" sz="1700" dirty="0"/>
          </a:p>
        </p:txBody>
      </p:sp>
      <p:sp>
        <p:nvSpPr>
          <p:cNvPr id="8" name="diplome"/>
          <p:cNvSpPr txBox="1"/>
          <p:nvPr/>
        </p:nvSpPr>
        <p:spPr>
          <a:xfrm>
            <a:off x="9006840" y="3931920"/>
            <a:ext cx="2834640" cy="1280160"/>
          </a:xfrm>
          <a:prstGeom prst="rect">
            <a:avLst/>
          </a:prstGeom>
          <a:noFill/>
          <a:ln/>
        </p:spPr>
        <p:txBody>
          <a:bodyPr wrap="square" lIns="0" tIns="0" rIns="0" bIns="0" rtlCol="0" anchor="t"/>
          <a:lstStyle/>
          <a:p>
            <a:pPr indent="0" marL="0">
              <a:buNone/>
            </a:pPr>
            <a:r>
              <a:rPr lang="fr-FR" altLang="en-US" sz="1500" b="1" dirty="0">
                <a:solidFill>
                  <a:srgbClr val="FFFFFF"/>
                </a:solidFill>
                <a:latin typeface="Calibri" pitchFamily="34" charset="0"/>
                <a:ea typeface="Calibri" pitchFamily="34" charset="-122"/>
                <a:cs typeface="Calibri" pitchFamily="34" charset="-120"/>
              </a:rPr>
              <a:t>Soutenance de fin de formation</a:t>
            </a:r>
            <a:endParaRPr lang="fr-FR" sz="1500" dirty="0"/>
          </a:p>
          <a:p>
            <a:pPr indent="0" marL="0">
              <a:buNone/>
            </a:pPr>
            <a:r>
              <a:rPr lang="fr-FR" altLang="en-US" sz="1300" dirty="0">
                <a:solidFill>
                  <a:srgbClr val="D5DDF2"/>
                </a:solidFill>
                <a:latin typeface="Calibri" pitchFamily="34" charset="0"/>
                <a:ea typeface="Calibri" pitchFamily="34" charset="-122"/>
                <a:cs typeface="Calibri" pitchFamily="34" charset="-120"/>
              </a:rPr>
              <a:t>Licence professionnelle en Assistance administrative, spécialité Assistant Manager</a:t>
            </a:r>
            <a:endParaRPr lang="fr-FR" sz="1500" dirty="0"/>
          </a:p>
        </p:txBody>
      </p:sp>
      <p:sp>
        <p:nvSpPr>
          <p:cNvPr id="9" name="year"/>
          <p:cNvSpPr txBox="1"/>
          <p:nvPr/>
        </p:nvSpPr>
        <p:spPr>
          <a:xfrm>
            <a:off x="9006840" y="5897880"/>
            <a:ext cx="2834640" cy="365760"/>
          </a:xfrm>
          <a:prstGeom prst="rect">
            <a:avLst/>
          </a:prstGeom>
          <a:noFill/>
          <a:ln/>
        </p:spPr>
        <p:txBody>
          <a:bodyPr wrap="square" lIns="0" tIns="0" rIns="0" bIns="0" rtlCol="0" anchor="t"/>
          <a:lstStyle/>
          <a:p>
            <a:pPr indent="0" marL="0">
              <a:buNone/>
            </a:pPr>
            <a:r>
              <a:rPr lang="fr-FR" altLang="en-US" sz="1300" dirty="0">
                <a:solidFill>
                  <a:srgbClr val="FFFFFF"/>
                </a:solidFill>
                <a:latin typeface="Calibri" pitchFamily="34" charset="0"/>
                <a:ea typeface="Calibri" pitchFamily="34" charset="-122"/>
                <a:cs typeface="Calibri" pitchFamily="34" charset="-120"/>
              </a:rPr>
              <a:t>Année académique 2025-2026</a:t>
            </a:r>
            <a:endParaRPr lang="fr-FR" sz="1300" dirty="0"/>
          </a:p>
        </p:txBody>
      </p:sp>
      <p:sp>
        <p:nvSpPr>
          <p:cNvPr id="10" name="kick"/>
          <p:cNvSpPr txBox="1"/>
          <p:nvPr/>
        </p:nvSpPr>
        <p:spPr>
          <a:xfrm>
            <a:off x="685800" y="1005840"/>
            <a:ext cx="6949440" cy="365760"/>
          </a:xfrm>
          <a:prstGeom prst="rect">
            <a:avLst/>
          </a:prstGeom>
          <a:noFill/>
          <a:ln/>
        </p:spPr>
        <p:txBody>
          <a:bodyPr wrap="square" lIns="0" tIns="0" rIns="0" bIns="0" rtlCol="0" anchor="t"/>
          <a:lstStyle/>
          <a:p>
            <a:pPr indent="0" marL="0">
              <a:buNone/>
            </a:pPr>
            <a:r>
              <a:rPr lang="fr-FR" altLang="en-US" sz="1500" b="1" dirty="0">
                <a:solidFill>
                  <a:srgbClr val="00923A"/>
                </a:solidFill>
                <a:latin typeface="Calibri" pitchFamily="34" charset="0"/>
                <a:ea typeface="Calibri" pitchFamily="34" charset="-122"/>
                <a:cs typeface="Calibri" pitchFamily="34" charset="-120"/>
              </a:rPr>
              <a:t>Rapport de fin de formation</a:t>
            </a:r>
            <a:endParaRPr lang="fr-FR" sz="1500" dirty="0"/>
          </a:p>
        </p:txBody>
      </p:sp>
      <p:sp>
        <p:nvSpPr>
          <p:cNvPr id="11" name="!!maintitle"/>
          <p:cNvSpPr txBox="1"/>
          <p:nvPr/>
        </p:nvSpPr>
        <p:spPr>
          <a:xfrm>
            <a:off x="685800" y="1463040"/>
            <a:ext cx="7223760" cy="1828800"/>
          </a:xfrm>
          <a:prstGeom prst="rect">
            <a:avLst/>
          </a:prstGeom>
          <a:noFill/>
          <a:ln/>
        </p:spPr>
        <p:txBody>
          <a:bodyPr wrap="square" lIns="0" tIns="0" rIns="0" bIns="0" rtlCol="0" anchor="t"/>
          <a:lstStyle/>
          <a:p>
            <a:pPr indent="0" marL="0">
              <a:buNone/>
            </a:pPr>
            <a:r>
              <a:rPr lang="fr-FR" altLang="en-US" sz="3600" b="1" dirty="0">
                <a:solidFill>
                  <a:srgbClr val="0E1C46"/>
                </a:solidFill>
                <a:latin typeface="Calibri" pitchFamily="34" charset="0"/>
                <a:ea typeface="Calibri" pitchFamily="34" charset="-122"/>
                <a:cs typeface="Calibri" pitchFamily="34" charset="-120"/>
              </a:rPr>
              <a:t>Analyse du système de gestion du courrier administratif dans une collectivité locale</a:t>
            </a:r>
            <a:endParaRPr lang="fr-FR" sz="3600" dirty="0"/>
          </a:p>
        </p:txBody>
      </p:sp>
      <p:sp>
        <p:nvSpPr>
          <p:cNvPr id="12" name="sub"/>
          <p:cNvSpPr txBox="1"/>
          <p:nvPr/>
        </p:nvSpPr>
        <p:spPr>
          <a:xfrm>
            <a:off x="685800" y="3383280"/>
            <a:ext cx="7223760" cy="457200"/>
          </a:xfrm>
          <a:prstGeom prst="rect">
            <a:avLst/>
          </a:prstGeom>
          <a:noFill/>
          <a:ln/>
        </p:spPr>
        <p:txBody>
          <a:bodyPr wrap="square" lIns="0" tIns="0" rIns="0" bIns="0" rtlCol="0" anchor="t"/>
          <a:lstStyle/>
          <a:p>
            <a:pPr indent="0" marL="0">
              <a:buNone/>
            </a:pPr>
            <a:r>
              <a:rPr lang="fr-FR" altLang="en-US" sz="2100" dirty="0">
                <a:solidFill>
                  <a:srgbClr val="1B3F9E"/>
                </a:solidFill>
                <a:latin typeface="Calibri" pitchFamily="34" charset="0"/>
                <a:ea typeface="Calibri" pitchFamily="34" charset="-122"/>
                <a:cs typeface="Calibri" pitchFamily="34" charset="-120"/>
              </a:rPr>
              <a:t>Cas de la Mairie de Doumassessé (Commune du Golfe 3)</a:t>
            </a:r>
            <a:endParaRPr lang="fr-FR" sz="2100" dirty="0"/>
          </a:p>
        </p:txBody>
      </p:sp>
      <p:sp>
        <p:nvSpPr>
          <p:cNvPr id="13" name="!!rule"/>
          <p:cNvSpPr/>
          <p:nvPr/>
        </p:nvSpPr>
        <p:spPr>
          <a:xfrm>
            <a:off x="685800" y="4069080"/>
            <a:ext cx="731520" cy="45720"/>
          </a:xfrm>
          <a:prstGeom prst="rect">
            <a:avLst/>
          </a:prstGeom>
          <a:solidFill>
            <a:srgbClr val="00923A"/>
          </a:solidFill>
          <a:ln w="12700">
            <a:solidFill>
              <a:srgbClr val="00923A"/>
            </a:solidFill>
            <a:prstDash val="solid"/>
          </a:ln>
        </p:spPr>
      </p:sp>
      <p:sp>
        <p:nvSpPr>
          <p:cNvPr id="14" name="names"/>
          <p:cNvSpPr txBox="1"/>
          <p:nvPr/>
        </p:nvSpPr>
        <p:spPr>
          <a:xfrm>
            <a:off x="685800" y="4343400"/>
            <a:ext cx="6949440" cy="1463040"/>
          </a:xfrm>
          <a:prstGeom prst="rect">
            <a:avLst/>
          </a:prstGeom>
          <a:noFill/>
          <a:ln/>
        </p:spPr>
        <p:txBody>
          <a:bodyPr wrap="square" lIns="0" tIns="0" rIns="0" bIns="0" rtlCol="0" anchor="t"/>
          <a:lstStyle/>
          <a:p>
            <a:pPr indent="0" marL="0">
              <a:lnSpc>
                <a:spcPct val="120000"/>
              </a:lnSpc>
              <a:buNone/>
            </a:pPr>
            <a:r>
              <a:rPr lang="fr-FR" altLang="en-US" sz="1500" dirty="0">
                <a:solidFill>
                  <a:srgbClr val="56617C"/>
                </a:solidFill>
                <a:latin typeface="Calibri" pitchFamily="34" charset="0"/>
                <a:ea typeface="Calibri" pitchFamily="34" charset="-122"/>
                <a:cs typeface="Calibri" pitchFamily="34" charset="-120"/>
              </a:rPr>
              <a:t>Présentée par   </a:t>
            </a:r>
            <a:pPr indent="0" marL="0">
              <a:lnSpc>
                <a:spcPct val="120000"/>
              </a:lnSpc>
              <a:buNone/>
            </a:pPr>
            <a:r>
              <a:rPr lang="fr-FR" altLang="en-US" sz="1500" b="1" dirty="0">
                <a:solidFill>
                  <a:srgbClr val="0E1C46"/>
                </a:solidFill>
                <a:latin typeface="Calibri" pitchFamily="34" charset="0"/>
                <a:ea typeface="Calibri" pitchFamily="34" charset="-122"/>
                <a:cs typeface="Calibri" pitchFamily="34" charset="-120"/>
              </a:rPr>
              <a:t>TCHAKONDO Aïcha</a:t>
            </a:r>
            <a:endParaRPr lang="fr-FR" sz="1500" dirty="0"/>
          </a:p>
          <a:p>
            <a:pPr indent="0" marL="0">
              <a:lnSpc>
                <a:spcPct val="120000"/>
              </a:lnSpc>
              <a:buNone/>
            </a:pPr>
            <a:r>
              <a:rPr lang="fr-FR" altLang="en-US" sz="1500" dirty="0">
                <a:solidFill>
                  <a:srgbClr val="56617C"/>
                </a:solidFill>
                <a:latin typeface="Calibri" pitchFamily="34" charset="0"/>
                <a:ea typeface="Calibri" pitchFamily="34" charset="-122"/>
                <a:cs typeface="Calibri" pitchFamily="34" charset="-120"/>
              </a:rPr>
              <a:t>Encadreur   </a:t>
            </a:r>
            <a:pPr indent="0" marL="0">
              <a:lnSpc>
                <a:spcPct val="120000"/>
              </a:lnSpc>
              <a:buNone/>
            </a:pPr>
            <a:r>
              <a:rPr lang="fr-FR" altLang="en-US" sz="1500" b="1" dirty="0">
                <a:solidFill>
                  <a:srgbClr val="0E1C46"/>
                </a:solidFill>
                <a:latin typeface="Calibri" pitchFamily="34" charset="0"/>
                <a:ea typeface="Calibri" pitchFamily="34" charset="-122"/>
                <a:cs typeface="Calibri" pitchFamily="34" charset="-120"/>
              </a:rPr>
              <a:t>Dr BANTE Nakpakpere</a:t>
            </a:r>
            <a:endParaRPr lang="fr-FR" sz="1500" dirty="0"/>
          </a:p>
          <a:p>
            <a:pPr indent="0" marL="0">
              <a:lnSpc>
                <a:spcPct val="120000"/>
              </a:lnSpc>
              <a:buNone/>
            </a:pPr>
            <a:r>
              <a:rPr lang="fr-FR" altLang="en-US" sz="1500" dirty="0">
                <a:solidFill>
                  <a:srgbClr val="56617C"/>
                </a:solidFill>
                <a:latin typeface="Calibri" pitchFamily="34" charset="0"/>
                <a:ea typeface="Calibri" pitchFamily="34" charset="-122"/>
                <a:cs typeface="Calibri" pitchFamily="34" charset="-120"/>
              </a:rPr>
              <a:t>Co-encadreur   </a:t>
            </a:r>
            <a:pPr indent="0" marL="0">
              <a:lnSpc>
                <a:spcPct val="120000"/>
              </a:lnSpc>
              <a:buNone/>
            </a:pPr>
            <a:r>
              <a:rPr lang="fr-FR" altLang="en-US" sz="1500" b="1" dirty="0">
                <a:solidFill>
                  <a:srgbClr val="0E1C46"/>
                </a:solidFill>
                <a:latin typeface="Calibri" pitchFamily="34" charset="0"/>
                <a:ea typeface="Calibri" pitchFamily="34" charset="-122"/>
                <a:cs typeface="Calibri" pitchFamily="34" charset="-120"/>
              </a:rPr>
              <a:t>M. ALI Passimzouwé</a:t>
            </a:r>
            <a:endParaRPr lang="fr-FR" sz="1500" dirty="0"/>
          </a:p>
          <a:p>
            <a:pPr indent="0" marL="0">
              <a:lnSpc>
                <a:spcPct val="120000"/>
              </a:lnSpc>
              <a:buNone/>
            </a:pPr>
            <a:r>
              <a:rPr lang="fr-FR" altLang="en-US" sz="1500" dirty="0">
                <a:solidFill>
                  <a:srgbClr val="56617C"/>
                </a:solidFill>
                <a:latin typeface="Calibri" pitchFamily="34" charset="0"/>
                <a:ea typeface="Calibri" pitchFamily="34" charset="-122"/>
                <a:cs typeface="Calibri" pitchFamily="34" charset="-120"/>
              </a:rPr>
              <a:t>Maître de stage   </a:t>
            </a:r>
            <a:pPr indent="0" marL="0">
              <a:lnSpc>
                <a:spcPct val="120000"/>
              </a:lnSpc>
              <a:buNone/>
            </a:pPr>
            <a:r>
              <a:rPr lang="fr-FR" altLang="en-US" sz="1500" b="1" dirty="0">
                <a:solidFill>
                  <a:srgbClr val="0E1C46"/>
                </a:solidFill>
                <a:latin typeface="Calibri" pitchFamily="34" charset="0"/>
                <a:ea typeface="Calibri" pitchFamily="34" charset="-122"/>
                <a:cs typeface="Calibri" pitchFamily="34" charset="-120"/>
              </a:rPr>
              <a:t>Mme FUDJI Abla Kafui</a:t>
            </a:r>
            <a:endParaRPr lang="fr-FR"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600"/>
                                        <p:tgtEl>
                                          <p:spTgt spid="11"/>
                                        </p:tgtEl>
                                      </p:cBhvr>
                                    </p:animEffect>
                                  </p:childTnLst>
                                </p:cTn>
                              </p:par>
                              <p:par>
                                <p:cTn id="11" presetID="10" presetClass="entr" presetSubtype="0" fill="hold" grpId="0" nodeType="withEffect">
                                  <p:stCondLst>
                                    <p:cond delay="6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600"/>
                                        <p:tgtEl>
                                          <p:spTgt spid="12"/>
                                        </p:tgtEl>
                                      </p:cBhvr>
                                    </p:animEffect>
                                  </p:childTnLst>
                                </p:cTn>
                              </p:par>
                              <p:par>
                                <p:cTn id="14" presetID="22" presetClass="entr" presetSubtype="8" fill="hold" grpId="0" nodeType="withEffect">
                                  <p:stCondLst>
                                    <p:cond delay="80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600"/>
                                        <p:tgtEl>
                                          <p:spTgt spid="13"/>
                                        </p:tgtEl>
                                      </p:cBhvr>
                                    </p:animEffect>
                                  </p:childTnLst>
                                </p:cTn>
                              </p:par>
                              <p:par>
                                <p:cTn id="17" presetID="10" presetClass="entr" presetSubtype="0" fill="hold" grpId="0" nodeType="withEffect">
                                  <p:stCondLst>
                                    <p:cond delay="100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914400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Introduction · six parties · conclusion</a:t>
            </a:r>
            <a:endParaRPr lang="fr-FR" sz="1300" dirty="0"/>
          </a:p>
        </p:txBody>
      </p:sp>
      <p:sp>
        <p:nvSpPr>
          <p:cNvPr id="3" name="title"/>
          <p:cNvSpPr txBox="1"/>
          <p:nvPr/>
        </p:nvSpPr>
        <p:spPr>
          <a:xfrm>
            <a:off x="640080" y="676656"/>
            <a:ext cx="10058400"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Plan de l’exposé</a:t>
            </a:r>
            <a:endParaRPr lang="fr-FR" sz="3000" dirty="0"/>
          </a:p>
        </p:txBody>
      </p:sp>
      <p:sp>
        <p:nvSpPr>
          <p:cNvPr id="4" name="!!rule"/>
          <p:cNvSpPr/>
          <p:nvPr/>
        </p:nvSpPr>
        <p:spPr>
          <a:xfrm>
            <a:off x="640080" y="1417320"/>
            <a:ext cx="731520" cy="45720"/>
          </a:xfrm>
          <a:prstGeom prst="rect">
            <a:avLst/>
          </a:prstGeom>
          <a:solidFill>
            <a:srgbClr val="00923A"/>
          </a:solidFill>
          <a:ln w="12700">
            <a:solidFill>
              <a:srgbClr val="00923A"/>
            </a:solidFill>
            <a:prstDash val="solid"/>
          </a:ln>
        </p:spPr>
      </p:sp>
      <p:sp>
        <p:nvSpPr>
          <p:cNvPr id="5" name="pl0"/>
          <p:cNvSpPr/>
          <p:nvPr/>
        </p:nvSpPr>
        <p:spPr>
          <a:xfrm>
            <a:off x="685800" y="2971800"/>
            <a:ext cx="5120640" cy="914"/>
          </a:xfrm>
          <a:prstGeom prst="line">
            <a:avLst/>
          </a:prstGeom>
          <a:noFill/>
          <a:ln w="9525">
            <a:solidFill>
              <a:srgbClr val="D9DFEA"/>
            </a:solidFill>
            <a:prstDash val="solid"/>
          </a:ln>
        </p:spPr>
      </p:sp>
      <p:sp>
        <p:nvSpPr>
          <p:cNvPr id="6" name="pn0">
            <a:hlinkClick r:id="rId1" tooltip="Structure d’accueil" action="ppaction://hlinksldjump"/>
          </p:cNvPr>
          <p:cNvSpPr txBox="1"/>
          <p:nvPr/>
        </p:nvSpPr>
        <p:spPr>
          <a:xfrm>
            <a:off x="685800" y="1874520"/>
            <a:ext cx="731520" cy="914400"/>
          </a:xfrm>
          <a:prstGeom prst="rect">
            <a:avLst/>
          </a:prstGeom>
          <a:noFill/>
          <a:ln/>
        </p:spPr>
        <p:txBody>
          <a:bodyPr wrap="square" lIns="0" tIns="0" rIns="0" bIns="0" rtlCol="0" anchor="t"/>
          <a:lstStyle/>
          <a:p>
            <a:pPr indent="0" marL="0">
              <a:buNone/>
            </a:pPr>
            <a:r>
              <a:rPr lang="fr-FR" altLang="en-US" sz="4800" b="1" dirty="0">
                <a:solidFill>
                  <a:srgbClr val="1B3F9E"/>
                </a:solidFill>
                <a:latin typeface="Calibri" pitchFamily="34" charset="0"/>
                <a:ea typeface="Calibri" pitchFamily="34" charset="-122"/>
                <a:cs typeface="Calibri" pitchFamily="34" charset="-120"/>
              </a:rPr>
              <a:t>1</a:t>
            </a:r>
            <a:endParaRPr lang="fr-FR" sz="4800" dirty="0"/>
          </a:p>
        </p:txBody>
      </p:sp>
      <p:sp>
        <p:nvSpPr>
          <p:cNvPr id="7" name="pt0"/>
          <p:cNvSpPr txBox="1"/>
          <p:nvPr/>
        </p:nvSpPr>
        <p:spPr>
          <a:xfrm>
            <a:off x="1554480" y="2011680"/>
            <a:ext cx="4206240" cy="868680"/>
          </a:xfrm>
          <a:prstGeom prst="rect">
            <a:avLst/>
          </a:prstGeom>
          <a:noFill/>
          <a:ln/>
        </p:spPr>
        <p:txBody>
          <a:bodyPr wrap="square" lIns="0" tIns="0" rIns="0" bIns="0" rtlCol="0" anchor="t"/>
          <a:lstStyle/>
          <a:p>
            <a:pPr indent="0" marL="0">
              <a:buNone/>
            </a:pPr>
            <a:r>
              <a:rPr lang="fr-FR" altLang="en-US" sz="2000" b="1" dirty="0">
                <a:solidFill>
                  <a:srgbClr val="0E1C46"/>
                </a:solidFill>
                <a:latin typeface="Calibri" pitchFamily="34" charset="0"/>
                <a:ea typeface="Calibri" pitchFamily="34" charset="-122"/>
                <a:cs typeface="Calibri" pitchFamily="34" charset="-120"/>
              </a:rPr>
              <a:t>Structure d’accueil</a:t>
            </a:r>
            <a:endParaRPr lang="fr-FR" sz="2000" dirty="0"/>
          </a:p>
          <a:p>
            <a:pPr indent="0" marL="0">
              <a:buNone/>
            </a:pPr>
            <a:r>
              <a:rPr lang="fr-FR" altLang="en-US" sz="1400" dirty="0">
                <a:solidFill>
                  <a:srgbClr val="56617C"/>
                </a:solidFill>
                <a:latin typeface="Calibri" pitchFamily="34" charset="0"/>
                <a:ea typeface="Calibri" pitchFamily="34" charset="-122"/>
                <a:cs typeface="Calibri" pitchFamily="34" charset="-120"/>
              </a:rPr>
              <a:t>La Commune du Golfe 3 et son organisation</a:t>
            </a:r>
            <a:endParaRPr lang="fr-FR" sz="2000" dirty="0"/>
          </a:p>
        </p:txBody>
      </p:sp>
      <p:sp>
        <p:nvSpPr>
          <p:cNvPr id="8" name="pl1"/>
          <p:cNvSpPr/>
          <p:nvPr/>
        </p:nvSpPr>
        <p:spPr>
          <a:xfrm>
            <a:off x="6263640" y="2971800"/>
            <a:ext cx="5120640" cy="914"/>
          </a:xfrm>
          <a:prstGeom prst="line">
            <a:avLst/>
          </a:prstGeom>
          <a:noFill/>
          <a:ln w="9525">
            <a:solidFill>
              <a:srgbClr val="D9DFEA"/>
            </a:solidFill>
            <a:prstDash val="solid"/>
          </a:ln>
        </p:spPr>
      </p:sp>
      <p:sp>
        <p:nvSpPr>
          <p:cNvPr id="9" name="pn1">
            <a:hlinkClick r:id="rId2" tooltip="Travaux effectués" action="ppaction://hlinksldjump"/>
          </p:cNvPr>
          <p:cNvSpPr txBox="1"/>
          <p:nvPr/>
        </p:nvSpPr>
        <p:spPr>
          <a:xfrm>
            <a:off x="6263640" y="1874520"/>
            <a:ext cx="731520" cy="914400"/>
          </a:xfrm>
          <a:prstGeom prst="rect">
            <a:avLst/>
          </a:prstGeom>
          <a:noFill/>
          <a:ln/>
        </p:spPr>
        <p:txBody>
          <a:bodyPr wrap="square" lIns="0" tIns="0" rIns="0" bIns="0" rtlCol="0" anchor="t"/>
          <a:lstStyle/>
          <a:p>
            <a:pPr indent="0" marL="0">
              <a:buNone/>
            </a:pPr>
            <a:r>
              <a:rPr lang="fr-FR" altLang="en-US" sz="4800" b="1" dirty="0">
                <a:solidFill>
                  <a:srgbClr val="00923A"/>
                </a:solidFill>
                <a:latin typeface="Calibri" pitchFamily="34" charset="0"/>
                <a:ea typeface="Calibri" pitchFamily="34" charset="-122"/>
                <a:cs typeface="Calibri" pitchFamily="34" charset="-120"/>
              </a:rPr>
              <a:t>2</a:t>
            </a:r>
            <a:endParaRPr lang="fr-FR" sz="4800" dirty="0"/>
          </a:p>
        </p:txBody>
      </p:sp>
      <p:sp>
        <p:nvSpPr>
          <p:cNvPr id="10" name="pt1"/>
          <p:cNvSpPr txBox="1"/>
          <p:nvPr/>
        </p:nvSpPr>
        <p:spPr>
          <a:xfrm>
            <a:off x="7132320" y="2011680"/>
            <a:ext cx="4206240" cy="868680"/>
          </a:xfrm>
          <a:prstGeom prst="rect">
            <a:avLst/>
          </a:prstGeom>
          <a:noFill/>
          <a:ln/>
        </p:spPr>
        <p:txBody>
          <a:bodyPr wrap="square" lIns="0" tIns="0" rIns="0" bIns="0" rtlCol="0" anchor="t"/>
          <a:lstStyle/>
          <a:p>
            <a:pPr indent="0" marL="0">
              <a:buNone/>
            </a:pPr>
            <a:r>
              <a:rPr lang="fr-FR" altLang="en-US" sz="2000" b="1" dirty="0">
                <a:solidFill>
                  <a:srgbClr val="0E1C46"/>
                </a:solidFill>
                <a:latin typeface="Calibri" pitchFamily="34" charset="0"/>
                <a:ea typeface="Calibri" pitchFamily="34" charset="-122"/>
                <a:cs typeface="Calibri" pitchFamily="34" charset="-120"/>
              </a:rPr>
              <a:t>Travaux effectués</a:t>
            </a:r>
            <a:endParaRPr lang="fr-FR" sz="2000" dirty="0"/>
          </a:p>
          <a:p>
            <a:pPr indent="0" marL="0">
              <a:buNone/>
            </a:pPr>
            <a:r>
              <a:rPr lang="fr-FR" altLang="en-US" sz="1400" dirty="0">
                <a:solidFill>
                  <a:srgbClr val="56617C"/>
                </a:solidFill>
                <a:latin typeface="Calibri" pitchFamily="34" charset="0"/>
                <a:ea typeface="Calibri" pitchFamily="34" charset="-122"/>
                <a:cs typeface="Calibri" pitchFamily="34" charset="-120"/>
              </a:rPr>
              <a:t>Le circuit du courrier au secrétariat général</a:t>
            </a:r>
            <a:endParaRPr lang="fr-FR" sz="2000" dirty="0"/>
          </a:p>
        </p:txBody>
      </p:sp>
      <p:sp>
        <p:nvSpPr>
          <p:cNvPr id="11" name="pl2"/>
          <p:cNvSpPr/>
          <p:nvPr/>
        </p:nvSpPr>
        <p:spPr>
          <a:xfrm>
            <a:off x="685800" y="4343400"/>
            <a:ext cx="5120640" cy="914"/>
          </a:xfrm>
          <a:prstGeom prst="line">
            <a:avLst/>
          </a:prstGeom>
          <a:noFill/>
          <a:ln w="9525">
            <a:solidFill>
              <a:srgbClr val="D9DFEA"/>
            </a:solidFill>
            <a:prstDash val="solid"/>
          </a:ln>
        </p:spPr>
      </p:sp>
      <p:sp>
        <p:nvSpPr>
          <p:cNvPr id="12" name="pn2">
            <a:hlinkClick r:id="rId3" tooltip="Problématique et hypothèses" action="ppaction://hlinksldjump"/>
          </p:cNvPr>
          <p:cNvSpPr txBox="1"/>
          <p:nvPr/>
        </p:nvSpPr>
        <p:spPr>
          <a:xfrm>
            <a:off x="685800" y="3246120"/>
            <a:ext cx="731520" cy="914400"/>
          </a:xfrm>
          <a:prstGeom prst="rect">
            <a:avLst/>
          </a:prstGeom>
          <a:noFill/>
          <a:ln/>
        </p:spPr>
        <p:txBody>
          <a:bodyPr wrap="square" lIns="0" tIns="0" rIns="0" bIns="0" rtlCol="0" anchor="t"/>
          <a:lstStyle/>
          <a:p>
            <a:pPr indent="0" marL="0">
              <a:buNone/>
            </a:pPr>
            <a:r>
              <a:rPr lang="fr-FR" altLang="en-US" sz="4800" b="1" dirty="0">
                <a:solidFill>
                  <a:srgbClr val="9A6A00"/>
                </a:solidFill>
                <a:latin typeface="Calibri" pitchFamily="34" charset="0"/>
                <a:ea typeface="Calibri" pitchFamily="34" charset="-122"/>
                <a:cs typeface="Calibri" pitchFamily="34" charset="-120"/>
              </a:rPr>
              <a:t>3</a:t>
            </a:r>
            <a:endParaRPr lang="fr-FR" sz="4800" dirty="0"/>
          </a:p>
        </p:txBody>
      </p:sp>
      <p:sp>
        <p:nvSpPr>
          <p:cNvPr id="13" name="pt2"/>
          <p:cNvSpPr txBox="1"/>
          <p:nvPr/>
        </p:nvSpPr>
        <p:spPr>
          <a:xfrm>
            <a:off x="1554480" y="3383280"/>
            <a:ext cx="4206240" cy="868680"/>
          </a:xfrm>
          <a:prstGeom prst="rect">
            <a:avLst/>
          </a:prstGeom>
          <a:noFill/>
          <a:ln/>
        </p:spPr>
        <p:txBody>
          <a:bodyPr wrap="square" lIns="0" tIns="0" rIns="0" bIns="0" rtlCol="0" anchor="t"/>
          <a:lstStyle/>
          <a:p>
            <a:pPr indent="0" marL="0">
              <a:buNone/>
            </a:pPr>
            <a:r>
              <a:rPr lang="fr-FR" altLang="en-US" sz="2000" b="1" dirty="0">
                <a:solidFill>
                  <a:srgbClr val="0E1C46"/>
                </a:solidFill>
                <a:latin typeface="Calibri" pitchFamily="34" charset="0"/>
                <a:ea typeface="Calibri" pitchFamily="34" charset="-122"/>
                <a:cs typeface="Calibri" pitchFamily="34" charset="-120"/>
              </a:rPr>
              <a:t>Problématique et hypothèses</a:t>
            </a:r>
            <a:endParaRPr lang="fr-FR" sz="2000" dirty="0"/>
          </a:p>
          <a:p>
            <a:pPr indent="0" marL="0">
              <a:buNone/>
            </a:pPr>
            <a:r>
              <a:rPr lang="fr-FR" altLang="en-US" sz="1400" dirty="0">
                <a:solidFill>
                  <a:srgbClr val="56617C"/>
                </a:solidFill>
                <a:latin typeface="Calibri" pitchFamily="34" charset="0"/>
                <a:ea typeface="Calibri" pitchFamily="34" charset="-122"/>
                <a:cs typeface="Calibri" pitchFamily="34" charset="-120"/>
              </a:rPr>
              <a:t>La question de recherche et les objectifs</a:t>
            </a:r>
            <a:endParaRPr lang="fr-FR" sz="2000" dirty="0"/>
          </a:p>
        </p:txBody>
      </p:sp>
      <p:sp>
        <p:nvSpPr>
          <p:cNvPr id="14" name="pl3"/>
          <p:cNvSpPr/>
          <p:nvPr/>
        </p:nvSpPr>
        <p:spPr>
          <a:xfrm>
            <a:off x="6263640" y="4343400"/>
            <a:ext cx="5120640" cy="914"/>
          </a:xfrm>
          <a:prstGeom prst="line">
            <a:avLst/>
          </a:prstGeom>
          <a:noFill/>
          <a:ln w="9525">
            <a:solidFill>
              <a:srgbClr val="D9DFEA"/>
            </a:solidFill>
            <a:prstDash val="solid"/>
          </a:ln>
        </p:spPr>
      </p:sp>
      <p:sp>
        <p:nvSpPr>
          <p:cNvPr id="15" name="pn3">
            <a:hlinkClick r:id="rId4" tooltip="Méthodologie" action="ppaction://hlinksldjump"/>
          </p:cNvPr>
          <p:cNvSpPr txBox="1"/>
          <p:nvPr/>
        </p:nvSpPr>
        <p:spPr>
          <a:xfrm>
            <a:off x="6263640" y="3246120"/>
            <a:ext cx="731520" cy="914400"/>
          </a:xfrm>
          <a:prstGeom prst="rect">
            <a:avLst/>
          </a:prstGeom>
          <a:noFill/>
          <a:ln/>
        </p:spPr>
        <p:txBody>
          <a:bodyPr wrap="square" lIns="0" tIns="0" rIns="0" bIns="0" rtlCol="0" anchor="t"/>
          <a:lstStyle/>
          <a:p>
            <a:pPr indent="0" marL="0">
              <a:buNone/>
            </a:pPr>
            <a:r>
              <a:rPr lang="fr-FR" altLang="en-US" sz="4800" b="1" dirty="0">
                <a:solidFill>
                  <a:srgbClr val="1B3F9E"/>
                </a:solidFill>
                <a:latin typeface="Calibri" pitchFamily="34" charset="0"/>
                <a:ea typeface="Calibri" pitchFamily="34" charset="-122"/>
                <a:cs typeface="Calibri" pitchFamily="34" charset="-120"/>
              </a:rPr>
              <a:t>4</a:t>
            </a:r>
            <a:endParaRPr lang="fr-FR" sz="4800" dirty="0"/>
          </a:p>
        </p:txBody>
      </p:sp>
      <p:sp>
        <p:nvSpPr>
          <p:cNvPr id="16" name="pt3"/>
          <p:cNvSpPr txBox="1"/>
          <p:nvPr/>
        </p:nvSpPr>
        <p:spPr>
          <a:xfrm>
            <a:off x="7132320" y="3383280"/>
            <a:ext cx="4206240" cy="868680"/>
          </a:xfrm>
          <a:prstGeom prst="rect">
            <a:avLst/>
          </a:prstGeom>
          <a:noFill/>
          <a:ln/>
        </p:spPr>
        <p:txBody>
          <a:bodyPr wrap="square" lIns="0" tIns="0" rIns="0" bIns="0" rtlCol="0" anchor="t"/>
          <a:lstStyle/>
          <a:p>
            <a:pPr indent="0" marL="0">
              <a:buNone/>
            </a:pPr>
            <a:r>
              <a:rPr lang="fr-FR" altLang="en-US" sz="2000" b="1" dirty="0">
                <a:solidFill>
                  <a:srgbClr val="0E1C46"/>
                </a:solidFill>
                <a:latin typeface="Calibri" pitchFamily="34" charset="0"/>
                <a:ea typeface="Calibri" pitchFamily="34" charset="-122"/>
                <a:cs typeface="Calibri" pitchFamily="34" charset="-120"/>
              </a:rPr>
              <a:t>Méthodologie</a:t>
            </a:r>
            <a:endParaRPr lang="fr-FR" sz="2000" dirty="0"/>
          </a:p>
          <a:p>
            <a:pPr indent="0" marL="0">
              <a:buNone/>
            </a:pPr>
            <a:r>
              <a:rPr lang="fr-FR" altLang="en-US" sz="1400" dirty="0">
                <a:solidFill>
                  <a:srgbClr val="56617C"/>
                </a:solidFill>
                <a:latin typeface="Calibri" pitchFamily="34" charset="0"/>
                <a:ea typeface="Calibri" pitchFamily="34" charset="-122"/>
                <a:cs typeface="Calibri" pitchFamily="34" charset="-120"/>
              </a:rPr>
              <a:t>Observation, entretiens, analyse documentaire</a:t>
            </a:r>
            <a:endParaRPr lang="fr-FR" sz="2000" dirty="0"/>
          </a:p>
        </p:txBody>
      </p:sp>
      <p:sp>
        <p:nvSpPr>
          <p:cNvPr id="17" name="pl4"/>
          <p:cNvSpPr/>
          <p:nvPr/>
        </p:nvSpPr>
        <p:spPr>
          <a:xfrm>
            <a:off x="685800" y="5715000"/>
            <a:ext cx="5120640" cy="914"/>
          </a:xfrm>
          <a:prstGeom prst="line">
            <a:avLst/>
          </a:prstGeom>
          <a:noFill/>
          <a:ln w="9525">
            <a:solidFill>
              <a:srgbClr val="D9DFEA"/>
            </a:solidFill>
            <a:prstDash val="solid"/>
          </a:ln>
        </p:spPr>
      </p:sp>
      <p:sp>
        <p:nvSpPr>
          <p:cNvPr id="18" name="pn4">
            <a:hlinkClick r:id="rId5" tooltip="Résultats" action="ppaction://hlinksldjump"/>
          </p:cNvPr>
          <p:cNvSpPr txBox="1"/>
          <p:nvPr/>
        </p:nvSpPr>
        <p:spPr>
          <a:xfrm>
            <a:off x="685800" y="4617720"/>
            <a:ext cx="731520" cy="914400"/>
          </a:xfrm>
          <a:prstGeom prst="rect">
            <a:avLst/>
          </a:prstGeom>
          <a:noFill/>
          <a:ln/>
        </p:spPr>
        <p:txBody>
          <a:bodyPr wrap="square" lIns="0" tIns="0" rIns="0" bIns="0" rtlCol="0" anchor="t"/>
          <a:lstStyle/>
          <a:p>
            <a:pPr indent="0" marL="0">
              <a:buNone/>
            </a:pPr>
            <a:r>
              <a:rPr lang="fr-FR" altLang="en-US" sz="4800" b="1" dirty="0">
                <a:solidFill>
                  <a:srgbClr val="00923A"/>
                </a:solidFill>
                <a:latin typeface="Calibri" pitchFamily="34" charset="0"/>
                <a:ea typeface="Calibri" pitchFamily="34" charset="-122"/>
                <a:cs typeface="Calibri" pitchFamily="34" charset="-120"/>
              </a:rPr>
              <a:t>5</a:t>
            </a:r>
            <a:endParaRPr lang="fr-FR" sz="4800" dirty="0"/>
          </a:p>
        </p:txBody>
      </p:sp>
      <p:sp>
        <p:nvSpPr>
          <p:cNvPr id="19" name="pt4"/>
          <p:cNvSpPr txBox="1"/>
          <p:nvPr/>
        </p:nvSpPr>
        <p:spPr>
          <a:xfrm>
            <a:off x="1554480" y="4754880"/>
            <a:ext cx="4206240" cy="868680"/>
          </a:xfrm>
          <a:prstGeom prst="rect">
            <a:avLst/>
          </a:prstGeom>
          <a:noFill/>
          <a:ln/>
        </p:spPr>
        <p:txBody>
          <a:bodyPr wrap="square" lIns="0" tIns="0" rIns="0" bIns="0" rtlCol="0" anchor="t"/>
          <a:lstStyle/>
          <a:p>
            <a:pPr indent="0" marL="0">
              <a:buNone/>
            </a:pPr>
            <a:r>
              <a:rPr lang="fr-FR" altLang="en-US" sz="2000" b="1" dirty="0">
                <a:solidFill>
                  <a:srgbClr val="0E1C46"/>
                </a:solidFill>
                <a:latin typeface="Calibri" pitchFamily="34" charset="0"/>
                <a:ea typeface="Calibri" pitchFamily="34" charset="-122"/>
                <a:cs typeface="Calibri" pitchFamily="34" charset="-120"/>
              </a:rPr>
              <a:t>Résultats</a:t>
            </a:r>
            <a:endParaRPr lang="fr-FR" sz="2000" dirty="0"/>
          </a:p>
          <a:p>
            <a:pPr indent="0" marL="0">
              <a:buNone/>
            </a:pPr>
            <a:r>
              <a:rPr lang="fr-FR" altLang="en-US" sz="1400" dirty="0">
                <a:solidFill>
                  <a:srgbClr val="56617C"/>
                </a:solidFill>
                <a:latin typeface="Calibri" pitchFamily="34" charset="0"/>
                <a:ea typeface="Calibri" pitchFamily="34" charset="-122"/>
                <a:cs typeface="Calibri" pitchFamily="34" charset="-120"/>
              </a:rPr>
              <a:t>Constats et vérification des hypothèses</a:t>
            </a:r>
            <a:endParaRPr lang="fr-FR" sz="2000" dirty="0"/>
          </a:p>
        </p:txBody>
      </p:sp>
      <p:sp>
        <p:nvSpPr>
          <p:cNvPr id="20" name="pl5"/>
          <p:cNvSpPr/>
          <p:nvPr/>
        </p:nvSpPr>
        <p:spPr>
          <a:xfrm>
            <a:off x="6263640" y="5715000"/>
            <a:ext cx="5120640" cy="914"/>
          </a:xfrm>
          <a:prstGeom prst="line">
            <a:avLst/>
          </a:prstGeom>
          <a:noFill/>
          <a:ln w="9525">
            <a:solidFill>
              <a:srgbClr val="D9DFEA"/>
            </a:solidFill>
            <a:prstDash val="solid"/>
          </a:ln>
        </p:spPr>
      </p:sp>
      <p:sp>
        <p:nvSpPr>
          <p:cNvPr id="21" name="pn5">
            <a:hlinkClick r:id="rId6" tooltip="Recommandations" action="ppaction://hlinksldjump"/>
          </p:cNvPr>
          <p:cNvSpPr txBox="1"/>
          <p:nvPr/>
        </p:nvSpPr>
        <p:spPr>
          <a:xfrm>
            <a:off x="6263640" y="4617720"/>
            <a:ext cx="731520" cy="914400"/>
          </a:xfrm>
          <a:prstGeom prst="rect">
            <a:avLst/>
          </a:prstGeom>
          <a:noFill/>
          <a:ln/>
        </p:spPr>
        <p:txBody>
          <a:bodyPr wrap="square" lIns="0" tIns="0" rIns="0" bIns="0" rtlCol="0" anchor="t"/>
          <a:lstStyle/>
          <a:p>
            <a:pPr indent="0" marL="0">
              <a:buNone/>
            </a:pPr>
            <a:r>
              <a:rPr lang="fr-FR" altLang="en-US" sz="4800" b="1" dirty="0">
                <a:solidFill>
                  <a:srgbClr val="9A6A00"/>
                </a:solidFill>
                <a:latin typeface="Calibri" pitchFamily="34" charset="0"/>
                <a:ea typeface="Calibri" pitchFamily="34" charset="-122"/>
                <a:cs typeface="Calibri" pitchFamily="34" charset="-120"/>
              </a:rPr>
              <a:t>6</a:t>
            </a:r>
            <a:endParaRPr lang="fr-FR" sz="4800" dirty="0"/>
          </a:p>
        </p:txBody>
      </p:sp>
      <p:sp>
        <p:nvSpPr>
          <p:cNvPr id="22" name="pt5"/>
          <p:cNvSpPr txBox="1"/>
          <p:nvPr/>
        </p:nvSpPr>
        <p:spPr>
          <a:xfrm>
            <a:off x="7132320" y="4754880"/>
            <a:ext cx="4206240" cy="868680"/>
          </a:xfrm>
          <a:prstGeom prst="rect">
            <a:avLst/>
          </a:prstGeom>
          <a:noFill/>
          <a:ln/>
        </p:spPr>
        <p:txBody>
          <a:bodyPr wrap="square" lIns="0" tIns="0" rIns="0" bIns="0" rtlCol="0" anchor="t"/>
          <a:lstStyle/>
          <a:p>
            <a:pPr indent="0" marL="0">
              <a:buNone/>
            </a:pPr>
            <a:r>
              <a:rPr lang="fr-FR" altLang="en-US" sz="2000" b="1" dirty="0">
                <a:solidFill>
                  <a:srgbClr val="0E1C46"/>
                </a:solidFill>
                <a:latin typeface="Calibri" pitchFamily="34" charset="0"/>
                <a:ea typeface="Calibri" pitchFamily="34" charset="-122"/>
                <a:cs typeface="Calibri" pitchFamily="34" charset="-120"/>
              </a:rPr>
              <a:t>Recommandations</a:t>
            </a:r>
            <a:endParaRPr lang="fr-FR" sz="2000" dirty="0"/>
          </a:p>
          <a:p>
            <a:pPr indent="0" marL="0">
              <a:buNone/>
            </a:pPr>
            <a:r>
              <a:rPr lang="fr-FR" altLang="en-US" sz="1400" dirty="0">
                <a:solidFill>
                  <a:srgbClr val="56617C"/>
                </a:solidFill>
                <a:latin typeface="Calibri" pitchFamily="34" charset="0"/>
                <a:ea typeface="Calibri" pitchFamily="34" charset="-122"/>
                <a:cs typeface="Calibri" pitchFamily="34" charset="-120"/>
              </a:rPr>
              <a:t>Sept mesures et un plan d’action</a:t>
            </a:r>
            <a:endParaRPr lang="fr-FR" sz="2000" dirty="0"/>
          </a:p>
        </p:txBody>
      </p:sp>
      <p:pic>
        <p:nvPicPr>
          <p:cNvPr id="23" name="!!flogo" descr="Université de Kara">    </p:cNvPr>
          <p:cNvPicPr>
            <a:picLocks noChangeAspect="1"/>
          </p:cNvPicPr>
          <p:nvPr/>
        </p:nvPicPr>
        <p:blipFill>
          <a:blip r:embed="rId7"/>
          <a:stretch>
            <a:fillRect/>
          </a:stretch>
        </p:blipFill>
        <p:spPr>
          <a:xfrm>
            <a:off x="640080" y="6382512"/>
            <a:ext cx="329184" cy="274320"/>
          </a:xfrm>
          <a:prstGeom prst="rect">
            <a:avLst/>
          </a:prstGeom>
        </p:spPr>
      </p:pic>
      <p:sp>
        <p:nvSpPr>
          <p:cNvPr id="24"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5"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2 / 21</a:t>
            </a:r>
            <a:endParaRPr lang="fr-FR" sz="1000" dirty="0"/>
          </a:p>
        </p:txBody>
      </p:sp>
      <p:sp>
        <p:nvSpPr>
          <p:cNvPr id="26" name="!!band1"/>
          <p:cNvSpPr/>
          <p:nvPr/>
        </p:nvSpPr>
        <p:spPr>
          <a:xfrm>
            <a:off x="0" y="0"/>
            <a:ext cx="4873752" cy="64008"/>
          </a:xfrm>
          <a:prstGeom prst="rect">
            <a:avLst/>
          </a:prstGeom>
          <a:solidFill>
            <a:srgbClr val="1B3F9E"/>
          </a:solidFill>
          <a:ln w="12700">
            <a:solidFill>
              <a:srgbClr val="1B3F9E"/>
            </a:solidFill>
            <a:prstDash val="solid"/>
          </a:ln>
        </p:spPr>
      </p:sp>
      <p:sp>
        <p:nvSpPr>
          <p:cNvPr id="27" name="!!band2"/>
          <p:cNvSpPr/>
          <p:nvPr/>
        </p:nvSpPr>
        <p:spPr>
          <a:xfrm>
            <a:off x="4873752" y="0"/>
            <a:ext cx="4270248" cy="64008"/>
          </a:xfrm>
          <a:prstGeom prst="rect">
            <a:avLst/>
          </a:prstGeom>
          <a:solidFill>
            <a:srgbClr val="00923A"/>
          </a:solidFill>
          <a:ln w="12700">
            <a:solidFill>
              <a:srgbClr val="00923A"/>
            </a:solidFill>
            <a:prstDash val="solid"/>
          </a:ln>
        </p:spPr>
      </p:sp>
      <p:sp>
        <p:nvSpPr>
          <p:cNvPr id="28" name="!!band3"/>
          <p:cNvSpPr/>
          <p:nvPr/>
        </p:nvSpPr>
        <p:spPr>
          <a:xfrm>
            <a:off x="9144000" y="0"/>
            <a:ext cx="3047695" cy="64008"/>
          </a:xfrm>
          <a:prstGeom prst="rect">
            <a:avLst/>
          </a:prstGeom>
          <a:solidFill>
            <a:srgbClr val="FCC600"/>
          </a:solidFill>
          <a:ln w="12700">
            <a:solidFill>
              <a:srgbClr val="FCC600"/>
            </a:solidFill>
            <a:prstDash val="solid"/>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53" presetClass="entr" presetSubtype="16" fill="hold" grpId="0" nodeType="withEffect">
                                  <p:stCondLst>
                                    <p:cond delay="250"/>
                                  </p:stCondLst>
                                  <p:childTnLst>
                                    <p:set>
                                      <p:cBhvr>
                                        <p:cTn id="12" dur="1" fill="hold">
                                          <p:stCondLst>
                                            <p:cond delay="0"/>
                                          </p:stCondLst>
                                        </p:cTn>
                                        <p:tgtEl>
                                          <p:spTgt spid="6"/>
                                        </p:tgtEl>
                                        <p:attrNameLst>
                                          <p:attrName>style.visibility</p:attrName>
                                        </p:attrNameLst>
                                      </p:cBhvr>
                                      <p:to>
                                        <p:strVal val="visible"/>
                                      </p:to>
                                    </p:set>
                                    <p:anim calcmode="lin" valueType="num">
                                      <p:cBhvr>
                                        <p:cTn id="13" dur="600" fill="hold"/>
                                        <p:tgtEl>
                                          <p:spTgt spid="6"/>
                                        </p:tgtEl>
                                        <p:attrNameLst>
                                          <p:attrName>ppt_w</p:attrName>
                                        </p:attrNameLst>
                                      </p:cBhvr>
                                      <p:tavLst>
                                        <p:tav tm="0">
                                          <p:val>
                                            <p:fltVal val="0"/>
                                          </p:val>
                                        </p:tav>
                                        <p:tav tm="100000">
                                          <p:val>
                                            <p:strVal val="#ppt_w"/>
                                          </p:val>
                                        </p:tav>
                                      </p:tavLst>
                                    </p:anim>
                                    <p:anim calcmode="lin" valueType="num">
                                      <p:cBhvr>
                                        <p:cTn id="14" dur="600" fill="hold"/>
                                        <p:tgtEl>
                                          <p:spTgt spid="6"/>
                                        </p:tgtEl>
                                        <p:attrNameLst>
                                          <p:attrName>ppt_h</p:attrName>
                                        </p:attrNameLst>
                                      </p:cBhvr>
                                      <p:tavLst>
                                        <p:tav tm="0">
                                          <p:val>
                                            <p:fltVal val="0"/>
                                          </p:val>
                                        </p:tav>
                                        <p:tav tm="100000">
                                          <p:val>
                                            <p:strVal val="#ppt_h"/>
                                          </p:val>
                                        </p:tav>
                                      </p:tavLst>
                                    </p:anim>
                                    <p:animEffect transition="in" filter="fade">
                                      <p:cBhvr>
                                        <p:cTn id="15" dur="600"/>
                                        <p:tgtEl>
                                          <p:spTgt spid="6"/>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600"/>
                                        <p:tgtEl>
                                          <p:spTgt spid="5"/>
                                        </p:tgtEl>
                                      </p:cBhvr>
                                    </p:animEffect>
                                  </p:childTnLst>
                                </p:cTn>
                              </p:par>
                              <p:par>
                                <p:cTn id="22" presetID="53" presetClass="entr" presetSubtype="16" fill="hold" grpId="0" nodeType="withEffect">
                                  <p:stCondLst>
                                    <p:cond delay="470"/>
                                  </p:stCondLst>
                                  <p:childTnLst>
                                    <p:set>
                                      <p:cBhvr>
                                        <p:cTn id="23" dur="1" fill="hold">
                                          <p:stCondLst>
                                            <p:cond delay="0"/>
                                          </p:stCondLst>
                                        </p:cTn>
                                        <p:tgtEl>
                                          <p:spTgt spid="9"/>
                                        </p:tgtEl>
                                        <p:attrNameLst>
                                          <p:attrName>style.visibility</p:attrName>
                                        </p:attrNameLst>
                                      </p:cBhvr>
                                      <p:to>
                                        <p:strVal val="visible"/>
                                      </p:to>
                                    </p:set>
                                    <p:anim calcmode="lin" valueType="num">
                                      <p:cBhvr>
                                        <p:cTn id="24" dur="600" fill="hold"/>
                                        <p:tgtEl>
                                          <p:spTgt spid="9"/>
                                        </p:tgtEl>
                                        <p:attrNameLst>
                                          <p:attrName>ppt_w</p:attrName>
                                        </p:attrNameLst>
                                      </p:cBhvr>
                                      <p:tavLst>
                                        <p:tav tm="0">
                                          <p:val>
                                            <p:fltVal val="0"/>
                                          </p:val>
                                        </p:tav>
                                        <p:tav tm="100000">
                                          <p:val>
                                            <p:strVal val="#ppt_w"/>
                                          </p:val>
                                        </p:tav>
                                      </p:tavLst>
                                    </p:anim>
                                    <p:anim calcmode="lin" valueType="num">
                                      <p:cBhvr>
                                        <p:cTn id="25" dur="600" fill="hold"/>
                                        <p:tgtEl>
                                          <p:spTgt spid="9"/>
                                        </p:tgtEl>
                                        <p:attrNameLst>
                                          <p:attrName>ppt_h</p:attrName>
                                        </p:attrNameLst>
                                      </p:cBhvr>
                                      <p:tavLst>
                                        <p:tav tm="0">
                                          <p:val>
                                            <p:fltVal val="0"/>
                                          </p:val>
                                        </p:tav>
                                        <p:tav tm="100000">
                                          <p:val>
                                            <p:strVal val="#ppt_h"/>
                                          </p:val>
                                        </p:tav>
                                      </p:tavLst>
                                    </p:anim>
                                    <p:animEffect transition="in" filter="fade">
                                      <p:cBhvr>
                                        <p:cTn id="26" dur="600"/>
                                        <p:tgtEl>
                                          <p:spTgt spid="9"/>
                                        </p:tgtEl>
                                      </p:cBhvr>
                                    </p:animEffect>
                                  </p:childTnLst>
                                </p:cTn>
                              </p:par>
                              <p:par>
                                <p:cTn id="27" presetID="10" presetClass="entr" presetSubtype="0" fill="hold" grpId="0" nodeType="withEffect">
                                  <p:stCondLst>
                                    <p:cond delay="52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600"/>
                                        <p:tgtEl>
                                          <p:spTgt spid="10"/>
                                        </p:tgtEl>
                                      </p:cBhvr>
                                    </p:animEffect>
                                  </p:childTnLst>
                                </p:cTn>
                              </p:par>
                              <p:par>
                                <p:cTn id="30" presetID="22" presetClass="entr" presetSubtype="8" fill="hold" grpId="0" nodeType="withEffect">
                                  <p:stCondLst>
                                    <p:cond delay="52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600"/>
                                        <p:tgtEl>
                                          <p:spTgt spid="8"/>
                                        </p:tgtEl>
                                      </p:cBhvr>
                                    </p:animEffect>
                                  </p:childTnLst>
                                </p:cTn>
                              </p:par>
                              <p:par>
                                <p:cTn id="33" presetID="53" presetClass="entr" presetSubtype="16" fill="hold" grpId="0" nodeType="withEffect">
                                  <p:stCondLst>
                                    <p:cond delay="690"/>
                                  </p:stCondLst>
                                  <p:childTnLst>
                                    <p:set>
                                      <p:cBhvr>
                                        <p:cTn id="34" dur="1" fill="hold">
                                          <p:stCondLst>
                                            <p:cond delay="0"/>
                                          </p:stCondLst>
                                        </p:cTn>
                                        <p:tgtEl>
                                          <p:spTgt spid="12"/>
                                        </p:tgtEl>
                                        <p:attrNameLst>
                                          <p:attrName>style.visibility</p:attrName>
                                        </p:attrNameLst>
                                      </p:cBhvr>
                                      <p:to>
                                        <p:strVal val="visible"/>
                                      </p:to>
                                    </p:set>
                                    <p:anim calcmode="lin" valueType="num">
                                      <p:cBhvr>
                                        <p:cTn id="35" dur="600" fill="hold"/>
                                        <p:tgtEl>
                                          <p:spTgt spid="12"/>
                                        </p:tgtEl>
                                        <p:attrNameLst>
                                          <p:attrName>ppt_w</p:attrName>
                                        </p:attrNameLst>
                                      </p:cBhvr>
                                      <p:tavLst>
                                        <p:tav tm="0">
                                          <p:val>
                                            <p:fltVal val="0"/>
                                          </p:val>
                                        </p:tav>
                                        <p:tav tm="100000">
                                          <p:val>
                                            <p:strVal val="#ppt_w"/>
                                          </p:val>
                                        </p:tav>
                                      </p:tavLst>
                                    </p:anim>
                                    <p:anim calcmode="lin" valueType="num">
                                      <p:cBhvr>
                                        <p:cTn id="36" dur="600" fill="hold"/>
                                        <p:tgtEl>
                                          <p:spTgt spid="12"/>
                                        </p:tgtEl>
                                        <p:attrNameLst>
                                          <p:attrName>ppt_h</p:attrName>
                                        </p:attrNameLst>
                                      </p:cBhvr>
                                      <p:tavLst>
                                        <p:tav tm="0">
                                          <p:val>
                                            <p:fltVal val="0"/>
                                          </p:val>
                                        </p:tav>
                                        <p:tav tm="100000">
                                          <p:val>
                                            <p:strVal val="#ppt_h"/>
                                          </p:val>
                                        </p:tav>
                                      </p:tavLst>
                                    </p:anim>
                                    <p:animEffect transition="in" filter="fade">
                                      <p:cBhvr>
                                        <p:cTn id="37" dur="600"/>
                                        <p:tgtEl>
                                          <p:spTgt spid="12"/>
                                        </p:tgtEl>
                                      </p:cBhvr>
                                    </p:animEffect>
                                  </p:childTnLst>
                                </p:cTn>
                              </p:par>
                              <p:par>
                                <p:cTn id="38" presetID="10" presetClass="entr" presetSubtype="0" fill="hold" grpId="0" nodeType="withEffect">
                                  <p:stCondLst>
                                    <p:cond delay="7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600"/>
                                        <p:tgtEl>
                                          <p:spTgt spid="13"/>
                                        </p:tgtEl>
                                      </p:cBhvr>
                                    </p:animEffect>
                                  </p:childTnLst>
                                </p:cTn>
                              </p:par>
                              <p:par>
                                <p:cTn id="41" presetID="22" presetClass="entr" presetSubtype="8" fill="hold" grpId="0" nodeType="withEffect">
                                  <p:stCondLst>
                                    <p:cond delay="74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600"/>
                                        <p:tgtEl>
                                          <p:spTgt spid="11"/>
                                        </p:tgtEl>
                                      </p:cBhvr>
                                    </p:animEffect>
                                  </p:childTnLst>
                                </p:cTn>
                              </p:par>
                              <p:par>
                                <p:cTn id="44" presetID="53" presetClass="entr" presetSubtype="16" fill="hold" grpId="0" nodeType="withEffect">
                                  <p:stCondLst>
                                    <p:cond delay="910"/>
                                  </p:stCondLst>
                                  <p:childTnLst>
                                    <p:set>
                                      <p:cBhvr>
                                        <p:cTn id="45" dur="1" fill="hold">
                                          <p:stCondLst>
                                            <p:cond delay="0"/>
                                          </p:stCondLst>
                                        </p:cTn>
                                        <p:tgtEl>
                                          <p:spTgt spid="15"/>
                                        </p:tgtEl>
                                        <p:attrNameLst>
                                          <p:attrName>style.visibility</p:attrName>
                                        </p:attrNameLst>
                                      </p:cBhvr>
                                      <p:to>
                                        <p:strVal val="visible"/>
                                      </p:to>
                                    </p:set>
                                    <p:anim calcmode="lin" valueType="num">
                                      <p:cBhvr>
                                        <p:cTn id="46" dur="600" fill="hold"/>
                                        <p:tgtEl>
                                          <p:spTgt spid="15"/>
                                        </p:tgtEl>
                                        <p:attrNameLst>
                                          <p:attrName>ppt_w</p:attrName>
                                        </p:attrNameLst>
                                      </p:cBhvr>
                                      <p:tavLst>
                                        <p:tav tm="0">
                                          <p:val>
                                            <p:fltVal val="0"/>
                                          </p:val>
                                        </p:tav>
                                        <p:tav tm="100000">
                                          <p:val>
                                            <p:strVal val="#ppt_w"/>
                                          </p:val>
                                        </p:tav>
                                      </p:tavLst>
                                    </p:anim>
                                    <p:anim calcmode="lin" valueType="num">
                                      <p:cBhvr>
                                        <p:cTn id="47" dur="600" fill="hold"/>
                                        <p:tgtEl>
                                          <p:spTgt spid="15"/>
                                        </p:tgtEl>
                                        <p:attrNameLst>
                                          <p:attrName>ppt_h</p:attrName>
                                        </p:attrNameLst>
                                      </p:cBhvr>
                                      <p:tavLst>
                                        <p:tav tm="0">
                                          <p:val>
                                            <p:fltVal val="0"/>
                                          </p:val>
                                        </p:tav>
                                        <p:tav tm="100000">
                                          <p:val>
                                            <p:strVal val="#ppt_h"/>
                                          </p:val>
                                        </p:tav>
                                      </p:tavLst>
                                    </p:anim>
                                    <p:animEffect transition="in" filter="fade">
                                      <p:cBhvr>
                                        <p:cTn id="48" dur="600"/>
                                        <p:tgtEl>
                                          <p:spTgt spid="15"/>
                                        </p:tgtEl>
                                      </p:cBhvr>
                                    </p:animEffect>
                                  </p:childTnLst>
                                </p:cTn>
                              </p:par>
                              <p:par>
                                <p:cTn id="49" presetID="10" presetClass="entr" presetSubtype="0" fill="hold" grpId="0" nodeType="withEffect">
                                  <p:stCondLst>
                                    <p:cond delay="96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600"/>
                                        <p:tgtEl>
                                          <p:spTgt spid="16"/>
                                        </p:tgtEl>
                                      </p:cBhvr>
                                    </p:animEffect>
                                  </p:childTnLst>
                                </p:cTn>
                              </p:par>
                              <p:par>
                                <p:cTn id="52" presetID="22" presetClass="entr" presetSubtype="8" fill="hold" grpId="0" nodeType="withEffect">
                                  <p:stCondLst>
                                    <p:cond delay="960"/>
                                  </p:stCondLst>
                                  <p:childTnLst>
                                    <p:set>
                                      <p:cBhvr>
                                        <p:cTn id="53" dur="1" fill="hold">
                                          <p:stCondLst>
                                            <p:cond delay="0"/>
                                          </p:stCondLst>
                                        </p:cTn>
                                        <p:tgtEl>
                                          <p:spTgt spid="14"/>
                                        </p:tgtEl>
                                        <p:attrNameLst>
                                          <p:attrName>style.visibility</p:attrName>
                                        </p:attrNameLst>
                                      </p:cBhvr>
                                      <p:to>
                                        <p:strVal val="visible"/>
                                      </p:to>
                                    </p:set>
                                    <p:animEffect transition="in" filter="wipe(left)">
                                      <p:cBhvr>
                                        <p:cTn id="54" dur="600"/>
                                        <p:tgtEl>
                                          <p:spTgt spid="14"/>
                                        </p:tgtEl>
                                      </p:cBhvr>
                                    </p:animEffect>
                                  </p:childTnLst>
                                </p:cTn>
                              </p:par>
                              <p:par>
                                <p:cTn id="55" presetID="53" presetClass="entr" presetSubtype="16" fill="hold" grpId="0" nodeType="withEffect">
                                  <p:stCondLst>
                                    <p:cond delay="1130"/>
                                  </p:stCondLst>
                                  <p:childTnLst>
                                    <p:set>
                                      <p:cBhvr>
                                        <p:cTn id="56" dur="1" fill="hold">
                                          <p:stCondLst>
                                            <p:cond delay="0"/>
                                          </p:stCondLst>
                                        </p:cTn>
                                        <p:tgtEl>
                                          <p:spTgt spid="18"/>
                                        </p:tgtEl>
                                        <p:attrNameLst>
                                          <p:attrName>style.visibility</p:attrName>
                                        </p:attrNameLst>
                                      </p:cBhvr>
                                      <p:to>
                                        <p:strVal val="visible"/>
                                      </p:to>
                                    </p:set>
                                    <p:anim calcmode="lin" valueType="num">
                                      <p:cBhvr>
                                        <p:cTn id="57" dur="600" fill="hold"/>
                                        <p:tgtEl>
                                          <p:spTgt spid="18"/>
                                        </p:tgtEl>
                                        <p:attrNameLst>
                                          <p:attrName>ppt_w</p:attrName>
                                        </p:attrNameLst>
                                      </p:cBhvr>
                                      <p:tavLst>
                                        <p:tav tm="0">
                                          <p:val>
                                            <p:fltVal val="0"/>
                                          </p:val>
                                        </p:tav>
                                        <p:tav tm="100000">
                                          <p:val>
                                            <p:strVal val="#ppt_w"/>
                                          </p:val>
                                        </p:tav>
                                      </p:tavLst>
                                    </p:anim>
                                    <p:anim calcmode="lin" valueType="num">
                                      <p:cBhvr>
                                        <p:cTn id="58" dur="600" fill="hold"/>
                                        <p:tgtEl>
                                          <p:spTgt spid="18"/>
                                        </p:tgtEl>
                                        <p:attrNameLst>
                                          <p:attrName>ppt_h</p:attrName>
                                        </p:attrNameLst>
                                      </p:cBhvr>
                                      <p:tavLst>
                                        <p:tav tm="0">
                                          <p:val>
                                            <p:fltVal val="0"/>
                                          </p:val>
                                        </p:tav>
                                        <p:tav tm="100000">
                                          <p:val>
                                            <p:strVal val="#ppt_h"/>
                                          </p:val>
                                        </p:tav>
                                      </p:tavLst>
                                    </p:anim>
                                    <p:animEffect transition="in" filter="fade">
                                      <p:cBhvr>
                                        <p:cTn id="59" dur="600"/>
                                        <p:tgtEl>
                                          <p:spTgt spid="18"/>
                                        </p:tgtEl>
                                      </p:cBhvr>
                                    </p:animEffect>
                                  </p:childTnLst>
                                </p:cTn>
                              </p:par>
                              <p:par>
                                <p:cTn id="60" presetID="10" presetClass="entr" presetSubtype="0" fill="hold" grpId="0" nodeType="withEffect">
                                  <p:stCondLst>
                                    <p:cond delay="118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600"/>
                                        <p:tgtEl>
                                          <p:spTgt spid="19"/>
                                        </p:tgtEl>
                                      </p:cBhvr>
                                    </p:animEffect>
                                  </p:childTnLst>
                                </p:cTn>
                              </p:par>
                              <p:par>
                                <p:cTn id="63" presetID="22" presetClass="entr" presetSubtype="8" fill="hold" grpId="0" nodeType="withEffect">
                                  <p:stCondLst>
                                    <p:cond delay="1180"/>
                                  </p:stCondLst>
                                  <p:childTnLst>
                                    <p:set>
                                      <p:cBhvr>
                                        <p:cTn id="64" dur="1" fill="hold">
                                          <p:stCondLst>
                                            <p:cond delay="0"/>
                                          </p:stCondLst>
                                        </p:cTn>
                                        <p:tgtEl>
                                          <p:spTgt spid="17"/>
                                        </p:tgtEl>
                                        <p:attrNameLst>
                                          <p:attrName>style.visibility</p:attrName>
                                        </p:attrNameLst>
                                      </p:cBhvr>
                                      <p:to>
                                        <p:strVal val="visible"/>
                                      </p:to>
                                    </p:set>
                                    <p:animEffect transition="in" filter="wipe(left)">
                                      <p:cBhvr>
                                        <p:cTn id="65" dur="600"/>
                                        <p:tgtEl>
                                          <p:spTgt spid="17"/>
                                        </p:tgtEl>
                                      </p:cBhvr>
                                    </p:animEffect>
                                  </p:childTnLst>
                                </p:cTn>
                              </p:par>
                              <p:par>
                                <p:cTn id="66" presetID="53" presetClass="entr" presetSubtype="16" fill="hold" grpId="0" nodeType="withEffect">
                                  <p:stCondLst>
                                    <p:cond delay="1350"/>
                                  </p:stCondLst>
                                  <p:childTnLst>
                                    <p:set>
                                      <p:cBhvr>
                                        <p:cTn id="67" dur="1" fill="hold">
                                          <p:stCondLst>
                                            <p:cond delay="0"/>
                                          </p:stCondLst>
                                        </p:cTn>
                                        <p:tgtEl>
                                          <p:spTgt spid="21"/>
                                        </p:tgtEl>
                                        <p:attrNameLst>
                                          <p:attrName>style.visibility</p:attrName>
                                        </p:attrNameLst>
                                      </p:cBhvr>
                                      <p:to>
                                        <p:strVal val="visible"/>
                                      </p:to>
                                    </p:set>
                                    <p:anim calcmode="lin" valueType="num">
                                      <p:cBhvr>
                                        <p:cTn id="68" dur="600" fill="hold"/>
                                        <p:tgtEl>
                                          <p:spTgt spid="21"/>
                                        </p:tgtEl>
                                        <p:attrNameLst>
                                          <p:attrName>ppt_w</p:attrName>
                                        </p:attrNameLst>
                                      </p:cBhvr>
                                      <p:tavLst>
                                        <p:tav tm="0">
                                          <p:val>
                                            <p:fltVal val="0"/>
                                          </p:val>
                                        </p:tav>
                                        <p:tav tm="100000">
                                          <p:val>
                                            <p:strVal val="#ppt_w"/>
                                          </p:val>
                                        </p:tav>
                                      </p:tavLst>
                                    </p:anim>
                                    <p:anim calcmode="lin" valueType="num">
                                      <p:cBhvr>
                                        <p:cTn id="69" dur="600" fill="hold"/>
                                        <p:tgtEl>
                                          <p:spTgt spid="21"/>
                                        </p:tgtEl>
                                        <p:attrNameLst>
                                          <p:attrName>ppt_h</p:attrName>
                                        </p:attrNameLst>
                                      </p:cBhvr>
                                      <p:tavLst>
                                        <p:tav tm="0">
                                          <p:val>
                                            <p:fltVal val="0"/>
                                          </p:val>
                                        </p:tav>
                                        <p:tav tm="100000">
                                          <p:val>
                                            <p:strVal val="#ppt_h"/>
                                          </p:val>
                                        </p:tav>
                                      </p:tavLst>
                                    </p:anim>
                                    <p:animEffect transition="in" filter="fade">
                                      <p:cBhvr>
                                        <p:cTn id="70" dur="600"/>
                                        <p:tgtEl>
                                          <p:spTgt spid="21"/>
                                        </p:tgtEl>
                                      </p:cBhvr>
                                    </p:animEffect>
                                  </p:childTnLst>
                                </p:cTn>
                              </p:par>
                              <p:par>
                                <p:cTn id="71" presetID="10" presetClass="entr" presetSubtype="0" fill="hold" grpId="0" nodeType="withEffect">
                                  <p:stCondLst>
                                    <p:cond delay="140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600"/>
                                        <p:tgtEl>
                                          <p:spTgt spid="22"/>
                                        </p:tgtEl>
                                      </p:cBhvr>
                                    </p:animEffect>
                                  </p:childTnLst>
                                </p:cTn>
                              </p:par>
                              <p:par>
                                <p:cTn id="74" presetID="22" presetClass="entr" presetSubtype="8" fill="hold" grpId="0" nodeType="withEffect">
                                  <p:stCondLst>
                                    <p:cond delay="1400"/>
                                  </p:stCondLst>
                                  <p:childTnLst>
                                    <p:set>
                                      <p:cBhvr>
                                        <p:cTn id="75" dur="1" fill="hold">
                                          <p:stCondLst>
                                            <p:cond delay="0"/>
                                          </p:stCondLst>
                                        </p:cTn>
                                        <p:tgtEl>
                                          <p:spTgt spid="20"/>
                                        </p:tgtEl>
                                        <p:attrNameLst>
                                          <p:attrName>style.visibility</p:attrName>
                                        </p:attrNameLst>
                                      </p:cBhvr>
                                      <p:to>
                                        <p:strVal val="visible"/>
                                      </p:to>
                                    </p:set>
                                    <p:animEffect transition="in" filter="wipe(left)">
                                      <p:cBhvr>
                                        <p:cTn id="76"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914400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Introduction</a:t>
            </a:r>
            <a:endParaRPr lang="fr-FR" sz="1300" dirty="0"/>
          </a:p>
        </p:txBody>
      </p:sp>
      <p:sp>
        <p:nvSpPr>
          <p:cNvPr id="3" name="title"/>
          <p:cNvSpPr txBox="1"/>
          <p:nvPr/>
        </p:nvSpPr>
        <p:spPr>
          <a:xfrm>
            <a:off x="640080" y="676656"/>
            <a:ext cx="10058400"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Le courrier, premier circuit de l’information</a:t>
            </a:r>
            <a:endParaRPr lang="fr-FR" sz="3000" dirty="0"/>
          </a:p>
        </p:txBody>
      </p:sp>
      <p:sp>
        <p:nvSpPr>
          <p:cNvPr id="4" name="!!rule"/>
          <p:cNvSpPr/>
          <p:nvPr/>
        </p:nvSpPr>
        <p:spPr>
          <a:xfrm>
            <a:off x="640080" y="1417320"/>
            <a:ext cx="731520" cy="45720"/>
          </a:xfrm>
          <a:prstGeom prst="rect">
            <a:avLst/>
          </a:prstGeom>
          <a:solidFill>
            <a:srgbClr val="00923A"/>
          </a:solidFill>
          <a:ln w="12700">
            <a:solidFill>
              <a:srgbClr val="00923A"/>
            </a:solidFill>
            <a:prstDash val="solid"/>
          </a:ln>
        </p:spPr>
      </p:sp>
      <p:sp>
        <p:nvSpPr>
          <p:cNvPr id="5" name="lede"/>
          <p:cNvSpPr txBox="1"/>
          <p:nvPr/>
        </p:nvSpPr>
        <p:spPr>
          <a:xfrm>
            <a:off x="685800" y="1783080"/>
            <a:ext cx="6675120" cy="1188720"/>
          </a:xfrm>
          <a:prstGeom prst="rect">
            <a:avLst/>
          </a:prstGeom>
          <a:noFill/>
          <a:ln/>
        </p:spPr>
        <p:txBody>
          <a:bodyPr wrap="square" lIns="0" tIns="0" rIns="0" bIns="0" rtlCol="0" anchor="t"/>
          <a:lstStyle/>
          <a:p>
            <a:pPr indent="0" marL="0">
              <a:buNone/>
            </a:pPr>
            <a:r>
              <a:rPr lang="fr-FR" altLang="en-US" sz="1700" dirty="0">
                <a:solidFill>
                  <a:srgbClr val="56617C"/>
                </a:solidFill>
                <a:latin typeface="Calibri" pitchFamily="34" charset="0"/>
                <a:ea typeface="Calibri" pitchFamily="34" charset="-122"/>
                <a:cs typeface="Calibri" pitchFamily="34" charset="-120"/>
              </a:rPr>
              <a:t>Demandes des citoyens, invitations, décisions du Maire : tout passe par la réception, l’enregistrement, la transmission et l’archivage. Un circuit lent ou mal suivi retarde les dossiers et fragilise la confiance des usagers.</a:t>
            </a:r>
            <a:endParaRPr lang="fr-FR" sz="1700" dirty="0"/>
          </a:p>
        </p:txBody>
      </p:sp>
      <p:sp>
        <p:nvSpPr>
          <p:cNvPr id="6" name="stage"/>
          <p:cNvSpPr/>
          <p:nvPr/>
        </p:nvSpPr>
        <p:spPr>
          <a:xfrm>
            <a:off x="7772400" y="1783080"/>
            <a:ext cx="3749040" cy="1325880"/>
          </a:xfrm>
          <a:prstGeom prst="rect">
            <a:avLst/>
          </a:prstGeom>
          <a:solidFill>
            <a:srgbClr val="EEF2FB"/>
          </a:solidFill>
          <a:ln w="9525">
            <a:solidFill>
              <a:srgbClr val="D9DFEA"/>
            </a:solidFill>
            <a:prstDash val="solid"/>
          </a:ln>
        </p:spPr>
      </p:sp>
      <p:sp>
        <p:nvSpPr>
          <p:cNvPr id="7" name="stageb"/>
          <p:cNvSpPr/>
          <p:nvPr/>
        </p:nvSpPr>
        <p:spPr>
          <a:xfrm>
            <a:off x="7772400" y="1783080"/>
            <a:ext cx="54864" cy="1325880"/>
          </a:xfrm>
          <a:prstGeom prst="rect">
            <a:avLst/>
          </a:prstGeom>
          <a:solidFill>
            <a:srgbClr val="1B3F9E"/>
          </a:solidFill>
          <a:ln w="12700">
            <a:solidFill>
              <a:srgbClr val="1B3F9E"/>
            </a:solidFill>
            <a:prstDash val="solid"/>
          </a:ln>
        </p:spPr>
      </p:sp>
      <p:sp>
        <p:nvSpPr>
          <p:cNvPr id="8" name="stagetxt"/>
          <p:cNvSpPr txBox="1"/>
          <p:nvPr/>
        </p:nvSpPr>
        <p:spPr>
          <a:xfrm>
            <a:off x="8046720" y="1901952"/>
            <a:ext cx="3383280" cy="1143000"/>
          </a:xfrm>
          <a:prstGeom prst="rect">
            <a:avLst/>
          </a:prstGeom>
          <a:noFill/>
          <a:ln/>
        </p:spPr>
        <p:txBody>
          <a:bodyPr wrap="square" lIns="0" tIns="0" rIns="0" bIns="0" rtlCol="0" anchor="t"/>
          <a:lstStyle/>
          <a:p>
            <a:pPr indent="0" marL="0">
              <a:buNone/>
            </a:pPr>
            <a:r>
              <a:rPr lang="fr-FR" altLang="en-US" sz="1400" b="1" dirty="0">
                <a:solidFill>
                  <a:srgbClr val="1B3F9E"/>
                </a:solidFill>
                <a:latin typeface="Calibri" pitchFamily="34" charset="0"/>
                <a:ea typeface="Calibri" pitchFamily="34" charset="-122"/>
                <a:cs typeface="Calibri" pitchFamily="34" charset="-120"/>
              </a:rPr>
              <a:t>Stage de 13 semaines</a:t>
            </a:r>
            <a:endParaRPr lang="fr-FR" sz="1400" dirty="0"/>
          </a:p>
          <a:p>
            <a:pPr indent="0" marL="0">
              <a:buNone/>
            </a:pPr>
            <a:r>
              <a:rPr lang="fr-FR" altLang="en-US" sz="2000" b="1" dirty="0">
                <a:solidFill>
                  <a:srgbClr val="0E1C46"/>
                </a:solidFill>
                <a:latin typeface="Calibri" pitchFamily="34" charset="0"/>
                <a:ea typeface="Calibri" pitchFamily="34" charset="-122"/>
                <a:cs typeface="Calibri" pitchFamily="34" charset="-120"/>
              </a:rPr>
              <a:t>11 mai – 12 août 2026</a:t>
            </a:r>
            <a:endParaRPr lang="fr-FR" sz="1400" dirty="0"/>
          </a:p>
          <a:p>
            <a:pPr indent="0" marL="0">
              <a:buNone/>
            </a:pPr>
            <a:r>
              <a:rPr lang="fr-FR" altLang="en-US" sz="1300" dirty="0">
                <a:solidFill>
                  <a:srgbClr val="56617C"/>
                </a:solidFill>
                <a:latin typeface="Calibri" pitchFamily="34" charset="0"/>
                <a:ea typeface="Calibri" pitchFamily="34" charset="-122"/>
                <a:cs typeface="Calibri" pitchFamily="34" charset="-120"/>
              </a:rPr>
              <a:t>Secrétariat général · Commune du Golfe 3</a:t>
            </a:r>
            <a:endParaRPr lang="fr-FR" sz="1400" dirty="0"/>
          </a:p>
        </p:txBody>
      </p:sp>
      <p:sp>
        <p:nvSpPr>
          <p:cNvPr id="9" name="ib0"/>
          <p:cNvSpPr/>
          <p:nvPr/>
        </p:nvSpPr>
        <p:spPr>
          <a:xfrm>
            <a:off x="685800" y="3611880"/>
            <a:ext cx="3383280" cy="2240280"/>
          </a:xfrm>
          <a:prstGeom prst="rect">
            <a:avLst/>
          </a:prstGeom>
          <a:solidFill>
            <a:srgbClr val="FFFFFF"/>
          </a:solidFill>
          <a:ln w="9525">
            <a:solidFill>
              <a:srgbClr val="D9DFEA"/>
            </a:solidFill>
            <a:prstDash val="solid"/>
          </a:ln>
        </p:spPr>
      </p:sp>
      <p:sp>
        <p:nvSpPr>
          <p:cNvPr id="10" name="ib0b"/>
          <p:cNvSpPr/>
          <p:nvPr/>
        </p:nvSpPr>
        <p:spPr>
          <a:xfrm>
            <a:off x="685800" y="3611880"/>
            <a:ext cx="54864" cy="2240280"/>
          </a:xfrm>
          <a:prstGeom prst="rect">
            <a:avLst/>
          </a:prstGeom>
          <a:solidFill>
            <a:srgbClr val="1B3F9E"/>
          </a:solidFill>
          <a:ln w="12700">
            <a:solidFill>
              <a:srgbClr val="1B3F9E"/>
            </a:solidFill>
            <a:prstDash val="solid"/>
          </a:ln>
        </p:spPr>
      </p:sp>
      <p:sp>
        <p:nvSpPr>
          <p:cNvPr id="11" name="it0"/>
          <p:cNvSpPr txBox="1"/>
          <p:nvPr/>
        </p:nvSpPr>
        <p:spPr>
          <a:xfrm>
            <a:off x="1005840" y="3840480"/>
            <a:ext cx="2834640" cy="411480"/>
          </a:xfrm>
          <a:prstGeom prst="rect">
            <a:avLst/>
          </a:prstGeom>
          <a:noFill/>
          <a:ln/>
        </p:spPr>
        <p:txBody>
          <a:bodyPr wrap="square" lIns="0" tIns="0" rIns="0" bIns="0" rtlCol="0" anchor="t"/>
          <a:lstStyle/>
          <a:p>
            <a:pPr indent="0" marL="0">
              <a:buNone/>
            </a:pPr>
            <a:r>
              <a:rPr lang="fr-FR" altLang="en-US" sz="1900" b="1" dirty="0">
                <a:solidFill>
                  <a:srgbClr val="1B3F9E"/>
                </a:solidFill>
                <a:latin typeface="Calibri" pitchFamily="34" charset="0"/>
                <a:ea typeface="Calibri" pitchFamily="34" charset="-122"/>
                <a:cs typeface="Calibri" pitchFamily="34" charset="-120"/>
              </a:rPr>
              <a:t>Intérêt personnel</a:t>
            </a:r>
            <a:endParaRPr lang="fr-FR" sz="1900" dirty="0"/>
          </a:p>
        </p:txBody>
      </p:sp>
      <p:sp>
        <p:nvSpPr>
          <p:cNvPr id="12" name="id0"/>
          <p:cNvSpPr txBox="1"/>
          <p:nvPr/>
        </p:nvSpPr>
        <p:spPr>
          <a:xfrm>
            <a:off x="1005840" y="4343400"/>
            <a:ext cx="2834640" cy="1280160"/>
          </a:xfrm>
          <a:prstGeom prst="rect">
            <a:avLst/>
          </a:prstGeom>
          <a:noFill/>
          <a:ln/>
        </p:spPr>
        <p:txBody>
          <a:bodyPr wrap="square" lIns="0" tIns="0" rIns="0" bIns="0" rtlCol="0" anchor="t"/>
          <a:lstStyle/>
          <a:p>
            <a:pPr indent="0" marL="0">
              <a:buNone/>
            </a:pPr>
            <a:r>
              <a:rPr lang="fr-FR" altLang="en-US" sz="1600" dirty="0">
                <a:solidFill>
                  <a:srgbClr val="0E1C46"/>
                </a:solidFill>
                <a:latin typeface="Calibri" pitchFamily="34" charset="0"/>
                <a:ea typeface="Calibri" pitchFamily="34" charset="-122"/>
                <a:cs typeface="Calibri" pitchFamily="34" charset="-120"/>
              </a:rPr>
              <a:t>Un domaine au cœur du métier d’assistante.</a:t>
            </a:r>
            <a:endParaRPr lang="fr-FR" sz="1600" dirty="0"/>
          </a:p>
        </p:txBody>
      </p:sp>
      <p:sp>
        <p:nvSpPr>
          <p:cNvPr id="13" name="ib1"/>
          <p:cNvSpPr/>
          <p:nvPr/>
        </p:nvSpPr>
        <p:spPr>
          <a:xfrm>
            <a:off x="4315968" y="3611880"/>
            <a:ext cx="3383280" cy="2240280"/>
          </a:xfrm>
          <a:prstGeom prst="rect">
            <a:avLst/>
          </a:prstGeom>
          <a:solidFill>
            <a:srgbClr val="FFFFFF"/>
          </a:solidFill>
          <a:ln w="9525">
            <a:solidFill>
              <a:srgbClr val="D9DFEA"/>
            </a:solidFill>
            <a:prstDash val="solid"/>
          </a:ln>
        </p:spPr>
      </p:sp>
      <p:sp>
        <p:nvSpPr>
          <p:cNvPr id="14" name="ib1b"/>
          <p:cNvSpPr/>
          <p:nvPr/>
        </p:nvSpPr>
        <p:spPr>
          <a:xfrm>
            <a:off x="4315968" y="3611880"/>
            <a:ext cx="54864" cy="2240280"/>
          </a:xfrm>
          <a:prstGeom prst="rect">
            <a:avLst/>
          </a:prstGeom>
          <a:solidFill>
            <a:srgbClr val="00923A"/>
          </a:solidFill>
          <a:ln w="12700">
            <a:solidFill>
              <a:srgbClr val="00923A"/>
            </a:solidFill>
            <a:prstDash val="solid"/>
          </a:ln>
        </p:spPr>
      </p:sp>
      <p:sp>
        <p:nvSpPr>
          <p:cNvPr id="15" name="it1"/>
          <p:cNvSpPr txBox="1"/>
          <p:nvPr/>
        </p:nvSpPr>
        <p:spPr>
          <a:xfrm>
            <a:off x="4636008" y="3840480"/>
            <a:ext cx="2834640" cy="411480"/>
          </a:xfrm>
          <a:prstGeom prst="rect">
            <a:avLst/>
          </a:prstGeom>
          <a:noFill/>
          <a:ln/>
        </p:spPr>
        <p:txBody>
          <a:bodyPr wrap="square" lIns="0" tIns="0" rIns="0" bIns="0" rtlCol="0" anchor="t"/>
          <a:lstStyle/>
          <a:p>
            <a:pPr indent="0" marL="0">
              <a:buNone/>
            </a:pPr>
            <a:r>
              <a:rPr lang="fr-FR" altLang="en-US" sz="1900" b="1" dirty="0">
                <a:solidFill>
                  <a:srgbClr val="00923A"/>
                </a:solidFill>
                <a:latin typeface="Calibri" pitchFamily="34" charset="0"/>
                <a:ea typeface="Calibri" pitchFamily="34" charset="-122"/>
                <a:cs typeface="Calibri" pitchFamily="34" charset="-120"/>
              </a:rPr>
              <a:t>Intérêt académique</a:t>
            </a:r>
            <a:endParaRPr lang="fr-FR" sz="1900" dirty="0"/>
          </a:p>
        </p:txBody>
      </p:sp>
      <p:sp>
        <p:nvSpPr>
          <p:cNvPr id="16" name="id1"/>
          <p:cNvSpPr txBox="1"/>
          <p:nvPr/>
        </p:nvSpPr>
        <p:spPr>
          <a:xfrm>
            <a:off x="4636008" y="4343400"/>
            <a:ext cx="2834640" cy="1280160"/>
          </a:xfrm>
          <a:prstGeom prst="rect">
            <a:avLst/>
          </a:prstGeom>
          <a:noFill/>
          <a:ln/>
        </p:spPr>
        <p:txBody>
          <a:bodyPr wrap="square" lIns="0" tIns="0" rIns="0" bIns="0" rtlCol="0" anchor="t"/>
          <a:lstStyle/>
          <a:p>
            <a:pPr indent="0" marL="0">
              <a:buNone/>
            </a:pPr>
            <a:r>
              <a:rPr lang="fr-FR" altLang="en-US" sz="1600" dirty="0">
                <a:solidFill>
                  <a:srgbClr val="0E1C46"/>
                </a:solidFill>
                <a:latin typeface="Calibri" pitchFamily="34" charset="0"/>
                <a:ea typeface="Calibri" pitchFamily="34" charset="-122"/>
                <a:cs typeface="Calibri" pitchFamily="34" charset="-120"/>
              </a:rPr>
              <a:t>Appliquer une méthode de recherche à une situation réelle.</a:t>
            </a:r>
            <a:endParaRPr lang="fr-FR" sz="1600" dirty="0"/>
          </a:p>
        </p:txBody>
      </p:sp>
      <p:sp>
        <p:nvSpPr>
          <p:cNvPr id="17" name="ib2"/>
          <p:cNvSpPr/>
          <p:nvPr/>
        </p:nvSpPr>
        <p:spPr>
          <a:xfrm>
            <a:off x="7946136" y="3611880"/>
            <a:ext cx="3383280" cy="2240280"/>
          </a:xfrm>
          <a:prstGeom prst="rect">
            <a:avLst/>
          </a:prstGeom>
          <a:solidFill>
            <a:srgbClr val="FFFFFF"/>
          </a:solidFill>
          <a:ln w="9525">
            <a:solidFill>
              <a:srgbClr val="D9DFEA"/>
            </a:solidFill>
            <a:prstDash val="solid"/>
          </a:ln>
        </p:spPr>
      </p:sp>
      <p:sp>
        <p:nvSpPr>
          <p:cNvPr id="18" name="ib2b"/>
          <p:cNvSpPr/>
          <p:nvPr/>
        </p:nvSpPr>
        <p:spPr>
          <a:xfrm>
            <a:off x="7946136" y="3611880"/>
            <a:ext cx="54864" cy="2240280"/>
          </a:xfrm>
          <a:prstGeom prst="rect">
            <a:avLst/>
          </a:prstGeom>
          <a:solidFill>
            <a:srgbClr val="9A6A00"/>
          </a:solidFill>
          <a:ln w="12700">
            <a:solidFill>
              <a:srgbClr val="9A6A00"/>
            </a:solidFill>
            <a:prstDash val="solid"/>
          </a:ln>
        </p:spPr>
      </p:sp>
      <p:sp>
        <p:nvSpPr>
          <p:cNvPr id="19" name="it2"/>
          <p:cNvSpPr txBox="1"/>
          <p:nvPr/>
        </p:nvSpPr>
        <p:spPr>
          <a:xfrm>
            <a:off x="8266176" y="3840480"/>
            <a:ext cx="2834640" cy="411480"/>
          </a:xfrm>
          <a:prstGeom prst="rect">
            <a:avLst/>
          </a:prstGeom>
          <a:noFill/>
          <a:ln/>
        </p:spPr>
        <p:txBody>
          <a:bodyPr wrap="square" lIns="0" tIns="0" rIns="0" bIns="0" rtlCol="0" anchor="t"/>
          <a:lstStyle/>
          <a:p>
            <a:pPr indent="0" marL="0">
              <a:buNone/>
            </a:pPr>
            <a:r>
              <a:rPr lang="fr-FR" altLang="en-US" sz="1900" b="1" dirty="0">
                <a:solidFill>
                  <a:srgbClr val="9A6A00"/>
                </a:solidFill>
                <a:latin typeface="Calibri" pitchFamily="34" charset="0"/>
                <a:ea typeface="Calibri" pitchFamily="34" charset="-122"/>
                <a:cs typeface="Calibri" pitchFamily="34" charset="-120"/>
              </a:rPr>
              <a:t>Intérêt social</a:t>
            </a:r>
            <a:endParaRPr lang="fr-FR" sz="1900" dirty="0"/>
          </a:p>
        </p:txBody>
      </p:sp>
      <p:sp>
        <p:nvSpPr>
          <p:cNvPr id="20" name="id2"/>
          <p:cNvSpPr txBox="1"/>
          <p:nvPr/>
        </p:nvSpPr>
        <p:spPr>
          <a:xfrm>
            <a:off x="8266176" y="4343400"/>
            <a:ext cx="2834640" cy="1280160"/>
          </a:xfrm>
          <a:prstGeom prst="rect">
            <a:avLst/>
          </a:prstGeom>
          <a:noFill/>
          <a:ln/>
        </p:spPr>
        <p:txBody>
          <a:bodyPr wrap="square" lIns="0" tIns="0" rIns="0" bIns="0" rtlCol="0" anchor="t"/>
          <a:lstStyle/>
          <a:p>
            <a:pPr indent="0" marL="0">
              <a:buNone/>
            </a:pPr>
            <a:r>
              <a:rPr lang="fr-FR" altLang="en-US" sz="1600" dirty="0">
                <a:solidFill>
                  <a:srgbClr val="0E1C46"/>
                </a:solidFill>
                <a:latin typeface="Calibri" pitchFamily="34" charset="0"/>
                <a:ea typeface="Calibri" pitchFamily="34" charset="-122"/>
                <a:cs typeface="Calibri" pitchFamily="34" charset="-120"/>
              </a:rPr>
              <a:t>La qualité du circuit touche directement les usagers de la mairie.</a:t>
            </a:r>
            <a:endParaRPr lang="fr-FR" sz="1600" dirty="0"/>
          </a:p>
        </p:txBody>
      </p:sp>
      <p:pic>
        <p:nvPicPr>
          <p:cNvPr id="21"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22"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3"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3 / 21</a:t>
            </a:r>
            <a:endParaRPr lang="fr-FR" sz="1000" dirty="0"/>
          </a:p>
        </p:txBody>
      </p:sp>
      <p:sp>
        <p:nvSpPr>
          <p:cNvPr id="24" name="!!band1"/>
          <p:cNvSpPr/>
          <p:nvPr/>
        </p:nvSpPr>
        <p:spPr>
          <a:xfrm>
            <a:off x="0" y="0"/>
            <a:ext cx="4873752" cy="64008"/>
          </a:xfrm>
          <a:prstGeom prst="rect">
            <a:avLst/>
          </a:prstGeom>
          <a:solidFill>
            <a:srgbClr val="1B3F9E"/>
          </a:solidFill>
          <a:ln w="12700">
            <a:solidFill>
              <a:srgbClr val="1B3F9E"/>
            </a:solidFill>
            <a:prstDash val="solid"/>
          </a:ln>
        </p:spPr>
      </p:sp>
      <p:sp>
        <p:nvSpPr>
          <p:cNvPr id="25" name="!!band2"/>
          <p:cNvSpPr/>
          <p:nvPr/>
        </p:nvSpPr>
        <p:spPr>
          <a:xfrm>
            <a:off x="4873752" y="0"/>
            <a:ext cx="4270248" cy="64008"/>
          </a:xfrm>
          <a:prstGeom prst="rect">
            <a:avLst/>
          </a:prstGeom>
          <a:solidFill>
            <a:srgbClr val="00923A"/>
          </a:solidFill>
          <a:ln w="12700">
            <a:solidFill>
              <a:srgbClr val="00923A"/>
            </a:solidFill>
            <a:prstDash val="solid"/>
          </a:ln>
        </p:spPr>
      </p:sp>
      <p:sp>
        <p:nvSpPr>
          <p:cNvPr id="26" name="!!band3"/>
          <p:cNvSpPr/>
          <p:nvPr/>
        </p:nvSpPr>
        <p:spPr>
          <a:xfrm>
            <a:off x="9144000" y="0"/>
            <a:ext cx="3047695" cy="64008"/>
          </a:xfrm>
          <a:prstGeom prst="rect">
            <a:avLst/>
          </a:prstGeom>
          <a:solidFill>
            <a:srgbClr val="FCC600"/>
          </a:solidFill>
          <a:ln w="12700">
            <a:solidFill>
              <a:srgbClr val="FCC600"/>
            </a:solidFill>
            <a:prstDash val="solid"/>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22" presetClass="entr" presetSubtype="4"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900"/>
                                        <p:tgtEl>
                                          <p:spTgt spid="7"/>
                                        </p:tgtEl>
                                      </p:cBhvr>
                                    </p:animEffect>
                                  </p:childTnLst>
                                </p:cTn>
                              </p:par>
                              <p:par>
                                <p:cTn id="20" presetID="10" presetClass="entr" presetSubtype="0" fill="hold" grpId="0" nodeType="withEffect">
                                  <p:stCondLst>
                                    <p:cond delay="3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10" presetClass="entr" presetSubtype="0" fill="hold" grpId="0" nodeType="withEffect">
                                  <p:stCondLst>
                                    <p:cond delay="4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p:tgtEl>
                                          <p:spTgt spid="9"/>
                                        </p:tgtEl>
                                      </p:cBhvr>
                                    </p:animEffect>
                                  </p:childTnLst>
                                </p:cTn>
                              </p:par>
                              <p:par>
                                <p:cTn id="26" presetID="22" presetClass="entr" presetSubtype="4" fill="hold" grpId="0" nodeType="withEffect">
                                  <p:stCondLst>
                                    <p:cond delay="450"/>
                                  </p:stCondLst>
                                  <p:childTnLst>
                                    <p:set>
                                      <p:cBhvr>
                                        <p:cTn id="27" dur="1" fill="hold">
                                          <p:stCondLst>
                                            <p:cond delay="0"/>
                                          </p:stCondLst>
                                        </p:cTn>
                                        <p:tgtEl>
                                          <p:spTgt spid="10"/>
                                        </p:tgtEl>
                                        <p:attrNameLst>
                                          <p:attrName>style.visibility</p:attrName>
                                        </p:attrNameLst>
                                      </p:cBhvr>
                                      <p:to>
                                        <p:strVal val="visible"/>
                                      </p:to>
                                    </p:set>
                                    <p:animEffect transition="in" filter="wipe(up)">
                                      <p:cBhvr>
                                        <p:cTn id="28" dur="900"/>
                                        <p:tgtEl>
                                          <p:spTgt spid="10"/>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600"/>
                                        <p:tgtEl>
                                          <p:spTgt spid="11"/>
                                        </p:tgtEl>
                                      </p:cBhvr>
                                    </p:animEffect>
                                  </p:childTnLst>
                                </p:cTn>
                              </p:par>
                              <p:par>
                                <p:cTn id="32" presetID="10" presetClass="entr" presetSubtype="0" fill="hold" grpId="0" nodeType="withEffect">
                                  <p:stCondLst>
                                    <p:cond delay="5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600"/>
                                        <p:tgtEl>
                                          <p:spTgt spid="12"/>
                                        </p:tgtEl>
                                      </p:cBhvr>
                                    </p:animEffect>
                                  </p:childTnLst>
                                </p:cTn>
                              </p:par>
                              <p:par>
                                <p:cTn id="35" presetID="10" presetClass="entr" presetSubtype="0" fill="hold" grpId="0" nodeType="withEffect">
                                  <p:stCondLst>
                                    <p:cond delay="7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600"/>
                                        <p:tgtEl>
                                          <p:spTgt spid="13"/>
                                        </p:tgtEl>
                                      </p:cBhvr>
                                    </p:animEffect>
                                  </p:childTnLst>
                                </p:cTn>
                              </p:par>
                              <p:par>
                                <p:cTn id="38" presetID="22" presetClass="entr" presetSubtype="4" fill="hold" grpId="0" nodeType="withEffect">
                                  <p:stCondLst>
                                    <p:cond delay="700"/>
                                  </p:stCondLst>
                                  <p:childTnLst>
                                    <p:set>
                                      <p:cBhvr>
                                        <p:cTn id="39" dur="1" fill="hold">
                                          <p:stCondLst>
                                            <p:cond delay="0"/>
                                          </p:stCondLst>
                                        </p:cTn>
                                        <p:tgtEl>
                                          <p:spTgt spid="14"/>
                                        </p:tgtEl>
                                        <p:attrNameLst>
                                          <p:attrName>style.visibility</p:attrName>
                                        </p:attrNameLst>
                                      </p:cBhvr>
                                      <p:to>
                                        <p:strVal val="visible"/>
                                      </p:to>
                                    </p:set>
                                    <p:animEffect transition="in" filter="wipe(up)">
                                      <p:cBhvr>
                                        <p:cTn id="40" dur="900"/>
                                        <p:tgtEl>
                                          <p:spTgt spid="14"/>
                                        </p:tgtEl>
                                      </p:cBhvr>
                                    </p:animEffect>
                                  </p:childTnLst>
                                </p:cTn>
                              </p:par>
                              <p:par>
                                <p:cTn id="41" presetID="10" presetClass="entr" presetSubtype="0" fill="hold" grpId="0" nodeType="withEffect">
                                  <p:stCondLst>
                                    <p:cond delay="75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600"/>
                                        <p:tgtEl>
                                          <p:spTgt spid="15"/>
                                        </p:tgtEl>
                                      </p:cBhvr>
                                    </p:animEffect>
                                  </p:childTnLst>
                                </p:cTn>
                              </p:par>
                              <p:par>
                                <p:cTn id="44" presetID="10" presetClass="entr" presetSubtype="0" fill="hold" grpId="0" nodeType="withEffect">
                                  <p:stCondLst>
                                    <p:cond delay="80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childTnLst>
                                </p:cTn>
                              </p:par>
                              <p:par>
                                <p:cTn id="47" presetID="10" presetClass="entr" presetSubtype="0" fill="hold" grpId="0" nodeType="withEffect">
                                  <p:stCondLst>
                                    <p:cond delay="95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600"/>
                                        <p:tgtEl>
                                          <p:spTgt spid="17"/>
                                        </p:tgtEl>
                                      </p:cBhvr>
                                    </p:animEffect>
                                  </p:childTnLst>
                                </p:cTn>
                              </p:par>
                              <p:par>
                                <p:cTn id="50" presetID="22" presetClass="entr" presetSubtype="4" fill="hold" grpId="0" nodeType="withEffect">
                                  <p:stCondLst>
                                    <p:cond delay="950"/>
                                  </p:stCondLst>
                                  <p:childTnLst>
                                    <p:set>
                                      <p:cBhvr>
                                        <p:cTn id="51" dur="1" fill="hold">
                                          <p:stCondLst>
                                            <p:cond delay="0"/>
                                          </p:stCondLst>
                                        </p:cTn>
                                        <p:tgtEl>
                                          <p:spTgt spid="18"/>
                                        </p:tgtEl>
                                        <p:attrNameLst>
                                          <p:attrName>style.visibility</p:attrName>
                                        </p:attrNameLst>
                                      </p:cBhvr>
                                      <p:to>
                                        <p:strVal val="visible"/>
                                      </p:to>
                                    </p:set>
                                    <p:animEffect transition="in" filter="wipe(up)">
                                      <p:cBhvr>
                                        <p:cTn id="52" dur="900"/>
                                        <p:tgtEl>
                                          <p:spTgt spid="18"/>
                                        </p:tgtEl>
                                      </p:cBhvr>
                                    </p:animEffect>
                                  </p:childTnLst>
                                </p:cTn>
                              </p:par>
                              <p:par>
                                <p:cTn id="53" presetID="10" presetClass="entr" presetSubtype="0" fill="hold" grpId="0" nodeType="withEffect">
                                  <p:stCondLst>
                                    <p:cond delay="10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600"/>
                                        <p:tgtEl>
                                          <p:spTgt spid="19"/>
                                        </p:tgtEl>
                                      </p:cBhvr>
                                    </p:animEffect>
                                  </p:childTnLst>
                                </p:cTn>
                              </p:par>
                              <p:par>
                                <p:cTn id="56" presetID="10" presetClass="entr" presetSubtype="0" fill="hold" grpId="0" nodeType="withEffect">
                                  <p:stCondLst>
                                    <p:cond delay="105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8" grpId="0" animBg="1"/>
      <p:bldP spid="11" grpId="0" animBg="1"/>
      <p:bldP spid="12" grpId="0" animBg="1"/>
      <p:bldP spid="15" grpId="0" animBg="1"/>
      <p:bldP spid="16" grpId="0" animBg="1"/>
      <p:bldP spid="19" grpId="0" animBg="1"/>
      <p:bldP spid="2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L0" descr="Carte">    </p:cNvPr>
          <p:cNvPicPr>
            <a:picLocks noChangeAspect="1"/>
          </p:cNvPicPr>
          <p:nvPr/>
        </p:nvPicPr>
        <p:blipFill>
          <a:blip r:embed="rId1"/>
          <a:stretch>
            <a:fillRect/>
          </a:stretch>
        </p:blipFill>
        <p:spPr>
          <a:xfrm>
            <a:off x="6573512" y="320040"/>
            <a:ext cx="2580657" cy="6172200"/>
          </a:xfrm>
          <a:prstGeom prst="rect">
            <a:avLst/>
          </a:prstGeom>
        </p:spPr>
      </p:pic>
      <p:pic>
        <p:nvPicPr>
          <p:cNvPr id="3" name="!!pin" descr="Repère">    </p:cNvPr>
          <p:cNvPicPr>
            <a:picLocks noChangeAspect="1"/>
          </p:cNvPicPr>
          <p:nvPr/>
        </p:nvPicPr>
        <p:blipFill>
          <a:blip r:embed="rId2"/>
          <a:stretch>
            <a:fillRect/>
          </a:stretch>
        </p:blipFill>
        <p:spPr>
          <a:xfrm>
            <a:off x="8089737" y="5675108"/>
            <a:ext cx="457200" cy="660400"/>
          </a:xfrm>
          <a:prstGeom prst="rect">
            <a:avLst/>
          </a:prstGeom>
        </p:spPr>
      </p:pic>
      <p:sp>
        <p:nvSpPr>
          <p:cNvPr id="4" name="plab"/>
          <p:cNvSpPr/>
          <p:nvPr/>
        </p:nvSpPr>
        <p:spPr>
          <a:xfrm>
            <a:off x="8665809" y="5668504"/>
            <a:ext cx="1188720" cy="384048"/>
          </a:xfrm>
          <a:prstGeom prst="rect">
            <a:avLst/>
          </a:prstGeom>
          <a:solidFill>
            <a:srgbClr val="0E1C46"/>
          </a:solidFill>
          <a:ln w="12700">
            <a:solidFill>
              <a:srgbClr val="0E1C46"/>
            </a:solidFill>
            <a:prstDash val="solid"/>
          </a:ln>
        </p:spPr>
      </p:sp>
      <p:sp>
        <p:nvSpPr>
          <p:cNvPr id="5" name="plabt"/>
          <p:cNvSpPr txBox="1"/>
          <p:nvPr/>
        </p:nvSpPr>
        <p:spPr>
          <a:xfrm>
            <a:off x="8665809" y="5668504"/>
            <a:ext cx="1188720" cy="384048"/>
          </a:xfrm>
          <a:prstGeom prst="rect">
            <a:avLst/>
          </a:prstGeom>
          <a:noFill/>
          <a:ln/>
        </p:spPr>
        <p:txBody>
          <a:bodyPr wrap="square" lIns="0" tIns="0" rIns="0" bIns="0" rtlCol="0" anchor="ctr"/>
          <a:lstStyle/>
          <a:p>
            <a:pPr algn="ctr" indent="0" marL="0">
              <a:buNone/>
            </a:pPr>
            <a:r>
              <a:rPr lang="fr-FR" altLang="en-US" sz="1300" b="1" dirty="0">
                <a:solidFill>
                  <a:srgbClr val="FFFFFF"/>
                </a:solidFill>
                <a:latin typeface="Calibri" pitchFamily="34" charset="0"/>
                <a:ea typeface="Calibri" pitchFamily="34" charset="-122"/>
                <a:cs typeface="Calibri" pitchFamily="34" charset="-120"/>
              </a:rPr>
              <a:t>Lomé</a:t>
            </a:r>
            <a:endParaRPr lang="fr-FR" sz="1300" dirty="0"/>
          </a:p>
        </p:txBody>
      </p:sp>
      <p:sp>
        <p:nvSpPr>
          <p:cNvPr id="6" name="lab0"/>
          <p:cNvSpPr txBox="1"/>
          <p:nvPr/>
        </p:nvSpPr>
        <p:spPr>
          <a:xfrm>
            <a:off x="6306336" y="1074779"/>
            <a:ext cx="2194560" cy="292608"/>
          </a:xfrm>
          <a:prstGeom prst="rect">
            <a:avLst/>
          </a:prstGeom>
          <a:noFill/>
          <a:ln/>
        </p:spPr>
        <p:txBody>
          <a:bodyPr wrap="square" lIns="0" tIns="0" rIns="0" bIns="0" rtlCol="0" anchor="t"/>
          <a:lstStyle/>
          <a:p>
            <a:pPr algn="ctr" indent="0" marL="0">
              <a:buNone/>
            </a:pPr>
            <a:r>
              <a:rPr lang="fr-FR" altLang="en-US" sz="1400" b="1" dirty="0">
                <a:solidFill>
                  <a:srgbClr val="0E1C46"/>
                </a:solidFill>
                <a:latin typeface="Calibri" pitchFamily="34" charset="0"/>
                <a:ea typeface="Calibri" pitchFamily="34" charset="-122"/>
                <a:cs typeface="Calibri" pitchFamily="34" charset="-120"/>
              </a:rPr>
              <a:t>Savanes</a:t>
            </a:r>
            <a:endParaRPr lang="fr-FR" sz="1400" dirty="0"/>
          </a:p>
        </p:txBody>
      </p:sp>
      <p:sp>
        <p:nvSpPr>
          <p:cNvPr id="7" name="lab1"/>
          <p:cNvSpPr txBox="1"/>
          <p:nvPr/>
        </p:nvSpPr>
        <p:spPr>
          <a:xfrm>
            <a:off x="6768448" y="2200553"/>
            <a:ext cx="2194560" cy="292608"/>
          </a:xfrm>
          <a:prstGeom prst="rect">
            <a:avLst/>
          </a:prstGeom>
          <a:noFill/>
          <a:ln/>
        </p:spPr>
        <p:txBody>
          <a:bodyPr wrap="square" lIns="0" tIns="0" rIns="0" bIns="0" rtlCol="0" anchor="t"/>
          <a:lstStyle/>
          <a:p>
            <a:pPr algn="ctr" indent="0" marL="0">
              <a:buNone/>
            </a:pPr>
            <a:r>
              <a:rPr lang="fr-FR" altLang="en-US" sz="1400" b="1" dirty="0">
                <a:solidFill>
                  <a:srgbClr val="0E1C46"/>
                </a:solidFill>
                <a:latin typeface="Calibri" pitchFamily="34" charset="0"/>
                <a:ea typeface="Calibri" pitchFamily="34" charset="-122"/>
                <a:cs typeface="Calibri" pitchFamily="34" charset="-120"/>
              </a:rPr>
              <a:t>Kara</a:t>
            </a:r>
            <a:endParaRPr lang="fr-FR" sz="1400" dirty="0"/>
          </a:p>
        </p:txBody>
      </p:sp>
      <p:sp>
        <p:nvSpPr>
          <p:cNvPr id="8" name="lab2"/>
          <p:cNvSpPr txBox="1"/>
          <p:nvPr/>
        </p:nvSpPr>
        <p:spPr>
          <a:xfrm>
            <a:off x="6982228" y="3287999"/>
            <a:ext cx="2194560" cy="292608"/>
          </a:xfrm>
          <a:prstGeom prst="rect">
            <a:avLst/>
          </a:prstGeom>
          <a:noFill/>
          <a:ln/>
        </p:spPr>
        <p:txBody>
          <a:bodyPr wrap="square" lIns="0" tIns="0" rIns="0" bIns="0" rtlCol="0" anchor="t"/>
          <a:lstStyle/>
          <a:p>
            <a:pPr algn="ctr" indent="0" marL="0">
              <a:buNone/>
            </a:pPr>
            <a:r>
              <a:rPr lang="fr-FR" altLang="en-US" sz="1400" b="1" dirty="0">
                <a:solidFill>
                  <a:srgbClr val="0E1C46"/>
                </a:solidFill>
                <a:latin typeface="Calibri" pitchFamily="34" charset="0"/>
                <a:ea typeface="Calibri" pitchFamily="34" charset="-122"/>
                <a:cs typeface="Calibri" pitchFamily="34" charset="-120"/>
              </a:rPr>
              <a:t>Centrale</a:t>
            </a:r>
            <a:endParaRPr lang="fr-FR" sz="1400" dirty="0"/>
          </a:p>
        </p:txBody>
      </p:sp>
      <p:sp>
        <p:nvSpPr>
          <p:cNvPr id="9" name="lab3"/>
          <p:cNvSpPr txBox="1"/>
          <p:nvPr/>
        </p:nvSpPr>
        <p:spPr>
          <a:xfrm>
            <a:off x="7062101" y="4605055"/>
            <a:ext cx="2194560" cy="292608"/>
          </a:xfrm>
          <a:prstGeom prst="rect">
            <a:avLst/>
          </a:prstGeom>
          <a:noFill/>
          <a:ln/>
        </p:spPr>
        <p:txBody>
          <a:bodyPr wrap="square" lIns="0" tIns="0" rIns="0" bIns="0" rtlCol="0" anchor="t"/>
          <a:lstStyle/>
          <a:p>
            <a:pPr algn="ctr" indent="0" marL="0">
              <a:buNone/>
            </a:pPr>
            <a:r>
              <a:rPr lang="fr-FR" altLang="en-US" sz="1400" b="1" dirty="0">
                <a:solidFill>
                  <a:srgbClr val="0E1C46"/>
                </a:solidFill>
                <a:latin typeface="Calibri" pitchFamily="34" charset="0"/>
                <a:ea typeface="Calibri" pitchFamily="34" charset="-122"/>
                <a:cs typeface="Calibri" pitchFamily="34" charset="-120"/>
              </a:rPr>
              <a:t>Plateaux</a:t>
            </a:r>
            <a:endParaRPr lang="fr-FR" sz="1400" dirty="0"/>
          </a:p>
        </p:txBody>
      </p:sp>
      <p:sp>
        <p:nvSpPr>
          <p:cNvPr id="10" name="lab4"/>
          <p:cNvSpPr txBox="1"/>
          <p:nvPr/>
        </p:nvSpPr>
        <p:spPr>
          <a:xfrm>
            <a:off x="6296717" y="2478864"/>
            <a:ext cx="2194560" cy="292608"/>
          </a:xfrm>
          <a:prstGeom prst="rect">
            <a:avLst/>
          </a:prstGeom>
          <a:noFill/>
          <a:ln/>
        </p:spPr>
        <p:txBody>
          <a:bodyPr wrap="square" lIns="0" tIns="0" rIns="0" bIns="0" rtlCol="0" anchor="t"/>
          <a:lstStyle/>
          <a:p>
            <a:pPr algn="ctr" indent="0" marL="0">
              <a:buNone/>
            </a:pPr>
            <a:r>
              <a:rPr lang="fr-FR" altLang="en-US" sz="1200" dirty="0">
                <a:solidFill>
                  <a:srgbClr val="56617C"/>
                </a:solidFill>
                <a:latin typeface="Calibri" pitchFamily="34" charset="0"/>
                <a:ea typeface="Calibri" pitchFamily="34" charset="-122"/>
                <a:cs typeface="Calibri" pitchFamily="34" charset="-120"/>
              </a:rPr>
              <a:t>GHANA</a:t>
            </a:r>
            <a:endParaRPr lang="fr-FR" sz="1200" dirty="0"/>
          </a:p>
        </p:txBody>
      </p:sp>
      <p:sp>
        <p:nvSpPr>
          <p:cNvPr id="11" name="lab5"/>
          <p:cNvSpPr txBox="1"/>
          <p:nvPr/>
        </p:nvSpPr>
        <p:spPr>
          <a:xfrm>
            <a:off x="8166429" y="2478864"/>
            <a:ext cx="2194560" cy="292608"/>
          </a:xfrm>
          <a:prstGeom prst="rect">
            <a:avLst/>
          </a:prstGeom>
          <a:noFill/>
          <a:ln/>
        </p:spPr>
        <p:txBody>
          <a:bodyPr wrap="square" lIns="0" tIns="0" rIns="0" bIns="0" rtlCol="0" anchor="t"/>
          <a:lstStyle/>
          <a:p>
            <a:pPr algn="ctr" indent="0" marL="0">
              <a:buNone/>
            </a:pPr>
            <a:r>
              <a:rPr lang="fr-FR" altLang="en-US" sz="1200" dirty="0">
                <a:solidFill>
                  <a:srgbClr val="56617C"/>
                </a:solidFill>
                <a:latin typeface="Calibri" pitchFamily="34" charset="0"/>
                <a:ea typeface="Calibri" pitchFamily="34" charset="-122"/>
                <a:cs typeface="Calibri" pitchFamily="34" charset="-120"/>
              </a:rPr>
              <a:t>BÉNIN</a:t>
            </a:r>
            <a:endParaRPr lang="fr-FR" sz="1200" dirty="0"/>
          </a:p>
        </p:txBody>
      </p:sp>
      <p:sp>
        <p:nvSpPr>
          <p:cNvPr id="12" name="lab6"/>
          <p:cNvSpPr txBox="1"/>
          <p:nvPr/>
        </p:nvSpPr>
        <p:spPr>
          <a:xfrm>
            <a:off x="6904660" y="335364"/>
            <a:ext cx="2194560" cy="292608"/>
          </a:xfrm>
          <a:prstGeom prst="rect">
            <a:avLst/>
          </a:prstGeom>
          <a:noFill/>
          <a:ln/>
        </p:spPr>
        <p:txBody>
          <a:bodyPr wrap="square" lIns="0" tIns="0" rIns="0" bIns="0" rtlCol="0" anchor="t"/>
          <a:lstStyle/>
          <a:p>
            <a:pPr algn="ctr" indent="0" marL="0">
              <a:buNone/>
            </a:pPr>
            <a:r>
              <a:rPr lang="fr-FR" altLang="en-US" sz="1200" dirty="0">
                <a:solidFill>
                  <a:srgbClr val="56617C"/>
                </a:solidFill>
                <a:latin typeface="Calibri" pitchFamily="34" charset="0"/>
                <a:ea typeface="Calibri" pitchFamily="34" charset="-122"/>
                <a:cs typeface="Calibri" pitchFamily="34" charset="-120"/>
              </a:rPr>
              <a:t>BURKINA FASO</a:t>
            </a:r>
            <a:endParaRPr lang="fr-FR" sz="1200" dirty="0"/>
          </a:p>
        </p:txBody>
      </p:sp>
      <p:sp>
        <p:nvSpPr>
          <p:cNvPr id="13" name="lab7"/>
          <p:cNvSpPr txBox="1"/>
          <p:nvPr/>
        </p:nvSpPr>
        <p:spPr>
          <a:xfrm>
            <a:off x="7191426" y="6464617"/>
            <a:ext cx="2194560" cy="292608"/>
          </a:xfrm>
          <a:prstGeom prst="rect">
            <a:avLst/>
          </a:prstGeom>
          <a:noFill/>
          <a:ln/>
        </p:spPr>
        <p:txBody>
          <a:bodyPr wrap="square" lIns="0" tIns="0" rIns="0" bIns="0" rtlCol="0" anchor="t"/>
          <a:lstStyle/>
          <a:p>
            <a:pPr algn="ctr" indent="0" marL="0">
              <a:buNone/>
            </a:pPr>
            <a:r>
              <a:rPr lang="fr-FR" altLang="en-US" sz="1200" i="1" dirty="0">
                <a:solidFill>
                  <a:srgbClr val="1B3F9E"/>
                </a:solidFill>
                <a:latin typeface="Calibri" pitchFamily="34" charset="0"/>
                <a:ea typeface="Calibri" pitchFamily="34" charset="-122"/>
                <a:cs typeface="Calibri" pitchFamily="34" charset="-120"/>
              </a:rPr>
              <a:t>Golfe de Guinée</a:t>
            </a:r>
            <a:endParaRPr lang="fr-FR" sz="1200" dirty="0"/>
          </a:p>
        </p:txBody>
      </p:sp>
      <p:sp>
        <p:nvSpPr>
          <p:cNvPr id="14" name="!!mapcard"/>
          <p:cNvSpPr/>
          <p:nvPr/>
        </p:nvSpPr>
        <p:spPr>
          <a:xfrm>
            <a:off x="502920" y="502920"/>
            <a:ext cx="3611880" cy="5486400"/>
          </a:xfrm>
          <a:prstGeom prst="rect">
            <a:avLst/>
          </a:prstGeom>
          <a:solidFill>
            <a:srgbClr val="FFFFFF"/>
          </a:solidFill>
          <a:ln w="9525">
            <a:solidFill>
              <a:srgbClr val="D9DFEA"/>
            </a:solidFill>
            <a:prstDash val="solid"/>
          </a:ln>
        </p:spPr>
      </p:sp>
      <p:sp>
        <p:nvSpPr>
          <p:cNvPr id="15" name="!!mapcardb"/>
          <p:cNvSpPr/>
          <p:nvPr/>
        </p:nvSpPr>
        <p:spPr>
          <a:xfrm>
            <a:off x="502920" y="502920"/>
            <a:ext cx="3611880" cy="54864"/>
          </a:xfrm>
          <a:prstGeom prst="rect">
            <a:avLst/>
          </a:prstGeom>
          <a:solidFill>
            <a:srgbClr val="1B3F9E"/>
          </a:solidFill>
          <a:ln w="12700">
            <a:solidFill>
              <a:srgbClr val="1B3F9E"/>
            </a:solidFill>
            <a:prstDash val="solid"/>
          </a:ln>
        </p:spPr>
      </p:sp>
      <p:sp>
        <p:nvSpPr>
          <p:cNvPr id="16" name="!!dot0"/>
          <p:cNvSpPr/>
          <p:nvPr/>
        </p:nvSpPr>
        <p:spPr>
          <a:xfrm>
            <a:off x="822960" y="868680"/>
            <a:ext cx="365760" cy="365760"/>
          </a:xfrm>
          <a:prstGeom prst="ellipse">
            <a:avLst/>
          </a:prstGeom>
          <a:solidFill>
            <a:srgbClr val="1B3F9E"/>
          </a:solidFill>
          <a:ln w="15875">
            <a:solidFill>
              <a:srgbClr val="1B3F9E"/>
            </a:solidFill>
            <a:prstDash val="solid"/>
          </a:ln>
        </p:spPr>
      </p:sp>
      <p:sp>
        <p:nvSpPr>
          <p:cNvPr id="17" name="!!dott0"/>
          <p:cNvSpPr txBox="1"/>
          <p:nvPr/>
        </p:nvSpPr>
        <p:spPr>
          <a:xfrm>
            <a:off x="822960"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1</a:t>
            </a:r>
            <a:endParaRPr lang="fr-FR" sz="1200" dirty="0"/>
          </a:p>
        </p:txBody>
      </p:sp>
      <p:sp>
        <p:nvSpPr>
          <p:cNvPr id="18" name="!!dot1"/>
          <p:cNvSpPr/>
          <p:nvPr/>
        </p:nvSpPr>
        <p:spPr>
          <a:xfrm>
            <a:off x="1389888" y="868680"/>
            <a:ext cx="365760" cy="365760"/>
          </a:xfrm>
          <a:prstGeom prst="ellipse">
            <a:avLst/>
          </a:prstGeom>
          <a:solidFill>
            <a:srgbClr val="FFFFFF"/>
          </a:solidFill>
          <a:ln w="15875">
            <a:solidFill>
              <a:srgbClr val="BFC8DA"/>
            </a:solidFill>
            <a:prstDash val="solid"/>
          </a:ln>
        </p:spPr>
      </p:sp>
      <p:sp>
        <p:nvSpPr>
          <p:cNvPr id="19" name="!!dott1"/>
          <p:cNvSpPr txBox="1"/>
          <p:nvPr/>
        </p:nvSpPr>
        <p:spPr>
          <a:xfrm>
            <a:off x="1389888"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2</a:t>
            </a:r>
            <a:endParaRPr lang="fr-FR" sz="1200" dirty="0"/>
          </a:p>
        </p:txBody>
      </p:sp>
      <p:sp>
        <p:nvSpPr>
          <p:cNvPr id="20" name="!!dot2"/>
          <p:cNvSpPr/>
          <p:nvPr/>
        </p:nvSpPr>
        <p:spPr>
          <a:xfrm>
            <a:off x="1956816" y="868680"/>
            <a:ext cx="365760" cy="365760"/>
          </a:xfrm>
          <a:prstGeom prst="ellipse">
            <a:avLst/>
          </a:prstGeom>
          <a:solidFill>
            <a:srgbClr val="FFFFFF"/>
          </a:solidFill>
          <a:ln w="15875">
            <a:solidFill>
              <a:srgbClr val="BFC8DA"/>
            </a:solidFill>
            <a:prstDash val="solid"/>
          </a:ln>
        </p:spPr>
      </p:sp>
      <p:sp>
        <p:nvSpPr>
          <p:cNvPr id="21" name="!!dott2"/>
          <p:cNvSpPr txBox="1"/>
          <p:nvPr/>
        </p:nvSpPr>
        <p:spPr>
          <a:xfrm>
            <a:off x="1956816"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3</a:t>
            </a:r>
            <a:endParaRPr lang="fr-FR" sz="1200" dirty="0"/>
          </a:p>
        </p:txBody>
      </p:sp>
      <p:sp>
        <p:nvSpPr>
          <p:cNvPr id="22" name="!!dot3"/>
          <p:cNvSpPr/>
          <p:nvPr/>
        </p:nvSpPr>
        <p:spPr>
          <a:xfrm>
            <a:off x="2523744" y="868680"/>
            <a:ext cx="365760" cy="365760"/>
          </a:xfrm>
          <a:prstGeom prst="ellipse">
            <a:avLst/>
          </a:prstGeom>
          <a:solidFill>
            <a:srgbClr val="FFFFFF"/>
          </a:solidFill>
          <a:ln w="15875">
            <a:solidFill>
              <a:srgbClr val="BFC8DA"/>
            </a:solidFill>
            <a:prstDash val="solid"/>
          </a:ln>
        </p:spPr>
      </p:sp>
      <p:sp>
        <p:nvSpPr>
          <p:cNvPr id="23" name="!!dott3"/>
          <p:cNvSpPr txBox="1"/>
          <p:nvPr/>
        </p:nvSpPr>
        <p:spPr>
          <a:xfrm>
            <a:off x="2523744"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4</a:t>
            </a:r>
            <a:endParaRPr lang="fr-FR" sz="1200" dirty="0"/>
          </a:p>
        </p:txBody>
      </p:sp>
      <p:sp>
        <p:nvSpPr>
          <p:cNvPr id="24" name="!!dot4"/>
          <p:cNvSpPr/>
          <p:nvPr/>
        </p:nvSpPr>
        <p:spPr>
          <a:xfrm>
            <a:off x="3090672" y="868680"/>
            <a:ext cx="365760" cy="365760"/>
          </a:xfrm>
          <a:prstGeom prst="ellipse">
            <a:avLst/>
          </a:prstGeom>
          <a:solidFill>
            <a:srgbClr val="FFFFFF"/>
          </a:solidFill>
          <a:ln w="15875">
            <a:solidFill>
              <a:srgbClr val="BFC8DA"/>
            </a:solidFill>
            <a:prstDash val="solid"/>
          </a:ln>
        </p:spPr>
      </p:sp>
      <p:sp>
        <p:nvSpPr>
          <p:cNvPr id="25" name="!!dott4"/>
          <p:cNvSpPr txBox="1"/>
          <p:nvPr/>
        </p:nvSpPr>
        <p:spPr>
          <a:xfrm>
            <a:off x="3090672"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5</a:t>
            </a:r>
            <a:endParaRPr lang="fr-FR" sz="1200" dirty="0"/>
          </a:p>
        </p:txBody>
      </p:sp>
      <p:sp>
        <p:nvSpPr>
          <p:cNvPr id="26" name="mstep"/>
          <p:cNvSpPr txBox="1"/>
          <p:nvPr/>
        </p:nvSpPr>
        <p:spPr>
          <a:xfrm>
            <a:off x="822960" y="1444752"/>
            <a:ext cx="3108960" cy="274320"/>
          </a:xfrm>
          <a:prstGeom prst="rect">
            <a:avLst/>
          </a:prstGeom>
          <a:noFill/>
          <a:ln/>
        </p:spPr>
        <p:txBody>
          <a:bodyPr wrap="square" lIns="0" tIns="0" rIns="0" bIns="0" rtlCol="0" anchor="t"/>
          <a:lstStyle/>
          <a:p>
            <a:pPr indent="0" marL="0">
              <a:buNone/>
            </a:pPr>
            <a:r>
              <a:rPr lang="fr-FR" altLang="en-US" sz="1300" b="1" dirty="0">
                <a:solidFill>
                  <a:srgbClr val="00923A"/>
                </a:solidFill>
                <a:latin typeface="Calibri" pitchFamily="34" charset="0"/>
                <a:ea typeface="Calibri" pitchFamily="34" charset="-122"/>
                <a:cs typeface="Calibri" pitchFamily="34" charset="-120"/>
              </a:rPr>
              <a:t>Étape 1 sur 5 · Togo</a:t>
            </a:r>
            <a:endParaRPr lang="fr-FR" sz="1300" dirty="0"/>
          </a:p>
        </p:txBody>
      </p:sp>
      <p:sp>
        <p:nvSpPr>
          <p:cNvPr id="27" name="mtitle"/>
          <p:cNvSpPr txBox="1"/>
          <p:nvPr/>
        </p:nvSpPr>
        <p:spPr>
          <a:xfrm>
            <a:off x="822960" y="1755648"/>
            <a:ext cx="3063240" cy="914400"/>
          </a:xfrm>
          <a:prstGeom prst="rect">
            <a:avLst/>
          </a:prstGeom>
          <a:noFill/>
          <a:ln/>
        </p:spPr>
        <p:txBody>
          <a:bodyPr wrap="square" lIns="0" tIns="0" rIns="0" bIns="0" rtlCol="0" anchor="t"/>
          <a:lstStyle/>
          <a:p>
            <a:pPr indent="0" marL="0">
              <a:buNone/>
            </a:pPr>
            <a:r>
              <a:rPr lang="fr-FR" altLang="en-US" sz="2400" b="1" dirty="0">
                <a:solidFill>
                  <a:srgbClr val="0E1C46"/>
                </a:solidFill>
                <a:latin typeface="Calibri" pitchFamily="34" charset="0"/>
                <a:ea typeface="Calibri" pitchFamily="34" charset="-122"/>
                <a:cs typeface="Calibri" pitchFamily="34" charset="-120"/>
              </a:rPr>
              <a:t>Le Togo</a:t>
            </a:r>
            <a:endParaRPr lang="fr-FR" sz="2400" dirty="0"/>
          </a:p>
        </p:txBody>
      </p:sp>
      <p:sp>
        <p:nvSpPr>
          <p:cNvPr id="28" name="mtext"/>
          <p:cNvSpPr txBox="1"/>
          <p:nvPr/>
        </p:nvSpPr>
        <p:spPr>
          <a:xfrm>
            <a:off x="822960" y="2715768"/>
            <a:ext cx="3017520" cy="1325880"/>
          </a:xfrm>
          <a:prstGeom prst="rect">
            <a:avLst/>
          </a:prstGeom>
          <a:noFill/>
          <a:ln/>
        </p:spPr>
        <p:txBody>
          <a:bodyPr wrap="square" lIns="0" tIns="0" rIns="0" bIns="0" rtlCol="0" anchor="t"/>
          <a:lstStyle/>
          <a:p>
            <a:pPr indent="0" marL="0">
              <a:buNone/>
            </a:pPr>
            <a:r>
              <a:rPr lang="fr-FR" altLang="en-US" sz="1400" dirty="0">
                <a:solidFill>
                  <a:srgbClr val="56617C"/>
                </a:solidFill>
                <a:latin typeface="Calibri" pitchFamily="34" charset="0"/>
                <a:ea typeface="Calibri" pitchFamily="34" charset="-122"/>
                <a:cs typeface="Calibri" pitchFamily="34" charset="-120"/>
              </a:rPr>
              <a:t>Un pays d’Afrique de l’Ouest découpé en cinq régions. La mairie se trouve tout au sud, dans la région Maritime.</a:t>
            </a:r>
            <a:endParaRPr lang="fr-FR" sz="1400" dirty="0"/>
          </a:p>
        </p:txBody>
      </p:sp>
      <p:sp>
        <p:nvSpPr>
          <p:cNvPr id="29" name="mf0"/>
          <p:cNvSpPr txBox="1"/>
          <p:nvPr/>
        </p:nvSpPr>
        <p:spPr>
          <a:xfrm>
            <a:off x="82296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5</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régions</a:t>
            </a:r>
            <a:endParaRPr lang="fr-FR" sz="2000" dirty="0"/>
          </a:p>
        </p:txBody>
      </p:sp>
      <p:sp>
        <p:nvSpPr>
          <p:cNvPr id="30" name="mf1"/>
          <p:cNvSpPr txBox="1"/>
          <p:nvPr/>
        </p:nvSpPr>
        <p:spPr>
          <a:xfrm>
            <a:off x="237744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117</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communes</a:t>
            </a:r>
            <a:endParaRPr lang="fr-FR" sz="2000" dirty="0"/>
          </a:p>
        </p:txBody>
      </p:sp>
      <p:sp>
        <p:nvSpPr>
          <p:cNvPr id="31" name="mf2"/>
          <p:cNvSpPr txBox="1"/>
          <p:nvPr/>
        </p:nvSpPr>
        <p:spPr>
          <a:xfrm>
            <a:off x="822960" y="489204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Lomé</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capitale</a:t>
            </a:r>
            <a:endParaRPr lang="fr-FR" sz="2000" dirty="0"/>
          </a:p>
        </p:txBody>
      </p:sp>
      <p:sp>
        <p:nvSpPr>
          <p:cNvPr id="32" name="mpart">
            <a:hlinkClick r:id="rId3" tooltip="Étape suivante" action="ppaction://hlinksldjump"/>
          </p:cNvPr>
          <p:cNvSpPr txBox="1"/>
          <p:nvPr/>
        </p:nvSpPr>
        <p:spPr>
          <a:xfrm>
            <a:off x="822960" y="5559552"/>
            <a:ext cx="3017520" cy="274320"/>
          </a:xfrm>
          <a:prstGeom prst="rect">
            <a:avLst/>
          </a:prstGeom>
          <a:noFill/>
          <a:ln/>
        </p:spPr>
        <p:txBody>
          <a:bodyPr wrap="square" lIns="0" tIns="0" rIns="0" bIns="0" rtlCol="0" anchor="t"/>
          <a:lstStyle/>
          <a:p>
            <a:pPr indent="0" marL="0">
              <a:buNone/>
            </a:pPr>
            <a:r>
              <a:rPr lang="fr-FR" altLang="en-US" sz="1100" dirty="0">
                <a:solidFill>
                  <a:srgbClr val="56617C"/>
                </a:solidFill>
                <a:latin typeface="Calibri" pitchFamily="34" charset="0"/>
                <a:ea typeface="Calibri" pitchFamily="34" charset="-122"/>
                <a:cs typeface="Calibri" pitchFamily="34" charset="-120"/>
              </a:rPr>
              <a:t>Partie 1 — Structure d’accueil</a:t>
            </a:r>
            <a:endParaRPr lang="fr-FR" sz="1100" dirty="0"/>
          </a:p>
        </p:txBody>
      </p:sp>
      <p:sp>
        <p:nvSpPr>
          <p:cNvPr id="33" name="!!band1"/>
          <p:cNvSpPr/>
          <p:nvPr/>
        </p:nvSpPr>
        <p:spPr>
          <a:xfrm>
            <a:off x="0" y="0"/>
            <a:ext cx="4873752" cy="64008"/>
          </a:xfrm>
          <a:prstGeom prst="rect">
            <a:avLst/>
          </a:prstGeom>
          <a:solidFill>
            <a:srgbClr val="1B3F9E"/>
          </a:solidFill>
          <a:ln w="12700">
            <a:solidFill>
              <a:srgbClr val="1B3F9E"/>
            </a:solidFill>
            <a:prstDash val="solid"/>
          </a:ln>
        </p:spPr>
      </p:sp>
      <p:sp>
        <p:nvSpPr>
          <p:cNvPr id="34" name="!!band2"/>
          <p:cNvSpPr/>
          <p:nvPr/>
        </p:nvSpPr>
        <p:spPr>
          <a:xfrm>
            <a:off x="4873752" y="0"/>
            <a:ext cx="4270248" cy="64008"/>
          </a:xfrm>
          <a:prstGeom prst="rect">
            <a:avLst/>
          </a:prstGeom>
          <a:solidFill>
            <a:srgbClr val="00923A"/>
          </a:solidFill>
          <a:ln w="12700">
            <a:solidFill>
              <a:srgbClr val="00923A"/>
            </a:solidFill>
            <a:prstDash val="solid"/>
          </a:ln>
        </p:spPr>
      </p:sp>
      <p:sp>
        <p:nvSpPr>
          <p:cNvPr id="35" name="!!band3"/>
          <p:cNvSpPr/>
          <p:nvPr/>
        </p:nvSpPr>
        <p:spPr>
          <a:xfrm>
            <a:off x="9144000" y="0"/>
            <a:ext cx="3047695" cy="64008"/>
          </a:xfrm>
          <a:prstGeom prst="rect">
            <a:avLst/>
          </a:prstGeom>
          <a:solidFill>
            <a:srgbClr val="FCC600"/>
          </a:solidFill>
          <a:ln w="12700">
            <a:solidFill>
              <a:srgbClr val="FCC600"/>
            </a:solidFill>
            <a:prstDash val="solid"/>
          </a:ln>
        </p:spPr>
      </p:sp>
      <p:sp>
        <p:nvSpPr>
          <p:cNvPr id="36" name="!!railline"/>
          <p:cNvSpPr/>
          <p:nvPr/>
        </p:nvSpPr>
        <p:spPr>
          <a:xfrm>
            <a:off x="11795760" y="1600200"/>
            <a:ext cx="914" cy="3383280"/>
          </a:xfrm>
          <a:prstGeom prst="line">
            <a:avLst/>
          </a:prstGeom>
          <a:noFill/>
          <a:ln w="19050">
            <a:solidFill>
              <a:srgbClr val="D9DFEA"/>
            </a:solidFill>
            <a:prstDash val="solid"/>
          </a:ln>
        </p:spPr>
      </p:sp>
      <p:sp>
        <p:nvSpPr>
          <p:cNvPr id="37" name="!!railprog"/>
          <p:cNvSpPr/>
          <p:nvPr/>
        </p:nvSpPr>
        <p:spPr>
          <a:xfrm>
            <a:off x="11795760" y="1600200"/>
            <a:ext cx="914" cy="914"/>
          </a:xfrm>
          <a:prstGeom prst="line">
            <a:avLst/>
          </a:prstGeom>
          <a:noFill/>
          <a:ln w="31750">
            <a:solidFill>
              <a:srgbClr val="00923A"/>
            </a:solidFill>
            <a:prstDash val="solid"/>
          </a:ln>
        </p:spPr>
      </p:sp>
      <p:sp>
        <p:nvSpPr>
          <p:cNvPr id="38" name="!!m1"/>
          <p:cNvSpPr/>
          <p:nvPr/>
        </p:nvSpPr>
        <p:spPr>
          <a:xfrm>
            <a:off x="11603736" y="1408176"/>
            <a:ext cx="384048" cy="384048"/>
          </a:xfrm>
          <a:prstGeom prst="ellipse">
            <a:avLst/>
          </a:prstGeom>
          <a:solidFill>
            <a:srgbClr val="1B3F9E"/>
          </a:solidFill>
          <a:ln w="15875">
            <a:solidFill>
              <a:srgbClr val="1B3F9E"/>
            </a:solidFill>
            <a:prstDash val="solid"/>
          </a:ln>
        </p:spPr>
      </p:sp>
      <p:sp>
        <p:nvSpPr>
          <p:cNvPr id="39" name="!!mt1"/>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0" name="!!m2"/>
          <p:cNvSpPr/>
          <p:nvPr/>
        </p:nvSpPr>
        <p:spPr>
          <a:xfrm>
            <a:off x="11603736" y="2084832"/>
            <a:ext cx="384048" cy="384048"/>
          </a:xfrm>
          <a:prstGeom prst="ellipse">
            <a:avLst/>
          </a:prstGeom>
          <a:solidFill>
            <a:srgbClr val="FFFFFF"/>
          </a:solidFill>
          <a:ln w="15875">
            <a:solidFill>
              <a:srgbClr val="BFC8DA"/>
            </a:solidFill>
            <a:prstDash val="solid"/>
          </a:ln>
        </p:spPr>
      </p:sp>
      <p:sp>
        <p:nvSpPr>
          <p:cNvPr id="41" name="!!mt2">
            <a:hlinkClick r:id="rId4"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2</a:t>
            </a:r>
            <a:endParaRPr lang="en-US" sz="1200" dirty="0"/>
          </a:p>
        </p:txBody>
      </p:sp>
      <p:sp>
        <p:nvSpPr>
          <p:cNvPr id="42" name="!!m3"/>
          <p:cNvSpPr/>
          <p:nvPr/>
        </p:nvSpPr>
        <p:spPr>
          <a:xfrm>
            <a:off x="11603736" y="2761488"/>
            <a:ext cx="384048" cy="384048"/>
          </a:xfrm>
          <a:prstGeom prst="ellipse">
            <a:avLst/>
          </a:prstGeom>
          <a:solidFill>
            <a:srgbClr val="FFFFFF"/>
          </a:solidFill>
          <a:ln w="15875">
            <a:solidFill>
              <a:srgbClr val="BFC8DA"/>
            </a:solidFill>
            <a:prstDash val="solid"/>
          </a:ln>
        </p:spPr>
      </p:sp>
      <p:sp>
        <p:nvSpPr>
          <p:cNvPr id="43" name="!!mt3">
            <a:hlinkClick r:id="rId5"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3</a:t>
            </a:r>
            <a:endParaRPr lang="en-US" sz="1200" dirty="0"/>
          </a:p>
        </p:txBody>
      </p:sp>
      <p:sp>
        <p:nvSpPr>
          <p:cNvPr id="44"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45" name="!!mt4">
            <a:hlinkClick r:id="rId6"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46"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47" name="!!mt5">
            <a:hlinkClick r:id="rId7"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48"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49" name="!!mt6">
            <a:hlinkClick r:id="rId8"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50"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Structure d’accueil</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600"/>
                                        <p:tgtEl>
                                          <p:spTgt spid="26"/>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600"/>
                                        <p:tgtEl>
                                          <p:spTgt spid="27"/>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par>
                                <p:cTn id="23" presetID="10" presetClass="entr" presetSubtype="0" fill="hold" grpId="0" nodeType="withEffect">
                                  <p:stCondLst>
                                    <p:cond delay="2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p:tgtEl>
                                          <p:spTgt spid="10"/>
                                        </p:tgtEl>
                                      </p:cBhvr>
                                    </p:animEffect>
                                  </p:childTnLst>
                                </p:cTn>
                              </p:par>
                              <p:par>
                                <p:cTn id="26" presetID="10" presetClass="entr" presetSubtype="0" fill="hold" grpId="0" nodeType="withEffect">
                                  <p:stCondLst>
                                    <p:cond delay="2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29" presetID="10" presetClass="entr" presetSubtype="0" fill="hold" grpId="0" nodeType="withEffect">
                                  <p:stCondLst>
                                    <p:cond delay="2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2" presetID="10" presetClass="entr" presetSubtype="0" fill="hold" grpId="0" nodeType="withEffect">
                                  <p:stCondLst>
                                    <p:cond delay="2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600"/>
                                        <p:tgtEl>
                                          <p:spTgt spid="28"/>
                                        </p:tgtEl>
                                      </p:cBhvr>
                                    </p:animEffect>
                                  </p:childTnLst>
                                </p:cTn>
                              </p:par>
                              <p:par>
                                <p:cTn id="38" presetID="53" presetClass="entr" presetSubtype="16" fill="hold" grpId="0" nodeType="withEffect">
                                  <p:stCondLst>
                                    <p:cond delay="300"/>
                                  </p:stCondLst>
                                  <p:childTnLst>
                                    <p:set>
                                      <p:cBhvr>
                                        <p:cTn id="39" dur="1" fill="hold">
                                          <p:stCondLst>
                                            <p:cond delay="0"/>
                                          </p:stCondLst>
                                        </p:cTn>
                                        <p:tgtEl>
                                          <p:spTgt spid="4"/>
                                        </p:tgtEl>
                                        <p:attrNameLst>
                                          <p:attrName>style.visibility</p:attrName>
                                        </p:attrNameLst>
                                      </p:cBhvr>
                                      <p:to>
                                        <p:strVal val="visible"/>
                                      </p:to>
                                    </p:set>
                                    <p:anim calcmode="lin" valueType="num">
                                      <p:cBhvr>
                                        <p:cTn id="40" dur="600" fill="hold"/>
                                        <p:tgtEl>
                                          <p:spTgt spid="4"/>
                                        </p:tgtEl>
                                        <p:attrNameLst>
                                          <p:attrName>ppt_w</p:attrName>
                                        </p:attrNameLst>
                                      </p:cBhvr>
                                      <p:tavLst>
                                        <p:tav tm="0">
                                          <p:val>
                                            <p:fltVal val="0"/>
                                          </p:val>
                                        </p:tav>
                                        <p:tav tm="100000">
                                          <p:val>
                                            <p:strVal val="#ppt_w"/>
                                          </p:val>
                                        </p:tav>
                                      </p:tavLst>
                                    </p:anim>
                                    <p:anim calcmode="lin" valueType="num">
                                      <p:cBhvr>
                                        <p:cTn id="41" dur="600" fill="hold"/>
                                        <p:tgtEl>
                                          <p:spTgt spid="4"/>
                                        </p:tgtEl>
                                        <p:attrNameLst>
                                          <p:attrName>ppt_h</p:attrName>
                                        </p:attrNameLst>
                                      </p:cBhvr>
                                      <p:tavLst>
                                        <p:tav tm="0">
                                          <p:val>
                                            <p:fltVal val="0"/>
                                          </p:val>
                                        </p:tav>
                                        <p:tav tm="100000">
                                          <p:val>
                                            <p:strVal val="#ppt_h"/>
                                          </p:val>
                                        </p:tav>
                                      </p:tavLst>
                                    </p:anim>
                                    <p:animEffect transition="in" filter="fade">
                                      <p:cBhvr>
                                        <p:cTn id="42" dur="600"/>
                                        <p:tgtEl>
                                          <p:spTgt spid="4"/>
                                        </p:tgtEl>
                                      </p:cBhvr>
                                    </p:animEffect>
                                  </p:childTnLst>
                                </p:cTn>
                              </p:par>
                              <p:par>
                                <p:cTn id="43" presetID="53" presetClass="entr" presetSubtype="16" fill="hold" grpId="0" nodeType="withEffect">
                                  <p:stCondLst>
                                    <p:cond delay="300"/>
                                  </p:stCondLst>
                                  <p:childTnLst>
                                    <p:set>
                                      <p:cBhvr>
                                        <p:cTn id="44" dur="1" fill="hold">
                                          <p:stCondLst>
                                            <p:cond delay="0"/>
                                          </p:stCondLst>
                                        </p:cTn>
                                        <p:tgtEl>
                                          <p:spTgt spid="5"/>
                                        </p:tgtEl>
                                        <p:attrNameLst>
                                          <p:attrName>style.visibility</p:attrName>
                                        </p:attrNameLst>
                                      </p:cBhvr>
                                      <p:to>
                                        <p:strVal val="visible"/>
                                      </p:to>
                                    </p:set>
                                    <p:anim calcmode="lin" valueType="num">
                                      <p:cBhvr>
                                        <p:cTn id="45" dur="600" fill="hold"/>
                                        <p:tgtEl>
                                          <p:spTgt spid="5"/>
                                        </p:tgtEl>
                                        <p:attrNameLst>
                                          <p:attrName>ppt_w</p:attrName>
                                        </p:attrNameLst>
                                      </p:cBhvr>
                                      <p:tavLst>
                                        <p:tav tm="0">
                                          <p:val>
                                            <p:fltVal val="0"/>
                                          </p:val>
                                        </p:tav>
                                        <p:tav tm="100000">
                                          <p:val>
                                            <p:strVal val="#ppt_w"/>
                                          </p:val>
                                        </p:tav>
                                      </p:tavLst>
                                    </p:anim>
                                    <p:anim calcmode="lin" valueType="num">
                                      <p:cBhvr>
                                        <p:cTn id="46" dur="600" fill="hold"/>
                                        <p:tgtEl>
                                          <p:spTgt spid="5"/>
                                        </p:tgtEl>
                                        <p:attrNameLst>
                                          <p:attrName>ppt_h</p:attrName>
                                        </p:attrNameLst>
                                      </p:cBhvr>
                                      <p:tavLst>
                                        <p:tav tm="0">
                                          <p:val>
                                            <p:fltVal val="0"/>
                                          </p:val>
                                        </p:tav>
                                        <p:tav tm="100000">
                                          <p:val>
                                            <p:strVal val="#ppt_h"/>
                                          </p:val>
                                        </p:tav>
                                      </p:tavLst>
                                    </p:anim>
                                    <p:animEffect transition="in" filter="fade">
                                      <p:cBhvr>
                                        <p:cTn id="47" dur="600"/>
                                        <p:tgtEl>
                                          <p:spTgt spid="5"/>
                                        </p:tgtEl>
                                      </p:cBhvr>
                                    </p:animEffect>
                                  </p:childTnLst>
                                </p:cTn>
                              </p:par>
                              <p:par>
                                <p:cTn id="48" presetID="53" presetClass="entr" presetSubtype="16" fill="hold" grpId="0" nodeType="withEffect">
                                  <p:stCondLst>
                                    <p:cond delay="500"/>
                                  </p:stCondLst>
                                  <p:childTnLst>
                                    <p:set>
                                      <p:cBhvr>
                                        <p:cTn id="49" dur="1" fill="hold">
                                          <p:stCondLst>
                                            <p:cond delay="0"/>
                                          </p:stCondLst>
                                        </p:cTn>
                                        <p:tgtEl>
                                          <p:spTgt spid="29"/>
                                        </p:tgtEl>
                                        <p:attrNameLst>
                                          <p:attrName>style.visibility</p:attrName>
                                        </p:attrNameLst>
                                      </p:cBhvr>
                                      <p:to>
                                        <p:strVal val="visible"/>
                                      </p:to>
                                    </p:set>
                                    <p:anim calcmode="lin" valueType="num">
                                      <p:cBhvr>
                                        <p:cTn id="50" dur="600" fill="hold"/>
                                        <p:tgtEl>
                                          <p:spTgt spid="29"/>
                                        </p:tgtEl>
                                        <p:attrNameLst>
                                          <p:attrName>ppt_w</p:attrName>
                                        </p:attrNameLst>
                                      </p:cBhvr>
                                      <p:tavLst>
                                        <p:tav tm="0">
                                          <p:val>
                                            <p:fltVal val="0"/>
                                          </p:val>
                                        </p:tav>
                                        <p:tav tm="100000">
                                          <p:val>
                                            <p:strVal val="#ppt_w"/>
                                          </p:val>
                                        </p:tav>
                                      </p:tavLst>
                                    </p:anim>
                                    <p:anim calcmode="lin" valueType="num">
                                      <p:cBhvr>
                                        <p:cTn id="51" dur="600" fill="hold"/>
                                        <p:tgtEl>
                                          <p:spTgt spid="29"/>
                                        </p:tgtEl>
                                        <p:attrNameLst>
                                          <p:attrName>ppt_h</p:attrName>
                                        </p:attrNameLst>
                                      </p:cBhvr>
                                      <p:tavLst>
                                        <p:tav tm="0">
                                          <p:val>
                                            <p:fltVal val="0"/>
                                          </p:val>
                                        </p:tav>
                                        <p:tav tm="100000">
                                          <p:val>
                                            <p:strVal val="#ppt_h"/>
                                          </p:val>
                                        </p:tav>
                                      </p:tavLst>
                                    </p:anim>
                                    <p:animEffect transition="in" filter="fade">
                                      <p:cBhvr>
                                        <p:cTn id="52" dur="600"/>
                                        <p:tgtEl>
                                          <p:spTgt spid="29"/>
                                        </p:tgtEl>
                                      </p:cBhvr>
                                    </p:animEffect>
                                  </p:childTnLst>
                                </p:cTn>
                              </p:par>
                              <p:par>
                                <p:cTn id="53" presetID="53" presetClass="entr" presetSubtype="16" fill="hold" grpId="0" nodeType="withEffect">
                                  <p:stCondLst>
                                    <p:cond delay="650"/>
                                  </p:stCondLst>
                                  <p:childTnLst>
                                    <p:set>
                                      <p:cBhvr>
                                        <p:cTn id="54" dur="1" fill="hold">
                                          <p:stCondLst>
                                            <p:cond delay="0"/>
                                          </p:stCondLst>
                                        </p:cTn>
                                        <p:tgtEl>
                                          <p:spTgt spid="30"/>
                                        </p:tgtEl>
                                        <p:attrNameLst>
                                          <p:attrName>style.visibility</p:attrName>
                                        </p:attrNameLst>
                                      </p:cBhvr>
                                      <p:to>
                                        <p:strVal val="visible"/>
                                      </p:to>
                                    </p:set>
                                    <p:anim calcmode="lin" valueType="num">
                                      <p:cBhvr>
                                        <p:cTn id="55" dur="600" fill="hold"/>
                                        <p:tgtEl>
                                          <p:spTgt spid="30"/>
                                        </p:tgtEl>
                                        <p:attrNameLst>
                                          <p:attrName>ppt_w</p:attrName>
                                        </p:attrNameLst>
                                      </p:cBhvr>
                                      <p:tavLst>
                                        <p:tav tm="0">
                                          <p:val>
                                            <p:fltVal val="0"/>
                                          </p:val>
                                        </p:tav>
                                        <p:tav tm="100000">
                                          <p:val>
                                            <p:strVal val="#ppt_w"/>
                                          </p:val>
                                        </p:tav>
                                      </p:tavLst>
                                    </p:anim>
                                    <p:anim calcmode="lin" valueType="num">
                                      <p:cBhvr>
                                        <p:cTn id="56" dur="600" fill="hold"/>
                                        <p:tgtEl>
                                          <p:spTgt spid="30"/>
                                        </p:tgtEl>
                                        <p:attrNameLst>
                                          <p:attrName>ppt_h</p:attrName>
                                        </p:attrNameLst>
                                      </p:cBhvr>
                                      <p:tavLst>
                                        <p:tav tm="0">
                                          <p:val>
                                            <p:fltVal val="0"/>
                                          </p:val>
                                        </p:tav>
                                        <p:tav tm="100000">
                                          <p:val>
                                            <p:strVal val="#ppt_h"/>
                                          </p:val>
                                        </p:tav>
                                      </p:tavLst>
                                    </p:anim>
                                    <p:animEffect transition="in" filter="fade">
                                      <p:cBhvr>
                                        <p:cTn id="57" dur="600"/>
                                        <p:tgtEl>
                                          <p:spTgt spid="30"/>
                                        </p:tgtEl>
                                      </p:cBhvr>
                                    </p:animEffect>
                                  </p:childTnLst>
                                </p:cTn>
                              </p:par>
                              <p:par>
                                <p:cTn id="58" presetID="53" presetClass="entr" presetSubtype="16" fill="hold" grpId="0" nodeType="withEffect">
                                  <p:stCondLst>
                                    <p:cond delay="800"/>
                                  </p:stCondLst>
                                  <p:childTnLst>
                                    <p:set>
                                      <p:cBhvr>
                                        <p:cTn id="59" dur="1" fill="hold">
                                          <p:stCondLst>
                                            <p:cond delay="0"/>
                                          </p:stCondLst>
                                        </p:cTn>
                                        <p:tgtEl>
                                          <p:spTgt spid="31"/>
                                        </p:tgtEl>
                                        <p:attrNameLst>
                                          <p:attrName>style.visibility</p:attrName>
                                        </p:attrNameLst>
                                      </p:cBhvr>
                                      <p:to>
                                        <p:strVal val="visible"/>
                                      </p:to>
                                    </p:set>
                                    <p:anim calcmode="lin" valueType="num">
                                      <p:cBhvr>
                                        <p:cTn id="60" dur="600" fill="hold"/>
                                        <p:tgtEl>
                                          <p:spTgt spid="31"/>
                                        </p:tgtEl>
                                        <p:attrNameLst>
                                          <p:attrName>ppt_w</p:attrName>
                                        </p:attrNameLst>
                                      </p:cBhvr>
                                      <p:tavLst>
                                        <p:tav tm="0">
                                          <p:val>
                                            <p:fltVal val="0"/>
                                          </p:val>
                                        </p:tav>
                                        <p:tav tm="100000">
                                          <p:val>
                                            <p:strVal val="#ppt_w"/>
                                          </p:val>
                                        </p:tav>
                                      </p:tavLst>
                                    </p:anim>
                                    <p:anim calcmode="lin" valueType="num">
                                      <p:cBhvr>
                                        <p:cTn id="61" dur="600" fill="hold"/>
                                        <p:tgtEl>
                                          <p:spTgt spid="31"/>
                                        </p:tgtEl>
                                        <p:attrNameLst>
                                          <p:attrName>ppt_h</p:attrName>
                                        </p:attrNameLst>
                                      </p:cBhvr>
                                      <p:tavLst>
                                        <p:tav tm="0">
                                          <p:val>
                                            <p:fltVal val="0"/>
                                          </p:val>
                                        </p:tav>
                                        <p:tav tm="100000">
                                          <p:val>
                                            <p:strVal val="#ppt_h"/>
                                          </p:val>
                                        </p:tav>
                                      </p:tavLst>
                                    </p:anim>
                                    <p:animEffect transition="in" filter="fade">
                                      <p:cBhvr>
                                        <p:cTn id="62" dur="6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26" grpId="0" animBg="1"/>
      <p:bldP spid="27" grpId="0" animBg="1"/>
      <p:bldP spid="28" grpId="0" animBg="1"/>
      <p:bldP spid="29" grpId="0" animBg="1"/>
      <p:bldP spid="30" grpId="0" animBg="1"/>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L0" descr="Carte">    </p:cNvPr>
          <p:cNvPicPr>
            <a:picLocks noChangeAspect="1"/>
          </p:cNvPicPr>
          <p:nvPr/>
        </p:nvPicPr>
        <p:blipFill>
          <a:blip r:embed="rId1"/>
          <a:stretch>
            <a:fillRect/>
          </a:stretch>
        </p:blipFill>
        <p:spPr>
          <a:xfrm>
            <a:off x="-1351770" y="-25196262"/>
            <a:ext cx="13349631" cy="31928538"/>
          </a:xfrm>
          <a:prstGeom prst="rect">
            <a:avLst/>
          </a:prstGeom>
        </p:spPr>
      </p:pic>
      <p:pic>
        <p:nvPicPr>
          <p:cNvPr id="3" name="!!L1" descr="Carte">    </p:cNvPr>
          <p:cNvPicPr>
            <a:picLocks noChangeAspect="1"/>
          </p:cNvPicPr>
          <p:nvPr/>
        </p:nvPicPr>
        <p:blipFill>
          <a:blip r:embed="rId2"/>
          <a:stretch>
            <a:fillRect/>
          </a:stretch>
        </p:blipFill>
        <p:spPr>
          <a:xfrm>
            <a:off x="4389120" y="739305"/>
            <a:ext cx="6949440" cy="5333669"/>
          </a:xfrm>
          <a:prstGeom prst="rect">
            <a:avLst/>
          </a:prstGeom>
        </p:spPr>
      </p:pic>
      <p:pic>
        <p:nvPicPr>
          <p:cNvPr id="4" name="!!pin" descr="Repère">    </p:cNvPr>
          <p:cNvPicPr>
            <a:picLocks noChangeAspect="1"/>
          </p:cNvPicPr>
          <p:nvPr/>
        </p:nvPicPr>
        <p:blipFill>
          <a:blip r:embed="rId3"/>
          <a:stretch>
            <a:fillRect/>
          </a:stretch>
        </p:blipFill>
        <p:spPr>
          <a:xfrm>
            <a:off x="7383218" y="4747527"/>
            <a:ext cx="457200" cy="660400"/>
          </a:xfrm>
          <a:prstGeom prst="rect">
            <a:avLst/>
          </a:prstGeom>
        </p:spPr>
      </p:pic>
      <p:sp>
        <p:nvSpPr>
          <p:cNvPr id="5" name="plab"/>
          <p:cNvSpPr/>
          <p:nvPr/>
        </p:nvSpPr>
        <p:spPr>
          <a:xfrm>
            <a:off x="7959290" y="4740923"/>
            <a:ext cx="1371600" cy="384048"/>
          </a:xfrm>
          <a:prstGeom prst="rect">
            <a:avLst/>
          </a:prstGeom>
          <a:solidFill>
            <a:srgbClr val="0E1C46"/>
          </a:solidFill>
          <a:ln w="12700">
            <a:solidFill>
              <a:srgbClr val="0E1C46"/>
            </a:solidFill>
            <a:prstDash val="solid"/>
          </a:ln>
        </p:spPr>
      </p:sp>
      <p:sp>
        <p:nvSpPr>
          <p:cNvPr id="6" name="plabt"/>
          <p:cNvSpPr txBox="1"/>
          <p:nvPr/>
        </p:nvSpPr>
        <p:spPr>
          <a:xfrm>
            <a:off x="7959290" y="4740923"/>
            <a:ext cx="1371600" cy="384048"/>
          </a:xfrm>
          <a:prstGeom prst="rect">
            <a:avLst/>
          </a:prstGeom>
          <a:noFill/>
          <a:ln/>
        </p:spPr>
        <p:txBody>
          <a:bodyPr wrap="square" lIns="0" tIns="0" rIns="0" bIns="0" rtlCol="0" anchor="ctr"/>
          <a:lstStyle/>
          <a:p>
            <a:pPr algn="ctr" indent="0" marL="0">
              <a:buNone/>
            </a:pPr>
            <a:r>
              <a:rPr lang="fr-FR" altLang="en-US" sz="1300" b="1" dirty="0">
                <a:solidFill>
                  <a:srgbClr val="FFFFFF"/>
                </a:solidFill>
                <a:latin typeface="Calibri" pitchFamily="34" charset="0"/>
                <a:ea typeface="Calibri" pitchFamily="34" charset="-122"/>
                <a:cs typeface="Calibri" pitchFamily="34" charset="-120"/>
              </a:rPr>
              <a:t>Grand Lomé</a:t>
            </a:r>
            <a:endParaRPr lang="fr-FR" sz="1300" dirty="0"/>
          </a:p>
        </p:txBody>
      </p:sp>
      <p:sp>
        <p:nvSpPr>
          <p:cNvPr id="7" name="lab0"/>
          <p:cNvSpPr txBox="1"/>
          <p:nvPr/>
        </p:nvSpPr>
        <p:spPr>
          <a:xfrm>
            <a:off x="8806296" y="4624375"/>
            <a:ext cx="2194560" cy="292608"/>
          </a:xfrm>
          <a:prstGeom prst="rect">
            <a:avLst/>
          </a:prstGeom>
          <a:noFill/>
          <a:ln/>
        </p:spPr>
        <p:txBody>
          <a:bodyPr wrap="square" lIns="0" tIns="0" rIns="0" bIns="0" rtlCol="0" anchor="t"/>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Lacs</a:t>
            </a:r>
            <a:endParaRPr lang="fr-FR" sz="1200" dirty="0"/>
          </a:p>
        </p:txBody>
      </p:sp>
      <p:sp>
        <p:nvSpPr>
          <p:cNvPr id="8" name="lab1"/>
          <p:cNvSpPr txBox="1"/>
          <p:nvPr/>
        </p:nvSpPr>
        <p:spPr>
          <a:xfrm>
            <a:off x="9136700" y="3601440"/>
            <a:ext cx="2194560" cy="292608"/>
          </a:xfrm>
          <a:prstGeom prst="rect">
            <a:avLst/>
          </a:prstGeom>
          <a:noFill/>
          <a:ln/>
        </p:spPr>
        <p:txBody>
          <a:bodyPr wrap="square" lIns="0" tIns="0" rIns="0" bIns="0" rtlCol="0" anchor="t"/>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Bas-Mono</a:t>
            </a:r>
            <a:endParaRPr lang="fr-FR" sz="1200" dirty="0"/>
          </a:p>
        </p:txBody>
      </p:sp>
      <p:sp>
        <p:nvSpPr>
          <p:cNvPr id="9" name="lab2"/>
          <p:cNvSpPr txBox="1"/>
          <p:nvPr/>
        </p:nvSpPr>
        <p:spPr>
          <a:xfrm>
            <a:off x="8185492" y="4079043"/>
            <a:ext cx="2194560" cy="292608"/>
          </a:xfrm>
          <a:prstGeom prst="rect">
            <a:avLst/>
          </a:prstGeom>
          <a:noFill/>
          <a:ln/>
        </p:spPr>
        <p:txBody>
          <a:bodyPr wrap="square" lIns="0" tIns="0" rIns="0" bIns="0" rtlCol="0" anchor="t"/>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Vo</a:t>
            </a:r>
            <a:endParaRPr lang="fr-FR" sz="1200" dirty="0"/>
          </a:p>
        </p:txBody>
      </p:sp>
      <p:sp>
        <p:nvSpPr>
          <p:cNvPr id="10" name="lab3"/>
          <p:cNvSpPr txBox="1"/>
          <p:nvPr/>
        </p:nvSpPr>
        <p:spPr>
          <a:xfrm>
            <a:off x="7920379" y="2358402"/>
            <a:ext cx="2194560" cy="292608"/>
          </a:xfrm>
          <a:prstGeom prst="rect">
            <a:avLst/>
          </a:prstGeom>
          <a:noFill/>
          <a:ln/>
        </p:spPr>
        <p:txBody>
          <a:bodyPr wrap="square" lIns="0" tIns="0" rIns="0" bIns="0" rtlCol="0" anchor="t"/>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Yoto</a:t>
            </a:r>
            <a:endParaRPr lang="fr-FR" sz="1200" dirty="0"/>
          </a:p>
        </p:txBody>
      </p:sp>
      <p:sp>
        <p:nvSpPr>
          <p:cNvPr id="11" name="lab4"/>
          <p:cNvSpPr txBox="1"/>
          <p:nvPr/>
        </p:nvSpPr>
        <p:spPr>
          <a:xfrm>
            <a:off x="6122146" y="3316521"/>
            <a:ext cx="2194560" cy="292608"/>
          </a:xfrm>
          <a:prstGeom prst="rect">
            <a:avLst/>
          </a:prstGeom>
          <a:noFill/>
          <a:ln/>
        </p:spPr>
        <p:txBody>
          <a:bodyPr wrap="square" lIns="0" tIns="0" rIns="0" bIns="0" rtlCol="0" anchor="t"/>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Zio</a:t>
            </a:r>
            <a:endParaRPr lang="fr-FR" sz="1200" dirty="0"/>
          </a:p>
        </p:txBody>
      </p:sp>
      <p:sp>
        <p:nvSpPr>
          <p:cNvPr id="12" name="lab5"/>
          <p:cNvSpPr txBox="1"/>
          <p:nvPr/>
        </p:nvSpPr>
        <p:spPr>
          <a:xfrm>
            <a:off x="4726069" y="3803647"/>
            <a:ext cx="2194560" cy="292608"/>
          </a:xfrm>
          <a:prstGeom prst="rect">
            <a:avLst/>
          </a:prstGeom>
          <a:noFill/>
          <a:ln/>
        </p:spPr>
        <p:txBody>
          <a:bodyPr wrap="square" lIns="0" tIns="0" rIns="0" bIns="0" rtlCol="0" anchor="t"/>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Avé</a:t>
            </a:r>
            <a:endParaRPr lang="fr-FR" sz="1200" dirty="0"/>
          </a:p>
        </p:txBody>
      </p:sp>
      <p:sp>
        <p:nvSpPr>
          <p:cNvPr id="13" name="lab6"/>
          <p:cNvSpPr txBox="1"/>
          <p:nvPr/>
        </p:nvSpPr>
        <p:spPr>
          <a:xfrm>
            <a:off x="6660928" y="6180981"/>
            <a:ext cx="2194560" cy="292608"/>
          </a:xfrm>
          <a:prstGeom prst="rect">
            <a:avLst/>
          </a:prstGeom>
          <a:noFill/>
          <a:ln/>
        </p:spPr>
        <p:txBody>
          <a:bodyPr wrap="square" lIns="0" tIns="0" rIns="0" bIns="0" rtlCol="0" anchor="t"/>
          <a:lstStyle/>
          <a:p>
            <a:pPr algn="ctr" indent="0" marL="0">
              <a:buNone/>
            </a:pPr>
            <a:r>
              <a:rPr lang="fr-FR" altLang="en-US" sz="1200" i="1" dirty="0">
                <a:solidFill>
                  <a:srgbClr val="1B3F9E"/>
                </a:solidFill>
                <a:latin typeface="Calibri" pitchFamily="34" charset="0"/>
                <a:ea typeface="Calibri" pitchFamily="34" charset="-122"/>
                <a:cs typeface="Calibri" pitchFamily="34" charset="-120"/>
              </a:rPr>
              <a:t>Golfe de Guinée</a:t>
            </a:r>
            <a:endParaRPr lang="fr-FR" sz="1200" dirty="0"/>
          </a:p>
        </p:txBody>
      </p:sp>
      <p:sp>
        <p:nvSpPr>
          <p:cNvPr id="14" name="!!mapcard"/>
          <p:cNvSpPr/>
          <p:nvPr/>
        </p:nvSpPr>
        <p:spPr>
          <a:xfrm>
            <a:off x="502920" y="502920"/>
            <a:ext cx="3611880" cy="5486400"/>
          </a:xfrm>
          <a:prstGeom prst="rect">
            <a:avLst/>
          </a:prstGeom>
          <a:solidFill>
            <a:srgbClr val="FFFFFF"/>
          </a:solidFill>
          <a:ln w="9525">
            <a:solidFill>
              <a:srgbClr val="D9DFEA"/>
            </a:solidFill>
            <a:prstDash val="solid"/>
          </a:ln>
        </p:spPr>
      </p:sp>
      <p:sp>
        <p:nvSpPr>
          <p:cNvPr id="15" name="!!mapcardb"/>
          <p:cNvSpPr/>
          <p:nvPr/>
        </p:nvSpPr>
        <p:spPr>
          <a:xfrm>
            <a:off x="502920" y="502920"/>
            <a:ext cx="3611880" cy="54864"/>
          </a:xfrm>
          <a:prstGeom prst="rect">
            <a:avLst/>
          </a:prstGeom>
          <a:solidFill>
            <a:srgbClr val="1B3F9E"/>
          </a:solidFill>
          <a:ln w="12700">
            <a:solidFill>
              <a:srgbClr val="1B3F9E"/>
            </a:solidFill>
            <a:prstDash val="solid"/>
          </a:ln>
        </p:spPr>
      </p:sp>
      <p:sp>
        <p:nvSpPr>
          <p:cNvPr id="16" name="!!dot0"/>
          <p:cNvSpPr/>
          <p:nvPr/>
        </p:nvSpPr>
        <p:spPr>
          <a:xfrm>
            <a:off x="822960" y="868680"/>
            <a:ext cx="365760" cy="365760"/>
          </a:xfrm>
          <a:prstGeom prst="ellipse">
            <a:avLst/>
          </a:prstGeom>
          <a:solidFill>
            <a:srgbClr val="00923A"/>
          </a:solidFill>
          <a:ln w="15875">
            <a:solidFill>
              <a:srgbClr val="00923A"/>
            </a:solidFill>
            <a:prstDash val="solid"/>
          </a:ln>
        </p:spPr>
      </p:sp>
      <p:sp>
        <p:nvSpPr>
          <p:cNvPr id="17" name="!!dott0"/>
          <p:cNvSpPr txBox="1"/>
          <p:nvPr/>
        </p:nvSpPr>
        <p:spPr>
          <a:xfrm>
            <a:off x="822960"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1</a:t>
            </a:r>
            <a:endParaRPr lang="fr-FR" sz="1200" dirty="0"/>
          </a:p>
        </p:txBody>
      </p:sp>
      <p:sp>
        <p:nvSpPr>
          <p:cNvPr id="18" name="!!dot1"/>
          <p:cNvSpPr/>
          <p:nvPr/>
        </p:nvSpPr>
        <p:spPr>
          <a:xfrm>
            <a:off x="1389888" y="868680"/>
            <a:ext cx="365760" cy="365760"/>
          </a:xfrm>
          <a:prstGeom prst="ellipse">
            <a:avLst/>
          </a:prstGeom>
          <a:solidFill>
            <a:srgbClr val="1B3F9E"/>
          </a:solidFill>
          <a:ln w="15875">
            <a:solidFill>
              <a:srgbClr val="1B3F9E"/>
            </a:solidFill>
            <a:prstDash val="solid"/>
          </a:ln>
        </p:spPr>
      </p:sp>
      <p:sp>
        <p:nvSpPr>
          <p:cNvPr id="19" name="!!dott1"/>
          <p:cNvSpPr txBox="1"/>
          <p:nvPr/>
        </p:nvSpPr>
        <p:spPr>
          <a:xfrm>
            <a:off x="1389888"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2</a:t>
            </a:r>
            <a:endParaRPr lang="fr-FR" sz="1200" dirty="0"/>
          </a:p>
        </p:txBody>
      </p:sp>
      <p:sp>
        <p:nvSpPr>
          <p:cNvPr id="20" name="!!dot2"/>
          <p:cNvSpPr/>
          <p:nvPr/>
        </p:nvSpPr>
        <p:spPr>
          <a:xfrm>
            <a:off x="1956816" y="868680"/>
            <a:ext cx="365760" cy="365760"/>
          </a:xfrm>
          <a:prstGeom prst="ellipse">
            <a:avLst/>
          </a:prstGeom>
          <a:solidFill>
            <a:srgbClr val="FFFFFF"/>
          </a:solidFill>
          <a:ln w="15875">
            <a:solidFill>
              <a:srgbClr val="BFC8DA"/>
            </a:solidFill>
            <a:prstDash val="solid"/>
          </a:ln>
        </p:spPr>
      </p:sp>
      <p:sp>
        <p:nvSpPr>
          <p:cNvPr id="21" name="!!dott2"/>
          <p:cNvSpPr txBox="1"/>
          <p:nvPr/>
        </p:nvSpPr>
        <p:spPr>
          <a:xfrm>
            <a:off x="1956816"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3</a:t>
            </a:r>
            <a:endParaRPr lang="fr-FR" sz="1200" dirty="0"/>
          </a:p>
        </p:txBody>
      </p:sp>
      <p:sp>
        <p:nvSpPr>
          <p:cNvPr id="22" name="!!dot3"/>
          <p:cNvSpPr/>
          <p:nvPr/>
        </p:nvSpPr>
        <p:spPr>
          <a:xfrm>
            <a:off x="2523744" y="868680"/>
            <a:ext cx="365760" cy="365760"/>
          </a:xfrm>
          <a:prstGeom prst="ellipse">
            <a:avLst/>
          </a:prstGeom>
          <a:solidFill>
            <a:srgbClr val="FFFFFF"/>
          </a:solidFill>
          <a:ln w="15875">
            <a:solidFill>
              <a:srgbClr val="BFC8DA"/>
            </a:solidFill>
            <a:prstDash val="solid"/>
          </a:ln>
        </p:spPr>
      </p:sp>
      <p:sp>
        <p:nvSpPr>
          <p:cNvPr id="23" name="!!dott3"/>
          <p:cNvSpPr txBox="1"/>
          <p:nvPr/>
        </p:nvSpPr>
        <p:spPr>
          <a:xfrm>
            <a:off x="2523744"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4</a:t>
            </a:r>
            <a:endParaRPr lang="fr-FR" sz="1200" dirty="0"/>
          </a:p>
        </p:txBody>
      </p:sp>
      <p:sp>
        <p:nvSpPr>
          <p:cNvPr id="24" name="!!dot4"/>
          <p:cNvSpPr/>
          <p:nvPr/>
        </p:nvSpPr>
        <p:spPr>
          <a:xfrm>
            <a:off x="3090672" y="868680"/>
            <a:ext cx="365760" cy="365760"/>
          </a:xfrm>
          <a:prstGeom prst="ellipse">
            <a:avLst/>
          </a:prstGeom>
          <a:solidFill>
            <a:srgbClr val="FFFFFF"/>
          </a:solidFill>
          <a:ln w="15875">
            <a:solidFill>
              <a:srgbClr val="BFC8DA"/>
            </a:solidFill>
            <a:prstDash val="solid"/>
          </a:ln>
        </p:spPr>
      </p:sp>
      <p:sp>
        <p:nvSpPr>
          <p:cNvPr id="25" name="!!dott4"/>
          <p:cNvSpPr txBox="1"/>
          <p:nvPr/>
        </p:nvSpPr>
        <p:spPr>
          <a:xfrm>
            <a:off x="3090672"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5</a:t>
            </a:r>
            <a:endParaRPr lang="fr-FR" sz="1200" dirty="0"/>
          </a:p>
        </p:txBody>
      </p:sp>
      <p:sp>
        <p:nvSpPr>
          <p:cNvPr id="26" name="mstep"/>
          <p:cNvSpPr txBox="1"/>
          <p:nvPr/>
        </p:nvSpPr>
        <p:spPr>
          <a:xfrm>
            <a:off x="822960" y="1444752"/>
            <a:ext cx="3108960" cy="274320"/>
          </a:xfrm>
          <a:prstGeom prst="rect">
            <a:avLst/>
          </a:prstGeom>
          <a:noFill/>
          <a:ln/>
        </p:spPr>
        <p:txBody>
          <a:bodyPr wrap="square" lIns="0" tIns="0" rIns="0" bIns="0" rtlCol="0" anchor="t"/>
          <a:lstStyle/>
          <a:p>
            <a:pPr indent="0" marL="0">
              <a:buNone/>
            </a:pPr>
            <a:r>
              <a:rPr lang="fr-FR" altLang="en-US" sz="1300" b="1" dirty="0">
                <a:solidFill>
                  <a:srgbClr val="00923A"/>
                </a:solidFill>
                <a:latin typeface="Calibri" pitchFamily="34" charset="0"/>
                <a:ea typeface="Calibri" pitchFamily="34" charset="-122"/>
                <a:cs typeface="Calibri" pitchFamily="34" charset="-120"/>
              </a:rPr>
              <a:t>Étape 2 sur 5 · Région Maritime</a:t>
            </a:r>
            <a:endParaRPr lang="fr-FR" sz="1300" dirty="0"/>
          </a:p>
        </p:txBody>
      </p:sp>
      <p:sp>
        <p:nvSpPr>
          <p:cNvPr id="27" name="mtitle"/>
          <p:cNvSpPr txBox="1"/>
          <p:nvPr/>
        </p:nvSpPr>
        <p:spPr>
          <a:xfrm>
            <a:off x="822960" y="1755648"/>
            <a:ext cx="3063240" cy="914400"/>
          </a:xfrm>
          <a:prstGeom prst="rect">
            <a:avLst/>
          </a:prstGeom>
          <a:noFill/>
          <a:ln/>
        </p:spPr>
        <p:txBody>
          <a:bodyPr wrap="square" lIns="0" tIns="0" rIns="0" bIns="0" rtlCol="0" anchor="t"/>
          <a:lstStyle/>
          <a:p>
            <a:pPr indent="0" marL="0">
              <a:buNone/>
            </a:pPr>
            <a:r>
              <a:rPr lang="fr-FR" altLang="en-US" sz="2400" b="1" dirty="0">
                <a:solidFill>
                  <a:srgbClr val="0E1C46"/>
                </a:solidFill>
                <a:latin typeface="Calibri" pitchFamily="34" charset="0"/>
                <a:ea typeface="Calibri" pitchFamily="34" charset="-122"/>
                <a:cs typeface="Calibri" pitchFamily="34" charset="-120"/>
              </a:rPr>
              <a:t>La région Maritime</a:t>
            </a:r>
            <a:endParaRPr lang="fr-FR" sz="2400" dirty="0"/>
          </a:p>
        </p:txBody>
      </p:sp>
      <p:sp>
        <p:nvSpPr>
          <p:cNvPr id="28" name="mtext"/>
          <p:cNvSpPr txBox="1"/>
          <p:nvPr/>
        </p:nvSpPr>
        <p:spPr>
          <a:xfrm>
            <a:off x="822960" y="2715768"/>
            <a:ext cx="3017520" cy="1325880"/>
          </a:xfrm>
          <a:prstGeom prst="rect">
            <a:avLst/>
          </a:prstGeom>
          <a:noFill/>
          <a:ln/>
        </p:spPr>
        <p:txBody>
          <a:bodyPr wrap="square" lIns="0" tIns="0" rIns="0" bIns="0" rtlCol="0" anchor="t"/>
          <a:lstStyle/>
          <a:p>
            <a:pPr indent="0" marL="0">
              <a:buNone/>
            </a:pPr>
            <a:r>
              <a:rPr lang="fr-FR" altLang="en-US" sz="1400" dirty="0">
                <a:solidFill>
                  <a:srgbClr val="56617C"/>
                </a:solidFill>
                <a:latin typeface="Calibri" pitchFamily="34" charset="0"/>
                <a:ea typeface="Calibri" pitchFamily="34" charset="-122"/>
                <a:cs typeface="Calibri" pitchFamily="34" charset="-120"/>
              </a:rPr>
              <a:t>La région la plus au sud, ouverte sur le golfe de Guinée. Les préfectures du Golfe et d’Agoè-Nyivé y forment le Grand Lomé.</a:t>
            </a:r>
            <a:endParaRPr lang="fr-FR" sz="1400" dirty="0"/>
          </a:p>
        </p:txBody>
      </p:sp>
      <p:sp>
        <p:nvSpPr>
          <p:cNvPr id="29" name="mf0"/>
          <p:cNvSpPr txBox="1"/>
          <p:nvPr/>
        </p:nvSpPr>
        <p:spPr>
          <a:xfrm>
            <a:off x="82296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Sud</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du pays</a:t>
            </a:r>
            <a:endParaRPr lang="fr-FR" sz="2000" dirty="0"/>
          </a:p>
        </p:txBody>
      </p:sp>
      <p:sp>
        <p:nvSpPr>
          <p:cNvPr id="30" name="mf1"/>
          <p:cNvSpPr txBox="1"/>
          <p:nvPr/>
        </p:nvSpPr>
        <p:spPr>
          <a:xfrm>
            <a:off x="237744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8</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préfectures</a:t>
            </a:r>
            <a:endParaRPr lang="fr-FR" sz="2000" dirty="0"/>
          </a:p>
        </p:txBody>
      </p:sp>
      <p:sp>
        <p:nvSpPr>
          <p:cNvPr id="31" name="mpart">
            <a:hlinkClick r:id="rId4" tooltip="Étape suivante" action="ppaction://hlinksldjump"/>
          </p:cNvPr>
          <p:cNvSpPr txBox="1"/>
          <p:nvPr/>
        </p:nvSpPr>
        <p:spPr>
          <a:xfrm>
            <a:off x="822960" y="5559552"/>
            <a:ext cx="3017520" cy="274320"/>
          </a:xfrm>
          <a:prstGeom prst="rect">
            <a:avLst/>
          </a:prstGeom>
          <a:noFill/>
          <a:ln/>
        </p:spPr>
        <p:txBody>
          <a:bodyPr wrap="square" lIns="0" tIns="0" rIns="0" bIns="0" rtlCol="0" anchor="t"/>
          <a:lstStyle/>
          <a:p>
            <a:pPr indent="0" marL="0">
              <a:buNone/>
            </a:pPr>
            <a:r>
              <a:rPr lang="fr-FR" altLang="en-US" sz="1100" dirty="0">
                <a:solidFill>
                  <a:srgbClr val="56617C"/>
                </a:solidFill>
                <a:latin typeface="Calibri" pitchFamily="34" charset="0"/>
                <a:ea typeface="Calibri" pitchFamily="34" charset="-122"/>
                <a:cs typeface="Calibri" pitchFamily="34" charset="-120"/>
              </a:rPr>
              <a:t>Partie 1 — Structure d’accueil</a:t>
            </a:r>
            <a:endParaRPr lang="fr-FR" sz="1100" dirty="0"/>
          </a:p>
        </p:txBody>
      </p:sp>
      <p:sp>
        <p:nvSpPr>
          <p:cNvPr id="32" name="!!band1"/>
          <p:cNvSpPr/>
          <p:nvPr/>
        </p:nvSpPr>
        <p:spPr>
          <a:xfrm>
            <a:off x="0" y="0"/>
            <a:ext cx="4873752" cy="64008"/>
          </a:xfrm>
          <a:prstGeom prst="rect">
            <a:avLst/>
          </a:prstGeom>
          <a:solidFill>
            <a:srgbClr val="1B3F9E"/>
          </a:solidFill>
          <a:ln w="12700">
            <a:solidFill>
              <a:srgbClr val="1B3F9E"/>
            </a:solidFill>
            <a:prstDash val="solid"/>
          </a:ln>
        </p:spPr>
      </p:sp>
      <p:sp>
        <p:nvSpPr>
          <p:cNvPr id="33" name="!!band2"/>
          <p:cNvSpPr/>
          <p:nvPr/>
        </p:nvSpPr>
        <p:spPr>
          <a:xfrm>
            <a:off x="4873752" y="0"/>
            <a:ext cx="4270248" cy="64008"/>
          </a:xfrm>
          <a:prstGeom prst="rect">
            <a:avLst/>
          </a:prstGeom>
          <a:solidFill>
            <a:srgbClr val="00923A"/>
          </a:solidFill>
          <a:ln w="12700">
            <a:solidFill>
              <a:srgbClr val="00923A"/>
            </a:solidFill>
            <a:prstDash val="solid"/>
          </a:ln>
        </p:spPr>
      </p:sp>
      <p:sp>
        <p:nvSpPr>
          <p:cNvPr id="34" name="!!band3"/>
          <p:cNvSpPr/>
          <p:nvPr/>
        </p:nvSpPr>
        <p:spPr>
          <a:xfrm>
            <a:off x="9144000" y="0"/>
            <a:ext cx="3047695" cy="64008"/>
          </a:xfrm>
          <a:prstGeom prst="rect">
            <a:avLst/>
          </a:prstGeom>
          <a:solidFill>
            <a:srgbClr val="FCC600"/>
          </a:solidFill>
          <a:ln w="12700">
            <a:solidFill>
              <a:srgbClr val="FCC600"/>
            </a:solidFill>
            <a:prstDash val="solid"/>
          </a:ln>
        </p:spPr>
      </p:sp>
      <p:sp>
        <p:nvSpPr>
          <p:cNvPr id="35" name="!!railline"/>
          <p:cNvSpPr/>
          <p:nvPr/>
        </p:nvSpPr>
        <p:spPr>
          <a:xfrm>
            <a:off x="11795760" y="1600200"/>
            <a:ext cx="914" cy="3383280"/>
          </a:xfrm>
          <a:prstGeom prst="line">
            <a:avLst/>
          </a:prstGeom>
          <a:noFill/>
          <a:ln w="19050">
            <a:solidFill>
              <a:srgbClr val="D9DFEA"/>
            </a:solidFill>
            <a:prstDash val="solid"/>
          </a:ln>
        </p:spPr>
      </p:sp>
      <p:sp>
        <p:nvSpPr>
          <p:cNvPr id="36" name="!!railprog"/>
          <p:cNvSpPr/>
          <p:nvPr/>
        </p:nvSpPr>
        <p:spPr>
          <a:xfrm>
            <a:off x="11795760" y="1600200"/>
            <a:ext cx="914" cy="914"/>
          </a:xfrm>
          <a:prstGeom prst="line">
            <a:avLst/>
          </a:prstGeom>
          <a:noFill/>
          <a:ln w="31750">
            <a:solidFill>
              <a:srgbClr val="00923A"/>
            </a:solidFill>
            <a:prstDash val="solid"/>
          </a:ln>
        </p:spPr>
      </p:sp>
      <p:sp>
        <p:nvSpPr>
          <p:cNvPr id="37" name="!!m1"/>
          <p:cNvSpPr/>
          <p:nvPr/>
        </p:nvSpPr>
        <p:spPr>
          <a:xfrm>
            <a:off x="11603736" y="1408176"/>
            <a:ext cx="384048" cy="384048"/>
          </a:xfrm>
          <a:prstGeom prst="ellipse">
            <a:avLst/>
          </a:prstGeom>
          <a:solidFill>
            <a:srgbClr val="1B3F9E"/>
          </a:solidFill>
          <a:ln w="15875">
            <a:solidFill>
              <a:srgbClr val="1B3F9E"/>
            </a:solidFill>
            <a:prstDash val="solid"/>
          </a:ln>
        </p:spPr>
      </p:sp>
      <p:sp>
        <p:nvSpPr>
          <p:cNvPr id="38" name="!!mt1">
            <a:hlinkClick r:id="rId5"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9" name="!!m2"/>
          <p:cNvSpPr/>
          <p:nvPr/>
        </p:nvSpPr>
        <p:spPr>
          <a:xfrm>
            <a:off x="11603736" y="2084832"/>
            <a:ext cx="384048" cy="384048"/>
          </a:xfrm>
          <a:prstGeom prst="ellipse">
            <a:avLst/>
          </a:prstGeom>
          <a:solidFill>
            <a:srgbClr val="FFFFFF"/>
          </a:solidFill>
          <a:ln w="15875">
            <a:solidFill>
              <a:srgbClr val="BFC8DA"/>
            </a:solidFill>
            <a:prstDash val="solid"/>
          </a:ln>
        </p:spPr>
      </p:sp>
      <p:sp>
        <p:nvSpPr>
          <p:cNvPr id="40" name="!!mt2">
            <a:hlinkClick r:id="rId6"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2</a:t>
            </a:r>
            <a:endParaRPr lang="en-US" sz="1200" dirty="0"/>
          </a:p>
        </p:txBody>
      </p:sp>
      <p:sp>
        <p:nvSpPr>
          <p:cNvPr id="41" name="!!m3"/>
          <p:cNvSpPr/>
          <p:nvPr/>
        </p:nvSpPr>
        <p:spPr>
          <a:xfrm>
            <a:off x="11603736" y="2761488"/>
            <a:ext cx="384048" cy="384048"/>
          </a:xfrm>
          <a:prstGeom prst="ellipse">
            <a:avLst/>
          </a:prstGeom>
          <a:solidFill>
            <a:srgbClr val="FFFFFF"/>
          </a:solidFill>
          <a:ln w="15875">
            <a:solidFill>
              <a:srgbClr val="BFC8DA"/>
            </a:solidFill>
            <a:prstDash val="solid"/>
          </a:ln>
        </p:spPr>
      </p:sp>
      <p:sp>
        <p:nvSpPr>
          <p:cNvPr id="42" name="!!mt3">
            <a:hlinkClick r:id="rId7"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3</a:t>
            </a:r>
            <a:endParaRPr lang="en-US" sz="1200" dirty="0"/>
          </a:p>
        </p:txBody>
      </p:sp>
      <p:sp>
        <p:nvSpPr>
          <p:cNvPr id="43"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44" name="!!mt4">
            <a:hlinkClick r:id="rId8"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45"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46" name="!!mt5">
            <a:hlinkClick r:id="rId9"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47"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48" name="!!mt6">
            <a:hlinkClick r:id="rId10"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9"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Structure d’accueil</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600"/>
                                        <p:tgtEl>
                                          <p:spTgt spid="26"/>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600"/>
                                        <p:tgtEl>
                                          <p:spTgt spid="27"/>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00"/>
                                        <p:tgtEl>
                                          <p:spTgt spid="7"/>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600"/>
                                        <p:tgtEl>
                                          <p:spTgt spid="8"/>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600"/>
                                        <p:tgtEl>
                                          <p:spTgt spid="9"/>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00"/>
                                        <p:tgtEl>
                                          <p:spTgt spid="10"/>
                                        </p:tgtEl>
                                      </p:cBhvr>
                                    </p:animEffect>
                                  </p:childTnLst>
                                </p:cTn>
                              </p:par>
                              <p:par>
                                <p:cTn id="23" presetID="10" presetClass="entr" presetSubtype="0" fill="hold" grpId="0" nodeType="withEffect">
                                  <p:stCondLst>
                                    <p:cond delay="20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600"/>
                                        <p:tgtEl>
                                          <p:spTgt spid="11"/>
                                        </p:tgtEl>
                                      </p:cBhvr>
                                    </p:animEffect>
                                  </p:childTnLst>
                                </p:cTn>
                              </p:par>
                              <p:par>
                                <p:cTn id="26" presetID="10" presetClass="entr" presetSubtype="0" fill="hold" grpId="0" nodeType="withEffect">
                                  <p:stCondLst>
                                    <p:cond delay="20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600"/>
                                        <p:tgtEl>
                                          <p:spTgt spid="12"/>
                                        </p:tgtEl>
                                      </p:cBhvr>
                                    </p:animEffect>
                                  </p:childTnLst>
                                </p:cTn>
                              </p:par>
                              <p:par>
                                <p:cTn id="29" presetID="10" presetClass="entr" presetSubtype="0" fill="hold" grpId="0" nodeType="withEffect">
                                  <p:stCondLst>
                                    <p:cond delay="20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600"/>
                                        <p:tgtEl>
                                          <p:spTgt spid="13"/>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600"/>
                                        <p:tgtEl>
                                          <p:spTgt spid="28"/>
                                        </p:tgtEl>
                                      </p:cBhvr>
                                    </p:animEffect>
                                  </p:childTnLst>
                                </p:cTn>
                              </p:par>
                              <p:par>
                                <p:cTn id="35" presetID="53" presetClass="entr" presetSubtype="16" fill="hold" grpId="0" nodeType="withEffect">
                                  <p:stCondLst>
                                    <p:cond delay="300"/>
                                  </p:stCondLst>
                                  <p:childTnLst>
                                    <p:set>
                                      <p:cBhvr>
                                        <p:cTn id="36" dur="1" fill="hold">
                                          <p:stCondLst>
                                            <p:cond delay="0"/>
                                          </p:stCondLst>
                                        </p:cTn>
                                        <p:tgtEl>
                                          <p:spTgt spid="5"/>
                                        </p:tgtEl>
                                        <p:attrNameLst>
                                          <p:attrName>style.visibility</p:attrName>
                                        </p:attrNameLst>
                                      </p:cBhvr>
                                      <p:to>
                                        <p:strVal val="visible"/>
                                      </p:to>
                                    </p:set>
                                    <p:anim calcmode="lin" valueType="num">
                                      <p:cBhvr>
                                        <p:cTn id="37" dur="600" fill="hold"/>
                                        <p:tgtEl>
                                          <p:spTgt spid="5"/>
                                        </p:tgtEl>
                                        <p:attrNameLst>
                                          <p:attrName>ppt_w</p:attrName>
                                        </p:attrNameLst>
                                      </p:cBhvr>
                                      <p:tavLst>
                                        <p:tav tm="0">
                                          <p:val>
                                            <p:fltVal val="0"/>
                                          </p:val>
                                        </p:tav>
                                        <p:tav tm="100000">
                                          <p:val>
                                            <p:strVal val="#ppt_w"/>
                                          </p:val>
                                        </p:tav>
                                      </p:tavLst>
                                    </p:anim>
                                    <p:anim calcmode="lin" valueType="num">
                                      <p:cBhvr>
                                        <p:cTn id="38" dur="600" fill="hold"/>
                                        <p:tgtEl>
                                          <p:spTgt spid="5"/>
                                        </p:tgtEl>
                                        <p:attrNameLst>
                                          <p:attrName>ppt_h</p:attrName>
                                        </p:attrNameLst>
                                      </p:cBhvr>
                                      <p:tavLst>
                                        <p:tav tm="0">
                                          <p:val>
                                            <p:fltVal val="0"/>
                                          </p:val>
                                        </p:tav>
                                        <p:tav tm="100000">
                                          <p:val>
                                            <p:strVal val="#ppt_h"/>
                                          </p:val>
                                        </p:tav>
                                      </p:tavLst>
                                    </p:anim>
                                    <p:animEffect transition="in" filter="fade">
                                      <p:cBhvr>
                                        <p:cTn id="39" dur="600"/>
                                        <p:tgtEl>
                                          <p:spTgt spid="5"/>
                                        </p:tgtEl>
                                      </p:cBhvr>
                                    </p:animEffect>
                                  </p:childTnLst>
                                </p:cTn>
                              </p:par>
                              <p:par>
                                <p:cTn id="40" presetID="53" presetClass="entr" presetSubtype="16" fill="hold" grpId="0" nodeType="withEffect">
                                  <p:stCondLst>
                                    <p:cond delay="300"/>
                                  </p:stCondLst>
                                  <p:childTnLst>
                                    <p:set>
                                      <p:cBhvr>
                                        <p:cTn id="41" dur="1" fill="hold">
                                          <p:stCondLst>
                                            <p:cond delay="0"/>
                                          </p:stCondLst>
                                        </p:cTn>
                                        <p:tgtEl>
                                          <p:spTgt spid="6"/>
                                        </p:tgtEl>
                                        <p:attrNameLst>
                                          <p:attrName>style.visibility</p:attrName>
                                        </p:attrNameLst>
                                      </p:cBhvr>
                                      <p:to>
                                        <p:strVal val="visible"/>
                                      </p:to>
                                    </p:set>
                                    <p:anim calcmode="lin" valueType="num">
                                      <p:cBhvr>
                                        <p:cTn id="42" dur="600" fill="hold"/>
                                        <p:tgtEl>
                                          <p:spTgt spid="6"/>
                                        </p:tgtEl>
                                        <p:attrNameLst>
                                          <p:attrName>ppt_w</p:attrName>
                                        </p:attrNameLst>
                                      </p:cBhvr>
                                      <p:tavLst>
                                        <p:tav tm="0">
                                          <p:val>
                                            <p:fltVal val="0"/>
                                          </p:val>
                                        </p:tav>
                                        <p:tav tm="100000">
                                          <p:val>
                                            <p:strVal val="#ppt_w"/>
                                          </p:val>
                                        </p:tav>
                                      </p:tavLst>
                                    </p:anim>
                                    <p:anim calcmode="lin" valueType="num">
                                      <p:cBhvr>
                                        <p:cTn id="43" dur="600" fill="hold"/>
                                        <p:tgtEl>
                                          <p:spTgt spid="6"/>
                                        </p:tgtEl>
                                        <p:attrNameLst>
                                          <p:attrName>ppt_h</p:attrName>
                                        </p:attrNameLst>
                                      </p:cBhvr>
                                      <p:tavLst>
                                        <p:tav tm="0">
                                          <p:val>
                                            <p:fltVal val="0"/>
                                          </p:val>
                                        </p:tav>
                                        <p:tav tm="100000">
                                          <p:val>
                                            <p:strVal val="#ppt_h"/>
                                          </p:val>
                                        </p:tav>
                                      </p:tavLst>
                                    </p:anim>
                                    <p:animEffect transition="in" filter="fade">
                                      <p:cBhvr>
                                        <p:cTn id="44" dur="600"/>
                                        <p:tgtEl>
                                          <p:spTgt spid="6"/>
                                        </p:tgtEl>
                                      </p:cBhvr>
                                    </p:animEffect>
                                  </p:childTnLst>
                                </p:cTn>
                              </p:par>
                              <p:par>
                                <p:cTn id="45" presetID="53" presetClass="entr" presetSubtype="16" fill="hold" grpId="0" nodeType="withEffect">
                                  <p:stCondLst>
                                    <p:cond delay="500"/>
                                  </p:stCondLst>
                                  <p:childTnLst>
                                    <p:set>
                                      <p:cBhvr>
                                        <p:cTn id="46" dur="1" fill="hold">
                                          <p:stCondLst>
                                            <p:cond delay="0"/>
                                          </p:stCondLst>
                                        </p:cTn>
                                        <p:tgtEl>
                                          <p:spTgt spid="29"/>
                                        </p:tgtEl>
                                        <p:attrNameLst>
                                          <p:attrName>style.visibility</p:attrName>
                                        </p:attrNameLst>
                                      </p:cBhvr>
                                      <p:to>
                                        <p:strVal val="visible"/>
                                      </p:to>
                                    </p:set>
                                    <p:anim calcmode="lin" valueType="num">
                                      <p:cBhvr>
                                        <p:cTn id="47" dur="600" fill="hold"/>
                                        <p:tgtEl>
                                          <p:spTgt spid="29"/>
                                        </p:tgtEl>
                                        <p:attrNameLst>
                                          <p:attrName>ppt_w</p:attrName>
                                        </p:attrNameLst>
                                      </p:cBhvr>
                                      <p:tavLst>
                                        <p:tav tm="0">
                                          <p:val>
                                            <p:fltVal val="0"/>
                                          </p:val>
                                        </p:tav>
                                        <p:tav tm="100000">
                                          <p:val>
                                            <p:strVal val="#ppt_w"/>
                                          </p:val>
                                        </p:tav>
                                      </p:tavLst>
                                    </p:anim>
                                    <p:anim calcmode="lin" valueType="num">
                                      <p:cBhvr>
                                        <p:cTn id="48" dur="600" fill="hold"/>
                                        <p:tgtEl>
                                          <p:spTgt spid="29"/>
                                        </p:tgtEl>
                                        <p:attrNameLst>
                                          <p:attrName>ppt_h</p:attrName>
                                        </p:attrNameLst>
                                      </p:cBhvr>
                                      <p:tavLst>
                                        <p:tav tm="0">
                                          <p:val>
                                            <p:fltVal val="0"/>
                                          </p:val>
                                        </p:tav>
                                        <p:tav tm="100000">
                                          <p:val>
                                            <p:strVal val="#ppt_h"/>
                                          </p:val>
                                        </p:tav>
                                      </p:tavLst>
                                    </p:anim>
                                    <p:animEffect transition="in" filter="fade">
                                      <p:cBhvr>
                                        <p:cTn id="49" dur="600"/>
                                        <p:tgtEl>
                                          <p:spTgt spid="29"/>
                                        </p:tgtEl>
                                      </p:cBhvr>
                                    </p:animEffect>
                                  </p:childTnLst>
                                </p:cTn>
                              </p:par>
                              <p:par>
                                <p:cTn id="50" presetID="53" presetClass="entr" presetSubtype="16" fill="hold" grpId="0" nodeType="withEffect">
                                  <p:stCondLst>
                                    <p:cond delay="650"/>
                                  </p:stCondLst>
                                  <p:childTnLst>
                                    <p:set>
                                      <p:cBhvr>
                                        <p:cTn id="51" dur="1" fill="hold">
                                          <p:stCondLst>
                                            <p:cond delay="0"/>
                                          </p:stCondLst>
                                        </p:cTn>
                                        <p:tgtEl>
                                          <p:spTgt spid="30"/>
                                        </p:tgtEl>
                                        <p:attrNameLst>
                                          <p:attrName>style.visibility</p:attrName>
                                        </p:attrNameLst>
                                      </p:cBhvr>
                                      <p:to>
                                        <p:strVal val="visible"/>
                                      </p:to>
                                    </p:set>
                                    <p:anim calcmode="lin" valueType="num">
                                      <p:cBhvr>
                                        <p:cTn id="52" dur="600" fill="hold"/>
                                        <p:tgtEl>
                                          <p:spTgt spid="30"/>
                                        </p:tgtEl>
                                        <p:attrNameLst>
                                          <p:attrName>ppt_w</p:attrName>
                                        </p:attrNameLst>
                                      </p:cBhvr>
                                      <p:tavLst>
                                        <p:tav tm="0">
                                          <p:val>
                                            <p:fltVal val="0"/>
                                          </p:val>
                                        </p:tav>
                                        <p:tav tm="100000">
                                          <p:val>
                                            <p:strVal val="#ppt_w"/>
                                          </p:val>
                                        </p:tav>
                                      </p:tavLst>
                                    </p:anim>
                                    <p:anim calcmode="lin" valueType="num">
                                      <p:cBhvr>
                                        <p:cTn id="53" dur="600" fill="hold"/>
                                        <p:tgtEl>
                                          <p:spTgt spid="30"/>
                                        </p:tgtEl>
                                        <p:attrNameLst>
                                          <p:attrName>ppt_h</p:attrName>
                                        </p:attrNameLst>
                                      </p:cBhvr>
                                      <p:tavLst>
                                        <p:tav tm="0">
                                          <p:val>
                                            <p:fltVal val="0"/>
                                          </p:val>
                                        </p:tav>
                                        <p:tav tm="100000">
                                          <p:val>
                                            <p:strVal val="#ppt_h"/>
                                          </p:val>
                                        </p:tav>
                                      </p:tavLst>
                                    </p:anim>
                                    <p:animEffect transition="in" filter="fade">
                                      <p:cBhvr>
                                        <p:cTn id="54" dur="6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26" grpId="0" animBg="1"/>
      <p:bldP spid="27" grpId="0" animBg="1"/>
      <p:bldP spid="28" grpId="0" animBg="1"/>
      <p:bldP spid="29" grpId="0" animBg="1"/>
      <p:bldP spid="3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L0" descr="Carte">    </p:cNvPr>
          <p:cNvPicPr>
            <a:picLocks noChangeAspect="1"/>
          </p:cNvPicPr>
          <p:nvPr/>
        </p:nvPicPr>
        <p:blipFill>
          <a:blip r:embed="rId1"/>
          <a:stretch>
            <a:fillRect/>
          </a:stretch>
        </p:blipFill>
        <p:spPr>
          <a:xfrm>
            <a:off x="-26092219" y="-109409114"/>
            <a:ext cx="49363831" cy="118064306"/>
          </a:xfrm>
          <a:prstGeom prst="rect">
            <a:avLst/>
          </a:prstGeom>
        </p:spPr>
      </p:pic>
      <p:pic>
        <p:nvPicPr>
          <p:cNvPr id="3" name="!!L1" descr="Carte">    </p:cNvPr>
          <p:cNvPicPr>
            <a:picLocks noChangeAspect="1"/>
          </p:cNvPicPr>
          <p:nvPr/>
        </p:nvPicPr>
        <p:blipFill>
          <a:blip r:embed="rId2"/>
          <a:stretch>
            <a:fillRect/>
          </a:stretch>
        </p:blipFill>
        <p:spPr>
          <a:xfrm>
            <a:off x="-4863741" y="-13505417"/>
            <a:ext cx="25697413" cy="19722668"/>
          </a:xfrm>
          <a:prstGeom prst="rect">
            <a:avLst/>
          </a:prstGeom>
        </p:spPr>
      </p:pic>
      <p:pic>
        <p:nvPicPr>
          <p:cNvPr id="4" name="!!L2" descr="Carte">    </p:cNvPr>
          <p:cNvPicPr>
            <a:picLocks noChangeAspect="1"/>
          </p:cNvPicPr>
          <p:nvPr/>
        </p:nvPicPr>
        <p:blipFill>
          <a:blip r:embed="rId3"/>
          <a:stretch>
            <a:fillRect/>
          </a:stretch>
        </p:blipFill>
        <p:spPr>
          <a:xfrm>
            <a:off x="4389120" y="1215466"/>
            <a:ext cx="6949440" cy="4381348"/>
          </a:xfrm>
          <a:prstGeom prst="rect">
            <a:avLst/>
          </a:prstGeom>
        </p:spPr>
      </p:pic>
      <p:pic>
        <p:nvPicPr>
          <p:cNvPr id="5" name="!!pin" descr="Repère">    </p:cNvPr>
          <p:cNvPicPr>
            <a:picLocks noChangeAspect="1"/>
          </p:cNvPicPr>
          <p:nvPr/>
        </p:nvPicPr>
        <p:blipFill>
          <a:blip r:embed="rId4"/>
          <a:stretch>
            <a:fillRect/>
          </a:stretch>
        </p:blipFill>
        <p:spPr>
          <a:xfrm>
            <a:off x="6835419" y="3755389"/>
            <a:ext cx="457200" cy="660400"/>
          </a:xfrm>
          <a:prstGeom prst="rect">
            <a:avLst/>
          </a:prstGeom>
        </p:spPr>
      </p:pic>
      <p:sp>
        <p:nvSpPr>
          <p:cNvPr id="6" name="plab"/>
          <p:cNvSpPr/>
          <p:nvPr/>
        </p:nvSpPr>
        <p:spPr>
          <a:xfrm>
            <a:off x="7411491" y="3748785"/>
            <a:ext cx="2528316" cy="384048"/>
          </a:xfrm>
          <a:prstGeom prst="rect">
            <a:avLst/>
          </a:prstGeom>
          <a:solidFill>
            <a:srgbClr val="0E1C46"/>
          </a:solidFill>
          <a:ln w="12700">
            <a:solidFill>
              <a:srgbClr val="0E1C46"/>
            </a:solidFill>
            <a:prstDash val="solid"/>
          </a:ln>
        </p:spPr>
      </p:sp>
      <p:sp>
        <p:nvSpPr>
          <p:cNvPr id="7" name="plabt"/>
          <p:cNvSpPr txBox="1"/>
          <p:nvPr/>
        </p:nvSpPr>
        <p:spPr>
          <a:xfrm>
            <a:off x="7411491" y="3748785"/>
            <a:ext cx="2528316" cy="384048"/>
          </a:xfrm>
          <a:prstGeom prst="rect">
            <a:avLst/>
          </a:prstGeom>
          <a:noFill/>
          <a:ln/>
        </p:spPr>
        <p:txBody>
          <a:bodyPr wrap="square" lIns="0" tIns="0" rIns="0" bIns="0" rtlCol="0" anchor="ctr"/>
          <a:lstStyle/>
          <a:p>
            <a:pPr algn="ctr" indent="0" marL="0">
              <a:buNone/>
            </a:pPr>
            <a:r>
              <a:rPr lang="fr-FR" altLang="en-US" sz="1300" b="1" dirty="0">
                <a:solidFill>
                  <a:srgbClr val="FFFFFF"/>
                </a:solidFill>
                <a:latin typeface="Calibri" pitchFamily="34" charset="0"/>
                <a:ea typeface="Calibri" pitchFamily="34" charset="-122"/>
                <a:cs typeface="Calibri" pitchFamily="34" charset="-120"/>
              </a:rPr>
              <a:t>Golfe 3 · Doumassessé</a:t>
            </a:r>
            <a:endParaRPr lang="fr-FR" sz="1300" dirty="0"/>
          </a:p>
        </p:txBody>
      </p:sp>
      <p:sp>
        <p:nvSpPr>
          <p:cNvPr id="8" name="lab0"/>
          <p:cNvSpPr txBox="1"/>
          <p:nvPr/>
        </p:nvSpPr>
        <p:spPr>
          <a:xfrm>
            <a:off x="4741766" y="2024633"/>
            <a:ext cx="2194560" cy="292608"/>
          </a:xfrm>
          <a:prstGeom prst="rect">
            <a:avLst/>
          </a:prstGeom>
          <a:noFill/>
          <a:ln/>
        </p:spPr>
        <p:txBody>
          <a:bodyPr wrap="square" lIns="0" tIns="0" rIns="0" bIns="0" rtlCol="0" anchor="t"/>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Préfecture du Golfe</a:t>
            </a:r>
            <a:endParaRPr lang="fr-FR" sz="1200" dirty="0"/>
          </a:p>
        </p:txBody>
      </p:sp>
      <p:sp>
        <p:nvSpPr>
          <p:cNvPr id="9" name="lab1"/>
          <p:cNvSpPr txBox="1"/>
          <p:nvPr/>
        </p:nvSpPr>
        <p:spPr>
          <a:xfrm>
            <a:off x="8581523" y="3797680"/>
            <a:ext cx="2194560" cy="292608"/>
          </a:xfrm>
          <a:prstGeom prst="rect">
            <a:avLst/>
          </a:prstGeom>
          <a:noFill/>
          <a:ln/>
        </p:spPr>
        <p:txBody>
          <a:bodyPr wrap="square" lIns="0" tIns="0" rIns="0" bIns="0" rtlCol="0" anchor="t"/>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Lomé</a:t>
            </a:r>
            <a:endParaRPr lang="fr-FR" sz="1200" dirty="0"/>
          </a:p>
        </p:txBody>
      </p:sp>
      <p:sp>
        <p:nvSpPr>
          <p:cNvPr id="10" name="lab2"/>
          <p:cNvSpPr txBox="1"/>
          <p:nvPr/>
        </p:nvSpPr>
        <p:spPr>
          <a:xfrm>
            <a:off x="6716498" y="5349097"/>
            <a:ext cx="2194560" cy="292608"/>
          </a:xfrm>
          <a:prstGeom prst="rect">
            <a:avLst/>
          </a:prstGeom>
          <a:noFill/>
          <a:ln/>
        </p:spPr>
        <p:txBody>
          <a:bodyPr wrap="square" lIns="0" tIns="0" rIns="0" bIns="0" rtlCol="0" anchor="t"/>
          <a:lstStyle/>
          <a:p>
            <a:pPr algn="ctr" indent="0" marL="0">
              <a:buNone/>
            </a:pPr>
            <a:r>
              <a:rPr lang="fr-FR" altLang="en-US" sz="1200" i="1" dirty="0">
                <a:solidFill>
                  <a:srgbClr val="1B3F9E"/>
                </a:solidFill>
                <a:latin typeface="Calibri" pitchFamily="34" charset="0"/>
                <a:ea typeface="Calibri" pitchFamily="34" charset="-122"/>
                <a:cs typeface="Calibri" pitchFamily="34" charset="-120"/>
              </a:rPr>
              <a:t>Golfe de Guinée</a:t>
            </a:r>
            <a:endParaRPr lang="fr-FR" sz="1200" dirty="0"/>
          </a:p>
        </p:txBody>
      </p:sp>
      <p:sp>
        <p:nvSpPr>
          <p:cNvPr id="11" name="!!mapcard"/>
          <p:cNvSpPr/>
          <p:nvPr/>
        </p:nvSpPr>
        <p:spPr>
          <a:xfrm>
            <a:off x="502920" y="502920"/>
            <a:ext cx="3611880" cy="5486400"/>
          </a:xfrm>
          <a:prstGeom prst="rect">
            <a:avLst/>
          </a:prstGeom>
          <a:solidFill>
            <a:srgbClr val="FFFFFF"/>
          </a:solidFill>
          <a:ln w="9525">
            <a:solidFill>
              <a:srgbClr val="D9DFEA"/>
            </a:solidFill>
            <a:prstDash val="solid"/>
          </a:ln>
        </p:spPr>
      </p:sp>
      <p:sp>
        <p:nvSpPr>
          <p:cNvPr id="12" name="!!mapcardb"/>
          <p:cNvSpPr/>
          <p:nvPr/>
        </p:nvSpPr>
        <p:spPr>
          <a:xfrm>
            <a:off x="502920" y="502920"/>
            <a:ext cx="3611880" cy="54864"/>
          </a:xfrm>
          <a:prstGeom prst="rect">
            <a:avLst/>
          </a:prstGeom>
          <a:solidFill>
            <a:srgbClr val="1B3F9E"/>
          </a:solidFill>
          <a:ln w="12700">
            <a:solidFill>
              <a:srgbClr val="1B3F9E"/>
            </a:solidFill>
            <a:prstDash val="solid"/>
          </a:ln>
        </p:spPr>
      </p:sp>
      <p:sp>
        <p:nvSpPr>
          <p:cNvPr id="13" name="!!dot0"/>
          <p:cNvSpPr/>
          <p:nvPr/>
        </p:nvSpPr>
        <p:spPr>
          <a:xfrm>
            <a:off x="822960" y="868680"/>
            <a:ext cx="365760" cy="365760"/>
          </a:xfrm>
          <a:prstGeom prst="ellipse">
            <a:avLst/>
          </a:prstGeom>
          <a:solidFill>
            <a:srgbClr val="00923A"/>
          </a:solidFill>
          <a:ln w="15875">
            <a:solidFill>
              <a:srgbClr val="00923A"/>
            </a:solidFill>
            <a:prstDash val="solid"/>
          </a:ln>
        </p:spPr>
      </p:sp>
      <p:sp>
        <p:nvSpPr>
          <p:cNvPr id="14" name="!!dott0"/>
          <p:cNvSpPr txBox="1"/>
          <p:nvPr/>
        </p:nvSpPr>
        <p:spPr>
          <a:xfrm>
            <a:off x="822960"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1</a:t>
            </a:r>
            <a:endParaRPr lang="fr-FR" sz="1200" dirty="0"/>
          </a:p>
        </p:txBody>
      </p:sp>
      <p:sp>
        <p:nvSpPr>
          <p:cNvPr id="15" name="!!dot1"/>
          <p:cNvSpPr/>
          <p:nvPr/>
        </p:nvSpPr>
        <p:spPr>
          <a:xfrm>
            <a:off x="1389888" y="868680"/>
            <a:ext cx="365760" cy="365760"/>
          </a:xfrm>
          <a:prstGeom prst="ellipse">
            <a:avLst/>
          </a:prstGeom>
          <a:solidFill>
            <a:srgbClr val="00923A"/>
          </a:solidFill>
          <a:ln w="15875">
            <a:solidFill>
              <a:srgbClr val="00923A"/>
            </a:solidFill>
            <a:prstDash val="solid"/>
          </a:ln>
        </p:spPr>
      </p:sp>
      <p:sp>
        <p:nvSpPr>
          <p:cNvPr id="16" name="!!dott1"/>
          <p:cNvSpPr txBox="1"/>
          <p:nvPr/>
        </p:nvSpPr>
        <p:spPr>
          <a:xfrm>
            <a:off x="1389888"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2</a:t>
            </a:r>
            <a:endParaRPr lang="fr-FR" sz="1200" dirty="0"/>
          </a:p>
        </p:txBody>
      </p:sp>
      <p:sp>
        <p:nvSpPr>
          <p:cNvPr id="17" name="!!dot2"/>
          <p:cNvSpPr/>
          <p:nvPr/>
        </p:nvSpPr>
        <p:spPr>
          <a:xfrm>
            <a:off x="1956816" y="868680"/>
            <a:ext cx="365760" cy="365760"/>
          </a:xfrm>
          <a:prstGeom prst="ellipse">
            <a:avLst/>
          </a:prstGeom>
          <a:solidFill>
            <a:srgbClr val="1B3F9E"/>
          </a:solidFill>
          <a:ln w="15875">
            <a:solidFill>
              <a:srgbClr val="1B3F9E"/>
            </a:solidFill>
            <a:prstDash val="solid"/>
          </a:ln>
        </p:spPr>
      </p:sp>
      <p:sp>
        <p:nvSpPr>
          <p:cNvPr id="18" name="!!dott2"/>
          <p:cNvSpPr txBox="1"/>
          <p:nvPr/>
        </p:nvSpPr>
        <p:spPr>
          <a:xfrm>
            <a:off x="1956816"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3</a:t>
            </a:r>
            <a:endParaRPr lang="fr-FR" sz="1200" dirty="0"/>
          </a:p>
        </p:txBody>
      </p:sp>
      <p:sp>
        <p:nvSpPr>
          <p:cNvPr id="19" name="!!dot3"/>
          <p:cNvSpPr/>
          <p:nvPr/>
        </p:nvSpPr>
        <p:spPr>
          <a:xfrm>
            <a:off x="2523744" y="868680"/>
            <a:ext cx="365760" cy="365760"/>
          </a:xfrm>
          <a:prstGeom prst="ellipse">
            <a:avLst/>
          </a:prstGeom>
          <a:solidFill>
            <a:srgbClr val="FFFFFF"/>
          </a:solidFill>
          <a:ln w="15875">
            <a:solidFill>
              <a:srgbClr val="BFC8DA"/>
            </a:solidFill>
            <a:prstDash val="solid"/>
          </a:ln>
        </p:spPr>
      </p:sp>
      <p:sp>
        <p:nvSpPr>
          <p:cNvPr id="20" name="!!dott3"/>
          <p:cNvSpPr txBox="1"/>
          <p:nvPr/>
        </p:nvSpPr>
        <p:spPr>
          <a:xfrm>
            <a:off x="2523744"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4</a:t>
            </a:r>
            <a:endParaRPr lang="fr-FR" sz="1200" dirty="0"/>
          </a:p>
        </p:txBody>
      </p:sp>
      <p:sp>
        <p:nvSpPr>
          <p:cNvPr id="21" name="!!dot4"/>
          <p:cNvSpPr/>
          <p:nvPr/>
        </p:nvSpPr>
        <p:spPr>
          <a:xfrm>
            <a:off x="3090672" y="868680"/>
            <a:ext cx="365760" cy="365760"/>
          </a:xfrm>
          <a:prstGeom prst="ellipse">
            <a:avLst/>
          </a:prstGeom>
          <a:solidFill>
            <a:srgbClr val="FFFFFF"/>
          </a:solidFill>
          <a:ln w="15875">
            <a:solidFill>
              <a:srgbClr val="BFC8DA"/>
            </a:solidFill>
            <a:prstDash val="solid"/>
          </a:ln>
        </p:spPr>
      </p:sp>
      <p:sp>
        <p:nvSpPr>
          <p:cNvPr id="22" name="!!dott4"/>
          <p:cNvSpPr txBox="1"/>
          <p:nvPr/>
        </p:nvSpPr>
        <p:spPr>
          <a:xfrm>
            <a:off x="3090672"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5</a:t>
            </a:r>
            <a:endParaRPr lang="fr-FR" sz="1200" dirty="0"/>
          </a:p>
        </p:txBody>
      </p:sp>
      <p:sp>
        <p:nvSpPr>
          <p:cNvPr id="23" name="mstep"/>
          <p:cNvSpPr txBox="1"/>
          <p:nvPr/>
        </p:nvSpPr>
        <p:spPr>
          <a:xfrm>
            <a:off x="822960" y="1444752"/>
            <a:ext cx="3108960" cy="274320"/>
          </a:xfrm>
          <a:prstGeom prst="rect">
            <a:avLst/>
          </a:prstGeom>
          <a:noFill/>
          <a:ln/>
        </p:spPr>
        <p:txBody>
          <a:bodyPr wrap="square" lIns="0" tIns="0" rIns="0" bIns="0" rtlCol="0" anchor="t"/>
          <a:lstStyle/>
          <a:p>
            <a:pPr indent="0" marL="0">
              <a:buNone/>
            </a:pPr>
            <a:r>
              <a:rPr lang="fr-FR" altLang="en-US" sz="1300" b="1" dirty="0">
                <a:solidFill>
                  <a:srgbClr val="00923A"/>
                </a:solidFill>
                <a:latin typeface="Calibri" pitchFamily="34" charset="0"/>
                <a:ea typeface="Calibri" pitchFamily="34" charset="-122"/>
                <a:cs typeface="Calibri" pitchFamily="34" charset="-120"/>
              </a:rPr>
              <a:t>Étape 3 sur 5 · Grand Lomé</a:t>
            </a:r>
            <a:endParaRPr lang="fr-FR" sz="1300" dirty="0"/>
          </a:p>
        </p:txBody>
      </p:sp>
      <p:sp>
        <p:nvSpPr>
          <p:cNvPr id="24" name="mtitle"/>
          <p:cNvSpPr txBox="1"/>
          <p:nvPr/>
        </p:nvSpPr>
        <p:spPr>
          <a:xfrm>
            <a:off x="822960" y="1755648"/>
            <a:ext cx="3063240" cy="914400"/>
          </a:xfrm>
          <a:prstGeom prst="rect">
            <a:avLst/>
          </a:prstGeom>
          <a:noFill/>
          <a:ln/>
        </p:spPr>
        <p:txBody>
          <a:bodyPr wrap="square" lIns="0" tIns="0" rIns="0" bIns="0" rtlCol="0" anchor="t"/>
          <a:lstStyle/>
          <a:p>
            <a:pPr indent="0" marL="0">
              <a:buNone/>
            </a:pPr>
            <a:r>
              <a:rPr lang="fr-FR" altLang="en-US" sz="2400" b="1" dirty="0">
                <a:solidFill>
                  <a:srgbClr val="0E1C46"/>
                </a:solidFill>
                <a:latin typeface="Calibri" pitchFamily="34" charset="0"/>
                <a:ea typeface="Calibri" pitchFamily="34" charset="-122"/>
                <a:cs typeface="Calibri" pitchFamily="34" charset="-120"/>
              </a:rPr>
              <a:t>Le District autonome du Grand Lomé</a:t>
            </a:r>
            <a:endParaRPr lang="fr-FR" sz="2400" dirty="0"/>
          </a:p>
        </p:txBody>
      </p:sp>
      <p:sp>
        <p:nvSpPr>
          <p:cNvPr id="25" name="mtext"/>
          <p:cNvSpPr txBox="1"/>
          <p:nvPr/>
        </p:nvSpPr>
        <p:spPr>
          <a:xfrm>
            <a:off x="822960" y="2715768"/>
            <a:ext cx="3017520" cy="1325880"/>
          </a:xfrm>
          <a:prstGeom prst="rect">
            <a:avLst/>
          </a:prstGeom>
          <a:noFill/>
          <a:ln/>
        </p:spPr>
        <p:txBody>
          <a:bodyPr wrap="square" lIns="0" tIns="0" rIns="0" bIns="0" rtlCol="0" anchor="t"/>
          <a:lstStyle/>
          <a:p>
            <a:pPr indent="0" marL="0">
              <a:buNone/>
            </a:pPr>
            <a:r>
              <a:rPr lang="fr-FR" altLang="en-US" sz="1400" dirty="0">
                <a:solidFill>
                  <a:srgbClr val="56617C"/>
                </a:solidFill>
                <a:latin typeface="Calibri" pitchFamily="34" charset="0"/>
                <a:ea typeface="Calibri" pitchFamily="34" charset="-122"/>
                <a:cs typeface="Calibri" pitchFamily="34" charset="-120"/>
              </a:rPr>
              <a:t>Treize communes, dont la Commune du Golfe 3, avec Doumassessé pour chef-lieu.</a:t>
            </a:r>
            <a:endParaRPr lang="fr-FR" sz="1400" dirty="0"/>
          </a:p>
        </p:txBody>
      </p:sp>
      <p:sp>
        <p:nvSpPr>
          <p:cNvPr id="26" name="mf0"/>
          <p:cNvSpPr txBox="1"/>
          <p:nvPr/>
        </p:nvSpPr>
        <p:spPr>
          <a:xfrm>
            <a:off x="82296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13</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communes</a:t>
            </a:r>
            <a:endParaRPr lang="fr-FR" sz="2000" dirty="0"/>
          </a:p>
        </p:txBody>
      </p:sp>
      <p:sp>
        <p:nvSpPr>
          <p:cNvPr id="27" name="mf1"/>
          <p:cNvSpPr txBox="1"/>
          <p:nvPr/>
        </p:nvSpPr>
        <p:spPr>
          <a:xfrm>
            <a:off x="237744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DAGL</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district autonome</a:t>
            </a:r>
            <a:endParaRPr lang="fr-FR" sz="2000" dirty="0"/>
          </a:p>
        </p:txBody>
      </p:sp>
      <p:sp>
        <p:nvSpPr>
          <p:cNvPr id="28" name="mpart">
            <a:hlinkClick r:id="rId5" tooltip="Étape suivante" action="ppaction://hlinksldjump"/>
          </p:cNvPr>
          <p:cNvSpPr txBox="1"/>
          <p:nvPr/>
        </p:nvSpPr>
        <p:spPr>
          <a:xfrm>
            <a:off x="822960" y="5559552"/>
            <a:ext cx="3017520" cy="274320"/>
          </a:xfrm>
          <a:prstGeom prst="rect">
            <a:avLst/>
          </a:prstGeom>
          <a:noFill/>
          <a:ln/>
        </p:spPr>
        <p:txBody>
          <a:bodyPr wrap="square" lIns="0" tIns="0" rIns="0" bIns="0" rtlCol="0" anchor="t"/>
          <a:lstStyle/>
          <a:p>
            <a:pPr indent="0" marL="0">
              <a:buNone/>
            </a:pPr>
            <a:r>
              <a:rPr lang="fr-FR" altLang="en-US" sz="1100" dirty="0">
                <a:solidFill>
                  <a:srgbClr val="56617C"/>
                </a:solidFill>
                <a:latin typeface="Calibri" pitchFamily="34" charset="0"/>
                <a:ea typeface="Calibri" pitchFamily="34" charset="-122"/>
                <a:cs typeface="Calibri" pitchFamily="34" charset="-120"/>
              </a:rPr>
              <a:t>Partie 1 — Structure d’accueil</a:t>
            </a:r>
            <a:endParaRPr lang="fr-FR" sz="1100" dirty="0"/>
          </a:p>
        </p:txBody>
      </p:sp>
      <p:sp>
        <p:nvSpPr>
          <p:cNvPr id="29" name="!!band1"/>
          <p:cNvSpPr/>
          <p:nvPr/>
        </p:nvSpPr>
        <p:spPr>
          <a:xfrm>
            <a:off x="0" y="0"/>
            <a:ext cx="4873752" cy="64008"/>
          </a:xfrm>
          <a:prstGeom prst="rect">
            <a:avLst/>
          </a:prstGeom>
          <a:solidFill>
            <a:srgbClr val="1B3F9E"/>
          </a:solidFill>
          <a:ln w="12700">
            <a:solidFill>
              <a:srgbClr val="1B3F9E"/>
            </a:solidFill>
            <a:prstDash val="solid"/>
          </a:ln>
        </p:spPr>
      </p:sp>
      <p:sp>
        <p:nvSpPr>
          <p:cNvPr id="30" name="!!band2"/>
          <p:cNvSpPr/>
          <p:nvPr/>
        </p:nvSpPr>
        <p:spPr>
          <a:xfrm>
            <a:off x="4873752" y="0"/>
            <a:ext cx="4270248" cy="64008"/>
          </a:xfrm>
          <a:prstGeom prst="rect">
            <a:avLst/>
          </a:prstGeom>
          <a:solidFill>
            <a:srgbClr val="00923A"/>
          </a:solidFill>
          <a:ln w="12700">
            <a:solidFill>
              <a:srgbClr val="00923A"/>
            </a:solidFill>
            <a:prstDash val="solid"/>
          </a:ln>
        </p:spPr>
      </p:sp>
      <p:sp>
        <p:nvSpPr>
          <p:cNvPr id="31" name="!!band3"/>
          <p:cNvSpPr/>
          <p:nvPr/>
        </p:nvSpPr>
        <p:spPr>
          <a:xfrm>
            <a:off x="9144000" y="0"/>
            <a:ext cx="3047695" cy="64008"/>
          </a:xfrm>
          <a:prstGeom prst="rect">
            <a:avLst/>
          </a:prstGeom>
          <a:solidFill>
            <a:srgbClr val="FCC600"/>
          </a:solidFill>
          <a:ln w="12700">
            <a:solidFill>
              <a:srgbClr val="FCC600"/>
            </a:solidFill>
            <a:prstDash val="solid"/>
          </a:ln>
        </p:spPr>
      </p:sp>
      <p:sp>
        <p:nvSpPr>
          <p:cNvPr id="32" name="!!railline"/>
          <p:cNvSpPr/>
          <p:nvPr/>
        </p:nvSpPr>
        <p:spPr>
          <a:xfrm>
            <a:off x="11795760" y="1600200"/>
            <a:ext cx="914" cy="3383280"/>
          </a:xfrm>
          <a:prstGeom prst="line">
            <a:avLst/>
          </a:prstGeom>
          <a:noFill/>
          <a:ln w="19050">
            <a:solidFill>
              <a:srgbClr val="D9DFEA"/>
            </a:solidFill>
            <a:prstDash val="solid"/>
          </a:ln>
        </p:spPr>
      </p:sp>
      <p:sp>
        <p:nvSpPr>
          <p:cNvPr id="33" name="!!railprog"/>
          <p:cNvSpPr/>
          <p:nvPr/>
        </p:nvSpPr>
        <p:spPr>
          <a:xfrm>
            <a:off x="11795760" y="1600200"/>
            <a:ext cx="914" cy="914"/>
          </a:xfrm>
          <a:prstGeom prst="line">
            <a:avLst/>
          </a:prstGeom>
          <a:noFill/>
          <a:ln w="31750">
            <a:solidFill>
              <a:srgbClr val="00923A"/>
            </a:solidFill>
            <a:prstDash val="solid"/>
          </a:ln>
        </p:spPr>
      </p:sp>
      <p:sp>
        <p:nvSpPr>
          <p:cNvPr id="34" name="!!m1"/>
          <p:cNvSpPr/>
          <p:nvPr/>
        </p:nvSpPr>
        <p:spPr>
          <a:xfrm>
            <a:off x="11603736" y="1408176"/>
            <a:ext cx="384048" cy="384048"/>
          </a:xfrm>
          <a:prstGeom prst="ellipse">
            <a:avLst/>
          </a:prstGeom>
          <a:solidFill>
            <a:srgbClr val="1B3F9E"/>
          </a:solidFill>
          <a:ln w="15875">
            <a:solidFill>
              <a:srgbClr val="1B3F9E"/>
            </a:solidFill>
            <a:prstDash val="solid"/>
          </a:ln>
        </p:spPr>
      </p:sp>
      <p:sp>
        <p:nvSpPr>
          <p:cNvPr id="35" name="!!mt1">
            <a:hlinkClick r:id="rId6"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6" name="!!m2"/>
          <p:cNvSpPr/>
          <p:nvPr/>
        </p:nvSpPr>
        <p:spPr>
          <a:xfrm>
            <a:off x="11603736" y="2084832"/>
            <a:ext cx="384048" cy="384048"/>
          </a:xfrm>
          <a:prstGeom prst="ellipse">
            <a:avLst/>
          </a:prstGeom>
          <a:solidFill>
            <a:srgbClr val="FFFFFF"/>
          </a:solidFill>
          <a:ln w="15875">
            <a:solidFill>
              <a:srgbClr val="BFC8DA"/>
            </a:solidFill>
            <a:prstDash val="solid"/>
          </a:ln>
        </p:spPr>
      </p:sp>
      <p:sp>
        <p:nvSpPr>
          <p:cNvPr id="37" name="!!mt2">
            <a:hlinkClick r:id="rId7"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2</a:t>
            </a:r>
            <a:endParaRPr lang="en-US" sz="1200" dirty="0"/>
          </a:p>
        </p:txBody>
      </p:sp>
      <p:sp>
        <p:nvSpPr>
          <p:cNvPr id="38" name="!!m3"/>
          <p:cNvSpPr/>
          <p:nvPr/>
        </p:nvSpPr>
        <p:spPr>
          <a:xfrm>
            <a:off x="11603736" y="2761488"/>
            <a:ext cx="384048" cy="384048"/>
          </a:xfrm>
          <a:prstGeom prst="ellipse">
            <a:avLst/>
          </a:prstGeom>
          <a:solidFill>
            <a:srgbClr val="FFFFFF"/>
          </a:solidFill>
          <a:ln w="15875">
            <a:solidFill>
              <a:srgbClr val="BFC8DA"/>
            </a:solidFill>
            <a:prstDash val="solid"/>
          </a:ln>
        </p:spPr>
      </p:sp>
      <p:sp>
        <p:nvSpPr>
          <p:cNvPr id="39" name="!!mt3">
            <a:hlinkClick r:id="rId8"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3</a:t>
            </a:r>
            <a:endParaRPr lang="en-US" sz="1200" dirty="0"/>
          </a:p>
        </p:txBody>
      </p:sp>
      <p:sp>
        <p:nvSpPr>
          <p:cNvPr id="40"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41" name="!!mt4">
            <a:hlinkClick r:id="rId9"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42"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43" name="!!mt5">
            <a:hlinkClick r:id="rId10"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44"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45" name="!!mt6">
            <a:hlinkClick r:id="rId11"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6"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Structure d’accueil</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600"/>
                                        <p:tgtEl>
                                          <p:spTgt spid="23"/>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600"/>
                                        <p:tgtEl>
                                          <p:spTgt spid="24"/>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00"/>
                                        <p:tgtEl>
                                          <p:spTgt spid="9"/>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600"/>
                                        <p:tgtEl>
                                          <p:spTgt spid="10"/>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600"/>
                                        <p:tgtEl>
                                          <p:spTgt spid="25"/>
                                        </p:tgtEl>
                                      </p:cBhvr>
                                    </p:animEffect>
                                  </p:childTnLst>
                                </p:cTn>
                              </p:par>
                              <p:par>
                                <p:cTn id="23" presetID="53" presetClass="entr" presetSubtype="16" fill="hold" grpId="0" nodeType="withEffect">
                                  <p:stCondLst>
                                    <p:cond delay="300"/>
                                  </p:stCondLst>
                                  <p:childTnLst>
                                    <p:set>
                                      <p:cBhvr>
                                        <p:cTn id="24" dur="1" fill="hold">
                                          <p:stCondLst>
                                            <p:cond delay="0"/>
                                          </p:stCondLst>
                                        </p:cTn>
                                        <p:tgtEl>
                                          <p:spTgt spid="6"/>
                                        </p:tgtEl>
                                        <p:attrNameLst>
                                          <p:attrName>style.visibility</p:attrName>
                                        </p:attrNameLst>
                                      </p:cBhvr>
                                      <p:to>
                                        <p:strVal val="visible"/>
                                      </p:to>
                                    </p:set>
                                    <p:anim calcmode="lin" valueType="num">
                                      <p:cBhvr>
                                        <p:cTn id="25" dur="600" fill="hold"/>
                                        <p:tgtEl>
                                          <p:spTgt spid="6"/>
                                        </p:tgtEl>
                                        <p:attrNameLst>
                                          <p:attrName>ppt_w</p:attrName>
                                        </p:attrNameLst>
                                      </p:cBhvr>
                                      <p:tavLst>
                                        <p:tav tm="0">
                                          <p:val>
                                            <p:fltVal val="0"/>
                                          </p:val>
                                        </p:tav>
                                        <p:tav tm="100000">
                                          <p:val>
                                            <p:strVal val="#ppt_w"/>
                                          </p:val>
                                        </p:tav>
                                      </p:tavLst>
                                    </p:anim>
                                    <p:anim calcmode="lin" valueType="num">
                                      <p:cBhvr>
                                        <p:cTn id="26" dur="600" fill="hold"/>
                                        <p:tgtEl>
                                          <p:spTgt spid="6"/>
                                        </p:tgtEl>
                                        <p:attrNameLst>
                                          <p:attrName>ppt_h</p:attrName>
                                        </p:attrNameLst>
                                      </p:cBhvr>
                                      <p:tavLst>
                                        <p:tav tm="0">
                                          <p:val>
                                            <p:fltVal val="0"/>
                                          </p:val>
                                        </p:tav>
                                        <p:tav tm="100000">
                                          <p:val>
                                            <p:strVal val="#ppt_h"/>
                                          </p:val>
                                        </p:tav>
                                      </p:tavLst>
                                    </p:anim>
                                    <p:animEffect transition="in" filter="fade">
                                      <p:cBhvr>
                                        <p:cTn id="27" dur="600"/>
                                        <p:tgtEl>
                                          <p:spTgt spid="6"/>
                                        </p:tgtEl>
                                      </p:cBhvr>
                                    </p:animEffect>
                                  </p:childTnLst>
                                </p:cTn>
                              </p:par>
                              <p:par>
                                <p:cTn id="28" presetID="53" presetClass="entr" presetSubtype="16" fill="hold" grpId="0" nodeType="withEffect">
                                  <p:stCondLst>
                                    <p:cond delay="300"/>
                                  </p:stCondLst>
                                  <p:childTnLst>
                                    <p:set>
                                      <p:cBhvr>
                                        <p:cTn id="29" dur="1" fill="hold">
                                          <p:stCondLst>
                                            <p:cond delay="0"/>
                                          </p:stCondLst>
                                        </p:cTn>
                                        <p:tgtEl>
                                          <p:spTgt spid="7"/>
                                        </p:tgtEl>
                                        <p:attrNameLst>
                                          <p:attrName>style.visibility</p:attrName>
                                        </p:attrNameLst>
                                      </p:cBhvr>
                                      <p:to>
                                        <p:strVal val="visible"/>
                                      </p:to>
                                    </p:set>
                                    <p:anim calcmode="lin" valueType="num">
                                      <p:cBhvr>
                                        <p:cTn id="30" dur="600" fill="hold"/>
                                        <p:tgtEl>
                                          <p:spTgt spid="7"/>
                                        </p:tgtEl>
                                        <p:attrNameLst>
                                          <p:attrName>ppt_w</p:attrName>
                                        </p:attrNameLst>
                                      </p:cBhvr>
                                      <p:tavLst>
                                        <p:tav tm="0">
                                          <p:val>
                                            <p:fltVal val="0"/>
                                          </p:val>
                                        </p:tav>
                                        <p:tav tm="100000">
                                          <p:val>
                                            <p:strVal val="#ppt_w"/>
                                          </p:val>
                                        </p:tav>
                                      </p:tavLst>
                                    </p:anim>
                                    <p:anim calcmode="lin" valueType="num">
                                      <p:cBhvr>
                                        <p:cTn id="31" dur="600" fill="hold"/>
                                        <p:tgtEl>
                                          <p:spTgt spid="7"/>
                                        </p:tgtEl>
                                        <p:attrNameLst>
                                          <p:attrName>ppt_h</p:attrName>
                                        </p:attrNameLst>
                                      </p:cBhvr>
                                      <p:tavLst>
                                        <p:tav tm="0">
                                          <p:val>
                                            <p:fltVal val="0"/>
                                          </p:val>
                                        </p:tav>
                                        <p:tav tm="100000">
                                          <p:val>
                                            <p:strVal val="#ppt_h"/>
                                          </p:val>
                                        </p:tav>
                                      </p:tavLst>
                                    </p:anim>
                                    <p:animEffect transition="in" filter="fade">
                                      <p:cBhvr>
                                        <p:cTn id="32" dur="600"/>
                                        <p:tgtEl>
                                          <p:spTgt spid="7"/>
                                        </p:tgtEl>
                                      </p:cBhvr>
                                    </p:animEffect>
                                  </p:childTnLst>
                                </p:cTn>
                              </p:par>
                              <p:par>
                                <p:cTn id="33" presetID="53" presetClass="entr" presetSubtype="16" fill="hold" grpId="0" nodeType="withEffect">
                                  <p:stCondLst>
                                    <p:cond delay="500"/>
                                  </p:stCondLst>
                                  <p:childTnLst>
                                    <p:set>
                                      <p:cBhvr>
                                        <p:cTn id="34" dur="1" fill="hold">
                                          <p:stCondLst>
                                            <p:cond delay="0"/>
                                          </p:stCondLst>
                                        </p:cTn>
                                        <p:tgtEl>
                                          <p:spTgt spid="26"/>
                                        </p:tgtEl>
                                        <p:attrNameLst>
                                          <p:attrName>style.visibility</p:attrName>
                                        </p:attrNameLst>
                                      </p:cBhvr>
                                      <p:to>
                                        <p:strVal val="visible"/>
                                      </p:to>
                                    </p:set>
                                    <p:anim calcmode="lin" valueType="num">
                                      <p:cBhvr>
                                        <p:cTn id="35" dur="600" fill="hold"/>
                                        <p:tgtEl>
                                          <p:spTgt spid="26"/>
                                        </p:tgtEl>
                                        <p:attrNameLst>
                                          <p:attrName>ppt_w</p:attrName>
                                        </p:attrNameLst>
                                      </p:cBhvr>
                                      <p:tavLst>
                                        <p:tav tm="0">
                                          <p:val>
                                            <p:fltVal val="0"/>
                                          </p:val>
                                        </p:tav>
                                        <p:tav tm="100000">
                                          <p:val>
                                            <p:strVal val="#ppt_w"/>
                                          </p:val>
                                        </p:tav>
                                      </p:tavLst>
                                    </p:anim>
                                    <p:anim calcmode="lin" valueType="num">
                                      <p:cBhvr>
                                        <p:cTn id="36" dur="600" fill="hold"/>
                                        <p:tgtEl>
                                          <p:spTgt spid="26"/>
                                        </p:tgtEl>
                                        <p:attrNameLst>
                                          <p:attrName>ppt_h</p:attrName>
                                        </p:attrNameLst>
                                      </p:cBhvr>
                                      <p:tavLst>
                                        <p:tav tm="0">
                                          <p:val>
                                            <p:fltVal val="0"/>
                                          </p:val>
                                        </p:tav>
                                        <p:tav tm="100000">
                                          <p:val>
                                            <p:strVal val="#ppt_h"/>
                                          </p:val>
                                        </p:tav>
                                      </p:tavLst>
                                    </p:anim>
                                    <p:animEffect transition="in" filter="fade">
                                      <p:cBhvr>
                                        <p:cTn id="37" dur="600"/>
                                        <p:tgtEl>
                                          <p:spTgt spid="26"/>
                                        </p:tgtEl>
                                      </p:cBhvr>
                                    </p:animEffect>
                                  </p:childTnLst>
                                </p:cTn>
                              </p:par>
                              <p:par>
                                <p:cTn id="38" presetID="53" presetClass="entr" presetSubtype="16" fill="hold" grpId="0" nodeType="withEffect">
                                  <p:stCondLst>
                                    <p:cond delay="650"/>
                                  </p:stCondLst>
                                  <p:childTnLst>
                                    <p:set>
                                      <p:cBhvr>
                                        <p:cTn id="39" dur="1" fill="hold">
                                          <p:stCondLst>
                                            <p:cond delay="0"/>
                                          </p:stCondLst>
                                        </p:cTn>
                                        <p:tgtEl>
                                          <p:spTgt spid="27"/>
                                        </p:tgtEl>
                                        <p:attrNameLst>
                                          <p:attrName>style.visibility</p:attrName>
                                        </p:attrNameLst>
                                      </p:cBhvr>
                                      <p:to>
                                        <p:strVal val="visible"/>
                                      </p:to>
                                    </p:set>
                                    <p:anim calcmode="lin" valueType="num">
                                      <p:cBhvr>
                                        <p:cTn id="40" dur="600" fill="hold"/>
                                        <p:tgtEl>
                                          <p:spTgt spid="27"/>
                                        </p:tgtEl>
                                        <p:attrNameLst>
                                          <p:attrName>ppt_w</p:attrName>
                                        </p:attrNameLst>
                                      </p:cBhvr>
                                      <p:tavLst>
                                        <p:tav tm="0">
                                          <p:val>
                                            <p:fltVal val="0"/>
                                          </p:val>
                                        </p:tav>
                                        <p:tav tm="100000">
                                          <p:val>
                                            <p:strVal val="#ppt_w"/>
                                          </p:val>
                                        </p:tav>
                                      </p:tavLst>
                                    </p:anim>
                                    <p:anim calcmode="lin" valueType="num">
                                      <p:cBhvr>
                                        <p:cTn id="41" dur="600" fill="hold"/>
                                        <p:tgtEl>
                                          <p:spTgt spid="27"/>
                                        </p:tgtEl>
                                        <p:attrNameLst>
                                          <p:attrName>ppt_h</p:attrName>
                                        </p:attrNameLst>
                                      </p:cBhvr>
                                      <p:tavLst>
                                        <p:tav tm="0">
                                          <p:val>
                                            <p:fltVal val="0"/>
                                          </p:val>
                                        </p:tav>
                                        <p:tav tm="100000">
                                          <p:val>
                                            <p:strVal val="#ppt_h"/>
                                          </p:val>
                                        </p:tav>
                                      </p:tavLst>
                                    </p:anim>
                                    <p:animEffect transition="in" filter="fade">
                                      <p:cBhvr>
                                        <p:cTn id="42"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23" grpId="0" animBg="1"/>
      <p:bldP spid="24" grpId="0" animBg="1"/>
      <p:bldP spid="25" grpId="0" animBg="1"/>
      <p:bldP spid="26" grpId="0" animBg="1"/>
      <p:bldP spid="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L1" descr="Carte">    </p:cNvPr>
          <p:cNvPicPr>
            <a:picLocks noChangeAspect="1"/>
          </p:cNvPicPr>
          <p:nvPr/>
        </p:nvPicPr>
        <p:blipFill>
          <a:blip r:embed="rId1"/>
          <a:stretch>
            <a:fillRect/>
          </a:stretch>
        </p:blipFill>
        <p:spPr>
          <a:xfrm>
            <a:off x="-22504850" y="-41836344"/>
            <a:ext cx="66318032" cy="50898842"/>
          </a:xfrm>
          <a:prstGeom prst="rect">
            <a:avLst/>
          </a:prstGeom>
        </p:spPr>
      </p:pic>
      <p:pic>
        <p:nvPicPr>
          <p:cNvPr id="3" name="!!L2" descr="Carte">    </p:cNvPr>
          <p:cNvPicPr>
            <a:picLocks noChangeAspect="1"/>
          </p:cNvPicPr>
          <p:nvPr/>
        </p:nvPicPr>
        <p:blipFill>
          <a:blip r:embed="rId2"/>
          <a:stretch>
            <a:fillRect/>
          </a:stretch>
        </p:blipFill>
        <p:spPr>
          <a:xfrm>
            <a:off x="1374267" y="-3845749"/>
            <a:ext cx="17934614" cy="11307068"/>
          </a:xfrm>
          <a:prstGeom prst="rect">
            <a:avLst/>
          </a:prstGeom>
        </p:spPr>
      </p:pic>
      <p:pic>
        <p:nvPicPr>
          <p:cNvPr id="4" name="!!L3" descr="Carte">    </p:cNvPr>
          <p:cNvPicPr>
            <a:picLocks noChangeAspect="1"/>
          </p:cNvPicPr>
          <p:nvPr/>
        </p:nvPicPr>
        <p:blipFill>
          <a:blip r:embed="rId3"/>
          <a:stretch>
            <a:fillRect/>
          </a:stretch>
        </p:blipFill>
        <p:spPr>
          <a:xfrm>
            <a:off x="5382155" y="320040"/>
            <a:ext cx="4963370" cy="6172200"/>
          </a:xfrm>
          <a:prstGeom prst="rect">
            <a:avLst/>
          </a:prstGeom>
        </p:spPr>
      </p:pic>
      <p:pic>
        <p:nvPicPr>
          <p:cNvPr id="5" name="!!pin" descr="Repère">    </p:cNvPr>
          <p:cNvPicPr>
            <a:picLocks noChangeAspect="1"/>
          </p:cNvPicPr>
          <p:nvPr/>
        </p:nvPicPr>
        <p:blipFill>
          <a:blip r:embed="rId4"/>
          <a:stretch>
            <a:fillRect/>
          </a:stretch>
        </p:blipFill>
        <p:spPr>
          <a:xfrm>
            <a:off x="7993990" y="3541392"/>
            <a:ext cx="566928" cy="818896"/>
          </a:xfrm>
          <a:prstGeom prst="rect">
            <a:avLst/>
          </a:prstGeom>
        </p:spPr>
      </p:pic>
      <p:sp>
        <p:nvSpPr>
          <p:cNvPr id="6" name="!!mapcard"/>
          <p:cNvSpPr/>
          <p:nvPr/>
        </p:nvSpPr>
        <p:spPr>
          <a:xfrm>
            <a:off x="502920" y="502920"/>
            <a:ext cx="3611880" cy="5486400"/>
          </a:xfrm>
          <a:prstGeom prst="rect">
            <a:avLst/>
          </a:prstGeom>
          <a:solidFill>
            <a:srgbClr val="FFFFFF"/>
          </a:solidFill>
          <a:ln w="9525">
            <a:solidFill>
              <a:srgbClr val="D9DFEA"/>
            </a:solidFill>
            <a:prstDash val="solid"/>
          </a:ln>
        </p:spPr>
      </p:sp>
      <p:sp>
        <p:nvSpPr>
          <p:cNvPr id="7" name="!!mapcardb"/>
          <p:cNvSpPr/>
          <p:nvPr/>
        </p:nvSpPr>
        <p:spPr>
          <a:xfrm>
            <a:off x="502920" y="502920"/>
            <a:ext cx="3611880" cy="54864"/>
          </a:xfrm>
          <a:prstGeom prst="rect">
            <a:avLst/>
          </a:prstGeom>
          <a:solidFill>
            <a:srgbClr val="1B3F9E"/>
          </a:solidFill>
          <a:ln w="12700">
            <a:solidFill>
              <a:srgbClr val="1B3F9E"/>
            </a:solidFill>
            <a:prstDash val="solid"/>
          </a:ln>
        </p:spPr>
      </p:sp>
      <p:sp>
        <p:nvSpPr>
          <p:cNvPr id="8" name="!!dot0"/>
          <p:cNvSpPr/>
          <p:nvPr/>
        </p:nvSpPr>
        <p:spPr>
          <a:xfrm>
            <a:off x="822960" y="868680"/>
            <a:ext cx="365760" cy="365760"/>
          </a:xfrm>
          <a:prstGeom prst="ellipse">
            <a:avLst/>
          </a:prstGeom>
          <a:solidFill>
            <a:srgbClr val="00923A"/>
          </a:solidFill>
          <a:ln w="15875">
            <a:solidFill>
              <a:srgbClr val="00923A"/>
            </a:solidFill>
            <a:prstDash val="solid"/>
          </a:ln>
        </p:spPr>
      </p:sp>
      <p:sp>
        <p:nvSpPr>
          <p:cNvPr id="9" name="!!dott0"/>
          <p:cNvSpPr txBox="1"/>
          <p:nvPr/>
        </p:nvSpPr>
        <p:spPr>
          <a:xfrm>
            <a:off x="822960"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1</a:t>
            </a:r>
            <a:endParaRPr lang="fr-FR" sz="1200" dirty="0"/>
          </a:p>
        </p:txBody>
      </p:sp>
      <p:sp>
        <p:nvSpPr>
          <p:cNvPr id="10" name="!!dot1"/>
          <p:cNvSpPr/>
          <p:nvPr/>
        </p:nvSpPr>
        <p:spPr>
          <a:xfrm>
            <a:off x="1389888" y="868680"/>
            <a:ext cx="365760" cy="365760"/>
          </a:xfrm>
          <a:prstGeom prst="ellipse">
            <a:avLst/>
          </a:prstGeom>
          <a:solidFill>
            <a:srgbClr val="00923A"/>
          </a:solidFill>
          <a:ln w="15875">
            <a:solidFill>
              <a:srgbClr val="00923A"/>
            </a:solidFill>
            <a:prstDash val="solid"/>
          </a:ln>
        </p:spPr>
      </p:sp>
      <p:sp>
        <p:nvSpPr>
          <p:cNvPr id="11" name="!!dott1"/>
          <p:cNvSpPr txBox="1"/>
          <p:nvPr/>
        </p:nvSpPr>
        <p:spPr>
          <a:xfrm>
            <a:off x="1389888"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2</a:t>
            </a:r>
            <a:endParaRPr lang="fr-FR" sz="1200" dirty="0"/>
          </a:p>
        </p:txBody>
      </p:sp>
      <p:sp>
        <p:nvSpPr>
          <p:cNvPr id="12" name="!!dot2"/>
          <p:cNvSpPr/>
          <p:nvPr/>
        </p:nvSpPr>
        <p:spPr>
          <a:xfrm>
            <a:off x="1956816" y="868680"/>
            <a:ext cx="365760" cy="365760"/>
          </a:xfrm>
          <a:prstGeom prst="ellipse">
            <a:avLst/>
          </a:prstGeom>
          <a:solidFill>
            <a:srgbClr val="00923A"/>
          </a:solidFill>
          <a:ln w="15875">
            <a:solidFill>
              <a:srgbClr val="00923A"/>
            </a:solidFill>
            <a:prstDash val="solid"/>
          </a:ln>
        </p:spPr>
      </p:sp>
      <p:sp>
        <p:nvSpPr>
          <p:cNvPr id="13" name="!!dott2"/>
          <p:cNvSpPr txBox="1"/>
          <p:nvPr/>
        </p:nvSpPr>
        <p:spPr>
          <a:xfrm>
            <a:off x="1956816"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3</a:t>
            </a:r>
            <a:endParaRPr lang="fr-FR" sz="1200" dirty="0"/>
          </a:p>
        </p:txBody>
      </p:sp>
      <p:sp>
        <p:nvSpPr>
          <p:cNvPr id="14" name="!!dot3"/>
          <p:cNvSpPr/>
          <p:nvPr/>
        </p:nvSpPr>
        <p:spPr>
          <a:xfrm>
            <a:off x="2523744" y="868680"/>
            <a:ext cx="365760" cy="365760"/>
          </a:xfrm>
          <a:prstGeom prst="ellipse">
            <a:avLst/>
          </a:prstGeom>
          <a:solidFill>
            <a:srgbClr val="1B3F9E"/>
          </a:solidFill>
          <a:ln w="15875">
            <a:solidFill>
              <a:srgbClr val="1B3F9E"/>
            </a:solidFill>
            <a:prstDash val="solid"/>
          </a:ln>
        </p:spPr>
      </p:sp>
      <p:sp>
        <p:nvSpPr>
          <p:cNvPr id="15" name="!!dott3"/>
          <p:cNvSpPr txBox="1"/>
          <p:nvPr/>
        </p:nvSpPr>
        <p:spPr>
          <a:xfrm>
            <a:off x="2523744"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4</a:t>
            </a:r>
            <a:endParaRPr lang="fr-FR" sz="1200" dirty="0"/>
          </a:p>
        </p:txBody>
      </p:sp>
      <p:sp>
        <p:nvSpPr>
          <p:cNvPr id="16" name="!!dot4"/>
          <p:cNvSpPr/>
          <p:nvPr/>
        </p:nvSpPr>
        <p:spPr>
          <a:xfrm>
            <a:off x="3090672" y="868680"/>
            <a:ext cx="365760" cy="365760"/>
          </a:xfrm>
          <a:prstGeom prst="ellipse">
            <a:avLst/>
          </a:prstGeom>
          <a:solidFill>
            <a:srgbClr val="FFFFFF"/>
          </a:solidFill>
          <a:ln w="15875">
            <a:solidFill>
              <a:srgbClr val="BFC8DA"/>
            </a:solidFill>
            <a:prstDash val="solid"/>
          </a:ln>
        </p:spPr>
      </p:sp>
      <p:sp>
        <p:nvSpPr>
          <p:cNvPr id="17" name="!!dott4"/>
          <p:cNvSpPr txBox="1"/>
          <p:nvPr/>
        </p:nvSpPr>
        <p:spPr>
          <a:xfrm>
            <a:off x="3090672"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5</a:t>
            </a:r>
            <a:endParaRPr lang="fr-FR" sz="1200" dirty="0"/>
          </a:p>
        </p:txBody>
      </p:sp>
      <p:sp>
        <p:nvSpPr>
          <p:cNvPr id="18" name="mstep"/>
          <p:cNvSpPr txBox="1"/>
          <p:nvPr/>
        </p:nvSpPr>
        <p:spPr>
          <a:xfrm>
            <a:off x="822960" y="1444752"/>
            <a:ext cx="3108960" cy="274320"/>
          </a:xfrm>
          <a:prstGeom prst="rect">
            <a:avLst/>
          </a:prstGeom>
          <a:noFill/>
          <a:ln/>
        </p:spPr>
        <p:txBody>
          <a:bodyPr wrap="square" lIns="0" tIns="0" rIns="0" bIns="0" rtlCol="0" anchor="t"/>
          <a:lstStyle/>
          <a:p>
            <a:pPr indent="0" marL="0">
              <a:buNone/>
            </a:pPr>
            <a:r>
              <a:rPr lang="fr-FR" altLang="en-US" sz="1300" b="1" dirty="0">
                <a:solidFill>
                  <a:srgbClr val="00923A"/>
                </a:solidFill>
                <a:latin typeface="Calibri" pitchFamily="34" charset="0"/>
                <a:ea typeface="Calibri" pitchFamily="34" charset="-122"/>
                <a:cs typeface="Calibri" pitchFamily="34" charset="-120"/>
              </a:rPr>
              <a:t>Étape 4 sur 5 · Commune du Golfe 3</a:t>
            </a:r>
            <a:endParaRPr lang="fr-FR" sz="1300" dirty="0"/>
          </a:p>
        </p:txBody>
      </p:sp>
      <p:sp>
        <p:nvSpPr>
          <p:cNvPr id="19" name="mtitle"/>
          <p:cNvSpPr txBox="1"/>
          <p:nvPr/>
        </p:nvSpPr>
        <p:spPr>
          <a:xfrm>
            <a:off x="822960" y="1755648"/>
            <a:ext cx="3063240" cy="914400"/>
          </a:xfrm>
          <a:prstGeom prst="rect">
            <a:avLst/>
          </a:prstGeom>
          <a:noFill/>
          <a:ln/>
        </p:spPr>
        <p:txBody>
          <a:bodyPr wrap="square" lIns="0" tIns="0" rIns="0" bIns="0" rtlCol="0" anchor="t"/>
          <a:lstStyle/>
          <a:p>
            <a:pPr indent="0" marL="0">
              <a:buNone/>
            </a:pPr>
            <a:r>
              <a:rPr lang="fr-FR" altLang="en-US" sz="2400" b="1" dirty="0">
                <a:solidFill>
                  <a:srgbClr val="0E1C46"/>
                </a:solidFill>
                <a:latin typeface="Calibri" pitchFamily="34" charset="0"/>
                <a:ea typeface="Calibri" pitchFamily="34" charset="-122"/>
                <a:cs typeface="Calibri" pitchFamily="34" charset="-120"/>
              </a:rPr>
              <a:t>La Commune du Golfe 3</a:t>
            </a:r>
            <a:endParaRPr lang="fr-FR" sz="2400" dirty="0"/>
          </a:p>
        </p:txBody>
      </p:sp>
      <p:sp>
        <p:nvSpPr>
          <p:cNvPr id="20" name="mtext"/>
          <p:cNvSpPr txBox="1"/>
          <p:nvPr/>
        </p:nvSpPr>
        <p:spPr>
          <a:xfrm>
            <a:off x="822960" y="2715768"/>
            <a:ext cx="3017520" cy="1325880"/>
          </a:xfrm>
          <a:prstGeom prst="rect">
            <a:avLst/>
          </a:prstGeom>
          <a:noFill/>
          <a:ln/>
        </p:spPr>
        <p:txBody>
          <a:bodyPr wrap="square" lIns="0" tIns="0" rIns="0" bIns="0" rtlCol="0" anchor="t"/>
          <a:lstStyle/>
          <a:p>
            <a:pPr indent="0" marL="0">
              <a:buNone/>
            </a:pPr>
            <a:r>
              <a:rPr lang="fr-FR" altLang="en-US" sz="1400" dirty="0">
                <a:solidFill>
                  <a:srgbClr val="56617C"/>
                </a:solidFill>
                <a:latin typeface="Calibri" pitchFamily="34" charset="0"/>
                <a:ea typeface="Calibri" pitchFamily="34" charset="-122"/>
                <a:cs typeface="Calibri" pitchFamily="34" charset="-120"/>
              </a:rPr>
              <a:t>Huit quartiers, entre Agoè-Nyivé 1 au nord, Golfe 2 à l’est et Golfe 4 au sud.</a:t>
            </a:r>
            <a:endParaRPr lang="fr-FR" sz="1400" dirty="0"/>
          </a:p>
        </p:txBody>
      </p:sp>
      <p:sp>
        <p:nvSpPr>
          <p:cNvPr id="21" name="mf0"/>
          <p:cNvSpPr txBox="1"/>
          <p:nvPr/>
        </p:nvSpPr>
        <p:spPr>
          <a:xfrm>
            <a:off x="82296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 17 km²</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superficie</a:t>
            </a:r>
            <a:endParaRPr lang="fr-FR" sz="2000" dirty="0"/>
          </a:p>
        </p:txBody>
      </p:sp>
      <p:sp>
        <p:nvSpPr>
          <p:cNvPr id="22" name="mf1"/>
          <p:cNvSpPr txBox="1"/>
          <p:nvPr/>
        </p:nvSpPr>
        <p:spPr>
          <a:xfrm>
            <a:off x="237744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52 679</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habitants</a:t>
            </a:r>
            <a:endParaRPr lang="fr-FR" sz="2000" dirty="0"/>
          </a:p>
        </p:txBody>
      </p:sp>
      <p:sp>
        <p:nvSpPr>
          <p:cNvPr id="23" name="mf2"/>
          <p:cNvSpPr txBox="1"/>
          <p:nvPr/>
        </p:nvSpPr>
        <p:spPr>
          <a:xfrm>
            <a:off x="822960" y="489204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19</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conseillers</a:t>
            </a:r>
            <a:endParaRPr lang="fr-FR" sz="2000" dirty="0"/>
          </a:p>
        </p:txBody>
      </p:sp>
      <p:sp>
        <p:nvSpPr>
          <p:cNvPr id="24" name="mpart">
            <a:hlinkClick r:id="rId5" tooltip="Étape suivante" action="ppaction://hlinksldjump"/>
          </p:cNvPr>
          <p:cNvSpPr txBox="1"/>
          <p:nvPr/>
        </p:nvSpPr>
        <p:spPr>
          <a:xfrm>
            <a:off x="822960" y="5559552"/>
            <a:ext cx="3017520" cy="274320"/>
          </a:xfrm>
          <a:prstGeom prst="rect">
            <a:avLst/>
          </a:prstGeom>
          <a:noFill/>
          <a:ln/>
        </p:spPr>
        <p:txBody>
          <a:bodyPr wrap="square" lIns="0" tIns="0" rIns="0" bIns="0" rtlCol="0" anchor="t"/>
          <a:lstStyle/>
          <a:p>
            <a:pPr indent="0" marL="0">
              <a:buNone/>
            </a:pPr>
            <a:r>
              <a:rPr lang="fr-FR" altLang="en-US" sz="1100" dirty="0">
                <a:solidFill>
                  <a:srgbClr val="56617C"/>
                </a:solidFill>
                <a:latin typeface="Calibri" pitchFamily="34" charset="0"/>
                <a:ea typeface="Calibri" pitchFamily="34" charset="-122"/>
                <a:cs typeface="Calibri" pitchFamily="34" charset="-120"/>
              </a:rPr>
              <a:t>Partie 1 — Structure d’accueil</a:t>
            </a:r>
            <a:endParaRPr lang="fr-FR" sz="1100" dirty="0"/>
          </a:p>
        </p:txBody>
      </p:sp>
      <p:sp>
        <p:nvSpPr>
          <p:cNvPr id="25" name="!!band1"/>
          <p:cNvSpPr/>
          <p:nvPr/>
        </p:nvSpPr>
        <p:spPr>
          <a:xfrm>
            <a:off x="0" y="0"/>
            <a:ext cx="4873752" cy="64008"/>
          </a:xfrm>
          <a:prstGeom prst="rect">
            <a:avLst/>
          </a:prstGeom>
          <a:solidFill>
            <a:srgbClr val="1B3F9E"/>
          </a:solidFill>
          <a:ln w="12700">
            <a:solidFill>
              <a:srgbClr val="1B3F9E"/>
            </a:solidFill>
            <a:prstDash val="solid"/>
          </a:ln>
        </p:spPr>
      </p:sp>
      <p:sp>
        <p:nvSpPr>
          <p:cNvPr id="26" name="!!band2"/>
          <p:cNvSpPr/>
          <p:nvPr/>
        </p:nvSpPr>
        <p:spPr>
          <a:xfrm>
            <a:off x="4873752" y="0"/>
            <a:ext cx="4270248" cy="64008"/>
          </a:xfrm>
          <a:prstGeom prst="rect">
            <a:avLst/>
          </a:prstGeom>
          <a:solidFill>
            <a:srgbClr val="00923A"/>
          </a:solidFill>
          <a:ln w="12700">
            <a:solidFill>
              <a:srgbClr val="00923A"/>
            </a:solidFill>
            <a:prstDash val="solid"/>
          </a:ln>
        </p:spPr>
      </p:sp>
      <p:sp>
        <p:nvSpPr>
          <p:cNvPr id="27" name="!!band3"/>
          <p:cNvSpPr/>
          <p:nvPr/>
        </p:nvSpPr>
        <p:spPr>
          <a:xfrm>
            <a:off x="9144000" y="0"/>
            <a:ext cx="3047695" cy="64008"/>
          </a:xfrm>
          <a:prstGeom prst="rect">
            <a:avLst/>
          </a:prstGeom>
          <a:solidFill>
            <a:srgbClr val="FCC600"/>
          </a:solidFill>
          <a:ln w="12700">
            <a:solidFill>
              <a:srgbClr val="FCC600"/>
            </a:solidFill>
            <a:prstDash val="solid"/>
          </a:ln>
        </p:spPr>
      </p:sp>
      <p:sp>
        <p:nvSpPr>
          <p:cNvPr id="28" name="!!railline"/>
          <p:cNvSpPr/>
          <p:nvPr/>
        </p:nvSpPr>
        <p:spPr>
          <a:xfrm>
            <a:off x="11795760" y="1600200"/>
            <a:ext cx="914" cy="3383280"/>
          </a:xfrm>
          <a:prstGeom prst="line">
            <a:avLst/>
          </a:prstGeom>
          <a:noFill/>
          <a:ln w="19050">
            <a:solidFill>
              <a:srgbClr val="D9DFEA"/>
            </a:solidFill>
            <a:prstDash val="solid"/>
          </a:ln>
        </p:spPr>
      </p:sp>
      <p:sp>
        <p:nvSpPr>
          <p:cNvPr id="29" name="!!railprog"/>
          <p:cNvSpPr/>
          <p:nvPr/>
        </p:nvSpPr>
        <p:spPr>
          <a:xfrm>
            <a:off x="11795760" y="1600200"/>
            <a:ext cx="914" cy="914"/>
          </a:xfrm>
          <a:prstGeom prst="line">
            <a:avLst/>
          </a:prstGeom>
          <a:noFill/>
          <a:ln w="31750">
            <a:solidFill>
              <a:srgbClr val="00923A"/>
            </a:solidFill>
            <a:prstDash val="solid"/>
          </a:ln>
        </p:spPr>
      </p:sp>
      <p:sp>
        <p:nvSpPr>
          <p:cNvPr id="30" name="!!m1"/>
          <p:cNvSpPr/>
          <p:nvPr/>
        </p:nvSpPr>
        <p:spPr>
          <a:xfrm>
            <a:off x="11603736" y="1408176"/>
            <a:ext cx="384048" cy="384048"/>
          </a:xfrm>
          <a:prstGeom prst="ellipse">
            <a:avLst/>
          </a:prstGeom>
          <a:solidFill>
            <a:srgbClr val="1B3F9E"/>
          </a:solidFill>
          <a:ln w="15875">
            <a:solidFill>
              <a:srgbClr val="1B3F9E"/>
            </a:solidFill>
            <a:prstDash val="solid"/>
          </a:ln>
        </p:spPr>
      </p:sp>
      <p:sp>
        <p:nvSpPr>
          <p:cNvPr id="31" name="!!mt1">
            <a:hlinkClick r:id="rId6"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m2"/>
          <p:cNvSpPr/>
          <p:nvPr/>
        </p:nvSpPr>
        <p:spPr>
          <a:xfrm>
            <a:off x="11603736" y="2084832"/>
            <a:ext cx="384048" cy="384048"/>
          </a:xfrm>
          <a:prstGeom prst="ellipse">
            <a:avLst/>
          </a:prstGeom>
          <a:solidFill>
            <a:srgbClr val="FFFFFF"/>
          </a:solidFill>
          <a:ln w="15875">
            <a:solidFill>
              <a:srgbClr val="BFC8DA"/>
            </a:solidFill>
            <a:prstDash val="solid"/>
          </a:ln>
        </p:spPr>
      </p:sp>
      <p:sp>
        <p:nvSpPr>
          <p:cNvPr id="33" name="!!mt2">
            <a:hlinkClick r:id="rId7"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2</a:t>
            </a:r>
            <a:endParaRPr lang="en-US" sz="1200" dirty="0"/>
          </a:p>
        </p:txBody>
      </p:sp>
      <p:sp>
        <p:nvSpPr>
          <p:cNvPr id="34" name="!!m3"/>
          <p:cNvSpPr/>
          <p:nvPr/>
        </p:nvSpPr>
        <p:spPr>
          <a:xfrm>
            <a:off x="11603736" y="2761488"/>
            <a:ext cx="384048" cy="384048"/>
          </a:xfrm>
          <a:prstGeom prst="ellipse">
            <a:avLst/>
          </a:prstGeom>
          <a:solidFill>
            <a:srgbClr val="FFFFFF"/>
          </a:solidFill>
          <a:ln w="15875">
            <a:solidFill>
              <a:srgbClr val="BFC8DA"/>
            </a:solidFill>
            <a:prstDash val="solid"/>
          </a:ln>
        </p:spPr>
      </p:sp>
      <p:sp>
        <p:nvSpPr>
          <p:cNvPr id="35" name="!!mt3">
            <a:hlinkClick r:id="rId8"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3</a:t>
            </a:r>
            <a:endParaRPr lang="en-US" sz="1200" dirty="0"/>
          </a:p>
        </p:txBody>
      </p:sp>
      <p:sp>
        <p:nvSpPr>
          <p:cNvPr id="36"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37" name="!!mt4">
            <a:hlinkClick r:id="rId9"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38"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39" name="!!mt5">
            <a:hlinkClick r:id="rId10"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40"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41" name="!!mt6">
            <a:hlinkClick r:id="rId11"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2"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Structure d’accueil</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600"/>
                                        <p:tgtEl>
                                          <p:spTgt spid="18"/>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600"/>
                                        <p:tgtEl>
                                          <p:spTgt spid="19"/>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600"/>
                                        <p:tgtEl>
                                          <p:spTgt spid="20"/>
                                        </p:tgtEl>
                                      </p:cBhvr>
                                    </p:animEffect>
                                  </p:childTnLst>
                                </p:cTn>
                              </p:par>
                              <p:par>
                                <p:cTn id="14" presetID="53" presetClass="entr" presetSubtype="16" fill="hold" grpId="0" nodeType="withEffect">
                                  <p:stCondLst>
                                    <p:cond delay="500"/>
                                  </p:stCondLst>
                                  <p:childTnLst>
                                    <p:set>
                                      <p:cBhvr>
                                        <p:cTn id="15" dur="1" fill="hold">
                                          <p:stCondLst>
                                            <p:cond delay="0"/>
                                          </p:stCondLst>
                                        </p:cTn>
                                        <p:tgtEl>
                                          <p:spTgt spid="21"/>
                                        </p:tgtEl>
                                        <p:attrNameLst>
                                          <p:attrName>style.visibility</p:attrName>
                                        </p:attrNameLst>
                                      </p:cBhvr>
                                      <p:to>
                                        <p:strVal val="visible"/>
                                      </p:to>
                                    </p:set>
                                    <p:anim calcmode="lin" valueType="num">
                                      <p:cBhvr>
                                        <p:cTn id="16" dur="600" fill="hold"/>
                                        <p:tgtEl>
                                          <p:spTgt spid="21"/>
                                        </p:tgtEl>
                                        <p:attrNameLst>
                                          <p:attrName>ppt_w</p:attrName>
                                        </p:attrNameLst>
                                      </p:cBhvr>
                                      <p:tavLst>
                                        <p:tav tm="0">
                                          <p:val>
                                            <p:fltVal val="0"/>
                                          </p:val>
                                        </p:tav>
                                        <p:tav tm="100000">
                                          <p:val>
                                            <p:strVal val="#ppt_w"/>
                                          </p:val>
                                        </p:tav>
                                      </p:tavLst>
                                    </p:anim>
                                    <p:anim calcmode="lin" valueType="num">
                                      <p:cBhvr>
                                        <p:cTn id="17" dur="600" fill="hold"/>
                                        <p:tgtEl>
                                          <p:spTgt spid="21"/>
                                        </p:tgtEl>
                                        <p:attrNameLst>
                                          <p:attrName>ppt_h</p:attrName>
                                        </p:attrNameLst>
                                      </p:cBhvr>
                                      <p:tavLst>
                                        <p:tav tm="0">
                                          <p:val>
                                            <p:fltVal val="0"/>
                                          </p:val>
                                        </p:tav>
                                        <p:tav tm="100000">
                                          <p:val>
                                            <p:strVal val="#ppt_h"/>
                                          </p:val>
                                        </p:tav>
                                      </p:tavLst>
                                    </p:anim>
                                    <p:animEffect transition="in" filter="fade">
                                      <p:cBhvr>
                                        <p:cTn id="18" dur="600"/>
                                        <p:tgtEl>
                                          <p:spTgt spid="21"/>
                                        </p:tgtEl>
                                      </p:cBhvr>
                                    </p:animEffect>
                                  </p:childTnLst>
                                </p:cTn>
                              </p:par>
                              <p:par>
                                <p:cTn id="19" presetID="53" presetClass="entr" presetSubtype="16" fill="hold" grpId="0" nodeType="withEffect">
                                  <p:stCondLst>
                                    <p:cond delay="650"/>
                                  </p:stCondLst>
                                  <p:childTnLst>
                                    <p:set>
                                      <p:cBhvr>
                                        <p:cTn id="20" dur="1" fill="hold">
                                          <p:stCondLst>
                                            <p:cond delay="0"/>
                                          </p:stCondLst>
                                        </p:cTn>
                                        <p:tgtEl>
                                          <p:spTgt spid="22"/>
                                        </p:tgtEl>
                                        <p:attrNameLst>
                                          <p:attrName>style.visibility</p:attrName>
                                        </p:attrNameLst>
                                      </p:cBhvr>
                                      <p:to>
                                        <p:strVal val="visible"/>
                                      </p:to>
                                    </p:set>
                                    <p:anim calcmode="lin" valueType="num">
                                      <p:cBhvr>
                                        <p:cTn id="21" dur="600" fill="hold"/>
                                        <p:tgtEl>
                                          <p:spTgt spid="22"/>
                                        </p:tgtEl>
                                        <p:attrNameLst>
                                          <p:attrName>ppt_w</p:attrName>
                                        </p:attrNameLst>
                                      </p:cBhvr>
                                      <p:tavLst>
                                        <p:tav tm="0">
                                          <p:val>
                                            <p:fltVal val="0"/>
                                          </p:val>
                                        </p:tav>
                                        <p:tav tm="100000">
                                          <p:val>
                                            <p:strVal val="#ppt_w"/>
                                          </p:val>
                                        </p:tav>
                                      </p:tavLst>
                                    </p:anim>
                                    <p:anim calcmode="lin" valueType="num">
                                      <p:cBhvr>
                                        <p:cTn id="22" dur="600" fill="hold"/>
                                        <p:tgtEl>
                                          <p:spTgt spid="22"/>
                                        </p:tgtEl>
                                        <p:attrNameLst>
                                          <p:attrName>ppt_h</p:attrName>
                                        </p:attrNameLst>
                                      </p:cBhvr>
                                      <p:tavLst>
                                        <p:tav tm="0">
                                          <p:val>
                                            <p:fltVal val="0"/>
                                          </p:val>
                                        </p:tav>
                                        <p:tav tm="100000">
                                          <p:val>
                                            <p:strVal val="#ppt_h"/>
                                          </p:val>
                                        </p:tav>
                                      </p:tavLst>
                                    </p:anim>
                                    <p:animEffect transition="in" filter="fade">
                                      <p:cBhvr>
                                        <p:cTn id="23" dur="600"/>
                                        <p:tgtEl>
                                          <p:spTgt spid="22"/>
                                        </p:tgtEl>
                                      </p:cBhvr>
                                    </p:animEffect>
                                  </p:childTnLst>
                                </p:cTn>
                              </p:par>
                              <p:par>
                                <p:cTn id="24" presetID="53" presetClass="entr" presetSubtype="16" fill="hold" grpId="0" nodeType="withEffect">
                                  <p:stCondLst>
                                    <p:cond delay="800"/>
                                  </p:stCondLst>
                                  <p:childTnLst>
                                    <p:set>
                                      <p:cBhvr>
                                        <p:cTn id="25" dur="1" fill="hold">
                                          <p:stCondLst>
                                            <p:cond delay="0"/>
                                          </p:stCondLst>
                                        </p:cTn>
                                        <p:tgtEl>
                                          <p:spTgt spid="23"/>
                                        </p:tgtEl>
                                        <p:attrNameLst>
                                          <p:attrName>style.visibility</p:attrName>
                                        </p:attrNameLst>
                                      </p:cBhvr>
                                      <p:to>
                                        <p:strVal val="visible"/>
                                      </p:to>
                                    </p:set>
                                    <p:anim calcmode="lin" valueType="num">
                                      <p:cBhvr>
                                        <p:cTn id="26" dur="600" fill="hold"/>
                                        <p:tgtEl>
                                          <p:spTgt spid="23"/>
                                        </p:tgtEl>
                                        <p:attrNameLst>
                                          <p:attrName>ppt_w</p:attrName>
                                        </p:attrNameLst>
                                      </p:cBhvr>
                                      <p:tavLst>
                                        <p:tav tm="0">
                                          <p:val>
                                            <p:fltVal val="0"/>
                                          </p:val>
                                        </p:tav>
                                        <p:tav tm="100000">
                                          <p:val>
                                            <p:strVal val="#ppt_w"/>
                                          </p:val>
                                        </p:tav>
                                      </p:tavLst>
                                    </p:anim>
                                    <p:anim calcmode="lin" valueType="num">
                                      <p:cBhvr>
                                        <p:cTn id="27" dur="600" fill="hold"/>
                                        <p:tgtEl>
                                          <p:spTgt spid="23"/>
                                        </p:tgtEl>
                                        <p:attrNameLst>
                                          <p:attrName>ppt_h</p:attrName>
                                        </p:attrNameLst>
                                      </p:cBhvr>
                                      <p:tavLst>
                                        <p:tav tm="0">
                                          <p:val>
                                            <p:fltVal val="0"/>
                                          </p:val>
                                        </p:tav>
                                        <p:tav tm="100000">
                                          <p:val>
                                            <p:strVal val="#ppt_h"/>
                                          </p:val>
                                        </p:tav>
                                      </p:tavLst>
                                    </p:anim>
                                    <p:animEffect transition="in" filter="fade">
                                      <p:cBhvr>
                                        <p:cTn id="28"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L2" descr="Carte">    </p:cNvPr>
          <p:cNvPicPr>
            <a:picLocks noChangeAspect="1"/>
          </p:cNvPicPr>
          <p:nvPr/>
        </p:nvPicPr>
        <p:blipFill>
          <a:blip r:embed="rId1"/>
          <a:stretch>
            <a:fillRect/>
          </a:stretch>
        </p:blipFill>
        <p:spPr>
          <a:xfrm>
            <a:off x="-10084447" y="-17493200"/>
            <a:ext cx="46629997" cy="29398376"/>
          </a:xfrm>
          <a:prstGeom prst="rect">
            <a:avLst/>
          </a:prstGeom>
        </p:spPr>
      </p:pic>
      <p:pic>
        <p:nvPicPr>
          <p:cNvPr id="3" name="!!L3" descr="Carte">    </p:cNvPr>
          <p:cNvPicPr>
            <a:picLocks noChangeAspect="1"/>
          </p:cNvPicPr>
          <p:nvPr/>
        </p:nvPicPr>
        <p:blipFill>
          <a:blip r:embed="rId2"/>
          <a:stretch>
            <a:fillRect/>
          </a:stretch>
        </p:blipFill>
        <p:spPr>
          <a:xfrm>
            <a:off x="336063" y="-6662148"/>
            <a:ext cx="12904761" cy="16047720"/>
          </a:xfrm>
          <a:prstGeom prst="rect">
            <a:avLst/>
          </a:prstGeom>
        </p:spPr>
      </p:pic>
      <p:pic>
        <p:nvPicPr>
          <p:cNvPr id="4" name="!!pin" descr="Repère">    </p:cNvPr>
          <p:cNvPicPr>
            <a:picLocks noChangeAspect="1"/>
          </p:cNvPicPr>
          <p:nvPr/>
        </p:nvPicPr>
        <p:blipFill>
          <a:blip r:embed="rId3"/>
          <a:stretch>
            <a:fillRect/>
          </a:stretch>
        </p:blipFill>
        <p:spPr>
          <a:xfrm>
            <a:off x="7580376" y="2944988"/>
            <a:ext cx="566928" cy="818896"/>
          </a:xfrm>
          <a:prstGeom prst="rect">
            <a:avLst/>
          </a:prstGeom>
        </p:spPr>
      </p:pic>
      <p:sp>
        <p:nvSpPr>
          <p:cNvPr id="5" name="plab"/>
          <p:cNvSpPr/>
          <p:nvPr/>
        </p:nvSpPr>
        <p:spPr>
          <a:xfrm>
            <a:off x="8211312" y="2936799"/>
            <a:ext cx="2528316" cy="384048"/>
          </a:xfrm>
          <a:prstGeom prst="rect">
            <a:avLst/>
          </a:prstGeom>
          <a:solidFill>
            <a:srgbClr val="0E1C46"/>
          </a:solidFill>
          <a:ln w="12700">
            <a:solidFill>
              <a:srgbClr val="0E1C46"/>
            </a:solidFill>
            <a:prstDash val="solid"/>
          </a:ln>
        </p:spPr>
      </p:sp>
      <p:sp>
        <p:nvSpPr>
          <p:cNvPr id="6" name="plabt"/>
          <p:cNvSpPr txBox="1"/>
          <p:nvPr/>
        </p:nvSpPr>
        <p:spPr>
          <a:xfrm>
            <a:off x="8211312" y="2936799"/>
            <a:ext cx="2528316" cy="384048"/>
          </a:xfrm>
          <a:prstGeom prst="rect">
            <a:avLst/>
          </a:prstGeom>
          <a:noFill/>
          <a:ln/>
        </p:spPr>
        <p:txBody>
          <a:bodyPr wrap="square" lIns="0" tIns="0" rIns="0" bIns="0" rtlCol="0" anchor="ctr"/>
          <a:lstStyle/>
          <a:p>
            <a:pPr algn="ctr" indent="0" marL="0">
              <a:buNone/>
            </a:pPr>
            <a:r>
              <a:rPr lang="fr-FR" altLang="en-US" sz="1300" b="1" dirty="0">
                <a:solidFill>
                  <a:srgbClr val="FFFFFF"/>
                </a:solidFill>
                <a:latin typeface="Calibri" pitchFamily="34" charset="0"/>
                <a:ea typeface="Calibri" pitchFamily="34" charset="-122"/>
                <a:cs typeface="Calibri" pitchFamily="34" charset="-120"/>
              </a:rPr>
              <a:t>Mairie de Doumassessé</a:t>
            </a:r>
            <a:endParaRPr lang="fr-FR" sz="1300" dirty="0"/>
          </a:p>
        </p:txBody>
      </p:sp>
      <p:sp>
        <p:nvSpPr>
          <p:cNvPr id="7" name="!!mapcard"/>
          <p:cNvSpPr/>
          <p:nvPr/>
        </p:nvSpPr>
        <p:spPr>
          <a:xfrm>
            <a:off x="502920" y="502920"/>
            <a:ext cx="3611880" cy="5486400"/>
          </a:xfrm>
          <a:prstGeom prst="rect">
            <a:avLst/>
          </a:prstGeom>
          <a:solidFill>
            <a:srgbClr val="FFFFFF"/>
          </a:solidFill>
          <a:ln w="9525">
            <a:solidFill>
              <a:srgbClr val="D9DFEA"/>
            </a:solidFill>
            <a:prstDash val="solid"/>
          </a:ln>
        </p:spPr>
      </p:sp>
      <p:sp>
        <p:nvSpPr>
          <p:cNvPr id="8" name="!!mapcardb"/>
          <p:cNvSpPr/>
          <p:nvPr/>
        </p:nvSpPr>
        <p:spPr>
          <a:xfrm>
            <a:off x="502920" y="502920"/>
            <a:ext cx="3611880" cy="54864"/>
          </a:xfrm>
          <a:prstGeom prst="rect">
            <a:avLst/>
          </a:prstGeom>
          <a:solidFill>
            <a:srgbClr val="1B3F9E"/>
          </a:solidFill>
          <a:ln w="12700">
            <a:solidFill>
              <a:srgbClr val="1B3F9E"/>
            </a:solidFill>
            <a:prstDash val="solid"/>
          </a:ln>
        </p:spPr>
      </p:sp>
      <p:sp>
        <p:nvSpPr>
          <p:cNvPr id="9" name="!!dot0"/>
          <p:cNvSpPr/>
          <p:nvPr/>
        </p:nvSpPr>
        <p:spPr>
          <a:xfrm>
            <a:off x="822960" y="868680"/>
            <a:ext cx="365760" cy="365760"/>
          </a:xfrm>
          <a:prstGeom prst="ellipse">
            <a:avLst/>
          </a:prstGeom>
          <a:solidFill>
            <a:srgbClr val="00923A"/>
          </a:solidFill>
          <a:ln w="15875">
            <a:solidFill>
              <a:srgbClr val="00923A"/>
            </a:solidFill>
            <a:prstDash val="solid"/>
          </a:ln>
        </p:spPr>
      </p:sp>
      <p:sp>
        <p:nvSpPr>
          <p:cNvPr id="10" name="!!dott0"/>
          <p:cNvSpPr txBox="1"/>
          <p:nvPr/>
        </p:nvSpPr>
        <p:spPr>
          <a:xfrm>
            <a:off x="822960"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1</a:t>
            </a:r>
            <a:endParaRPr lang="fr-FR" sz="1200" dirty="0"/>
          </a:p>
        </p:txBody>
      </p:sp>
      <p:sp>
        <p:nvSpPr>
          <p:cNvPr id="11" name="!!dot1"/>
          <p:cNvSpPr/>
          <p:nvPr/>
        </p:nvSpPr>
        <p:spPr>
          <a:xfrm>
            <a:off x="1389888" y="868680"/>
            <a:ext cx="365760" cy="365760"/>
          </a:xfrm>
          <a:prstGeom prst="ellipse">
            <a:avLst/>
          </a:prstGeom>
          <a:solidFill>
            <a:srgbClr val="00923A"/>
          </a:solidFill>
          <a:ln w="15875">
            <a:solidFill>
              <a:srgbClr val="00923A"/>
            </a:solidFill>
            <a:prstDash val="solid"/>
          </a:ln>
        </p:spPr>
      </p:sp>
      <p:sp>
        <p:nvSpPr>
          <p:cNvPr id="12" name="!!dott1"/>
          <p:cNvSpPr txBox="1"/>
          <p:nvPr/>
        </p:nvSpPr>
        <p:spPr>
          <a:xfrm>
            <a:off x="1389888"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2</a:t>
            </a:r>
            <a:endParaRPr lang="fr-FR" sz="1200" dirty="0"/>
          </a:p>
        </p:txBody>
      </p:sp>
      <p:sp>
        <p:nvSpPr>
          <p:cNvPr id="13" name="!!dot2"/>
          <p:cNvSpPr/>
          <p:nvPr/>
        </p:nvSpPr>
        <p:spPr>
          <a:xfrm>
            <a:off x="1956816" y="868680"/>
            <a:ext cx="365760" cy="365760"/>
          </a:xfrm>
          <a:prstGeom prst="ellipse">
            <a:avLst/>
          </a:prstGeom>
          <a:solidFill>
            <a:srgbClr val="00923A"/>
          </a:solidFill>
          <a:ln w="15875">
            <a:solidFill>
              <a:srgbClr val="00923A"/>
            </a:solidFill>
            <a:prstDash val="solid"/>
          </a:ln>
        </p:spPr>
      </p:sp>
      <p:sp>
        <p:nvSpPr>
          <p:cNvPr id="14" name="!!dott2"/>
          <p:cNvSpPr txBox="1"/>
          <p:nvPr/>
        </p:nvSpPr>
        <p:spPr>
          <a:xfrm>
            <a:off x="1956816"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3</a:t>
            </a:r>
            <a:endParaRPr lang="fr-FR" sz="1200" dirty="0"/>
          </a:p>
        </p:txBody>
      </p:sp>
      <p:sp>
        <p:nvSpPr>
          <p:cNvPr id="15" name="!!dot3"/>
          <p:cNvSpPr/>
          <p:nvPr/>
        </p:nvSpPr>
        <p:spPr>
          <a:xfrm>
            <a:off x="2523744" y="868680"/>
            <a:ext cx="365760" cy="365760"/>
          </a:xfrm>
          <a:prstGeom prst="ellipse">
            <a:avLst/>
          </a:prstGeom>
          <a:solidFill>
            <a:srgbClr val="00923A"/>
          </a:solidFill>
          <a:ln w="15875">
            <a:solidFill>
              <a:srgbClr val="00923A"/>
            </a:solidFill>
            <a:prstDash val="solid"/>
          </a:ln>
        </p:spPr>
      </p:sp>
      <p:sp>
        <p:nvSpPr>
          <p:cNvPr id="16" name="!!dott3"/>
          <p:cNvSpPr txBox="1"/>
          <p:nvPr/>
        </p:nvSpPr>
        <p:spPr>
          <a:xfrm>
            <a:off x="2523744"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4</a:t>
            </a:r>
            <a:endParaRPr lang="fr-FR" sz="1200" dirty="0"/>
          </a:p>
        </p:txBody>
      </p:sp>
      <p:sp>
        <p:nvSpPr>
          <p:cNvPr id="17" name="!!dot4"/>
          <p:cNvSpPr/>
          <p:nvPr/>
        </p:nvSpPr>
        <p:spPr>
          <a:xfrm>
            <a:off x="3090672" y="868680"/>
            <a:ext cx="365760" cy="365760"/>
          </a:xfrm>
          <a:prstGeom prst="ellipse">
            <a:avLst/>
          </a:prstGeom>
          <a:solidFill>
            <a:srgbClr val="1B3F9E"/>
          </a:solidFill>
          <a:ln w="15875">
            <a:solidFill>
              <a:srgbClr val="1B3F9E"/>
            </a:solidFill>
            <a:prstDash val="solid"/>
          </a:ln>
        </p:spPr>
      </p:sp>
      <p:sp>
        <p:nvSpPr>
          <p:cNvPr id="18" name="!!dott4"/>
          <p:cNvSpPr txBox="1"/>
          <p:nvPr/>
        </p:nvSpPr>
        <p:spPr>
          <a:xfrm>
            <a:off x="3090672"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5</a:t>
            </a:r>
            <a:endParaRPr lang="fr-FR" sz="1200" dirty="0"/>
          </a:p>
        </p:txBody>
      </p:sp>
      <p:sp>
        <p:nvSpPr>
          <p:cNvPr id="19" name="mstep"/>
          <p:cNvSpPr txBox="1"/>
          <p:nvPr/>
        </p:nvSpPr>
        <p:spPr>
          <a:xfrm>
            <a:off x="822960" y="1444752"/>
            <a:ext cx="3108960" cy="274320"/>
          </a:xfrm>
          <a:prstGeom prst="rect">
            <a:avLst/>
          </a:prstGeom>
          <a:noFill/>
          <a:ln/>
        </p:spPr>
        <p:txBody>
          <a:bodyPr wrap="square" lIns="0" tIns="0" rIns="0" bIns="0" rtlCol="0" anchor="t"/>
          <a:lstStyle/>
          <a:p>
            <a:pPr indent="0" marL="0">
              <a:buNone/>
            </a:pPr>
            <a:r>
              <a:rPr lang="fr-FR" altLang="en-US" sz="1300" b="1" dirty="0">
                <a:solidFill>
                  <a:srgbClr val="00923A"/>
                </a:solidFill>
                <a:latin typeface="Calibri" pitchFamily="34" charset="0"/>
                <a:ea typeface="Calibri" pitchFamily="34" charset="-122"/>
                <a:cs typeface="Calibri" pitchFamily="34" charset="-120"/>
              </a:rPr>
              <a:t>Étape 5 sur 5 · Mairie</a:t>
            </a:r>
            <a:endParaRPr lang="fr-FR" sz="1300" dirty="0"/>
          </a:p>
        </p:txBody>
      </p:sp>
      <p:sp>
        <p:nvSpPr>
          <p:cNvPr id="20" name="mtitle"/>
          <p:cNvSpPr txBox="1"/>
          <p:nvPr/>
        </p:nvSpPr>
        <p:spPr>
          <a:xfrm>
            <a:off x="822960" y="1755648"/>
            <a:ext cx="3063240" cy="914400"/>
          </a:xfrm>
          <a:prstGeom prst="rect">
            <a:avLst/>
          </a:prstGeom>
          <a:noFill/>
          <a:ln/>
        </p:spPr>
        <p:txBody>
          <a:bodyPr wrap="square" lIns="0" tIns="0" rIns="0" bIns="0" rtlCol="0" anchor="t"/>
          <a:lstStyle/>
          <a:p>
            <a:pPr indent="0" marL="0">
              <a:buNone/>
            </a:pPr>
            <a:r>
              <a:rPr lang="fr-FR" altLang="en-US" sz="2400" b="1" dirty="0">
                <a:solidFill>
                  <a:srgbClr val="0E1C46"/>
                </a:solidFill>
                <a:latin typeface="Calibri" pitchFamily="34" charset="0"/>
                <a:ea typeface="Calibri" pitchFamily="34" charset="-122"/>
                <a:cs typeface="Calibri" pitchFamily="34" charset="-120"/>
              </a:rPr>
              <a:t>La Mairie de Doumassessé</a:t>
            </a:r>
            <a:endParaRPr lang="fr-FR" sz="2400" dirty="0"/>
          </a:p>
        </p:txBody>
      </p:sp>
      <p:sp>
        <p:nvSpPr>
          <p:cNvPr id="21" name="mtext"/>
          <p:cNvSpPr txBox="1"/>
          <p:nvPr/>
        </p:nvSpPr>
        <p:spPr>
          <a:xfrm>
            <a:off x="822960" y="2715768"/>
            <a:ext cx="3017520" cy="1325880"/>
          </a:xfrm>
          <a:prstGeom prst="rect">
            <a:avLst/>
          </a:prstGeom>
          <a:noFill/>
          <a:ln/>
        </p:spPr>
        <p:txBody>
          <a:bodyPr wrap="square" lIns="0" tIns="0" rIns="0" bIns="0" rtlCol="0" anchor="t"/>
          <a:lstStyle/>
          <a:p>
            <a:pPr indent="0" marL="0">
              <a:buNone/>
            </a:pPr>
            <a:r>
              <a:rPr lang="fr-FR" altLang="en-US" sz="1400" dirty="0">
                <a:solidFill>
                  <a:srgbClr val="56617C"/>
                </a:solidFill>
                <a:latin typeface="Calibri" pitchFamily="34" charset="0"/>
                <a:ea typeface="Calibri" pitchFamily="34" charset="-122"/>
                <a:cs typeface="Calibri" pitchFamily="34" charset="-120"/>
              </a:rPr>
              <a:t>Siège de la Commune du Golfe 3 et lieu du stage, au secrétariat général.</a:t>
            </a:r>
            <a:endParaRPr lang="fr-FR" sz="1400" dirty="0"/>
          </a:p>
        </p:txBody>
      </p:sp>
      <p:sp>
        <p:nvSpPr>
          <p:cNvPr id="22" name="mf0"/>
          <p:cNvSpPr txBox="1"/>
          <p:nvPr/>
        </p:nvSpPr>
        <p:spPr>
          <a:xfrm>
            <a:off x="82296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15 BP 440</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Lomé</a:t>
            </a:r>
            <a:endParaRPr lang="fr-FR" sz="2000" dirty="0"/>
          </a:p>
        </p:txBody>
      </p:sp>
      <p:sp>
        <p:nvSpPr>
          <p:cNvPr id="23" name="mf1"/>
          <p:cNvSpPr txBox="1"/>
          <p:nvPr/>
        </p:nvSpPr>
        <p:spPr>
          <a:xfrm>
            <a:off x="237744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22 21 16 24</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téléphone (+228)</a:t>
            </a:r>
            <a:endParaRPr lang="fr-FR" sz="2000" dirty="0"/>
          </a:p>
        </p:txBody>
      </p:sp>
      <p:sp>
        <p:nvSpPr>
          <p:cNvPr id="24" name="mpart"/>
          <p:cNvSpPr txBox="1"/>
          <p:nvPr/>
        </p:nvSpPr>
        <p:spPr>
          <a:xfrm>
            <a:off x="822960" y="5559552"/>
            <a:ext cx="3017520" cy="274320"/>
          </a:xfrm>
          <a:prstGeom prst="rect">
            <a:avLst/>
          </a:prstGeom>
          <a:noFill/>
          <a:ln/>
        </p:spPr>
        <p:txBody>
          <a:bodyPr wrap="square" lIns="0" tIns="0" rIns="0" bIns="0" rtlCol="0" anchor="t"/>
          <a:lstStyle/>
          <a:p>
            <a:pPr indent="0" marL="0">
              <a:buNone/>
            </a:pPr>
            <a:r>
              <a:rPr lang="fr-FR" altLang="en-US" sz="1100" dirty="0">
                <a:solidFill>
                  <a:srgbClr val="56617C"/>
                </a:solidFill>
                <a:latin typeface="Calibri" pitchFamily="34" charset="0"/>
                <a:ea typeface="Calibri" pitchFamily="34" charset="-122"/>
                <a:cs typeface="Calibri" pitchFamily="34" charset="-120"/>
              </a:rPr>
              <a:t>Partie 1 — Structure d’accueil</a:t>
            </a:r>
            <a:endParaRPr lang="fr-FR" sz="1100" dirty="0"/>
          </a:p>
        </p:txBody>
      </p:sp>
      <p:sp>
        <p:nvSpPr>
          <p:cNvPr id="25" name="!!band1"/>
          <p:cNvSpPr/>
          <p:nvPr/>
        </p:nvSpPr>
        <p:spPr>
          <a:xfrm>
            <a:off x="0" y="0"/>
            <a:ext cx="4873752" cy="64008"/>
          </a:xfrm>
          <a:prstGeom prst="rect">
            <a:avLst/>
          </a:prstGeom>
          <a:solidFill>
            <a:srgbClr val="1B3F9E"/>
          </a:solidFill>
          <a:ln w="12700">
            <a:solidFill>
              <a:srgbClr val="1B3F9E"/>
            </a:solidFill>
            <a:prstDash val="solid"/>
          </a:ln>
        </p:spPr>
      </p:sp>
      <p:sp>
        <p:nvSpPr>
          <p:cNvPr id="26" name="!!band2"/>
          <p:cNvSpPr/>
          <p:nvPr/>
        </p:nvSpPr>
        <p:spPr>
          <a:xfrm>
            <a:off x="4873752" y="0"/>
            <a:ext cx="4270248" cy="64008"/>
          </a:xfrm>
          <a:prstGeom prst="rect">
            <a:avLst/>
          </a:prstGeom>
          <a:solidFill>
            <a:srgbClr val="00923A"/>
          </a:solidFill>
          <a:ln w="12700">
            <a:solidFill>
              <a:srgbClr val="00923A"/>
            </a:solidFill>
            <a:prstDash val="solid"/>
          </a:ln>
        </p:spPr>
      </p:sp>
      <p:sp>
        <p:nvSpPr>
          <p:cNvPr id="27" name="!!band3"/>
          <p:cNvSpPr/>
          <p:nvPr/>
        </p:nvSpPr>
        <p:spPr>
          <a:xfrm>
            <a:off x="9144000" y="0"/>
            <a:ext cx="3047695" cy="64008"/>
          </a:xfrm>
          <a:prstGeom prst="rect">
            <a:avLst/>
          </a:prstGeom>
          <a:solidFill>
            <a:srgbClr val="FCC600"/>
          </a:solidFill>
          <a:ln w="12700">
            <a:solidFill>
              <a:srgbClr val="FCC600"/>
            </a:solidFill>
            <a:prstDash val="solid"/>
          </a:ln>
        </p:spPr>
      </p:sp>
      <p:sp>
        <p:nvSpPr>
          <p:cNvPr id="28" name="!!railline"/>
          <p:cNvSpPr/>
          <p:nvPr/>
        </p:nvSpPr>
        <p:spPr>
          <a:xfrm>
            <a:off x="11795760" y="1600200"/>
            <a:ext cx="914" cy="3383280"/>
          </a:xfrm>
          <a:prstGeom prst="line">
            <a:avLst/>
          </a:prstGeom>
          <a:noFill/>
          <a:ln w="19050">
            <a:solidFill>
              <a:srgbClr val="D9DFEA"/>
            </a:solidFill>
            <a:prstDash val="solid"/>
          </a:ln>
        </p:spPr>
      </p:sp>
      <p:sp>
        <p:nvSpPr>
          <p:cNvPr id="29" name="!!railprog"/>
          <p:cNvSpPr/>
          <p:nvPr/>
        </p:nvSpPr>
        <p:spPr>
          <a:xfrm>
            <a:off x="11795760" y="1600200"/>
            <a:ext cx="914" cy="914"/>
          </a:xfrm>
          <a:prstGeom prst="line">
            <a:avLst/>
          </a:prstGeom>
          <a:noFill/>
          <a:ln w="31750">
            <a:solidFill>
              <a:srgbClr val="00923A"/>
            </a:solidFill>
            <a:prstDash val="solid"/>
          </a:ln>
        </p:spPr>
      </p:sp>
      <p:sp>
        <p:nvSpPr>
          <p:cNvPr id="30" name="!!m1"/>
          <p:cNvSpPr/>
          <p:nvPr/>
        </p:nvSpPr>
        <p:spPr>
          <a:xfrm>
            <a:off x="11603736" y="1408176"/>
            <a:ext cx="384048" cy="384048"/>
          </a:xfrm>
          <a:prstGeom prst="ellipse">
            <a:avLst/>
          </a:prstGeom>
          <a:solidFill>
            <a:srgbClr val="1B3F9E"/>
          </a:solidFill>
          <a:ln w="15875">
            <a:solidFill>
              <a:srgbClr val="1B3F9E"/>
            </a:solidFill>
            <a:prstDash val="solid"/>
          </a:ln>
        </p:spPr>
      </p:sp>
      <p:sp>
        <p:nvSpPr>
          <p:cNvPr id="31" name="!!mt1">
            <a:hlinkClick r:id="rId4"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m2"/>
          <p:cNvSpPr/>
          <p:nvPr/>
        </p:nvSpPr>
        <p:spPr>
          <a:xfrm>
            <a:off x="11603736" y="2084832"/>
            <a:ext cx="384048" cy="384048"/>
          </a:xfrm>
          <a:prstGeom prst="ellipse">
            <a:avLst/>
          </a:prstGeom>
          <a:solidFill>
            <a:srgbClr val="FFFFFF"/>
          </a:solidFill>
          <a:ln w="15875">
            <a:solidFill>
              <a:srgbClr val="BFC8DA"/>
            </a:solidFill>
            <a:prstDash val="solid"/>
          </a:ln>
        </p:spPr>
      </p:sp>
      <p:sp>
        <p:nvSpPr>
          <p:cNvPr id="33" name="!!mt2">
            <a:hlinkClick r:id="rId5"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2</a:t>
            </a:r>
            <a:endParaRPr lang="en-US" sz="1200" dirty="0"/>
          </a:p>
        </p:txBody>
      </p:sp>
      <p:sp>
        <p:nvSpPr>
          <p:cNvPr id="34" name="!!m3"/>
          <p:cNvSpPr/>
          <p:nvPr/>
        </p:nvSpPr>
        <p:spPr>
          <a:xfrm>
            <a:off x="11603736" y="2761488"/>
            <a:ext cx="384048" cy="384048"/>
          </a:xfrm>
          <a:prstGeom prst="ellipse">
            <a:avLst/>
          </a:prstGeom>
          <a:solidFill>
            <a:srgbClr val="FFFFFF"/>
          </a:solidFill>
          <a:ln w="15875">
            <a:solidFill>
              <a:srgbClr val="BFC8DA"/>
            </a:solidFill>
            <a:prstDash val="solid"/>
          </a:ln>
        </p:spPr>
      </p:sp>
      <p:sp>
        <p:nvSpPr>
          <p:cNvPr id="35" name="!!mt3">
            <a:hlinkClick r:id="rId6"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3</a:t>
            </a:r>
            <a:endParaRPr lang="en-US" sz="1200" dirty="0"/>
          </a:p>
        </p:txBody>
      </p:sp>
      <p:sp>
        <p:nvSpPr>
          <p:cNvPr id="36"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37" name="!!mt4">
            <a:hlinkClick r:id="rId7"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38"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39" name="!!mt5">
            <a:hlinkClick r:id="rId8"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40"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41" name="!!mt6">
            <a:hlinkClick r:id="rId9"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2"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Structure d’accueil</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600"/>
                                        <p:tgtEl>
                                          <p:spTgt spid="19"/>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600"/>
                                        <p:tgtEl>
                                          <p:spTgt spid="20"/>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600"/>
                                        <p:tgtEl>
                                          <p:spTgt spid="21"/>
                                        </p:tgtEl>
                                      </p:cBhvr>
                                    </p:animEffect>
                                  </p:childTnLst>
                                </p:cTn>
                              </p:par>
                              <p:par>
                                <p:cTn id="14" presetID="53" presetClass="entr" presetSubtype="16" fill="hold" grpId="0" nodeType="withEffect">
                                  <p:stCondLst>
                                    <p:cond delay="300"/>
                                  </p:stCondLst>
                                  <p:childTnLst>
                                    <p:set>
                                      <p:cBhvr>
                                        <p:cTn id="15" dur="1" fill="hold">
                                          <p:stCondLst>
                                            <p:cond delay="0"/>
                                          </p:stCondLst>
                                        </p:cTn>
                                        <p:tgtEl>
                                          <p:spTgt spid="5"/>
                                        </p:tgtEl>
                                        <p:attrNameLst>
                                          <p:attrName>style.visibility</p:attrName>
                                        </p:attrNameLst>
                                      </p:cBhvr>
                                      <p:to>
                                        <p:strVal val="visible"/>
                                      </p:to>
                                    </p:set>
                                    <p:anim calcmode="lin" valueType="num">
                                      <p:cBhvr>
                                        <p:cTn id="16" dur="600" fill="hold"/>
                                        <p:tgtEl>
                                          <p:spTgt spid="5"/>
                                        </p:tgtEl>
                                        <p:attrNameLst>
                                          <p:attrName>ppt_w</p:attrName>
                                        </p:attrNameLst>
                                      </p:cBhvr>
                                      <p:tavLst>
                                        <p:tav tm="0">
                                          <p:val>
                                            <p:fltVal val="0"/>
                                          </p:val>
                                        </p:tav>
                                        <p:tav tm="100000">
                                          <p:val>
                                            <p:strVal val="#ppt_w"/>
                                          </p:val>
                                        </p:tav>
                                      </p:tavLst>
                                    </p:anim>
                                    <p:anim calcmode="lin" valueType="num">
                                      <p:cBhvr>
                                        <p:cTn id="17" dur="600" fill="hold"/>
                                        <p:tgtEl>
                                          <p:spTgt spid="5"/>
                                        </p:tgtEl>
                                        <p:attrNameLst>
                                          <p:attrName>ppt_h</p:attrName>
                                        </p:attrNameLst>
                                      </p:cBhvr>
                                      <p:tavLst>
                                        <p:tav tm="0">
                                          <p:val>
                                            <p:fltVal val="0"/>
                                          </p:val>
                                        </p:tav>
                                        <p:tav tm="100000">
                                          <p:val>
                                            <p:strVal val="#ppt_h"/>
                                          </p:val>
                                        </p:tav>
                                      </p:tavLst>
                                    </p:anim>
                                    <p:animEffect transition="in" filter="fade">
                                      <p:cBhvr>
                                        <p:cTn id="18" dur="600"/>
                                        <p:tgtEl>
                                          <p:spTgt spid="5"/>
                                        </p:tgtEl>
                                      </p:cBhvr>
                                    </p:animEffect>
                                  </p:childTnLst>
                                </p:cTn>
                              </p:par>
                              <p:par>
                                <p:cTn id="19" presetID="53" presetClass="entr" presetSubtype="16" fill="hold" grpId="0" nodeType="withEffect">
                                  <p:stCondLst>
                                    <p:cond delay="300"/>
                                  </p:stCondLst>
                                  <p:childTnLst>
                                    <p:set>
                                      <p:cBhvr>
                                        <p:cTn id="20" dur="1" fill="hold">
                                          <p:stCondLst>
                                            <p:cond delay="0"/>
                                          </p:stCondLst>
                                        </p:cTn>
                                        <p:tgtEl>
                                          <p:spTgt spid="6"/>
                                        </p:tgtEl>
                                        <p:attrNameLst>
                                          <p:attrName>style.visibility</p:attrName>
                                        </p:attrNameLst>
                                      </p:cBhvr>
                                      <p:to>
                                        <p:strVal val="visible"/>
                                      </p:to>
                                    </p:set>
                                    <p:anim calcmode="lin" valueType="num">
                                      <p:cBhvr>
                                        <p:cTn id="21" dur="600" fill="hold"/>
                                        <p:tgtEl>
                                          <p:spTgt spid="6"/>
                                        </p:tgtEl>
                                        <p:attrNameLst>
                                          <p:attrName>ppt_w</p:attrName>
                                        </p:attrNameLst>
                                      </p:cBhvr>
                                      <p:tavLst>
                                        <p:tav tm="0">
                                          <p:val>
                                            <p:fltVal val="0"/>
                                          </p:val>
                                        </p:tav>
                                        <p:tav tm="100000">
                                          <p:val>
                                            <p:strVal val="#ppt_w"/>
                                          </p:val>
                                        </p:tav>
                                      </p:tavLst>
                                    </p:anim>
                                    <p:anim calcmode="lin" valueType="num">
                                      <p:cBhvr>
                                        <p:cTn id="22" dur="600" fill="hold"/>
                                        <p:tgtEl>
                                          <p:spTgt spid="6"/>
                                        </p:tgtEl>
                                        <p:attrNameLst>
                                          <p:attrName>ppt_h</p:attrName>
                                        </p:attrNameLst>
                                      </p:cBhvr>
                                      <p:tavLst>
                                        <p:tav tm="0">
                                          <p:val>
                                            <p:fltVal val="0"/>
                                          </p:val>
                                        </p:tav>
                                        <p:tav tm="100000">
                                          <p:val>
                                            <p:strVal val="#ppt_h"/>
                                          </p:val>
                                        </p:tav>
                                      </p:tavLst>
                                    </p:anim>
                                    <p:animEffect transition="in" filter="fade">
                                      <p:cBhvr>
                                        <p:cTn id="23" dur="600"/>
                                        <p:tgtEl>
                                          <p:spTgt spid="6"/>
                                        </p:tgtEl>
                                      </p:cBhvr>
                                    </p:animEffect>
                                  </p:childTnLst>
                                </p:cTn>
                              </p:par>
                              <p:par>
                                <p:cTn id="24" presetID="53" presetClass="entr" presetSubtype="16" fill="hold" grpId="0" nodeType="withEffect">
                                  <p:stCondLst>
                                    <p:cond delay="500"/>
                                  </p:stCondLst>
                                  <p:childTnLst>
                                    <p:set>
                                      <p:cBhvr>
                                        <p:cTn id="25" dur="1" fill="hold">
                                          <p:stCondLst>
                                            <p:cond delay="0"/>
                                          </p:stCondLst>
                                        </p:cTn>
                                        <p:tgtEl>
                                          <p:spTgt spid="22"/>
                                        </p:tgtEl>
                                        <p:attrNameLst>
                                          <p:attrName>style.visibility</p:attrName>
                                        </p:attrNameLst>
                                      </p:cBhvr>
                                      <p:to>
                                        <p:strVal val="visible"/>
                                      </p:to>
                                    </p:set>
                                    <p:anim calcmode="lin" valueType="num">
                                      <p:cBhvr>
                                        <p:cTn id="26" dur="600" fill="hold"/>
                                        <p:tgtEl>
                                          <p:spTgt spid="22"/>
                                        </p:tgtEl>
                                        <p:attrNameLst>
                                          <p:attrName>ppt_w</p:attrName>
                                        </p:attrNameLst>
                                      </p:cBhvr>
                                      <p:tavLst>
                                        <p:tav tm="0">
                                          <p:val>
                                            <p:fltVal val="0"/>
                                          </p:val>
                                        </p:tav>
                                        <p:tav tm="100000">
                                          <p:val>
                                            <p:strVal val="#ppt_w"/>
                                          </p:val>
                                        </p:tav>
                                      </p:tavLst>
                                    </p:anim>
                                    <p:anim calcmode="lin" valueType="num">
                                      <p:cBhvr>
                                        <p:cTn id="27" dur="600" fill="hold"/>
                                        <p:tgtEl>
                                          <p:spTgt spid="22"/>
                                        </p:tgtEl>
                                        <p:attrNameLst>
                                          <p:attrName>ppt_h</p:attrName>
                                        </p:attrNameLst>
                                      </p:cBhvr>
                                      <p:tavLst>
                                        <p:tav tm="0">
                                          <p:val>
                                            <p:fltVal val="0"/>
                                          </p:val>
                                        </p:tav>
                                        <p:tav tm="100000">
                                          <p:val>
                                            <p:strVal val="#ppt_h"/>
                                          </p:val>
                                        </p:tav>
                                      </p:tavLst>
                                    </p:anim>
                                    <p:animEffect transition="in" filter="fade">
                                      <p:cBhvr>
                                        <p:cTn id="28" dur="600"/>
                                        <p:tgtEl>
                                          <p:spTgt spid="22"/>
                                        </p:tgtEl>
                                      </p:cBhvr>
                                    </p:animEffect>
                                  </p:childTnLst>
                                </p:cTn>
                              </p:par>
                              <p:par>
                                <p:cTn id="29" presetID="53" presetClass="entr" presetSubtype="16" fill="hold" grpId="0" nodeType="withEffect">
                                  <p:stCondLst>
                                    <p:cond delay="650"/>
                                  </p:stCondLst>
                                  <p:childTnLst>
                                    <p:set>
                                      <p:cBhvr>
                                        <p:cTn id="30" dur="1" fill="hold">
                                          <p:stCondLst>
                                            <p:cond delay="0"/>
                                          </p:stCondLst>
                                        </p:cTn>
                                        <p:tgtEl>
                                          <p:spTgt spid="23"/>
                                        </p:tgtEl>
                                        <p:attrNameLst>
                                          <p:attrName>style.visibility</p:attrName>
                                        </p:attrNameLst>
                                      </p:cBhvr>
                                      <p:to>
                                        <p:strVal val="visible"/>
                                      </p:to>
                                    </p:set>
                                    <p:anim calcmode="lin" valueType="num">
                                      <p:cBhvr>
                                        <p:cTn id="31" dur="600" fill="hold"/>
                                        <p:tgtEl>
                                          <p:spTgt spid="23"/>
                                        </p:tgtEl>
                                        <p:attrNameLst>
                                          <p:attrName>ppt_w</p:attrName>
                                        </p:attrNameLst>
                                      </p:cBhvr>
                                      <p:tavLst>
                                        <p:tav tm="0">
                                          <p:val>
                                            <p:fltVal val="0"/>
                                          </p:val>
                                        </p:tav>
                                        <p:tav tm="100000">
                                          <p:val>
                                            <p:strVal val="#ppt_w"/>
                                          </p:val>
                                        </p:tav>
                                      </p:tavLst>
                                    </p:anim>
                                    <p:anim calcmode="lin" valueType="num">
                                      <p:cBhvr>
                                        <p:cTn id="32" dur="600" fill="hold"/>
                                        <p:tgtEl>
                                          <p:spTgt spid="23"/>
                                        </p:tgtEl>
                                        <p:attrNameLst>
                                          <p:attrName>ppt_h</p:attrName>
                                        </p:attrNameLst>
                                      </p:cBhvr>
                                      <p:tavLst>
                                        <p:tav tm="0">
                                          <p:val>
                                            <p:fltVal val="0"/>
                                          </p:val>
                                        </p:tav>
                                        <p:tav tm="100000">
                                          <p:val>
                                            <p:strVal val="#ppt_h"/>
                                          </p:val>
                                        </p:tav>
                                      </p:tavLst>
                                    </p:anim>
                                    <p:animEffect transition="in" filter="fade">
                                      <p:cBhvr>
                                        <p:cTn id="33"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9" grpId="0" animBg="1"/>
      <p:bldP spid="20" grpId="0" animBg="1"/>
      <p:bldP spid="21" grpId="0" animBg="1"/>
      <p:bldP spid="22" grpId="0" animBg="1"/>
      <p:bldP spid="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1 — Structure d’accueil</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Le secrétariat général au centre de l’administration</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o1"/>
          <p:cNvSpPr/>
          <p:nvPr/>
        </p:nvSpPr>
        <p:spPr>
          <a:xfrm>
            <a:off x="4307738" y="1783080"/>
            <a:ext cx="3056382" cy="731520"/>
          </a:xfrm>
          <a:prstGeom prst="rect">
            <a:avLst/>
          </a:prstGeom>
          <a:solidFill>
            <a:srgbClr val="EEF2FB"/>
          </a:solidFill>
          <a:ln w="9525">
            <a:solidFill>
              <a:srgbClr val="EEF2FB"/>
            </a:solidFill>
            <a:prstDash val="solid"/>
          </a:ln>
        </p:spPr>
      </p:sp>
      <p:sp>
        <p:nvSpPr>
          <p:cNvPr id="6" name="o1t"/>
          <p:cNvSpPr txBox="1"/>
          <p:nvPr/>
        </p:nvSpPr>
        <p:spPr>
          <a:xfrm>
            <a:off x="4307738" y="1856232"/>
            <a:ext cx="3056382" cy="585216"/>
          </a:xfrm>
          <a:prstGeom prst="rect">
            <a:avLst/>
          </a:prstGeom>
          <a:noFill/>
          <a:ln/>
        </p:spPr>
        <p:txBody>
          <a:bodyPr wrap="square" lIns="0" tIns="0" rIns="0" bIns="0" rtlCol="0" anchor="ctr"/>
          <a:lstStyle/>
          <a:p>
            <a:pPr algn="ctr" indent="0" marL="0">
              <a:buNone/>
            </a:pPr>
            <a:r>
              <a:rPr lang="fr-FR" altLang="en-US" sz="1600" b="1" dirty="0">
                <a:solidFill>
                  <a:srgbClr val="0E1C46"/>
                </a:solidFill>
                <a:latin typeface="Calibri" pitchFamily="34" charset="0"/>
                <a:ea typeface="Calibri" pitchFamily="34" charset="-122"/>
                <a:cs typeface="Calibri" pitchFamily="34" charset="-120"/>
              </a:rPr>
              <a:t>Conseil municipal</a:t>
            </a:r>
            <a:endParaRPr lang="fr-FR" sz="1600" dirty="0"/>
          </a:p>
          <a:p>
            <a:pPr algn="ctr" indent="0" marL="0">
              <a:buNone/>
            </a:pPr>
            <a:r>
              <a:rPr lang="fr-FR" altLang="en-US" sz="1200" dirty="0">
                <a:solidFill>
                  <a:srgbClr val="56617C"/>
                </a:solidFill>
                <a:latin typeface="Calibri" pitchFamily="34" charset="0"/>
                <a:ea typeface="Calibri" pitchFamily="34" charset="-122"/>
                <a:cs typeface="Calibri" pitchFamily="34" charset="-120"/>
              </a:rPr>
              <a:t>19 membres élus</a:t>
            </a:r>
            <a:endParaRPr lang="fr-FR" sz="1600" dirty="0"/>
          </a:p>
        </p:txBody>
      </p:sp>
      <p:sp>
        <p:nvSpPr>
          <p:cNvPr id="7" name="o2"/>
          <p:cNvSpPr/>
          <p:nvPr/>
        </p:nvSpPr>
        <p:spPr>
          <a:xfrm>
            <a:off x="4307738" y="2788920"/>
            <a:ext cx="3056382" cy="731520"/>
          </a:xfrm>
          <a:prstGeom prst="rect">
            <a:avLst/>
          </a:prstGeom>
          <a:solidFill>
            <a:srgbClr val="1B3F9E"/>
          </a:solidFill>
          <a:ln w="9525">
            <a:solidFill>
              <a:srgbClr val="1B3F9E"/>
            </a:solidFill>
            <a:prstDash val="solid"/>
          </a:ln>
        </p:spPr>
      </p:sp>
      <p:sp>
        <p:nvSpPr>
          <p:cNvPr id="8" name="o2t"/>
          <p:cNvSpPr txBox="1"/>
          <p:nvPr/>
        </p:nvSpPr>
        <p:spPr>
          <a:xfrm>
            <a:off x="4307738" y="2862072"/>
            <a:ext cx="3056382" cy="585216"/>
          </a:xfrm>
          <a:prstGeom prst="rect">
            <a:avLst/>
          </a:prstGeom>
          <a:noFill/>
          <a:ln/>
        </p:spPr>
        <p:txBody>
          <a:bodyPr wrap="square" lIns="0" tIns="0" rIns="0" bIns="0" rtlCol="0" anchor="ctr"/>
          <a:lstStyle/>
          <a:p>
            <a:pPr algn="ctr" indent="0" marL="0">
              <a:buNone/>
            </a:pPr>
            <a:r>
              <a:rPr lang="fr-FR" altLang="en-US" sz="1600" b="1" dirty="0">
                <a:solidFill>
                  <a:srgbClr val="FFFFFF"/>
                </a:solidFill>
                <a:latin typeface="Calibri" pitchFamily="34" charset="0"/>
                <a:ea typeface="Calibri" pitchFamily="34" charset="-122"/>
                <a:cs typeface="Calibri" pitchFamily="34" charset="-120"/>
              </a:rPr>
              <a:t>Le Maire et ses 3 adjoints</a:t>
            </a:r>
            <a:endParaRPr lang="fr-FR" sz="1600" dirty="0"/>
          </a:p>
          <a:p>
            <a:pPr algn="ctr" indent="0" marL="0">
              <a:buNone/>
            </a:pPr>
            <a:r>
              <a:rPr lang="fr-FR" altLang="en-US" sz="1200" dirty="0">
                <a:solidFill>
                  <a:srgbClr val="DCE4F7"/>
                </a:solidFill>
                <a:latin typeface="Calibri" pitchFamily="34" charset="0"/>
                <a:ea typeface="Calibri" pitchFamily="34" charset="-122"/>
                <a:cs typeface="Calibri" pitchFamily="34" charset="-120"/>
              </a:rPr>
              <a:t>Bureau exécutif</a:t>
            </a:r>
            <a:endParaRPr lang="fr-FR" sz="1600" dirty="0"/>
          </a:p>
        </p:txBody>
      </p:sp>
      <p:sp>
        <p:nvSpPr>
          <p:cNvPr id="9" name="o3"/>
          <p:cNvSpPr/>
          <p:nvPr/>
        </p:nvSpPr>
        <p:spPr>
          <a:xfrm>
            <a:off x="4089425" y="3794760"/>
            <a:ext cx="3493008" cy="777240"/>
          </a:xfrm>
          <a:prstGeom prst="rect">
            <a:avLst/>
          </a:prstGeom>
          <a:solidFill>
            <a:srgbClr val="00923A"/>
          </a:solidFill>
          <a:ln w="9525">
            <a:solidFill>
              <a:srgbClr val="00923A"/>
            </a:solidFill>
            <a:prstDash val="solid"/>
          </a:ln>
        </p:spPr>
      </p:sp>
      <p:sp>
        <p:nvSpPr>
          <p:cNvPr id="10" name="o3t"/>
          <p:cNvSpPr txBox="1"/>
          <p:nvPr/>
        </p:nvSpPr>
        <p:spPr>
          <a:xfrm>
            <a:off x="4089425" y="3867912"/>
            <a:ext cx="3493008" cy="630936"/>
          </a:xfrm>
          <a:prstGeom prst="rect">
            <a:avLst/>
          </a:prstGeom>
          <a:noFill/>
          <a:ln/>
        </p:spPr>
        <p:txBody>
          <a:bodyPr wrap="square" lIns="0" tIns="0" rIns="0" bIns="0" rtlCol="0" anchor="ctr"/>
          <a:lstStyle/>
          <a:p>
            <a:pPr algn="ctr" indent="0" marL="0">
              <a:buNone/>
            </a:pPr>
            <a:r>
              <a:rPr lang="fr-FR" altLang="en-US" sz="1600" b="1" dirty="0">
                <a:solidFill>
                  <a:srgbClr val="FFFFFF"/>
                </a:solidFill>
                <a:latin typeface="Calibri" pitchFamily="34" charset="0"/>
                <a:ea typeface="Calibri" pitchFamily="34" charset="-122"/>
                <a:cs typeface="Calibri" pitchFamily="34" charset="-120"/>
              </a:rPr>
              <a:t>Secrétariat général</a:t>
            </a:r>
            <a:endParaRPr lang="fr-FR" sz="1600" dirty="0"/>
          </a:p>
          <a:p>
            <a:pPr algn="ctr" indent="0" marL="0">
              <a:buNone/>
            </a:pPr>
            <a:r>
              <a:rPr lang="fr-FR" altLang="en-US" sz="1200" dirty="0">
                <a:solidFill>
                  <a:srgbClr val="DCE4F7"/>
                </a:solidFill>
                <a:latin typeface="Calibri" pitchFamily="34" charset="0"/>
                <a:ea typeface="Calibri" pitchFamily="34" charset="-122"/>
                <a:cs typeface="Calibri" pitchFamily="34" charset="-120"/>
              </a:rPr>
              <a:t>Coordination · courrier · dossiers</a:t>
            </a:r>
            <a:endParaRPr lang="fr-FR" sz="1600" dirty="0"/>
          </a:p>
        </p:txBody>
      </p:sp>
      <p:sp>
        <p:nvSpPr>
          <p:cNvPr id="11" name="l1"/>
          <p:cNvSpPr/>
          <p:nvPr/>
        </p:nvSpPr>
        <p:spPr>
          <a:xfrm>
            <a:off x="5835929" y="2514600"/>
            <a:ext cx="873" cy="274320"/>
          </a:xfrm>
          <a:prstGeom prst="line">
            <a:avLst/>
          </a:prstGeom>
          <a:noFill/>
          <a:ln w="15875">
            <a:solidFill>
              <a:srgbClr val="9AA8C6"/>
            </a:solidFill>
            <a:prstDash val="solid"/>
          </a:ln>
        </p:spPr>
      </p:sp>
      <p:sp>
        <p:nvSpPr>
          <p:cNvPr id="12" name="l2"/>
          <p:cNvSpPr/>
          <p:nvPr/>
        </p:nvSpPr>
        <p:spPr>
          <a:xfrm>
            <a:off x="5835929" y="3520440"/>
            <a:ext cx="873" cy="274320"/>
          </a:xfrm>
          <a:prstGeom prst="line">
            <a:avLst/>
          </a:prstGeom>
          <a:noFill/>
          <a:ln w="15875">
            <a:solidFill>
              <a:srgbClr val="9AA8C6"/>
            </a:solidFill>
            <a:prstDash val="solid"/>
          </a:ln>
        </p:spPr>
      </p:sp>
      <p:sp>
        <p:nvSpPr>
          <p:cNvPr id="13" name="l3"/>
          <p:cNvSpPr/>
          <p:nvPr/>
        </p:nvSpPr>
        <p:spPr>
          <a:xfrm>
            <a:off x="5835929" y="4572000"/>
            <a:ext cx="873" cy="274320"/>
          </a:xfrm>
          <a:prstGeom prst="line">
            <a:avLst/>
          </a:prstGeom>
          <a:noFill/>
          <a:ln w="15875">
            <a:solidFill>
              <a:srgbClr val="9AA8C6"/>
            </a:solidFill>
            <a:prstDash val="solid"/>
          </a:ln>
        </p:spPr>
      </p:sp>
      <p:sp>
        <p:nvSpPr>
          <p:cNvPr id="14" name="l4"/>
          <p:cNvSpPr/>
          <p:nvPr/>
        </p:nvSpPr>
        <p:spPr>
          <a:xfrm>
            <a:off x="1731645" y="4846320"/>
            <a:ext cx="8208569" cy="914"/>
          </a:xfrm>
          <a:prstGeom prst="line">
            <a:avLst/>
          </a:prstGeom>
          <a:noFill/>
          <a:ln w="15875">
            <a:solidFill>
              <a:srgbClr val="9AA8C6"/>
            </a:solidFill>
            <a:prstDash val="solid"/>
          </a:ln>
        </p:spPr>
      </p:sp>
      <p:sp>
        <p:nvSpPr>
          <p:cNvPr id="15" name="lv0"/>
          <p:cNvSpPr/>
          <p:nvPr/>
        </p:nvSpPr>
        <p:spPr>
          <a:xfrm>
            <a:off x="1731645" y="4846320"/>
            <a:ext cx="873" cy="228600"/>
          </a:xfrm>
          <a:prstGeom prst="line">
            <a:avLst/>
          </a:prstGeom>
          <a:noFill/>
          <a:ln w="15875">
            <a:solidFill>
              <a:srgbClr val="9AA8C6"/>
            </a:solidFill>
            <a:prstDash val="solid"/>
          </a:ln>
        </p:spPr>
      </p:sp>
      <p:sp>
        <p:nvSpPr>
          <p:cNvPr id="16" name="d0"/>
          <p:cNvSpPr/>
          <p:nvPr/>
        </p:nvSpPr>
        <p:spPr>
          <a:xfrm>
            <a:off x="640080" y="5074920"/>
            <a:ext cx="2183130" cy="960120"/>
          </a:xfrm>
          <a:prstGeom prst="rect">
            <a:avLst/>
          </a:prstGeom>
          <a:solidFill>
            <a:srgbClr val="FFFFFF"/>
          </a:solidFill>
          <a:ln w="9525">
            <a:solidFill>
              <a:srgbClr val="D9DFEA"/>
            </a:solidFill>
            <a:prstDash val="solid"/>
          </a:ln>
        </p:spPr>
      </p:sp>
      <p:sp>
        <p:nvSpPr>
          <p:cNvPr id="17" name="d0t"/>
          <p:cNvSpPr txBox="1"/>
          <p:nvPr/>
        </p:nvSpPr>
        <p:spPr>
          <a:xfrm>
            <a:off x="640080" y="5148072"/>
            <a:ext cx="2183130" cy="813816"/>
          </a:xfrm>
          <a:prstGeom prst="rect">
            <a:avLst/>
          </a:prstGeom>
          <a:noFill/>
          <a:ln/>
        </p:spPr>
        <p:txBody>
          <a:bodyPr wrap="square" lIns="0" tIns="0" rIns="0" bIns="0" rtlCol="0" anchor="ctr"/>
          <a:lstStyle/>
          <a:p>
            <a:pPr algn="ctr" indent="0" marL="0">
              <a:buNone/>
            </a:pPr>
            <a:r>
              <a:rPr lang="fr-FR" altLang="en-US" sz="1600" b="1" dirty="0">
                <a:solidFill>
                  <a:srgbClr val="1B3F9E"/>
                </a:solidFill>
                <a:latin typeface="Calibri" pitchFamily="34" charset="0"/>
                <a:ea typeface="Calibri" pitchFamily="34" charset="-122"/>
                <a:cs typeface="Calibri" pitchFamily="34" charset="-120"/>
              </a:rPr>
              <a:t>DAF</a:t>
            </a:r>
            <a:endParaRPr lang="fr-FR" sz="1600" dirty="0"/>
          </a:p>
          <a:p>
            <a:pPr algn="ctr" indent="0" marL="0">
              <a:buNone/>
            </a:pPr>
            <a:r>
              <a:rPr lang="fr-FR" altLang="en-US" sz="1200" dirty="0">
                <a:solidFill>
                  <a:srgbClr val="56617C"/>
                </a:solidFill>
                <a:latin typeface="Calibri" pitchFamily="34" charset="0"/>
                <a:ea typeface="Calibri" pitchFamily="34" charset="-122"/>
                <a:cs typeface="Calibri" pitchFamily="34" charset="-120"/>
              </a:rPr>
              <a:t>Administration et finances</a:t>
            </a:r>
            <a:endParaRPr lang="fr-FR" sz="1600" dirty="0"/>
          </a:p>
        </p:txBody>
      </p:sp>
      <p:sp>
        <p:nvSpPr>
          <p:cNvPr id="18" name="lv1"/>
          <p:cNvSpPr/>
          <p:nvPr/>
        </p:nvSpPr>
        <p:spPr>
          <a:xfrm>
            <a:off x="4464924" y="4846320"/>
            <a:ext cx="873" cy="228600"/>
          </a:xfrm>
          <a:prstGeom prst="line">
            <a:avLst/>
          </a:prstGeom>
          <a:noFill/>
          <a:ln w="15875">
            <a:solidFill>
              <a:srgbClr val="9AA8C6"/>
            </a:solidFill>
            <a:prstDash val="solid"/>
          </a:ln>
        </p:spPr>
      </p:sp>
      <p:sp>
        <p:nvSpPr>
          <p:cNvPr id="19" name="d1"/>
          <p:cNvSpPr/>
          <p:nvPr/>
        </p:nvSpPr>
        <p:spPr>
          <a:xfrm>
            <a:off x="3373359" y="5074920"/>
            <a:ext cx="2183130" cy="960120"/>
          </a:xfrm>
          <a:prstGeom prst="rect">
            <a:avLst/>
          </a:prstGeom>
          <a:solidFill>
            <a:srgbClr val="FFFFFF"/>
          </a:solidFill>
          <a:ln w="9525">
            <a:solidFill>
              <a:srgbClr val="D9DFEA"/>
            </a:solidFill>
            <a:prstDash val="solid"/>
          </a:ln>
        </p:spPr>
      </p:sp>
      <p:sp>
        <p:nvSpPr>
          <p:cNvPr id="20" name="d1t"/>
          <p:cNvSpPr txBox="1"/>
          <p:nvPr/>
        </p:nvSpPr>
        <p:spPr>
          <a:xfrm>
            <a:off x="3373359" y="5148072"/>
            <a:ext cx="2183130" cy="813816"/>
          </a:xfrm>
          <a:prstGeom prst="rect">
            <a:avLst/>
          </a:prstGeom>
          <a:noFill/>
          <a:ln/>
        </p:spPr>
        <p:txBody>
          <a:bodyPr wrap="square" lIns="0" tIns="0" rIns="0" bIns="0" rtlCol="0" anchor="ctr"/>
          <a:lstStyle/>
          <a:p>
            <a:pPr algn="ctr" indent="0" marL="0">
              <a:buNone/>
            </a:pPr>
            <a:r>
              <a:rPr lang="fr-FR" altLang="en-US" sz="1600" b="1" dirty="0">
                <a:solidFill>
                  <a:srgbClr val="1B3F9E"/>
                </a:solidFill>
                <a:latin typeface="Calibri" pitchFamily="34" charset="0"/>
                <a:ea typeface="Calibri" pitchFamily="34" charset="-122"/>
                <a:cs typeface="Calibri" pitchFamily="34" charset="-120"/>
              </a:rPr>
              <a:t>DPDPS</a:t>
            </a:r>
            <a:endParaRPr lang="fr-FR" sz="1600" dirty="0"/>
          </a:p>
          <a:p>
            <a:pPr algn="ctr" indent="0" marL="0">
              <a:buNone/>
            </a:pPr>
            <a:r>
              <a:rPr lang="fr-FR" altLang="en-US" sz="1200" dirty="0">
                <a:solidFill>
                  <a:srgbClr val="56617C"/>
                </a:solidFill>
                <a:latin typeface="Calibri" pitchFamily="34" charset="0"/>
                <a:ea typeface="Calibri" pitchFamily="34" charset="-122"/>
                <a:cs typeface="Calibri" pitchFamily="34" charset="-120"/>
              </a:rPr>
              <a:t>Planification et promotion sociale</a:t>
            </a:r>
            <a:endParaRPr lang="fr-FR" sz="1600" dirty="0"/>
          </a:p>
        </p:txBody>
      </p:sp>
      <p:sp>
        <p:nvSpPr>
          <p:cNvPr id="21" name="lv2"/>
          <p:cNvSpPr/>
          <p:nvPr/>
        </p:nvSpPr>
        <p:spPr>
          <a:xfrm>
            <a:off x="7198203" y="4846320"/>
            <a:ext cx="873" cy="228600"/>
          </a:xfrm>
          <a:prstGeom prst="line">
            <a:avLst/>
          </a:prstGeom>
          <a:noFill/>
          <a:ln w="15875">
            <a:solidFill>
              <a:srgbClr val="9AA8C6"/>
            </a:solidFill>
            <a:prstDash val="solid"/>
          </a:ln>
        </p:spPr>
      </p:sp>
      <p:sp>
        <p:nvSpPr>
          <p:cNvPr id="22" name="d2"/>
          <p:cNvSpPr/>
          <p:nvPr/>
        </p:nvSpPr>
        <p:spPr>
          <a:xfrm>
            <a:off x="6106638" y="5074920"/>
            <a:ext cx="2183130" cy="960120"/>
          </a:xfrm>
          <a:prstGeom prst="rect">
            <a:avLst/>
          </a:prstGeom>
          <a:solidFill>
            <a:srgbClr val="FFFFFF"/>
          </a:solidFill>
          <a:ln w="9525">
            <a:solidFill>
              <a:srgbClr val="D9DFEA"/>
            </a:solidFill>
            <a:prstDash val="solid"/>
          </a:ln>
        </p:spPr>
      </p:sp>
      <p:sp>
        <p:nvSpPr>
          <p:cNvPr id="23" name="d2t"/>
          <p:cNvSpPr txBox="1"/>
          <p:nvPr/>
        </p:nvSpPr>
        <p:spPr>
          <a:xfrm>
            <a:off x="6106638" y="5148072"/>
            <a:ext cx="2183130" cy="813816"/>
          </a:xfrm>
          <a:prstGeom prst="rect">
            <a:avLst/>
          </a:prstGeom>
          <a:noFill/>
          <a:ln/>
        </p:spPr>
        <p:txBody>
          <a:bodyPr wrap="square" lIns="0" tIns="0" rIns="0" bIns="0" rtlCol="0" anchor="ctr"/>
          <a:lstStyle/>
          <a:p>
            <a:pPr algn="ctr" indent="0" marL="0">
              <a:buNone/>
            </a:pPr>
            <a:r>
              <a:rPr lang="fr-FR" altLang="en-US" sz="1600" b="1" dirty="0">
                <a:solidFill>
                  <a:srgbClr val="1B3F9E"/>
                </a:solidFill>
                <a:latin typeface="Calibri" pitchFamily="34" charset="0"/>
                <a:ea typeface="Calibri" pitchFamily="34" charset="-122"/>
                <a:cs typeface="Calibri" pitchFamily="34" charset="-120"/>
              </a:rPr>
              <a:t>DST</a:t>
            </a:r>
            <a:endParaRPr lang="fr-FR" sz="1600" dirty="0"/>
          </a:p>
          <a:p>
            <a:pPr algn="ctr" indent="0" marL="0">
              <a:buNone/>
            </a:pPr>
            <a:r>
              <a:rPr lang="fr-FR" altLang="en-US" sz="1200" dirty="0">
                <a:solidFill>
                  <a:srgbClr val="56617C"/>
                </a:solidFill>
                <a:latin typeface="Calibri" pitchFamily="34" charset="0"/>
                <a:ea typeface="Calibri" pitchFamily="34" charset="-122"/>
                <a:cs typeface="Calibri" pitchFamily="34" charset="-120"/>
              </a:rPr>
              <a:t>Services techniques</a:t>
            </a:r>
            <a:endParaRPr lang="fr-FR" sz="1600" dirty="0"/>
          </a:p>
        </p:txBody>
      </p:sp>
      <p:sp>
        <p:nvSpPr>
          <p:cNvPr id="24" name="lv3"/>
          <p:cNvSpPr/>
          <p:nvPr/>
        </p:nvSpPr>
        <p:spPr>
          <a:xfrm>
            <a:off x="9931481" y="4846320"/>
            <a:ext cx="873" cy="228600"/>
          </a:xfrm>
          <a:prstGeom prst="line">
            <a:avLst/>
          </a:prstGeom>
          <a:noFill/>
          <a:ln w="15875">
            <a:solidFill>
              <a:srgbClr val="9AA8C6"/>
            </a:solidFill>
            <a:prstDash val="solid"/>
          </a:ln>
        </p:spPr>
      </p:sp>
      <p:sp>
        <p:nvSpPr>
          <p:cNvPr id="25" name="d3"/>
          <p:cNvSpPr/>
          <p:nvPr/>
        </p:nvSpPr>
        <p:spPr>
          <a:xfrm>
            <a:off x="8839916" y="5074920"/>
            <a:ext cx="2183130" cy="960120"/>
          </a:xfrm>
          <a:prstGeom prst="rect">
            <a:avLst/>
          </a:prstGeom>
          <a:solidFill>
            <a:srgbClr val="FFFFFF"/>
          </a:solidFill>
          <a:ln w="9525">
            <a:solidFill>
              <a:srgbClr val="D9DFEA"/>
            </a:solidFill>
            <a:prstDash val="solid"/>
          </a:ln>
        </p:spPr>
      </p:sp>
      <p:sp>
        <p:nvSpPr>
          <p:cNvPr id="26" name="d3t"/>
          <p:cNvSpPr txBox="1"/>
          <p:nvPr/>
        </p:nvSpPr>
        <p:spPr>
          <a:xfrm>
            <a:off x="8839916" y="5148072"/>
            <a:ext cx="2183130" cy="813816"/>
          </a:xfrm>
          <a:prstGeom prst="rect">
            <a:avLst/>
          </a:prstGeom>
          <a:noFill/>
          <a:ln/>
        </p:spPr>
        <p:txBody>
          <a:bodyPr wrap="square" lIns="0" tIns="0" rIns="0" bIns="0" rtlCol="0" anchor="ctr"/>
          <a:lstStyle/>
          <a:p>
            <a:pPr algn="ctr" indent="0" marL="0">
              <a:buNone/>
            </a:pPr>
            <a:r>
              <a:rPr lang="fr-FR" altLang="en-US" sz="1600" b="1" dirty="0">
                <a:solidFill>
                  <a:srgbClr val="1B3F9E"/>
                </a:solidFill>
                <a:latin typeface="Calibri" pitchFamily="34" charset="0"/>
                <a:ea typeface="Calibri" pitchFamily="34" charset="-122"/>
                <a:cs typeface="Calibri" pitchFamily="34" charset="-120"/>
              </a:rPr>
              <a:t>DECTN</a:t>
            </a:r>
            <a:endParaRPr lang="fr-FR" sz="1600" dirty="0"/>
          </a:p>
          <a:p>
            <a:pPr algn="ctr" indent="0" marL="0">
              <a:buNone/>
            </a:pPr>
            <a:r>
              <a:rPr lang="fr-FR" altLang="en-US" sz="1200" dirty="0">
                <a:solidFill>
                  <a:srgbClr val="56617C"/>
                </a:solidFill>
                <a:latin typeface="Calibri" pitchFamily="34" charset="0"/>
                <a:ea typeface="Calibri" pitchFamily="34" charset="-122"/>
                <a:cs typeface="Calibri" pitchFamily="34" charset="-120"/>
              </a:rPr>
              <a:t>État civil et transition numérique</a:t>
            </a:r>
            <a:endParaRPr lang="fr-FR" sz="1600" dirty="0"/>
          </a:p>
        </p:txBody>
      </p:sp>
      <p:pic>
        <p:nvPicPr>
          <p:cNvPr id="27"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28"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9"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9 / 21</a:t>
            </a:r>
            <a:endParaRPr lang="fr-FR" sz="1000" dirty="0"/>
          </a:p>
        </p:txBody>
      </p:sp>
      <p:sp>
        <p:nvSpPr>
          <p:cNvPr id="30" name="!!band1"/>
          <p:cNvSpPr/>
          <p:nvPr/>
        </p:nvSpPr>
        <p:spPr>
          <a:xfrm>
            <a:off x="0" y="0"/>
            <a:ext cx="4873752" cy="64008"/>
          </a:xfrm>
          <a:prstGeom prst="rect">
            <a:avLst/>
          </a:prstGeom>
          <a:solidFill>
            <a:srgbClr val="1B3F9E"/>
          </a:solidFill>
          <a:ln w="12700">
            <a:solidFill>
              <a:srgbClr val="1B3F9E"/>
            </a:solidFill>
            <a:prstDash val="solid"/>
          </a:ln>
        </p:spPr>
      </p:sp>
      <p:sp>
        <p:nvSpPr>
          <p:cNvPr id="31" name="!!band2"/>
          <p:cNvSpPr/>
          <p:nvPr/>
        </p:nvSpPr>
        <p:spPr>
          <a:xfrm>
            <a:off x="4873752" y="0"/>
            <a:ext cx="4270248" cy="64008"/>
          </a:xfrm>
          <a:prstGeom prst="rect">
            <a:avLst/>
          </a:prstGeom>
          <a:solidFill>
            <a:srgbClr val="00923A"/>
          </a:solidFill>
          <a:ln w="12700">
            <a:solidFill>
              <a:srgbClr val="00923A"/>
            </a:solidFill>
            <a:prstDash val="solid"/>
          </a:ln>
        </p:spPr>
      </p:sp>
      <p:sp>
        <p:nvSpPr>
          <p:cNvPr id="32" name="!!band3"/>
          <p:cNvSpPr/>
          <p:nvPr/>
        </p:nvSpPr>
        <p:spPr>
          <a:xfrm>
            <a:off x="9144000" y="0"/>
            <a:ext cx="3047695" cy="64008"/>
          </a:xfrm>
          <a:prstGeom prst="rect">
            <a:avLst/>
          </a:prstGeom>
          <a:solidFill>
            <a:srgbClr val="FCC600"/>
          </a:solidFill>
          <a:ln w="12700">
            <a:solidFill>
              <a:srgbClr val="FCC600"/>
            </a:solidFill>
            <a:prstDash val="solid"/>
          </a:ln>
        </p:spPr>
      </p:sp>
      <p:sp>
        <p:nvSpPr>
          <p:cNvPr id="33" name="!!railline"/>
          <p:cNvSpPr/>
          <p:nvPr/>
        </p:nvSpPr>
        <p:spPr>
          <a:xfrm>
            <a:off x="11795760" y="1600200"/>
            <a:ext cx="914" cy="3383280"/>
          </a:xfrm>
          <a:prstGeom prst="line">
            <a:avLst/>
          </a:prstGeom>
          <a:noFill/>
          <a:ln w="19050">
            <a:solidFill>
              <a:srgbClr val="D9DFEA"/>
            </a:solidFill>
            <a:prstDash val="solid"/>
          </a:ln>
        </p:spPr>
      </p:sp>
      <p:sp>
        <p:nvSpPr>
          <p:cNvPr id="34" name="!!railprog"/>
          <p:cNvSpPr/>
          <p:nvPr/>
        </p:nvSpPr>
        <p:spPr>
          <a:xfrm>
            <a:off x="11795760" y="1600200"/>
            <a:ext cx="914" cy="914"/>
          </a:xfrm>
          <a:prstGeom prst="line">
            <a:avLst/>
          </a:prstGeom>
          <a:noFill/>
          <a:ln w="31750">
            <a:solidFill>
              <a:srgbClr val="00923A"/>
            </a:solidFill>
            <a:prstDash val="solid"/>
          </a:ln>
        </p:spPr>
      </p:sp>
      <p:sp>
        <p:nvSpPr>
          <p:cNvPr id="35" name="!!m1"/>
          <p:cNvSpPr/>
          <p:nvPr/>
        </p:nvSpPr>
        <p:spPr>
          <a:xfrm>
            <a:off x="11603736" y="1408176"/>
            <a:ext cx="384048" cy="384048"/>
          </a:xfrm>
          <a:prstGeom prst="ellipse">
            <a:avLst/>
          </a:prstGeom>
          <a:solidFill>
            <a:srgbClr val="1B3F9E"/>
          </a:solidFill>
          <a:ln w="15875">
            <a:solidFill>
              <a:srgbClr val="1B3F9E"/>
            </a:solidFill>
            <a:prstDash val="solid"/>
          </a:ln>
        </p:spPr>
      </p:sp>
      <p:sp>
        <p:nvSpPr>
          <p:cNvPr id="36"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7" name="!!m2"/>
          <p:cNvSpPr/>
          <p:nvPr/>
        </p:nvSpPr>
        <p:spPr>
          <a:xfrm>
            <a:off x="11603736" y="2084832"/>
            <a:ext cx="384048" cy="384048"/>
          </a:xfrm>
          <a:prstGeom prst="ellipse">
            <a:avLst/>
          </a:prstGeom>
          <a:solidFill>
            <a:srgbClr val="FFFFFF"/>
          </a:solidFill>
          <a:ln w="15875">
            <a:solidFill>
              <a:srgbClr val="BFC8DA"/>
            </a:solidFill>
            <a:prstDash val="solid"/>
          </a:ln>
        </p:spPr>
      </p:sp>
      <p:sp>
        <p:nvSpPr>
          <p:cNvPr id="38"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2</a:t>
            </a:r>
            <a:endParaRPr lang="en-US" sz="1200" dirty="0"/>
          </a:p>
        </p:txBody>
      </p:sp>
      <p:sp>
        <p:nvSpPr>
          <p:cNvPr id="39" name="!!m3"/>
          <p:cNvSpPr/>
          <p:nvPr/>
        </p:nvSpPr>
        <p:spPr>
          <a:xfrm>
            <a:off x="11603736" y="2761488"/>
            <a:ext cx="384048" cy="384048"/>
          </a:xfrm>
          <a:prstGeom prst="ellipse">
            <a:avLst/>
          </a:prstGeom>
          <a:solidFill>
            <a:srgbClr val="FFFFFF"/>
          </a:solidFill>
          <a:ln w="15875">
            <a:solidFill>
              <a:srgbClr val="BFC8DA"/>
            </a:solidFill>
            <a:prstDash val="solid"/>
          </a:ln>
        </p:spPr>
      </p:sp>
      <p:sp>
        <p:nvSpPr>
          <p:cNvPr id="40" name="!!mt3">
            <a:hlinkClick r:id="rId4"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3</a:t>
            </a:r>
            <a:endParaRPr lang="en-US" sz="1200" dirty="0"/>
          </a:p>
        </p:txBody>
      </p:sp>
      <p:sp>
        <p:nvSpPr>
          <p:cNvPr id="41"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42" name="!!mt4">
            <a:hlinkClick r:id="rId5"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43"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44" name="!!mt5">
            <a:hlinkClick r:id="rId6"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45"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46" name="!!mt6">
            <a:hlinkClick r:id="rId7"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7"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Structure d’accueil</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1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22" presetClass="entr" presetSubtype="8" fill="hold" grpId="0" nodeType="withEffect">
                                  <p:stCondLst>
                                    <p:cond delay="15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600"/>
                                        <p:tgtEl>
                                          <p:spTgt spid="11"/>
                                        </p:tgtEl>
                                      </p:cBhvr>
                                    </p:animEffect>
                                  </p:childTnLst>
                                </p:cTn>
                              </p:par>
                              <p:par>
                                <p:cTn id="20" presetID="10" presetClass="entr" presetSubtype="0" fill="hold" grpId="0" nodeType="withEffect">
                                  <p:stCondLst>
                                    <p:cond delay="4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childTnLst>
                                </p:cTn>
                              </p:par>
                              <p:par>
                                <p:cTn id="23" presetID="10" presetClass="entr" presetSubtype="0" fill="hold" grpId="0" nodeType="withEffect">
                                  <p:stCondLst>
                                    <p:cond delay="4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00"/>
                                        <p:tgtEl>
                                          <p:spTgt spid="8"/>
                                        </p:tgtEl>
                                      </p:cBhvr>
                                    </p:animEffect>
                                  </p:childTnLst>
                                </p:cTn>
                              </p:par>
                              <p:par>
                                <p:cTn id="26" presetID="22" presetClass="entr" presetSubtype="8" fill="hold" grpId="0" nodeType="withEffect">
                                  <p:stCondLst>
                                    <p:cond delay="45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600"/>
                                        <p:tgtEl>
                                          <p:spTgt spid="12"/>
                                        </p:tgtEl>
                                      </p:cBhvr>
                                    </p:animEffect>
                                  </p:childTnLst>
                                </p:cTn>
                              </p:par>
                              <p:par>
                                <p:cTn id="29" presetID="10" presetClass="entr" presetSubtype="0" fill="hold" grpId="0" nodeType="withEffect">
                                  <p:stCondLst>
                                    <p:cond delay="75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600"/>
                                        <p:tgtEl>
                                          <p:spTgt spid="9"/>
                                        </p:tgtEl>
                                      </p:cBhvr>
                                    </p:animEffect>
                                  </p:childTnLst>
                                </p:cTn>
                              </p:par>
                              <p:par>
                                <p:cTn id="32" presetID="10" presetClass="entr" presetSubtype="0" fill="hold" grpId="0" nodeType="withEffect">
                                  <p:stCondLst>
                                    <p:cond delay="75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600"/>
                                        <p:tgtEl>
                                          <p:spTgt spid="10"/>
                                        </p:tgtEl>
                                      </p:cBhvr>
                                    </p:animEffect>
                                  </p:childTnLst>
                                </p:cTn>
                              </p:par>
                              <p:par>
                                <p:cTn id="35" presetID="22" presetClass="entr" presetSubtype="8" fill="hold" grpId="0" nodeType="withEffect">
                                  <p:stCondLst>
                                    <p:cond delay="75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600"/>
                                        <p:tgtEl>
                                          <p:spTgt spid="13"/>
                                        </p:tgtEl>
                                      </p:cBhvr>
                                    </p:animEffect>
                                  </p:childTnLst>
                                </p:cTn>
                              </p:par>
                              <p:par>
                                <p:cTn id="38" presetID="22" presetClass="entr" presetSubtype="8" fill="hold" grpId="0" nodeType="withEffect">
                                  <p:stCondLst>
                                    <p:cond delay="105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600"/>
                                        <p:tgtEl>
                                          <p:spTgt spid="14"/>
                                        </p:tgtEl>
                                      </p:cBhvr>
                                    </p:animEffect>
                                  </p:childTnLst>
                                </p:cTn>
                              </p:par>
                              <p:par>
                                <p:cTn id="41" presetID="22" presetClass="entr" presetSubtype="8" fill="hold" grpId="0" nodeType="withEffect">
                                  <p:stCondLst>
                                    <p:cond delay="130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600"/>
                                        <p:tgtEl>
                                          <p:spTgt spid="15"/>
                                        </p:tgtEl>
                                      </p:cBhvr>
                                    </p:animEffect>
                                  </p:childTnLst>
                                </p:cTn>
                              </p:par>
                              <p:par>
                                <p:cTn id="44" presetID="10" presetClass="entr" presetSubtype="0" fill="hold" grpId="0" nodeType="withEffect">
                                  <p:stCondLst>
                                    <p:cond delay="135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childTnLst>
                                </p:cTn>
                              </p:par>
                              <p:par>
                                <p:cTn id="47" presetID="10" presetClass="entr" presetSubtype="0" fill="hold" grpId="0" nodeType="withEffect">
                                  <p:stCondLst>
                                    <p:cond delay="135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600"/>
                                        <p:tgtEl>
                                          <p:spTgt spid="17"/>
                                        </p:tgtEl>
                                      </p:cBhvr>
                                    </p:animEffect>
                                  </p:childTnLst>
                                </p:cTn>
                              </p:par>
                              <p:par>
                                <p:cTn id="50" presetID="22" presetClass="entr" presetSubtype="8" fill="hold" grpId="0" nodeType="withEffect">
                                  <p:stCondLst>
                                    <p:cond delay="145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600"/>
                                        <p:tgtEl>
                                          <p:spTgt spid="18"/>
                                        </p:tgtEl>
                                      </p:cBhvr>
                                    </p:animEffect>
                                  </p:childTnLst>
                                </p:cTn>
                              </p:par>
                              <p:par>
                                <p:cTn id="53" presetID="10" presetClass="entr" presetSubtype="0" fill="hold" grpId="0" nodeType="withEffect">
                                  <p:stCondLst>
                                    <p:cond delay="15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600"/>
                                        <p:tgtEl>
                                          <p:spTgt spid="19"/>
                                        </p:tgtEl>
                                      </p:cBhvr>
                                    </p:animEffect>
                                  </p:childTnLst>
                                </p:cTn>
                              </p:par>
                              <p:par>
                                <p:cTn id="56" presetID="10" presetClass="entr" presetSubtype="0" fill="hold" grpId="0" nodeType="withEffect">
                                  <p:stCondLst>
                                    <p:cond delay="150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600"/>
                                        <p:tgtEl>
                                          <p:spTgt spid="20"/>
                                        </p:tgtEl>
                                      </p:cBhvr>
                                    </p:animEffect>
                                  </p:childTnLst>
                                </p:cTn>
                              </p:par>
                              <p:par>
                                <p:cTn id="59" presetID="22" presetClass="entr" presetSubtype="8" fill="hold" grpId="0" nodeType="withEffect">
                                  <p:stCondLst>
                                    <p:cond delay="1600"/>
                                  </p:stCondLst>
                                  <p:childTnLst>
                                    <p:set>
                                      <p:cBhvr>
                                        <p:cTn id="60" dur="1" fill="hold">
                                          <p:stCondLst>
                                            <p:cond delay="0"/>
                                          </p:stCondLst>
                                        </p:cTn>
                                        <p:tgtEl>
                                          <p:spTgt spid="21"/>
                                        </p:tgtEl>
                                        <p:attrNameLst>
                                          <p:attrName>style.visibility</p:attrName>
                                        </p:attrNameLst>
                                      </p:cBhvr>
                                      <p:to>
                                        <p:strVal val="visible"/>
                                      </p:to>
                                    </p:set>
                                    <p:animEffect transition="in" filter="wipe(left)">
                                      <p:cBhvr>
                                        <p:cTn id="61" dur="600"/>
                                        <p:tgtEl>
                                          <p:spTgt spid="21"/>
                                        </p:tgtEl>
                                      </p:cBhvr>
                                    </p:animEffect>
                                  </p:childTnLst>
                                </p:cTn>
                              </p:par>
                              <p:par>
                                <p:cTn id="62" presetID="10" presetClass="entr" presetSubtype="0" fill="hold" grpId="0" nodeType="withEffect">
                                  <p:stCondLst>
                                    <p:cond delay="165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600"/>
                                        <p:tgtEl>
                                          <p:spTgt spid="22"/>
                                        </p:tgtEl>
                                      </p:cBhvr>
                                    </p:animEffect>
                                  </p:childTnLst>
                                </p:cTn>
                              </p:par>
                              <p:par>
                                <p:cTn id="65" presetID="10" presetClass="entr" presetSubtype="0" fill="hold" grpId="0" nodeType="withEffect">
                                  <p:stCondLst>
                                    <p:cond delay="165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600"/>
                                        <p:tgtEl>
                                          <p:spTgt spid="23"/>
                                        </p:tgtEl>
                                      </p:cBhvr>
                                    </p:animEffect>
                                  </p:childTnLst>
                                </p:cTn>
                              </p:par>
                              <p:par>
                                <p:cTn id="68" presetID="22" presetClass="entr" presetSubtype="8" fill="hold" grpId="0" nodeType="withEffect">
                                  <p:stCondLst>
                                    <p:cond delay="1750"/>
                                  </p:stCondLst>
                                  <p:childTnLst>
                                    <p:set>
                                      <p:cBhvr>
                                        <p:cTn id="69" dur="1" fill="hold">
                                          <p:stCondLst>
                                            <p:cond delay="0"/>
                                          </p:stCondLst>
                                        </p:cTn>
                                        <p:tgtEl>
                                          <p:spTgt spid="24"/>
                                        </p:tgtEl>
                                        <p:attrNameLst>
                                          <p:attrName>style.visibility</p:attrName>
                                        </p:attrNameLst>
                                      </p:cBhvr>
                                      <p:to>
                                        <p:strVal val="visible"/>
                                      </p:to>
                                    </p:set>
                                    <p:animEffect transition="in" filter="wipe(left)">
                                      <p:cBhvr>
                                        <p:cTn id="70" dur="600"/>
                                        <p:tgtEl>
                                          <p:spTgt spid="24"/>
                                        </p:tgtEl>
                                      </p:cBhvr>
                                    </p:animEffect>
                                  </p:childTnLst>
                                </p:cTn>
                              </p:par>
                              <p:par>
                                <p:cTn id="71" presetID="10" presetClass="entr" presetSubtype="0" fill="hold" grpId="0" nodeType="withEffect">
                                  <p:stCondLst>
                                    <p:cond delay="180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600"/>
                                        <p:tgtEl>
                                          <p:spTgt spid="25"/>
                                        </p:tgtEl>
                                      </p:cBhvr>
                                    </p:animEffect>
                                  </p:childTnLst>
                                </p:cTn>
                              </p:par>
                              <p:par>
                                <p:cTn id="74" presetID="10" presetClass="entr" presetSubtype="0" fill="hold" grpId="0" nodeType="withEffect">
                                  <p:stCondLst>
                                    <p:cond delay="180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6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8" grpId="0" animBg="1"/>
      <p:bldP spid="10" grpId="0" animBg="1"/>
      <p:bldP spid="17" grpId="0" animBg="1"/>
      <p:bldP spid="20" grpId="0" animBg="1"/>
      <p:bldP spid="23" grpId="0" animBg="1"/>
      <p:bldP spid="2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2 — Travaux effectués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Le parcours d’un courrier arrivé, en huit étapes</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st0"/>
          <p:cNvSpPr/>
          <p:nvPr/>
        </p:nvSpPr>
        <p:spPr>
          <a:xfrm>
            <a:off x="771068" y="1920240"/>
            <a:ext cx="2270455" cy="1600200"/>
          </a:xfrm>
          <a:prstGeom prst="rect">
            <a:avLst/>
          </a:prstGeom>
          <a:solidFill>
            <a:srgbClr val="FFFFFF"/>
          </a:solidFill>
          <a:ln w="9525">
            <a:solidFill>
              <a:srgbClr val="D9DFEA"/>
            </a:solidFill>
            <a:prstDash val="solid"/>
          </a:ln>
        </p:spPr>
      </p:sp>
      <p:sp>
        <p:nvSpPr>
          <p:cNvPr id="6" name="st0b"/>
          <p:cNvSpPr/>
          <p:nvPr/>
        </p:nvSpPr>
        <p:spPr>
          <a:xfrm>
            <a:off x="771068" y="1920240"/>
            <a:ext cx="52395" cy="1600200"/>
          </a:xfrm>
          <a:prstGeom prst="rect">
            <a:avLst/>
          </a:prstGeom>
          <a:solidFill>
            <a:srgbClr val="1B3F9E"/>
          </a:solidFill>
          <a:ln w="12700">
            <a:solidFill>
              <a:srgbClr val="1B3F9E"/>
            </a:solidFill>
            <a:prstDash val="solid"/>
          </a:ln>
        </p:spPr>
      </p:sp>
      <p:sp>
        <p:nvSpPr>
          <p:cNvPr id="7" name="stn0"/>
          <p:cNvSpPr txBox="1"/>
          <p:nvPr/>
        </p:nvSpPr>
        <p:spPr>
          <a:xfrm>
            <a:off x="1033043" y="2057400"/>
            <a:ext cx="698602" cy="640080"/>
          </a:xfrm>
          <a:prstGeom prst="rect">
            <a:avLst/>
          </a:prstGeom>
          <a:noFill/>
          <a:ln/>
        </p:spPr>
        <p:txBody>
          <a:bodyPr wrap="square" lIns="0" tIns="0" rIns="0" bIns="0" rtlCol="0" anchor="t"/>
          <a:lstStyle/>
          <a:p>
            <a:pPr indent="0" marL="0">
              <a:buNone/>
            </a:pPr>
            <a:r>
              <a:rPr lang="fr-FR" altLang="en-US" sz="3000" b="1" dirty="0">
                <a:solidFill>
                  <a:srgbClr val="1B3F9E"/>
                </a:solidFill>
                <a:latin typeface="Calibri" pitchFamily="34" charset="0"/>
                <a:ea typeface="Calibri" pitchFamily="34" charset="-122"/>
                <a:cs typeface="Calibri" pitchFamily="34" charset="-120"/>
              </a:rPr>
              <a:t>1</a:t>
            </a:r>
            <a:endParaRPr lang="fr-FR" sz="3000" dirty="0"/>
          </a:p>
        </p:txBody>
      </p:sp>
      <p:sp>
        <p:nvSpPr>
          <p:cNvPr id="8" name="stt0"/>
          <p:cNvSpPr txBox="1"/>
          <p:nvPr/>
        </p:nvSpPr>
        <p:spPr>
          <a:xfrm>
            <a:off x="1033043" y="2743200"/>
            <a:ext cx="1921154" cy="6858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Réception</a:t>
            </a:r>
            <a:endParaRPr lang="fr-FR" sz="1700" dirty="0"/>
          </a:p>
          <a:p>
            <a:pPr indent="0" marL="0">
              <a:buNone/>
            </a:pPr>
            <a:r>
              <a:rPr lang="fr-FR" altLang="en-US" sz="1300" dirty="0">
                <a:solidFill>
                  <a:srgbClr val="56617C"/>
                </a:solidFill>
                <a:latin typeface="Calibri" pitchFamily="34" charset="0"/>
                <a:ea typeface="Calibri" pitchFamily="34" charset="-122"/>
                <a:cs typeface="Calibri" pitchFamily="34" charset="-120"/>
              </a:rPr>
              <a:t>Vérification, décharge</a:t>
            </a:r>
            <a:endParaRPr lang="fr-FR" sz="1700" dirty="0"/>
          </a:p>
        </p:txBody>
      </p:sp>
      <p:sp>
        <p:nvSpPr>
          <p:cNvPr id="9" name="ar0"/>
          <p:cNvSpPr/>
          <p:nvPr/>
        </p:nvSpPr>
        <p:spPr>
          <a:xfrm>
            <a:off x="3058988" y="2578608"/>
            <a:ext cx="401696" cy="274320"/>
          </a:xfrm>
          <a:prstGeom prst="rightArrow">
            <a:avLst/>
          </a:prstGeom>
          <a:solidFill>
            <a:srgbClr val="B8C4DE"/>
          </a:solidFill>
          <a:ln w="12700">
            <a:solidFill>
              <a:srgbClr val="B8C4DE"/>
            </a:solidFill>
            <a:prstDash val="solid"/>
          </a:ln>
        </p:spPr>
      </p:sp>
      <p:sp>
        <p:nvSpPr>
          <p:cNvPr id="10" name="st1"/>
          <p:cNvSpPr/>
          <p:nvPr/>
        </p:nvSpPr>
        <p:spPr>
          <a:xfrm>
            <a:off x="3478149" y="1920240"/>
            <a:ext cx="2270455" cy="1600200"/>
          </a:xfrm>
          <a:prstGeom prst="rect">
            <a:avLst/>
          </a:prstGeom>
          <a:solidFill>
            <a:srgbClr val="FFFFFF"/>
          </a:solidFill>
          <a:ln w="9525">
            <a:solidFill>
              <a:srgbClr val="D9DFEA"/>
            </a:solidFill>
            <a:prstDash val="solid"/>
          </a:ln>
        </p:spPr>
      </p:sp>
      <p:sp>
        <p:nvSpPr>
          <p:cNvPr id="11" name="st1b"/>
          <p:cNvSpPr/>
          <p:nvPr/>
        </p:nvSpPr>
        <p:spPr>
          <a:xfrm>
            <a:off x="3478149" y="1920240"/>
            <a:ext cx="52395" cy="1600200"/>
          </a:xfrm>
          <a:prstGeom prst="rect">
            <a:avLst/>
          </a:prstGeom>
          <a:solidFill>
            <a:srgbClr val="00923A"/>
          </a:solidFill>
          <a:ln w="12700">
            <a:solidFill>
              <a:srgbClr val="00923A"/>
            </a:solidFill>
            <a:prstDash val="solid"/>
          </a:ln>
        </p:spPr>
      </p:sp>
      <p:sp>
        <p:nvSpPr>
          <p:cNvPr id="12" name="stn1"/>
          <p:cNvSpPr txBox="1"/>
          <p:nvPr/>
        </p:nvSpPr>
        <p:spPr>
          <a:xfrm>
            <a:off x="3740125" y="2057400"/>
            <a:ext cx="698602" cy="640080"/>
          </a:xfrm>
          <a:prstGeom prst="rect">
            <a:avLst/>
          </a:prstGeom>
          <a:noFill/>
          <a:ln/>
        </p:spPr>
        <p:txBody>
          <a:bodyPr wrap="square" lIns="0" tIns="0" rIns="0" bIns="0" rtlCol="0" anchor="t"/>
          <a:lstStyle/>
          <a:p>
            <a:pPr indent="0" marL="0">
              <a:buNone/>
            </a:pPr>
            <a:r>
              <a:rPr lang="fr-FR" altLang="en-US" sz="3000" b="1" dirty="0">
                <a:solidFill>
                  <a:srgbClr val="00923A"/>
                </a:solidFill>
                <a:latin typeface="Calibri" pitchFamily="34" charset="0"/>
                <a:ea typeface="Calibri" pitchFamily="34" charset="-122"/>
                <a:cs typeface="Calibri" pitchFamily="34" charset="-120"/>
              </a:rPr>
              <a:t>2</a:t>
            </a:r>
            <a:endParaRPr lang="fr-FR" sz="3000" dirty="0"/>
          </a:p>
        </p:txBody>
      </p:sp>
      <p:sp>
        <p:nvSpPr>
          <p:cNvPr id="13" name="stt1"/>
          <p:cNvSpPr txBox="1"/>
          <p:nvPr/>
        </p:nvSpPr>
        <p:spPr>
          <a:xfrm>
            <a:off x="3740125" y="2743200"/>
            <a:ext cx="1921154" cy="6858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Cachets</a:t>
            </a:r>
            <a:endParaRPr lang="fr-FR" sz="1700" dirty="0"/>
          </a:p>
          <a:p>
            <a:pPr indent="0" marL="0">
              <a:buNone/>
            </a:pPr>
            <a:r>
              <a:rPr lang="fr-FR" altLang="en-US" sz="1300" dirty="0">
                <a:solidFill>
                  <a:srgbClr val="56617C"/>
                </a:solidFill>
                <a:latin typeface="Calibri" pitchFamily="34" charset="0"/>
                <a:ea typeface="Calibri" pitchFamily="34" charset="-122"/>
                <a:cs typeface="Calibri" pitchFamily="34" charset="-120"/>
              </a:rPr>
              <a:t>Mairie et « Arrivée »</a:t>
            </a:r>
            <a:endParaRPr lang="fr-FR" sz="1700" dirty="0"/>
          </a:p>
        </p:txBody>
      </p:sp>
      <p:sp>
        <p:nvSpPr>
          <p:cNvPr id="14" name="ar1"/>
          <p:cNvSpPr/>
          <p:nvPr/>
        </p:nvSpPr>
        <p:spPr>
          <a:xfrm>
            <a:off x="5766069" y="2578608"/>
            <a:ext cx="401696" cy="274320"/>
          </a:xfrm>
          <a:prstGeom prst="rightArrow">
            <a:avLst/>
          </a:prstGeom>
          <a:solidFill>
            <a:srgbClr val="B8C4DE"/>
          </a:solidFill>
          <a:ln w="12700">
            <a:solidFill>
              <a:srgbClr val="B8C4DE"/>
            </a:solidFill>
            <a:prstDash val="solid"/>
          </a:ln>
        </p:spPr>
      </p:sp>
      <p:sp>
        <p:nvSpPr>
          <p:cNvPr id="15" name="st2"/>
          <p:cNvSpPr/>
          <p:nvPr/>
        </p:nvSpPr>
        <p:spPr>
          <a:xfrm>
            <a:off x="6185230" y="1920240"/>
            <a:ext cx="2270455" cy="1600200"/>
          </a:xfrm>
          <a:prstGeom prst="rect">
            <a:avLst/>
          </a:prstGeom>
          <a:solidFill>
            <a:srgbClr val="FFFFFF"/>
          </a:solidFill>
          <a:ln w="9525">
            <a:solidFill>
              <a:srgbClr val="D9DFEA"/>
            </a:solidFill>
            <a:prstDash val="solid"/>
          </a:ln>
        </p:spPr>
      </p:sp>
      <p:sp>
        <p:nvSpPr>
          <p:cNvPr id="16" name="st2b"/>
          <p:cNvSpPr/>
          <p:nvPr/>
        </p:nvSpPr>
        <p:spPr>
          <a:xfrm>
            <a:off x="6185230" y="1920240"/>
            <a:ext cx="52395" cy="1600200"/>
          </a:xfrm>
          <a:prstGeom prst="rect">
            <a:avLst/>
          </a:prstGeom>
          <a:solidFill>
            <a:srgbClr val="9A6A00"/>
          </a:solidFill>
          <a:ln w="12700">
            <a:solidFill>
              <a:srgbClr val="9A6A00"/>
            </a:solidFill>
            <a:prstDash val="solid"/>
          </a:ln>
        </p:spPr>
      </p:sp>
      <p:sp>
        <p:nvSpPr>
          <p:cNvPr id="17" name="stn2"/>
          <p:cNvSpPr txBox="1"/>
          <p:nvPr/>
        </p:nvSpPr>
        <p:spPr>
          <a:xfrm>
            <a:off x="6447206" y="2057400"/>
            <a:ext cx="698602" cy="640080"/>
          </a:xfrm>
          <a:prstGeom prst="rect">
            <a:avLst/>
          </a:prstGeom>
          <a:noFill/>
          <a:ln/>
        </p:spPr>
        <p:txBody>
          <a:bodyPr wrap="square" lIns="0" tIns="0" rIns="0" bIns="0" rtlCol="0" anchor="t"/>
          <a:lstStyle/>
          <a:p>
            <a:pPr indent="0" marL="0">
              <a:buNone/>
            </a:pPr>
            <a:r>
              <a:rPr lang="fr-FR" altLang="en-US" sz="3000" b="1" dirty="0">
                <a:solidFill>
                  <a:srgbClr val="9A6A00"/>
                </a:solidFill>
                <a:latin typeface="Calibri" pitchFamily="34" charset="0"/>
                <a:ea typeface="Calibri" pitchFamily="34" charset="-122"/>
                <a:cs typeface="Calibri" pitchFamily="34" charset="-120"/>
              </a:rPr>
              <a:t>3</a:t>
            </a:r>
            <a:endParaRPr lang="fr-FR" sz="3000" dirty="0"/>
          </a:p>
        </p:txBody>
      </p:sp>
      <p:sp>
        <p:nvSpPr>
          <p:cNvPr id="18" name="stt2"/>
          <p:cNvSpPr txBox="1"/>
          <p:nvPr/>
        </p:nvSpPr>
        <p:spPr>
          <a:xfrm>
            <a:off x="6447206" y="2743200"/>
            <a:ext cx="1921154" cy="6858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Enregistrement</a:t>
            </a:r>
            <a:endParaRPr lang="fr-FR" sz="1700" dirty="0"/>
          </a:p>
          <a:p>
            <a:pPr indent="0" marL="0">
              <a:buNone/>
            </a:pPr>
            <a:r>
              <a:rPr lang="fr-FR" altLang="en-US" sz="1300" dirty="0">
                <a:solidFill>
                  <a:srgbClr val="56617C"/>
                </a:solidFill>
                <a:latin typeface="Calibri" pitchFamily="34" charset="0"/>
                <a:ea typeface="Calibri" pitchFamily="34" charset="-122"/>
                <a:cs typeface="Calibri" pitchFamily="34" charset="-120"/>
              </a:rPr>
              <a:t>Registre et fiche</a:t>
            </a:r>
            <a:endParaRPr lang="fr-FR" sz="1700" dirty="0"/>
          </a:p>
        </p:txBody>
      </p:sp>
      <p:sp>
        <p:nvSpPr>
          <p:cNvPr id="19" name="ar2"/>
          <p:cNvSpPr/>
          <p:nvPr/>
        </p:nvSpPr>
        <p:spPr>
          <a:xfrm>
            <a:off x="8473150" y="2578608"/>
            <a:ext cx="401696" cy="274320"/>
          </a:xfrm>
          <a:prstGeom prst="rightArrow">
            <a:avLst/>
          </a:prstGeom>
          <a:solidFill>
            <a:srgbClr val="B8C4DE"/>
          </a:solidFill>
          <a:ln w="12700">
            <a:solidFill>
              <a:srgbClr val="B8C4DE"/>
            </a:solidFill>
            <a:prstDash val="solid"/>
          </a:ln>
        </p:spPr>
      </p:sp>
      <p:sp>
        <p:nvSpPr>
          <p:cNvPr id="20" name="st3"/>
          <p:cNvSpPr/>
          <p:nvPr/>
        </p:nvSpPr>
        <p:spPr>
          <a:xfrm>
            <a:off x="8892311" y="1920240"/>
            <a:ext cx="2270455" cy="1600200"/>
          </a:xfrm>
          <a:prstGeom prst="rect">
            <a:avLst/>
          </a:prstGeom>
          <a:solidFill>
            <a:srgbClr val="FFFFFF"/>
          </a:solidFill>
          <a:ln w="9525">
            <a:solidFill>
              <a:srgbClr val="D9DFEA"/>
            </a:solidFill>
            <a:prstDash val="solid"/>
          </a:ln>
        </p:spPr>
      </p:sp>
      <p:sp>
        <p:nvSpPr>
          <p:cNvPr id="21" name="st3b"/>
          <p:cNvSpPr/>
          <p:nvPr/>
        </p:nvSpPr>
        <p:spPr>
          <a:xfrm>
            <a:off x="8892311" y="1920240"/>
            <a:ext cx="52395" cy="1600200"/>
          </a:xfrm>
          <a:prstGeom prst="rect">
            <a:avLst/>
          </a:prstGeom>
          <a:solidFill>
            <a:srgbClr val="1B3F9E"/>
          </a:solidFill>
          <a:ln w="12700">
            <a:solidFill>
              <a:srgbClr val="1B3F9E"/>
            </a:solidFill>
            <a:prstDash val="solid"/>
          </a:ln>
        </p:spPr>
      </p:sp>
      <p:sp>
        <p:nvSpPr>
          <p:cNvPr id="22" name="stn3"/>
          <p:cNvSpPr txBox="1"/>
          <p:nvPr/>
        </p:nvSpPr>
        <p:spPr>
          <a:xfrm>
            <a:off x="9154287" y="2057400"/>
            <a:ext cx="698602" cy="640080"/>
          </a:xfrm>
          <a:prstGeom prst="rect">
            <a:avLst/>
          </a:prstGeom>
          <a:noFill/>
          <a:ln/>
        </p:spPr>
        <p:txBody>
          <a:bodyPr wrap="square" lIns="0" tIns="0" rIns="0" bIns="0" rtlCol="0" anchor="t"/>
          <a:lstStyle/>
          <a:p>
            <a:pPr indent="0" marL="0">
              <a:buNone/>
            </a:pPr>
            <a:r>
              <a:rPr lang="fr-FR" altLang="en-US" sz="3000" b="1" dirty="0">
                <a:solidFill>
                  <a:srgbClr val="1B3F9E"/>
                </a:solidFill>
                <a:latin typeface="Calibri" pitchFamily="34" charset="0"/>
                <a:ea typeface="Calibri" pitchFamily="34" charset="-122"/>
                <a:cs typeface="Calibri" pitchFamily="34" charset="-120"/>
              </a:rPr>
              <a:t>4</a:t>
            </a:r>
            <a:endParaRPr lang="fr-FR" sz="3000" dirty="0"/>
          </a:p>
        </p:txBody>
      </p:sp>
      <p:sp>
        <p:nvSpPr>
          <p:cNvPr id="23" name="stt3"/>
          <p:cNvSpPr txBox="1"/>
          <p:nvPr/>
        </p:nvSpPr>
        <p:spPr>
          <a:xfrm>
            <a:off x="9154287" y="2743200"/>
            <a:ext cx="1921154" cy="6858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Examen</a:t>
            </a:r>
            <a:endParaRPr lang="fr-FR" sz="1700" dirty="0"/>
          </a:p>
          <a:p>
            <a:pPr indent="0" marL="0">
              <a:buNone/>
            </a:pPr>
            <a:r>
              <a:rPr lang="fr-FR" altLang="en-US" sz="1300" dirty="0">
                <a:solidFill>
                  <a:srgbClr val="56617C"/>
                </a:solidFill>
                <a:latin typeface="Calibri" pitchFamily="34" charset="0"/>
                <a:ea typeface="Calibri" pitchFamily="34" charset="-122"/>
                <a:cs typeface="Calibri" pitchFamily="34" charset="-120"/>
              </a:rPr>
              <a:t>Cheffe du secrétariat</a:t>
            </a:r>
            <a:endParaRPr lang="fr-FR" sz="1700" dirty="0"/>
          </a:p>
        </p:txBody>
      </p:sp>
      <p:sp>
        <p:nvSpPr>
          <p:cNvPr id="24" name="st4"/>
          <p:cNvSpPr/>
          <p:nvPr/>
        </p:nvSpPr>
        <p:spPr>
          <a:xfrm>
            <a:off x="8892311" y="4023360"/>
            <a:ext cx="2270455" cy="1600200"/>
          </a:xfrm>
          <a:prstGeom prst="rect">
            <a:avLst/>
          </a:prstGeom>
          <a:solidFill>
            <a:srgbClr val="FFFFFF"/>
          </a:solidFill>
          <a:ln w="9525">
            <a:solidFill>
              <a:srgbClr val="D9DFEA"/>
            </a:solidFill>
            <a:prstDash val="solid"/>
          </a:ln>
        </p:spPr>
      </p:sp>
      <p:sp>
        <p:nvSpPr>
          <p:cNvPr id="25" name="st4b"/>
          <p:cNvSpPr/>
          <p:nvPr/>
        </p:nvSpPr>
        <p:spPr>
          <a:xfrm>
            <a:off x="8892311" y="4023360"/>
            <a:ext cx="52395" cy="1600200"/>
          </a:xfrm>
          <a:prstGeom prst="rect">
            <a:avLst/>
          </a:prstGeom>
          <a:solidFill>
            <a:srgbClr val="1B3F9E"/>
          </a:solidFill>
          <a:ln w="12700">
            <a:solidFill>
              <a:srgbClr val="1B3F9E"/>
            </a:solidFill>
            <a:prstDash val="solid"/>
          </a:ln>
        </p:spPr>
      </p:sp>
      <p:sp>
        <p:nvSpPr>
          <p:cNvPr id="26" name="stn4"/>
          <p:cNvSpPr txBox="1"/>
          <p:nvPr/>
        </p:nvSpPr>
        <p:spPr>
          <a:xfrm>
            <a:off x="9154287" y="4160520"/>
            <a:ext cx="698602" cy="640080"/>
          </a:xfrm>
          <a:prstGeom prst="rect">
            <a:avLst/>
          </a:prstGeom>
          <a:noFill/>
          <a:ln/>
        </p:spPr>
        <p:txBody>
          <a:bodyPr wrap="square" lIns="0" tIns="0" rIns="0" bIns="0" rtlCol="0" anchor="t"/>
          <a:lstStyle/>
          <a:p>
            <a:pPr indent="0" marL="0">
              <a:buNone/>
            </a:pPr>
            <a:r>
              <a:rPr lang="fr-FR" altLang="en-US" sz="3000" b="1" dirty="0">
                <a:solidFill>
                  <a:srgbClr val="1B3F9E"/>
                </a:solidFill>
                <a:latin typeface="Calibri" pitchFamily="34" charset="0"/>
                <a:ea typeface="Calibri" pitchFamily="34" charset="-122"/>
                <a:cs typeface="Calibri" pitchFamily="34" charset="-120"/>
              </a:rPr>
              <a:t>5</a:t>
            </a:r>
            <a:endParaRPr lang="fr-FR" sz="3000" dirty="0"/>
          </a:p>
        </p:txBody>
      </p:sp>
      <p:sp>
        <p:nvSpPr>
          <p:cNvPr id="27" name="stt4"/>
          <p:cNvSpPr txBox="1"/>
          <p:nvPr/>
        </p:nvSpPr>
        <p:spPr>
          <a:xfrm>
            <a:off x="9154287" y="4846320"/>
            <a:ext cx="1921154" cy="6858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Paraphe</a:t>
            </a:r>
            <a:endParaRPr lang="fr-FR" sz="1700" dirty="0"/>
          </a:p>
          <a:p>
            <a:pPr indent="0" marL="0">
              <a:buNone/>
            </a:pPr>
            <a:r>
              <a:rPr lang="fr-FR" altLang="en-US" sz="1300" dirty="0">
                <a:solidFill>
                  <a:srgbClr val="56617C"/>
                </a:solidFill>
                <a:latin typeface="Calibri" pitchFamily="34" charset="0"/>
                <a:ea typeface="Calibri" pitchFamily="34" charset="-122"/>
                <a:cs typeface="Calibri" pitchFamily="34" charset="-120"/>
              </a:rPr>
              <a:t>Secrétaire Général</a:t>
            </a:r>
            <a:endParaRPr lang="fr-FR" sz="1700" dirty="0"/>
          </a:p>
        </p:txBody>
      </p:sp>
      <p:sp>
        <p:nvSpPr>
          <p:cNvPr id="28" name="ar4"/>
          <p:cNvSpPr/>
          <p:nvPr/>
        </p:nvSpPr>
        <p:spPr>
          <a:xfrm rot="10800000">
            <a:off x="8455685" y="4681728"/>
            <a:ext cx="401696" cy="274320"/>
          </a:xfrm>
          <a:prstGeom prst="rightArrow">
            <a:avLst/>
          </a:prstGeom>
          <a:solidFill>
            <a:srgbClr val="B8C4DE"/>
          </a:solidFill>
          <a:ln w="12700">
            <a:solidFill>
              <a:srgbClr val="B8C4DE"/>
            </a:solidFill>
            <a:prstDash val="solid"/>
          </a:ln>
        </p:spPr>
      </p:sp>
      <p:sp>
        <p:nvSpPr>
          <p:cNvPr id="29" name="st5"/>
          <p:cNvSpPr/>
          <p:nvPr/>
        </p:nvSpPr>
        <p:spPr>
          <a:xfrm>
            <a:off x="6185230" y="4023360"/>
            <a:ext cx="2270455" cy="1600200"/>
          </a:xfrm>
          <a:prstGeom prst="rect">
            <a:avLst/>
          </a:prstGeom>
          <a:solidFill>
            <a:srgbClr val="FFFFFF"/>
          </a:solidFill>
          <a:ln w="9525">
            <a:solidFill>
              <a:srgbClr val="D9DFEA"/>
            </a:solidFill>
            <a:prstDash val="solid"/>
          </a:ln>
        </p:spPr>
      </p:sp>
      <p:sp>
        <p:nvSpPr>
          <p:cNvPr id="30" name="st5b"/>
          <p:cNvSpPr/>
          <p:nvPr/>
        </p:nvSpPr>
        <p:spPr>
          <a:xfrm>
            <a:off x="6185230" y="4023360"/>
            <a:ext cx="52395" cy="1600200"/>
          </a:xfrm>
          <a:prstGeom prst="rect">
            <a:avLst/>
          </a:prstGeom>
          <a:solidFill>
            <a:srgbClr val="9A6A00"/>
          </a:solidFill>
          <a:ln w="12700">
            <a:solidFill>
              <a:srgbClr val="9A6A00"/>
            </a:solidFill>
            <a:prstDash val="solid"/>
          </a:ln>
        </p:spPr>
      </p:sp>
      <p:sp>
        <p:nvSpPr>
          <p:cNvPr id="31" name="stn5"/>
          <p:cNvSpPr txBox="1"/>
          <p:nvPr/>
        </p:nvSpPr>
        <p:spPr>
          <a:xfrm>
            <a:off x="6447206" y="4160520"/>
            <a:ext cx="698602" cy="640080"/>
          </a:xfrm>
          <a:prstGeom prst="rect">
            <a:avLst/>
          </a:prstGeom>
          <a:noFill/>
          <a:ln/>
        </p:spPr>
        <p:txBody>
          <a:bodyPr wrap="square" lIns="0" tIns="0" rIns="0" bIns="0" rtlCol="0" anchor="t"/>
          <a:lstStyle/>
          <a:p>
            <a:pPr indent="0" marL="0">
              <a:buNone/>
            </a:pPr>
            <a:r>
              <a:rPr lang="fr-FR" altLang="en-US" sz="3000" b="1" dirty="0">
                <a:solidFill>
                  <a:srgbClr val="9A6A00"/>
                </a:solidFill>
                <a:latin typeface="Calibri" pitchFamily="34" charset="0"/>
                <a:ea typeface="Calibri" pitchFamily="34" charset="-122"/>
                <a:cs typeface="Calibri" pitchFamily="34" charset="-120"/>
              </a:rPr>
              <a:t>6</a:t>
            </a:r>
            <a:endParaRPr lang="fr-FR" sz="3000" dirty="0"/>
          </a:p>
        </p:txBody>
      </p:sp>
      <p:sp>
        <p:nvSpPr>
          <p:cNvPr id="32" name="stt5"/>
          <p:cNvSpPr txBox="1"/>
          <p:nvPr/>
        </p:nvSpPr>
        <p:spPr>
          <a:xfrm>
            <a:off x="6447206" y="4846320"/>
            <a:ext cx="1921154" cy="6858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Instructions</a:t>
            </a:r>
            <a:endParaRPr lang="fr-FR" sz="1700" dirty="0"/>
          </a:p>
          <a:p>
            <a:pPr indent="0" marL="0">
              <a:buNone/>
            </a:pPr>
            <a:r>
              <a:rPr lang="fr-FR" altLang="en-US" sz="1300" dirty="0">
                <a:solidFill>
                  <a:srgbClr val="56617C"/>
                </a:solidFill>
                <a:latin typeface="Calibri" pitchFamily="34" charset="0"/>
                <a:ea typeface="Calibri" pitchFamily="34" charset="-122"/>
                <a:cs typeface="Calibri" pitchFamily="34" charset="-120"/>
              </a:rPr>
              <a:t>Le Maire</a:t>
            </a:r>
            <a:endParaRPr lang="fr-FR" sz="1700" dirty="0"/>
          </a:p>
        </p:txBody>
      </p:sp>
      <p:sp>
        <p:nvSpPr>
          <p:cNvPr id="33" name="ar5"/>
          <p:cNvSpPr/>
          <p:nvPr/>
        </p:nvSpPr>
        <p:spPr>
          <a:xfrm rot="10800000">
            <a:off x="5748604" y="4681728"/>
            <a:ext cx="401696" cy="274320"/>
          </a:xfrm>
          <a:prstGeom prst="rightArrow">
            <a:avLst/>
          </a:prstGeom>
          <a:solidFill>
            <a:srgbClr val="B8C4DE"/>
          </a:solidFill>
          <a:ln w="12700">
            <a:solidFill>
              <a:srgbClr val="B8C4DE"/>
            </a:solidFill>
            <a:prstDash val="solid"/>
          </a:ln>
        </p:spPr>
      </p:sp>
      <p:sp>
        <p:nvSpPr>
          <p:cNvPr id="34" name="st6"/>
          <p:cNvSpPr/>
          <p:nvPr/>
        </p:nvSpPr>
        <p:spPr>
          <a:xfrm>
            <a:off x="3478149" y="4023360"/>
            <a:ext cx="2270455" cy="1600200"/>
          </a:xfrm>
          <a:prstGeom prst="rect">
            <a:avLst/>
          </a:prstGeom>
          <a:solidFill>
            <a:srgbClr val="FFFFFF"/>
          </a:solidFill>
          <a:ln w="9525">
            <a:solidFill>
              <a:srgbClr val="D9DFEA"/>
            </a:solidFill>
            <a:prstDash val="solid"/>
          </a:ln>
        </p:spPr>
      </p:sp>
      <p:sp>
        <p:nvSpPr>
          <p:cNvPr id="35" name="st6b"/>
          <p:cNvSpPr/>
          <p:nvPr/>
        </p:nvSpPr>
        <p:spPr>
          <a:xfrm>
            <a:off x="3478149" y="4023360"/>
            <a:ext cx="52395" cy="1600200"/>
          </a:xfrm>
          <a:prstGeom prst="rect">
            <a:avLst/>
          </a:prstGeom>
          <a:solidFill>
            <a:srgbClr val="00923A"/>
          </a:solidFill>
          <a:ln w="12700">
            <a:solidFill>
              <a:srgbClr val="00923A"/>
            </a:solidFill>
            <a:prstDash val="solid"/>
          </a:ln>
        </p:spPr>
      </p:sp>
      <p:sp>
        <p:nvSpPr>
          <p:cNvPr id="36" name="stn6"/>
          <p:cNvSpPr txBox="1"/>
          <p:nvPr/>
        </p:nvSpPr>
        <p:spPr>
          <a:xfrm>
            <a:off x="3740125" y="4160520"/>
            <a:ext cx="698602" cy="640080"/>
          </a:xfrm>
          <a:prstGeom prst="rect">
            <a:avLst/>
          </a:prstGeom>
          <a:noFill/>
          <a:ln/>
        </p:spPr>
        <p:txBody>
          <a:bodyPr wrap="square" lIns="0" tIns="0" rIns="0" bIns="0" rtlCol="0" anchor="t"/>
          <a:lstStyle/>
          <a:p>
            <a:pPr indent="0" marL="0">
              <a:buNone/>
            </a:pPr>
            <a:r>
              <a:rPr lang="fr-FR" altLang="en-US" sz="3000" b="1" dirty="0">
                <a:solidFill>
                  <a:srgbClr val="00923A"/>
                </a:solidFill>
                <a:latin typeface="Calibri" pitchFamily="34" charset="0"/>
                <a:ea typeface="Calibri" pitchFamily="34" charset="-122"/>
                <a:cs typeface="Calibri" pitchFamily="34" charset="-120"/>
              </a:rPr>
              <a:t>7</a:t>
            </a:r>
            <a:endParaRPr lang="fr-FR" sz="3000" dirty="0"/>
          </a:p>
        </p:txBody>
      </p:sp>
      <p:sp>
        <p:nvSpPr>
          <p:cNvPr id="37" name="stt6"/>
          <p:cNvSpPr txBox="1"/>
          <p:nvPr/>
        </p:nvSpPr>
        <p:spPr>
          <a:xfrm>
            <a:off x="3740125" y="4846320"/>
            <a:ext cx="1921154" cy="6858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Transmission</a:t>
            </a:r>
            <a:endParaRPr lang="fr-FR" sz="1700" dirty="0"/>
          </a:p>
          <a:p>
            <a:pPr indent="0" marL="0">
              <a:buNone/>
            </a:pPr>
            <a:r>
              <a:rPr lang="fr-FR" altLang="en-US" sz="1300" dirty="0">
                <a:solidFill>
                  <a:srgbClr val="56617C"/>
                </a:solidFill>
                <a:latin typeface="Calibri" pitchFamily="34" charset="0"/>
                <a:ea typeface="Calibri" pitchFamily="34" charset="-122"/>
                <a:cs typeface="Calibri" pitchFamily="34" charset="-120"/>
              </a:rPr>
              <a:t>Vers la direction</a:t>
            </a:r>
            <a:endParaRPr lang="fr-FR" sz="1700" dirty="0"/>
          </a:p>
        </p:txBody>
      </p:sp>
      <p:sp>
        <p:nvSpPr>
          <p:cNvPr id="38" name="ar6"/>
          <p:cNvSpPr/>
          <p:nvPr/>
        </p:nvSpPr>
        <p:spPr>
          <a:xfrm rot="10800000">
            <a:off x="3041523" y="4681728"/>
            <a:ext cx="401696" cy="274320"/>
          </a:xfrm>
          <a:prstGeom prst="rightArrow">
            <a:avLst/>
          </a:prstGeom>
          <a:solidFill>
            <a:srgbClr val="B8C4DE"/>
          </a:solidFill>
          <a:ln w="12700">
            <a:solidFill>
              <a:srgbClr val="B8C4DE"/>
            </a:solidFill>
            <a:prstDash val="solid"/>
          </a:ln>
        </p:spPr>
      </p:sp>
      <p:sp>
        <p:nvSpPr>
          <p:cNvPr id="39" name="st7"/>
          <p:cNvSpPr/>
          <p:nvPr/>
        </p:nvSpPr>
        <p:spPr>
          <a:xfrm>
            <a:off x="771068" y="4023360"/>
            <a:ext cx="2270455" cy="1600200"/>
          </a:xfrm>
          <a:prstGeom prst="rect">
            <a:avLst/>
          </a:prstGeom>
          <a:solidFill>
            <a:srgbClr val="FFFFFF"/>
          </a:solidFill>
          <a:ln w="9525">
            <a:solidFill>
              <a:srgbClr val="D9DFEA"/>
            </a:solidFill>
            <a:prstDash val="solid"/>
          </a:ln>
        </p:spPr>
      </p:sp>
      <p:sp>
        <p:nvSpPr>
          <p:cNvPr id="40" name="st7b"/>
          <p:cNvSpPr/>
          <p:nvPr/>
        </p:nvSpPr>
        <p:spPr>
          <a:xfrm>
            <a:off x="771068" y="4023360"/>
            <a:ext cx="52395" cy="1600200"/>
          </a:xfrm>
          <a:prstGeom prst="rect">
            <a:avLst/>
          </a:prstGeom>
          <a:solidFill>
            <a:srgbClr val="1B3F9E"/>
          </a:solidFill>
          <a:ln w="12700">
            <a:solidFill>
              <a:srgbClr val="1B3F9E"/>
            </a:solidFill>
            <a:prstDash val="solid"/>
          </a:ln>
        </p:spPr>
      </p:sp>
      <p:sp>
        <p:nvSpPr>
          <p:cNvPr id="41" name="stn7"/>
          <p:cNvSpPr txBox="1"/>
          <p:nvPr/>
        </p:nvSpPr>
        <p:spPr>
          <a:xfrm>
            <a:off x="1033043" y="4160520"/>
            <a:ext cx="698602" cy="640080"/>
          </a:xfrm>
          <a:prstGeom prst="rect">
            <a:avLst/>
          </a:prstGeom>
          <a:noFill/>
          <a:ln/>
        </p:spPr>
        <p:txBody>
          <a:bodyPr wrap="square" lIns="0" tIns="0" rIns="0" bIns="0" rtlCol="0" anchor="t"/>
          <a:lstStyle/>
          <a:p>
            <a:pPr indent="0" marL="0">
              <a:buNone/>
            </a:pPr>
            <a:r>
              <a:rPr lang="fr-FR" altLang="en-US" sz="3000" b="1" dirty="0">
                <a:solidFill>
                  <a:srgbClr val="1B3F9E"/>
                </a:solidFill>
                <a:latin typeface="Calibri" pitchFamily="34" charset="0"/>
                <a:ea typeface="Calibri" pitchFamily="34" charset="-122"/>
                <a:cs typeface="Calibri" pitchFamily="34" charset="-120"/>
              </a:rPr>
              <a:t>8</a:t>
            </a:r>
            <a:endParaRPr lang="fr-FR" sz="3000" dirty="0"/>
          </a:p>
        </p:txBody>
      </p:sp>
      <p:sp>
        <p:nvSpPr>
          <p:cNvPr id="42" name="stt7"/>
          <p:cNvSpPr txBox="1"/>
          <p:nvPr/>
        </p:nvSpPr>
        <p:spPr>
          <a:xfrm>
            <a:off x="1033043" y="4846320"/>
            <a:ext cx="1921154" cy="6858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Traitement</a:t>
            </a:r>
            <a:endParaRPr lang="fr-FR" sz="1700" dirty="0"/>
          </a:p>
          <a:p>
            <a:pPr indent="0" marL="0">
              <a:buNone/>
            </a:pPr>
            <a:r>
              <a:rPr lang="fr-FR" altLang="en-US" sz="1300" dirty="0">
                <a:solidFill>
                  <a:srgbClr val="56617C"/>
                </a:solidFill>
                <a:latin typeface="Calibri" pitchFamily="34" charset="0"/>
                <a:ea typeface="Calibri" pitchFamily="34" charset="-122"/>
                <a:cs typeface="Calibri" pitchFamily="34" charset="-120"/>
              </a:rPr>
              <a:t>Puis classement</a:t>
            </a:r>
            <a:endParaRPr lang="fr-FR" sz="1700" dirty="0"/>
          </a:p>
        </p:txBody>
      </p:sp>
      <p:sp>
        <p:nvSpPr>
          <p:cNvPr id="43" name="ardown"/>
          <p:cNvSpPr/>
          <p:nvPr/>
        </p:nvSpPr>
        <p:spPr>
          <a:xfrm>
            <a:off x="9136822" y="3566160"/>
            <a:ext cx="279441" cy="411480"/>
          </a:xfrm>
          <a:prstGeom prst="downArrow">
            <a:avLst/>
          </a:prstGeom>
          <a:solidFill>
            <a:srgbClr val="B8C4DE"/>
          </a:solidFill>
          <a:ln w="12700">
            <a:solidFill>
              <a:srgbClr val="B8C4DE"/>
            </a:solidFill>
            <a:prstDash val="solid"/>
          </a:ln>
        </p:spPr>
      </p:sp>
      <p:pic>
        <p:nvPicPr>
          <p:cNvPr id="44"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45"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46"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10 / 21</a:t>
            </a:r>
            <a:endParaRPr lang="fr-FR" sz="1000" dirty="0"/>
          </a:p>
        </p:txBody>
      </p:sp>
      <p:sp>
        <p:nvSpPr>
          <p:cNvPr id="47" name="!!band1"/>
          <p:cNvSpPr/>
          <p:nvPr/>
        </p:nvSpPr>
        <p:spPr>
          <a:xfrm>
            <a:off x="0" y="0"/>
            <a:ext cx="4873752" cy="64008"/>
          </a:xfrm>
          <a:prstGeom prst="rect">
            <a:avLst/>
          </a:prstGeom>
          <a:solidFill>
            <a:srgbClr val="1B3F9E"/>
          </a:solidFill>
          <a:ln w="12700">
            <a:solidFill>
              <a:srgbClr val="1B3F9E"/>
            </a:solidFill>
            <a:prstDash val="solid"/>
          </a:ln>
        </p:spPr>
      </p:sp>
      <p:sp>
        <p:nvSpPr>
          <p:cNvPr id="48" name="!!band2"/>
          <p:cNvSpPr/>
          <p:nvPr/>
        </p:nvSpPr>
        <p:spPr>
          <a:xfrm>
            <a:off x="4873752" y="0"/>
            <a:ext cx="4270248" cy="64008"/>
          </a:xfrm>
          <a:prstGeom prst="rect">
            <a:avLst/>
          </a:prstGeom>
          <a:solidFill>
            <a:srgbClr val="00923A"/>
          </a:solidFill>
          <a:ln w="12700">
            <a:solidFill>
              <a:srgbClr val="00923A"/>
            </a:solidFill>
            <a:prstDash val="solid"/>
          </a:ln>
        </p:spPr>
      </p:sp>
      <p:sp>
        <p:nvSpPr>
          <p:cNvPr id="49" name="!!band3"/>
          <p:cNvSpPr/>
          <p:nvPr/>
        </p:nvSpPr>
        <p:spPr>
          <a:xfrm>
            <a:off x="9144000" y="0"/>
            <a:ext cx="3047695" cy="64008"/>
          </a:xfrm>
          <a:prstGeom prst="rect">
            <a:avLst/>
          </a:prstGeom>
          <a:solidFill>
            <a:srgbClr val="FCC600"/>
          </a:solidFill>
          <a:ln w="12700">
            <a:solidFill>
              <a:srgbClr val="FCC600"/>
            </a:solidFill>
            <a:prstDash val="solid"/>
          </a:ln>
        </p:spPr>
      </p:sp>
      <p:sp>
        <p:nvSpPr>
          <p:cNvPr id="50" name="!!railline"/>
          <p:cNvSpPr/>
          <p:nvPr/>
        </p:nvSpPr>
        <p:spPr>
          <a:xfrm>
            <a:off x="11795760" y="1600200"/>
            <a:ext cx="914" cy="3383280"/>
          </a:xfrm>
          <a:prstGeom prst="line">
            <a:avLst/>
          </a:prstGeom>
          <a:noFill/>
          <a:ln w="19050">
            <a:solidFill>
              <a:srgbClr val="D9DFEA"/>
            </a:solidFill>
            <a:prstDash val="solid"/>
          </a:ln>
        </p:spPr>
      </p:sp>
      <p:sp>
        <p:nvSpPr>
          <p:cNvPr id="51" name="!!railprog"/>
          <p:cNvSpPr/>
          <p:nvPr/>
        </p:nvSpPr>
        <p:spPr>
          <a:xfrm>
            <a:off x="11795760" y="1600200"/>
            <a:ext cx="914" cy="676656"/>
          </a:xfrm>
          <a:prstGeom prst="line">
            <a:avLst/>
          </a:prstGeom>
          <a:noFill/>
          <a:ln w="31750">
            <a:solidFill>
              <a:srgbClr val="00923A"/>
            </a:solidFill>
            <a:prstDash val="solid"/>
          </a:ln>
        </p:spPr>
      </p:sp>
      <p:sp>
        <p:nvSpPr>
          <p:cNvPr id="52"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53"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4" name="!!m2"/>
          <p:cNvSpPr/>
          <p:nvPr/>
        </p:nvSpPr>
        <p:spPr>
          <a:xfrm>
            <a:off x="11603736" y="2084832"/>
            <a:ext cx="384048" cy="384048"/>
          </a:xfrm>
          <a:prstGeom prst="ellipse">
            <a:avLst/>
          </a:prstGeom>
          <a:solidFill>
            <a:srgbClr val="1B3F9E"/>
          </a:solidFill>
          <a:ln w="15875">
            <a:solidFill>
              <a:srgbClr val="1B3F9E"/>
            </a:solidFill>
            <a:prstDash val="solid"/>
          </a:ln>
        </p:spPr>
      </p:sp>
      <p:sp>
        <p:nvSpPr>
          <p:cNvPr id="55" name="!!mt2"/>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56" name="!!m3"/>
          <p:cNvSpPr/>
          <p:nvPr/>
        </p:nvSpPr>
        <p:spPr>
          <a:xfrm>
            <a:off x="11603736" y="2761488"/>
            <a:ext cx="384048" cy="384048"/>
          </a:xfrm>
          <a:prstGeom prst="ellipse">
            <a:avLst/>
          </a:prstGeom>
          <a:solidFill>
            <a:srgbClr val="FFFFFF"/>
          </a:solidFill>
          <a:ln w="15875">
            <a:solidFill>
              <a:srgbClr val="BFC8DA"/>
            </a:solidFill>
            <a:prstDash val="solid"/>
          </a:ln>
        </p:spPr>
      </p:sp>
      <p:sp>
        <p:nvSpPr>
          <p:cNvPr id="57" name="!!mt3">
            <a:hlinkClick r:id="rId3"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3</a:t>
            </a:r>
            <a:endParaRPr lang="en-US" sz="1200" dirty="0"/>
          </a:p>
        </p:txBody>
      </p:sp>
      <p:sp>
        <p:nvSpPr>
          <p:cNvPr id="58"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59" name="!!mt4">
            <a:hlinkClick r:id="rId4"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60"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61" name="!!mt5">
            <a:hlinkClick r:id="rId5"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62"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63" name="!!mt6">
            <a:hlinkClick r:id="rId6"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64"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Travaux effectués</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grpId="0" nodeType="withEffect">
                                  <p:stCondLst>
                                    <p:cond delay="25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22" presetClass="entr" presetSubtype="4" fill="hold" grpId="0" nodeType="withEffect">
                                  <p:stCondLst>
                                    <p:cond delay="25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900"/>
                                        <p:tgtEl>
                                          <p:spTgt spid="6"/>
                                        </p:tgtEl>
                                      </p:cBhvr>
                                    </p:animEffect>
                                  </p:childTnLst>
                                </p:cTn>
                              </p:par>
                              <p:par>
                                <p:cTn id="23" presetID="22" presetClass="entr" presetSubtype="8" fill="hold" grpId="0" nodeType="withEffect">
                                  <p:stCondLst>
                                    <p:cond delay="45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600"/>
                                        <p:tgtEl>
                                          <p:spTgt spid="9"/>
                                        </p:tgtEl>
                                      </p:cBhvr>
                                    </p:animEffect>
                                  </p:childTnLst>
                                </p:cTn>
                              </p:par>
                              <p:par>
                                <p:cTn id="26" presetID="10" presetClass="entr" presetSubtype="0" fill="hold" grpId="0" nodeType="withEffect">
                                  <p:stCondLst>
                                    <p:cond delay="58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00"/>
                                        <p:tgtEl>
                                          <p:spTgt spid="10"/>
                                        </p:tgtEl>
                                      </p:cBhvr>
                                    </p:animEffect>
                                  </p:childTnLst>
                                </p:cTn>
                              </p:par>
                              <p:par>
                                <p:cTn id="29" presetID="10" presetClass="entr" presetSubtype="0" fill="hold" grpId="0" nodeType="withEffect">
                                  <p:stCondLst>
                                    <p:cond delay="58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2" presetID="10" presetClass="entr" presetSubtype="0" fill="hold" grpId="0" nodeType="withEffect">
                                  <p:stCondLst>
                                    <p:cond delay="58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35" presetID="22" presetClass="entr" presetSubtype="4" fill="hold" grpId="0" nodeType="withEffect">
                                  <p:stCondLst>
                                    <p:cond delay="580"/>
                                  </p:stCondLst>
                                  <p:childTnLst>
                                    <p:set>
                                      <p:cBhvr>
                                        <p:cTn id="36" dur="1" fill="hold">
                                          <p:stCondLst>
                                            <p:cond delay="0"/>
                                          </p:stCondLst>
                                        </p:cTn>
                                        <p:tgtEl>
                                          <p:spTgt spid="11"/>
                                        </p:tgtEl>
                                        <p:attrNameLst>
                                          <p:attrName>style.visibility</p:attrName>
                                        </p:attrNameLst>
                                      </p:cBhvr>
                                      <p:to>
                                        <p:strVal val="visible"/>
                                      </p:to>
                                    </p:set>
                                    <p:animEffect transition="in" filter="wipe(up)">
                                      <p:cBhvr>
                                        <p:cTn id="37" dur="900"/>
                                        <p:tgtEl>
                                          <p:spTgt spid="11"/>
                                        </p:tgtEl>
                                      </p:cBhvr>
                                    </p:animEffect>
                                  </p:childTnLst>
                                </p:cTn>
                              </p:par>
                              <p:par>
                                <p:cTn id="38" presetID="22" presetClass="entr" presetSubtype="8" fill="hold" grpId="0" nodeType="withEffect">
                                  <p:stCondLst>
                                    <p:cond delay="78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600"/>
                                        <p:tgtEl>
                                          <p:spTgt spid="14"/>
                                        </p:tgtEl>
                                      </p:cBhvr>
                                    </p:animEffect>
                                  </p:childTnLst>
                                </p:cTn>
                              </p:par>
                              <p:par>
                                <p:cTn id="41" presetID="10" presetClass="entr" presetSubtype="0" fill="hold" grpId="0" nodeType="withEffect">
                                  <p:stCondLst>
                                    <p:cond delay="91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600"/>
                                        <p:tgtEl>
                                          <p:spTgt spid="15"/>
                                        </p:tgtEl>
                                      </p:cBhvr>
                                    </p:animEffect>
                                  </p:childTnLst>
                                </p:cTn>
                              </p:par>
                              <p:par>
                                <p:cTn id="44" presetID="10" presetClass="entr" presetSubtype="0" fill="hold" grpId="0" nodeType="withEffect">
                                  <p:stCondLst>
                                    <p:cond delay="91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600"/>
                                        <p:tgtEl>
                                          <p:spTgt spid="17"/>
                                        </p:tgtEl>
                                      </p:cBhvr>
                                    </p:animEffect>
                                  </p:childTnLst>
                                </p:cTn>
                              </p:par>
                              <p:par>
                                <p:cTn id="47" presetID="10" presetClass="entr" presetSubtype="0" fill="hold" grpId="0" nodeType="withEffect">
                                  <p:stCondLst>
                                    <p:cond delay="91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600"/>
                                        <p:tgtEl>
                                          <p:spTgt spid="18"/>
                                        </p:tgtEl>
                                      </p:cBhvr>
                                    </p:animEffect>
                                  </p:childTnLst>
                                </p:cTn>
                              </p:par>
                              <p:par>
                                <p:cTn id="50" presetID="22" presetClass="entr" presetSubtype="4" fill="hold" grpId="0" nodeType="withEffect">
                                  <p:stCondLst>
                                    <p:cond delay="910"/>
                                  </p:stCondLst>
                                  <p:childTnLst>
                                    <p:set>
                                      <p:cBhvr>
                                        <p:cTn id="51" dur="1" fill="hold">
                                          <p:stCondLst>
                                            <p:cond delay="0"/>
                                          </p:stCondLst>
                                        </p:cTn>
                                        <p:tgtEl>
                                          <p:spTgt spid="16"/>
                                        </p:tgtEl>
                                        <p:attrNameLst>
                                          <p:attrName>style.visibility</p:attrName>
                                        </p:attrNameLst>
                                      </p:cBhvr>
                                      <p:to>
                                        <p:strVal val="visible"/>
                                      </p:to>
                                    </p:set>
                                    <p:animEffect transition="in" filter="wipe(up)">
                                      <p:cBhvr>
                                        <p:cTn id="52" dur="900"/>
                                        <p:tgtEl>
                                          <p:spTgt spid="16"/>
                                        </p:tgtEl>
                                      </p:cBhvr>
                                    </p:animEffect>
                                  </p:childTnLst>
                                </p:cTn>
                              </p:par>
                              <p:par>
                                <p:cTn id="53" presetID="22" presetClass="entr" presetSubtype="8" fill="hold" grpId="0" nodeType="withEffect">
                                  <p:stCondLst>
                                    <p:cond delay="1110"/>
                                  </p:stCondLst>
                                  <p:childTnLst>
                                    <p:set>
                                      <p:cBhvr>
                                        <p:cTn id="54" dur="1" fill="hold">
                                          <p:stCondLst>
                                            <p:cond delay="0"/>
                                          </p:stCondLst>
                                        </p:cTn>
                                        <p:tgtEl>
                                          <p:spTgt spid="19"/>
                                        </p:tgtEl>
                                        <p:attrNameLst>
                                          <p:attrName>style.visibility</p:attrName>
                                        </p:attrNameLst>
                                      </p:cBhvr>
                                      <p:to>
                                        <p:strVal val="visible"/>
                                      </p:to>
                                    </p:set>
                                    <p:animEffect transition="in" filter="wipe(left)">
                                      <p:cBhvr>
                                        <p:cTn id="55" dur="600"/>
                                        <p:tgtEl>
                                          <p:spTgt spid="19"/>
                                        </p:tgtEl>
                                      </p:cBhvr>
                                    </p:animEffect>
                                  </p:childTnLst>
                                </p:cTn>
                              </p:par>
                              <p:par>
                                <p:cTn id="56" presetID="10" presetClass="entr" presetSubtype="0" fill="hold" grpId="0" nodeType="withEffect">
                                  <p:stCondLst>
                                    <p:cond delay="124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600"/>
                                        <p:tgtEl>
                                          <p:spTgt spid="20"/>
                                        </p:tgtEl>
                                      </p:cBhvr>
                                    </p:animEffect>
                                  </p:childTnLst>
                                </p:cTn>
                              </p:par>
                              <p:par>
                                <p:cTn id="59" presetID="10" presetClass="entr" presetSubtype="0" fill="hold" grpId="0" nodeType="withEffect">
                                  <p:stCondLst>
                                    <p:cond delay="124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600"/>
                                        <p:tgtEl>
                                          <p:spTgt spid="22"/>
                                        </p:tgtEl>
                                      </p:cBhvr>
                                    </p:animEffect>
                                  </p:childTnLst>
                                </p:cTn>
                              </p:par>
                              <p:par>
                                <p:cTn id="62" presetID="10" presetClass="entr" presetSubtype="0" fill="hold" grpId="0" nodeType="withEffect">
                                  <p:stCondLst>
                                    <p:cond delay="124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600"/>
                                        <p:tgtEl>
                                          <p:spTgt spid="23"/>
                                        </p:tgtEl>
                                      </p:cBhvr>
                                    </p:animEffect>
                                  </p:childTnLst>
                                </p:cTn>
                              </p:par>
                              <p:par>
                                <p:cTn id="65" presetID="22" presetClass="entr" presetSubtype="4" fill="hold" grpId="0" nodeType="withEffect">
                                  <p:stCondLst>
                                    <p:cond delay="1240"/>
                                  </p:stCondLst>
                                  <p:childTnLst>
                                    <p:set>
                                      <p:cBhvr>
                                        <p:cTn id="66" dur="1" fill="hold">
                                          <p:stCondLst>
                                            <p:cond delay="0"/>
                                          </p:stCondLst>
                                        </p:cTn>
                                        <p:tgtEl>
                                          <p:spTgt spid="21"/>
                                        </p:tgtEl>
                                        <p:attrNameLst>
                                          <p:attrName>style.visibility</p:attrName>
                                        </p:attrNameLst>
                                      </p:cBhvr>
                                      <p:to>
                                        <p:strVal val="visible"/>
                                      </p:to>
                                    </p:set>
                                    <p:animEffect transition="in" filter="wipe(up)">
                                      <p:cBhvr>
                                        <p:cTn id="67" dur="900"/>
                                        <p:tgtEl>
                                          <p:spTgt spid="21"/>
                                        </p:tgtEl>
                                      </p:cBhvr>
                                    </p:animEffect>
                                  </p:childTnLst>
                                </p:cTn>
                              </p:par>
                              <p:par>
                                <p:cTn id="68" presetID="22" presetClass="entr" presetSubtype="8" fill="hold" grpId="0" nodeType="withEffect">
                                  <p:stCondLst>
                                    <p:cond delay="1440"/>
                                  </p:stCondLst>
                                  <p:childTnLst>
                                    <p:set>
                                      <p:cBhvr>
                                        <p:cTn id="69" dur="1" fill="hold">
                                          <p:stCondLst>
                                            <p:cond delay="0"/>
                                          </p:stCondLst>
                                        </p:cTn>
                                        <p:tgtEl>
                                          <p:spTgt spid="43"/>
                                        </p:tgtEl>
                                        <p:attrNameLst>
                                          <p:attrName>style.visibility</p:attrName>
                                        </p:attrNameLst>
                                      </p:cBhvr>
                                      <p:to>
                                        <p:strVal val="visible"/>
                                      </p:to>
                                    </p:set>
                                    <p:animEffect transition="in" filter="wipe(left)">
                                      <p:cBhvr>
                                        <p:cTn id="70" dur="600"/>
                                        <p:tgtEl>
                                          <p:spTgt spid="43"/>
                                        </p:tgtEl>
                                      </p:cBhvr>
                                    </p:animEffect>
                                  </p:childTnLst>
                                </p:cTn>
                              </p:par>
                              <p:par>
                                <p:cTn id="71" presetID="10" presetClass="entr" presetSubtype="0" fill="hold" grpId="0" nodeType="withEffect">
                                  <p:stCondLst>
                                    <p:cond delay="157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600"/>
                                        <p:tgtEl>
                                          <p:spTgt spid="24"/>
                                        </p:tgtEl>
                                      </p:cBhvr>
                                    </p:animEffect>
                                  </p:childTnLst>
                                </p:cTn>
                              </p:par>
                              <p:par>
                                <p:cTn id="74" presetID="10" presetClass="entr" presetSubtype="0" fill="hold" grpId="0" nodeType="withEffect">
                                  <p:stCondLst>
                                    <p:cond delay="157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600"/>
                                        <p:tgtEl>
                                          <p:spTgt spid="26"/>
                                        </p:tgtEl>
                                      </p:cBhvr>
                                    </p:animEffect>
                                  </p:childTnLst>
                                </p:cTn>
                              </p:par>
                              <p:par>
                                <p:cTn id="77" presetID="10" presetClass="entr" presetSubtype="0" fill="hold" grpId="0" nodeType="withEffect">
                                  <p:stCondLst>
                                    <p:cond delay="157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600"/>
                                        <p:tgtEl>
                                          <p:spTgt spid="27"/>
                                        </p:tgtEl>
                                      </p:cBhvr>
                                    </p:animEffect>
                                  </p:childTnLst>
                                </p:cTn>
                              </p:par>
                              <p:par>
                                <p:cTn id="80" presetID="22" presetClass="entr" presetSubtype="4" fill="hold" grpId="0" nodeType="withEffect">
                                  <p:stCondLst>
                                    <p:cond delay="1570"/>
                                  </p:stCondLst>
                                  <p:childTnLst>
                                    <p:set>
                                      <p:cBhvr>
                                        <p:cTn id="81" dur="1" fill="hold">
                                          <p:stCondLst>
                                            <p:cond delay="0"/>
                                          </p:stCondLst>
                                        </p:cTn>
                                        <p:tgtEl>
                                          <p:spTgt spid="25"/>
                                        </p:tgtEl>
                                        <p:attrNameLst>
                                          <p:attrName>style.visibility</p:attrName>
                                        </p:attrNameLst>
                                      </p:cBhvr>
                                      <p:to>
                                        <p:strVal val="visible"/>
                                      </p:to>
                                    </p:set>
                                    <p:animEffect transition="in" filter="wipe(up)">
                                      <p:cBhvr>
                                        <p:cTn id="82" dur="900"/>
                                        <p:tgtEl>
                                          <p:spTgt spid="25"/>
                                        </p:tgtEl>
                                      </p:cBhvr>
                                    </p:animEffect>
                                  </p:childTnLst>
                                </p:cTn>
                              </p:par>
                              <p:par>
                                <p:cTn id="83" presetID="22" presetClass="entr" presetSubtype="8" fill="hold" grpId="0" nodeType="withEffect">
                                  <p:stCondLst>
                                    <p:cond delay="1770"/>
                                  </p:stCondLst>
                                  <p:childTnLst>
                                    <p:set>
                                      <p:cBhvr>
                                        <p:cTn id="84" dur="1" fill="hold">
                                          <p:stCondLst>
                                            <p:cond delay="0"/>
                                          </p:stCondLst>
                                        </p:cTn>
                                        <p:tgtEl>
                                          <p:spTgt spid="28"/>
                                        </p:tgtEl>
                                        <p:attrNameLst>
                                          <p:attrName>style.visibility</p:attrName>
                                        </p:attrNameLst>
                                      </p:cBhvr>
                                      <p:to>
                                        <p:strVal val="visible"/>
                                      </p:to>
                                    </p:set>
                                    <p:animEffect transition="in" filter="wipe(left)">
                                      <p:cBhvr>
                                        <p:cTn id="85" dur="600"/>
                                        <p:tgtEl>
                                          <p:spTgt spid="28"/>
                                        </p:tgtEl>
                                      </p:cBhvr>
                                    </p:animEffect>
                                  </p:childTnLst>
                                </p:cTn>
                              </p:par>
                              <p:par>
                                <p:cTn id="86" presetID="10" presetClass="entr" presetSubtype="0" fill="hold" grpId="0" nodeType="withEffect">
                                  <p:stCondLst>
                                    <p:cond delay="190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600"/>
                                        <p:tgtEl>
                                          <p:spTgt spid="29"/>
                                        </p:tgtEl>
                                      </p:cBhvr>
                                    </p:animEffect>
                                  </p:childTnLst>
                                </p:cTn>
                              </p:par>
                              <p:par>
                                <p:cTn id="89" presetID="10" presetClass="entr" presetSubtype="0" fill="hold" grpId="0" nodeType="withEffect">
                                  <p:stCondLst>
                                    <p:cond delay="190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600"/>
                                        <p:tgtEl>
                                          <p:spTgt spid="31"/>
                                        </p:tgtEl>
                                      </p:cBhvr>
                                    </p:animEffect>
                                  </p:childTnLst>
                                </p:cTn>
                              </p:par>
                              <p:par>
                                <p:cTn id="92" presetID="10" presetClass="entr" presetSubtype="0" fill="hold" grpId="0" nodeType="withEffect">
                                  <p:stCondLst>
                                    <p:cond delay="190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600"/>
                                        <p:tgtEl>
                                          <p:spTgt spid="32"/>
                                        </p:tgtEl>
                                      </p:cBhvr>
                                    </p:animEffect>
                                  </p:childTnLst>
                                </p:cTn>
                              </p:par>
                              <p:par>
                                <p:cTn id="95" presetID="22" presetClass="entr" presetSubtype="4" fill="hold" grpId="0" nodeType="withEffect">
                                  <p:stCondLst>
                                    <p:cond delay="1900"/>
                                  </p:stCondLst>
                                  <p:childTnLst>
                                    <p:set>
                                      <p:cBhvr>
                                        <p:cTn id="96" dur="1" fill="hold">
                                          <p:stCondLst>
                                            <p:cond delay="0"/>
                                          </p:stCondLst>
                                        </p:cTn>
                                        <p:tgtEl>
                                          <p:spTgt spid="30"/>
                                        </p:tgtEl>
                                        <p:attrNameLst>
                                          <p:attrName>style.visibility</p:attrName>
                                        </p:attrNameLst>
                                      </p:cBhvr>
                                      <p:to>
                                        <p:strVal val="visible"/>
                                      </p:to>
                                    </p:set>
                                    <p:animEffect transition="in" filter="wipe(up)">
                                      <p:cBhvr>
                                        <p:cTn id="97" dur="900"/>
                                        <p:tgtEl>
                                          <p:spTgt spid="30"/>
                                        </p:tgtEl>
                                      </p:cBhvr>
                                    </p:animEffect>
                                  </p:childTnLst>
                                </p:cTn>
                              </p:par>
                              <p:par>
                                <p:cTn id="98" presetID="22" presetClass="entr" presetSubtype="8" fill="hold" grpId="0" nodeType="withEffect">
                                  <p:stCondLst>
                                    <p:cond delay="2100"/>
                                  </p:stCondLst>
                                  <p:childTnLst>
                                    <p:set>
                                      <p:cBhvr>
                                        <p:cTn id="99" dur="1" fill="hold">
                                          <p:stCondLst>
                                            <p:cond delay="0"/>
                                          </p:stCondLst>
                                        </p:cTn>
                                        <p:tgtEl>
                                          <p:spTgt spid="33"/>
                                        </p:tgtEl>
                                        <p:attrNameLst>
                                          <p:attrName>style.visibility</p:attrName>
                                        </p:attrNameLst>
                                      </p:cBhvr>
                                      <p:to>
                                        <p:strVal val="visible"/>
                                      </p:to>
                                    </p:set>
                                    <p:animEffect transition="in" filter="wipe(left)">
                                      <p:cBhvr>
                                        <p:cTn id="100" dur="600"/>
                                        <p:tgtEl>
                                          <p:spTgt spid="33"/>
                                        </p:tgtEl>
                                      </p:cBhvr>
                                    </p:animEffect>
                                  </p:childTnLst>
                                </p:cTn>
                              </p:par>
                              <p:par>
                                <p:cTn id="101" presetID="10" presetClass="entr" presetSubtype="0" fill="hold" grpId="0" nodeType="withEffect">
                                  <p:stCondLst>
                                    <p:cond delay="22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600"/>
                                        <p:tgtEl>
                                          <p:spTgt spid="34"/>
                                        </p:tgtEl>
                                      </p:cBhvr>
                                    </p:animEffect>
                                  </p:childTnLst>
                                </p:cTn>
                              </p:par>
                              <p:par>
                                <p:cTn id="104" presetID="10" presetClass="entr" presetSubtype="0" fill="hold" grpId="0" nodeType="withEffect">
                                  <p:stCondLst>
                                    <p:cond delay="223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600"/>
                                        <p:tgtEl>
                                          <p:spTgt spid="36"/>
                                        </p:tgtEl>
                                      </p:cBhvr>
                                    </p:animEffect>
                                  </p:childTnLst>
                                </p:cTn>
                              </p:par>
                              <p:par>
                                <p:cTn id="107" presetID="10" presetClass="entr" presetSubtype="0" fill="hold" grpId="0" nodeType="withEffect">
                                  <p:stCondLst>
                                    <p:cond delay="223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600"/>
                                        <p:tgtEl>
                                          <p:spTgt spid="37"/>
                                        </p:tgtEl>
                                      </p:cBhvr>
                                    </p:animEffect>
                                  </p:childTnLst>
                                </p:cTn>
                              </p:par>
                              <p:par>
                                <p:cTn id="110" presetID="22" presetClass="entr" presetSubtype="4" fill="hold" grpId="0" nodeType="withEffect">
                                  <p:stCondLst>
                                    <p:cond delay="2230"/>
                                  </p:stCondLst>
                                  <p:childTnLst>
                                    <p:set>
                                      <p:cBhvr>
                                        <p:cTn id="111" dur="1" fill="hold">
                                          <p:stCondLst>
                                            <p:cond delay="0"/>
                                          </p:stCondLst>
                                        </p:cTn>
                                        <p:tgtEl>
                                          <p:spTgt spid="35"/>
                                        </p:tgtEl>
                                        <p:attrNameLst>
                                          <p:attrName>style.visibility</p:attrName>
                                        </p:attrNameLst>
                                      </p:cBhvr>
                                      <p:to>
                                        <p:strVal val="visible"/>
                                      </p:to>
                                    </p:set>
                                    <p:animEffect transition="in" filter="wipe(up)">
                                      <p:cBhvr>
                                        <p:cTn id="112" dur="900"/>
                                        <p:tgtEl>
                                          <p:spTgt spid="35"/>
                                        </p:tgtEl>
                                      </p:cBhvr>
                                    </p:animEffect>
                                  </p:childTnLst>
                                </p:cTn>
                              </p:par>
                              <p:par>
                                <p:cTn id="113" presetID="22" presetClass="entr" presetSubtype="8" fill="hold" grpId="0" nodeType="withEffect">
                                  <p:stCondLst>
                                    <p:cond delay="2430"/>
                                  </p:stCondLst>
                                  <p:childTnLst>
                                    <p:set>
                                      <p:cBhvr>
                                        <p:cTn id="114" dur="1" fill="hold">
                                          <p:stCondLst>
                                            <p:cond delay="0"/>
                                          </p:stCondLst>
                                        </p:cTn>
                                        <p:tgtEl>
                                          <p:spTgt spid="38"/>
                                        </p:tgtEl>
                                        <p:attrNameLst>
                                          <p:attrName>style.visibility</p:attrName>
                                        </p:attrNameLst>
                                      </p:cBhvr>
                                      <p:to>
                                        <p:strVal val="visible"/>
                                      </p:to>
                                    </p:set>
                                    <p:animEffect transition="in" filter="wipe(left)">
                                      <p:cBhvr>
                                        <p:cTn id="115" dur="600"/>
                                        <p:tgtEl>
                                          <p:spTgt spid="38"/>
                                        </p:tgtEl>
                                      </p:cBhvr>
                                    </p:animEffect>
                                  </p:childTnLst>
                                </p:cTn>
                              </p:par>
                              <p:par>
                                <p:cTn id="116" presetID="10" presetClass="entr" presetSubtype="0" fill="hold" grpId="0" nodeType="withEffect">
                                  <p:stCondLst>
                                    <p:cond delay="256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600"/>
                                        <p:tgtEl>
                                          <p:spTgt spid="39"/>
                                        </p:tgtEl>
                                      </p:cBhvr>
                                    </p:animEffect>
                                  </p:childTnLst>
                                </p:cTn>
                              </p:par>
                              <p:par>
                                <p:cTn id="119" presetID="10" presetClass="entr" presetSubtype="0" fill="hold" grpId="0" nodeType="withEffect">
                                  <p:stCondLst>
                                    <p:cond delay="2560"/>
                                  </p:stCondLst>
                                  <p:childTnLst>
                                    <p:set>
                                      <p:cBhvr>
                                        <p:cTn id="120" dur="1" fill="hold">
                                          <p:stCondLst>
                                            <p:cond delay="0"/>
                                          </p:stCondLst>
                                        </p:cTn>
                                        <p:tgtEl>
                                          <p:spTgt spid="41"/>
                                        </p:tgtEl>
                                        <p:attrNameLst>
                                          <p:attrName>style.visibility</p:attrName>
                                        </p:attrNameLst>
                                      </p:cBhvr>
                                      <p:to>
                                        <p:strVal val="visible"/>
                                      </p:to>
                                    </p:set>
                                    <p:animEffect transition="in" filter="fade">
                                      <p:cBhvr>
                                        <p:cTn id="121" dur="600"/>
                                        <p:tgtEl>
                                          <p:spTgt spid="41"/>
                                        </p:tgtEl>
                                      </p:cBhvr>
                                    </p:animEffect>
                                  </p:childTnLst>
                                </p:cTn>
                              </p:par>
                              <p:par>
                                <p:cTn id="122" presetID="10" presetClass="entr" presetSubtype="0" fill="hold" grpId="0" nodeType="withEffect">
                                  <p:stCondLst>
                                    <p:cond delay="2560"/>
                                  </p:stCondLst>
                                  <p:childTnLst>
                                    <p:set>
                                      <p:cBhvr>
                                        <p:cTn id="123" dur="1" fill="hold">
                                          <p:stCondLst>
                                            <p:cond delay="0"/>
                                          </p:stCondLst>
                                        </p:cTn>
                                        <p:tgtEl>
                                          <p:spTgt spid="42"/>
                                        </p:tgtEl>
                                        <p:attrNameLst>
                                          <p:attrName>style.visibility</p:attrName>
                                        </p:attrNameLst>
                                      </p:cBhvr>
                                      <p:to>
                                        <p:strVal val="visible"/>
                                      </p:to>
                                    </p:set>
                                    <p:animEffect transition="in" filter="fade">
                                      <p:cBhvr>
                                        <p:cTn id="124" dur="600"/>
                                        <p:tgtEl>
                                          <p:spTgt spid="42"/>
                                        </p:tgtEl>
                                      </p:cBhvr>
                                    </p:animEffect>
                                  </p:childTnLst>
                                </p:cTn>
                              </p:par>
                              <p:par>
                                <p:cTn id="125" presetID="22" presetClass="entr" presetSubtype="4" fill="hold" grpId="0" nodeType="withEffect">
                                  <p:stCondLst>
                                    <p:cond delay="2560"/>
                                  </p:stCondLst>
                                  <p:childTnLst>
                                    <p:set>
                                      <p:cBhvr>
                                        <p:cTn id="126" dur="1" fill="hold">
                                          <p:stCondLst>
                                            <p:cond delay="0"/>
                                          </p:stCondLst>
                                        </p:cTn>
                                        <p:tgtEl>
                                          <p:spTgt spid="40"/>
                                        </p:tgtEl>
                                        <p:attrNameLst>
                                          <p:attrName>style.visibility</p:attrName>
                                        </p:attrNameLst>
                                      </p:cBhvr>
                                      <p:to>
                                        <p:strVal val="visible"/>
                                      </p:to>
                                    </p:set>
                                    <p:animEffect transition="in" filter="wipe(up)">
                                      <p:cBhvr>
                                        <p:cTn id="127" dur="9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12" grpId="0" animBg="1"/>
      <p:bldP spid="13" grpId="0" animBg="1"/>
      <p:bldP spid="17" grpId="0" animBg="1"/>
      <p:bldP spid="18" grpId="0" animBg="1"/>
      <p:bldP spid="22" grpId="0" animBg="1"/>
      <p:bldP spid="23" grpId="0" animBg="1"/>
      <p:bldP spid="26" grpId="0" animBg="1"/>
      <p:bldP spid="27" grpId="0" animBg="1"/>
      <p:bldP spid="31" grpId="0" animBg="1"/>
      <p:bldP spid="32" grpId="0" animBg="1"/>
      <p:bldP spid="36" grpId="0" animBg="1"/>
      <p:bldP spid="37" grpId="0" animBg="1"/>
      <p:bldP spid="41" grpId="0" animBg="1"/>
      <p:bldP spid="4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2 — Travaux effectués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Tâches annexes, rotation et apports du stage</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tb0"/>
          <p:cNvSpPr/>
          <p:nvPr/>
        </p:nvSpPr>
        <p:spPr>
          <a:xfrm>
            <a:off x="683743" y="1828800"/>
            <a:ext cx="3231032" cy="4160520"/>
          </a:xfrm>
          <a:prstGeom prst="rect">
            <a:avLst/>
          </a:prstGeom>
          <a:solidFill>
            <a:srgbClr val="FFFFFF"/>
          </a:solidFill>
          <a:ln w="9525">
            <a:solidFill>
              <a:srgbClr val="D9DFEA"/>
            </a:solidFill>
            <a:prstDash val="solid"/>
          </a:ln>
        </p:spPr>
      </p:sp>
      <p:sp>
        <p:nvSpPr>
          <p:cNvPr id="6" name="tb0b"/>
          <p:cNvSpPr/>
          <p:nvPr/>
        </p:nvSpPr>
        <p:spPr>
          <a:xfrm>
            <a:off x="683743" y="1828800"/>
            <a:ext cx="52395" cy="4160520"/>
          </a:xfrm>
          <a:prstGeom prst="rect">
            <a:avLst/>
          </a:prstGeom>
          <a:solidFill>
            <a:srgbClr val="1B3F9E"/>
          </a:solidFill>
          <a:ln w="12700">
            <a:solidFill>
              <a:srgbClr val="1B3F9E"/>
            </a:solidFill>
            <a:prstDash val="solid"/>
          </a:ln>
        </p:spPr>
      </p:sp>
      <p:sp>
        <p:nvSpPr>
          <p:cNvPr id="7" name="tt0"/>
          <p:cNvSpPr txBox="1"/>
          <p:nvPr/>
        </p:nvSpPr>
        <p:spPr>
          <a:xfrm>
            <a:off x="989381" y="2057400"/>
            <a:ext cx="2750744" cy="457200"/>
          </a:xfrm>
          <a:prstGeom prst="rect">
            <a:avLst/>
          </a:prstGeom>
          <a:noFill/>
          <a:ln/>
        </p:spPr>
        <p:txBody>
          <a:bodyPr wrap="square" lIns="0" tIns="0" rIns="0" bIns="0" rtlCol="0" anchor="t"/>
          <a:lstStyle/>
          <a:p>
            <a:pPr indent="0" marL="0">
              <a:buNone/>
            </a:pPr>
            <a:r>
              <a:rPr lang="fr-FR" altLang="en-US" sz="1900" b="1" dirty="0">
                <a:solidFill>
                  <a:srgbClr val="1B3F9E"/>
                </a:solidFill>
                <a:latin typeface="Calibri" pitchFamily="34" charset="0"/>
                <a:ea typeface="Calibri" pitchFamily="34" charset="-122"/>
                <a:cs typeface="Calibri" pitchFamily="34" charset="-120"/>
              </a:rPr>
              <a:t>Tâches périphériques</a:t>
            </a:r>
            <a:endParaRPr lang="fr-FR" sz="1900" dirty="0"/>
          </a:p>
        </p:txBody>
      </p:sp>
      <p:sp>
        <p:nvSpPr>
          <p:cNvPr id="8" name="ti0"/>
          <p:cNvSpPr txBox="1"/>
          <p:nvPr/>
        </p:nvSpPr>
        <p:spPr>
          <a:xfrm>
            <a:off x="989381" y="2697480"/>
            <a:ext cx="2750744" cy="3108960"/>
          </a:xfrm>
          <a:prstGeom prst="rect">
            <a:avLst/>
          </a:prstGeom>
          <a:noFill/>
          <a:ln/>
        </p:spPr>
        <p:txBody>
          <a:bodyPr wrap="square" lIns="0" tIns="0" rIns="0" bIns="0" rtlCol="0" anchor="t"/>
          <a:lstStyle/>
          <a:p>
            <a:pPr marL="203200" indent="-203200">
              <a:spcAft>
                <a:spcPts val="1000"/>
              </a:spcAft>
              <a:buSzPct val="100000"/>
              <a:buChar char="•"/>
            </a:pPr>
            <a:r>
              <a:rPr lang="fr-FR" altLang="en-US" sz="1500" dirty="0">
                <a:solidFill>
                  <a:srgbClr val="0E1C46"/>
                </a:solidFill>
                <a:latin typeface="Calibri" pitchFamily="34" charset="0"/>
                <a:ea typeface="Calibri" pitchFamily="34" charset="-122"/>
                <a:cs typeface="Calibri" pitchFamily="34" charset="-120"/>
              </a:rPr>
              <a:t>Rédaction de documents administratifs</a:t>
            </a:r>
            <a:endParaRPr lang="fr-FR" sz="1500" dirty="0"/>
          </a:p>
          <a:p>
            <a:pPr marL="203200" indent="-203200">
              <a:spcAft>
                <a:spcPts val="1000"/>
              </a:spcAft>
              <a:buSzPct val="100000"/>
              <a:buChar char="•"/>
            </a:pPr>
            <a:r>
              <a:rPr lang="fr-FR" altLang="en-US" sz="1500" dirty="0">
                <a:solidFill>
                  <a:srgbClr val="0E1C46"/>
                </a:solidFill>
                <a:latin typeface="Calibri" pitchFamily="34" charset="0"/>
                <a:ea typeface="Calibri" pitchFamily="34" charset="-122"/>
                <a:cs typeface="Calibri" pitchFamily="34" charset="-120"/>
              </a:rPr>
              <a:t>Reproduction et impression</a:t>
            </a:r>
            <a:endParaRPr lang="fr-FR" sz="1500" dirty="0"/>
          </a:p>
          <a:p>
            <a:pPr marL="203200" indent="-203200">
              <a:spcAft>
                <a:spcPts val="1000"/>
              </a:spcAft>
              <a:buSzPct val="100000"/>
              <a:buChar char="•"/>
            </a:pPr>
            <a:r>
              <a:rPr lang="fr-FR" altLang="en-US" sz="1500" dirty="0">
                <a:solidFill>
                  <a:srgbClr val="0E1C46"/>
                </a:solidFill>
                <a:latin typeface="Calibri" pitchFamily="34" charset="0"/>
                <a:ea typeface="Calibri" pitchFamily="34" charset="-122"/>
                <a:cs typeface="Calibri" pitchFamily="34" charset="-120"/>
              </a:rPr>
              <a:t>Numérisation</a:t>
            </a:r>
            <a:endParaRPr lang="fr-FR" sz="1500" dirty="0"/>
          </a:p>
          <a:p>
            <a:pPr marL="203200" indent="-203200">
              <a:spcAft>
                <a:spcPts val="1000"/>
              </a:spcAft>
              <a:buSzPct val="100000"/>
              <a:buChar char="•"/>
            </a:pPr>
            <a:r>
              <a:rPr lang="fr-FR" altLang="en-US" sz="1500" dirty="0">
                <a:solidFill>
                  <a:srgbClr val="0E1C46"/>
                </a:solidFill>
                <a:latin typeface="Calibri" pitchFamily="34" charset="0"/>
                <a:ea typeface="Calibri" pitchFamily="34" charset="-122"/>
                <a:cs typeface="Calibri" pitchFamily="34" charset="-120"/>
              </a:rPr>
              <a:t>Classement et archivage</a:t>
            </a:r>
            <a:endParaRPr lang="fr-FR" sz="1500" dirty="0"/>
          </a:p>
        </p:txBody>
      </p:sp>
      <p:sp>
        <p:nvSpPr>
          <p:cNvPr id="9" name="tb1"/>
          <p:cNvSpPr/>
          <p:nvPr/>
        </p:nvSpPr>
        <p:spPr>
          <a:xfrm>
            <a:off x="4150553" y="1828800"/>
            <a:ext cx="3231032" cy="4160520"/>
          </a:xfrm>
          <a:prstGeom prst="rect">
            <a:avLst/>
          </a:prstGeom>
          <a:solidFill>
            <a:srgbClr val="FFFFFF"/>
          </a:solidFill>
          <a:ln w="9525">
            <a:solidFill>
              <a:srgbClr val="D9DFEA"/>
            </a:solidFill>
            <a:prstDash val="solid"/>
          </a:ln>
        </p:spPr>
      </p:sp>
      <p:sp>
        <p:nvSpPr>
          <p:cNvPr id="10" name="tb1b"/>
          <p:cNvSpPr/>
          <p:nvPr/>
        </p:nvSpPr>
        <p:spPr>
          <a:xfrm>
            <a:off x="4150553" y="1828800"/>
            <a:ext cx="52395" cy="4160520"/>
          </a:xfrm>
          <a:prstGeom prst="rect">
            <a:avLst/>
          </a:prstGeom>
          <a:solidFill>
            <a:srgbClr val="00923A"/>
          </a:solidFill>
          <a:ln w="12700">
            <a:solidFill>
              <a:srgbClr val="00923A"/>
            </a:solidFill>
            <a:prstDash val="solid"/>
          </a:ln>
        </p:spPr>
      </p:sp>
      <p:sp>
        <p:nvSpPr>
          <p:cNvPr id="11" name="tt1"/>
          <p:cNvSpPr txBox="1"/>
          <p:nvPr/>
        </p:nvSpPr>
        <p:spPr>
          <a:xfrm>
            <a:off x="4456191" y="2057400"/>
            <a:ext cx="2750744" cy="457200"/>
          </a:xfrm>
          <a:prstGeom prst="rect">
            <a:avLst/>
          </a:prstGeom>
          <a:noFill/>
          <a:ln/>
        </p:spPr>
        <p:txBody>
          <a:bodyPr wrap="square" lIns="0" tIns="0" rIns="0" bIns="0" rtlCol="0" anchor="t"/>
          <a:lstStyle/>
          <a:p>
            <a:pPr indent="0" marL="0">
              <a:buNone/>
            </a:pPr>
            <a:r>
              <a:rPr lang="fr-FR" altLang="en-US" sz="1900" b="1" dirty="0">
                <a:solidFill>
                  <a:srgbClr val="00923A"/>
                </a:solidFill>
                <a:latin typeface="Calibri" pitchFamily="34" charset="0"/>
                <a:ea typeface="Calibri" pitchFamily="34" charset="-122"/>
                <a:cs typeface="Calibri" pitchFamily="34" charset="-120"/>
              </a:rPr>
              <a:t>Rotation dans les services</a:t>
            </a:r>
            <a:endParaRPr lang="fr-FR" sz="1900" dirty="0"/>
          </a:p>
        </p:txBody>
      </p:sp>
      <p:sp>
        <p:nvSpPr>
          <p:cNvPr id="12" name="ti1"/>
          <p:cNvSpPr txBox="1"/>
          <p:nvPr/>
        </p:nvSpPr>
        <p:spPr>
          <a:xfrm>
            <a:off x="4456191" y="2697480"/>
            <a:ext cx="2750744" cy="3108960"/>
          </a:xfrm>
          <a:prstGeom prst="rect">
            <a:avLst/>
          </a:prstGeom>
          <a:noFill/>
          <a:ln/>
        </p:spPr>
        <p:txBody>
          <a:bodyPr wrap="square" lIns="0" tIns="0" rIns="0" bIns="0" rtlCol="0" anchor="t"/>
          <a:lstStyle/>
          <a:p>
            <a:pPr marL="203200" indent="-203200">
              <a:spcAft>
                <a:spcPts val="1000"/>
              </a:spcAft>
              <a:buSzPct val="100000"/>
              <a:buChar char="•"/>
            </a:pPr>
            <a:r>
              <a:rPr lang="fr-FR" altLang="en-US" sz="1500" dirty="0">
                <a:solidFill>
                  <a:srgbClr val="0E1C46"/>
                </a:solidFill>
                <a:latin typeface="Calibri" pitchFamily="34" charset="0"/>
                <a:ea typeface="Calibri" pitchFamily="34" charset="-122"/>
                <a:cs typeface="Calibri" pitchFamily="34" charset="-120"/>
              </a:rPr>
              <a:t>Marchés publics</a:t>
            </a:r>
            <a:endParaRPr lang="fr-FR" sz="1500" dirty="0"/>
          </a:p>
          <a:p>
            <a:pPr marL="203200" indent="-203200">
              <a:spcAft>
                <a:spcPts val="1000"/>
              </a:spcAft>
              <a:buSzPct val="100000"/>
              <a:buChar char="•"/>
            </a:pPr>
            <a:r>
              <a:rPr lang="fr-FR" altLang="en-US" sz="1500" dirty="0">
                <a:solidFill>
                  <a:srgbClr val="0E1C46"/>
                </a:solidFill>
                <a:latin typeface="Calibri" pitchFamily="34" charset="0"/>
                <a:ea typeface="Calibri" pitchFamily="34" charset="-122"/>
                <a:cs typeface="Calibri" pitchFamily="34" charset="-120"/>
              </a:rPr>
              <a:t>DPDPS et état civil</a:t>
            </a:r>
            <a:endParaRPr lang="fr-FR" sz="1500" dirty="0"/>
          </a:p>
          <a:p>
            <a:pPr marL="203200" indent="-203200">
              <a:spcAft>
                <a:spcPts val="1000"/>
              </a:spcAft>
              <a:buSzPct val="100000"/>
              <a:buChar char="•"/>
            </a:pPr>
            <a:r>
              <a:rPr lang="fr-FR" altLang="en-US" sz="1500" dirty="0">
                <a:solidFill>
                  <a:srgbClr val="0E1C46"/>
                </a:solidFill>
                <a:latin typeface="Calibri" pitchFamily="34" charset="0"/>
                <a:ea typeface="Calibri" pitchFamily="34" charset="-122"/>
                <a:cs typeface="Calibri" pitchFamily="34" charset="-120"/>
              </a:rPr>
              <a:t>Services techniques (DST)</a:t>
            </a:r>
            <a:endParaRPr lang="fr-FR" sz="1500" dirty="0"/>
          </a:p>
          <a:p>
            <a:pPr marL="203200" indent="-203200">
              <a:spcAft>
                <a:spcPts val="1000"/>
              </a:spcAft>
              <a:buSzPct val="100000"/>
              <a:buChar char="•"/>
            </a:pPr>
            <a:r>
              <a:rPr lang="fr-FR" altLang="en-US" sz="1500" dirty="0">
                <a:solidFill>
                  <a:srgbClr val="0E1C46"/>
                </a:solidFill>
                <a:latin typeface="Calibri" pitchFamily="34" charset="0"/>
                <a:ea typeface="Calibri" pitchFamily="34" charset="-122"/>
                <a:cs typeface="Calibri" pitchFamily="34" charset="-120"/>
              </a:rPr>
              <a:t>Administration et finances (DAF)</a:t>
            </a:r>
            <a:endParaRPr lang="fr-FR" sz="1500" dirty="0"/>
          </a:p>
        </p:txBody>
      </p:sp>
      <p:sp>
        <p:nvSpPr>
          <p:cNvPr id="13" name="tb2"/>
          <p:cNvSpPr/>
          <p:nvPr/>
        </p:nvSpPr>
        <p:spPr>
          <a:xfrm>
            <a:off x="7617363" y="1828800"/>
            <a:ext cx="3231032" cy="4160520"/>
          </a:xfrm>
          <a:prstGeom prst="rect">
            <a:avLst/>
          </a:prstGeom>
          <a:solidFill>
            <a:srgbClr val="FFFFFF"/>
          </a:solidFill>
          <a:ln w="9525">
            <a:solidFill>
              <a:srgbClr val="D9DFEA"/>
            </a:solidFill>
            <a:prstDash val="solid"/>
          </a:ln>
        </p:spPr>
      </p:sp>
      <p:sp>
        <p:nvSpPr>
          <p:cNvPr id="14" name="tb2b"/>
          <p:cNvSpPr/>
          <p:nvPr/>
        </p:nvSpPr>
        <p:spPr>
          <a:xfrm>
            <a:off x="7617363" y="1828800"/>
            <a:ext cx="52395" cy="4160520"/>
          </a:xfrm>
          <a:prstGeom prst="rect">
            <a:avLst/>
          </a:prstGeom>
          <a:solidFill>
            <a:srgbClr val="9A6A00"/>
          </a:solidFill>
          <a:ln w="12700">
            <a:solidFill>
              <a:srgbClr val="9A6A00"/>
            </a:solidFill>
            <a:prstDash val="solid"/>
          </a:ln>
        </p:spPr>
      </p:sp>
      <p:sp>
        <p:nvSpPr>
          <p:cNvPr id="15" name="tt2"/>
          <p:cNvSpPr txBox="1"/>
          <p:nvPr/>
        </p:nvSpPr>
        <p:spPr>
          <a:xfrm>
            <a:off x="7923002" y="2057400"/>
            <a:ext cx="2750744" cy="457200"/>
          </a:xfrm>
          <a:prstGeom prst="rect">
            <a:avLst/>
          </a:prstGeom>
          <a:noFill/>
          <a:ln/>
        </p:spPr>
        <p:txBody>
          <a:bodyPr wrap="square" lIns="0" tIns="0" rIns="0" bIns="0" rtlCol="0" anchor="t"/>
          <a:lstStyle/>
          <a:p>
            <a:pPr indent="0" marL="0">
              <a:buNone/>
            </a:pPr>
            <a:r>
              <a:rPr lang="fr-FR" altLang="en-US" sz="1900" b="1" dirty="0">
                <a:solidFill>
                  <a:srgbClr val="9A6A00"/>
                </a:solidFill>
                <a:latin typeface="Calibri" pitchFamily="34" charset="0"/>
                <a:ea typeface="Calibri" pitchFamily="34" charset="-122"/>
                <a:cs typeface="Calibri" pitchFamily="34" charset="-120"/>
              </a:rPr>
              <a:t>Apports du stage</a:t>
            </a:r>
            <a:endParaRPr lang="fr-FR" sz="1900" dirty="0"/>
          </a:p>
        </p:txBody>
      </p:sp>
      <p:sp>
        <p:nvSpPr>
          <p:cNvPr id="16" name="ti2"/>
          <p:cNvSpPr txBox="1"/>
          <p:nvPr/>
        </p:nvSpPr>
        <p:spPr>
          <a:xfrm>
            <a:off x="7923002" y="2697480"/>
            <a:ext cx="2750744" cy="3108960"/>
          </a:xfrm>
          <a:prstGeom prst="rect">
            <a:avLst/>
          </a:prstGeom>
          <a:noFill/>
          <a:ln/>
        </p:spPr>
        <p:txBody>
          <a:bodyPr wrap="square" lIns="0" tIns="0" rIns="0" bIns="0" rtlCol="0" anchor="t"/>
          <a:lstStyle/>
          <a:p>
            <a:pPr marL="203200" indent="-203200">
              <a:spcAft>
                <a:spcPts val="1000"/>
              </a:spcAft>
              <a:buSzPct val="100000"/>
              <a:buChar char="•"/>
            </a:pPr>
            <a:r>
              <a:rPr lang="fr-FR" altLang="en-US" sz="1500" dirty="0">
                <a:solidFill>
                  <a:srgbClr val="0E1C46"/>
                </a:solidFill>
                <a:latin typeface="Calibri" pitchFamily="34" charset="0"/>
                <a:ea typeface="Calibri" pitchFamily="34" charset="-122"/>
                <a:cs typeface="Calibri" pitchFamily="34" charset="-120"/>
              </a:rPr>
              <a:t>Rigueur et maîtrise des outils du secrétariat</a:t>
            </a:r>
            <a:endParaRPr lang="fr-FR" sz="1500" dirty="0"/>
          </a:p>
          <a:p>
            <a:pPr marL="203200" indent="-203200">
              <a:spcAft>
                <a:spcPts val="1000"/>
              </a:spcAft>
              <a:buSzPct val="100000"/>
              <a:buChar char="•"/>
            </a:pPr>
            <a:r>
              <a:rPr lang="fr-FR" altLang="en-US" sz="1500" dirty="0">
                <a:solidFill>
                  <a:srgbClr val="0E1C46"/>
                </a:solidFill>
                <a:latin typeface="Calibri" pitchFamily="34" charset="0"/>
                <a:ea typeface="Calibri" pitchFamily="34" charset="-122"/>
                <a:cs typeface="Calibri" pitchFamily="34" charset="-120"/>
              </a:rPr>
              <a:t>Travail en équipe</a:t>
            </a:r>
            <a:endParaRPr lang="fr-FR" sz="1500" dirty="0"/>
          </a:p>
          <a:p>
            <a:pPr marL="203200" indent="-203200">
              <a:spcAft>
                <a:spcPts val="1000"/>
              </a:spcAft>
              <a:buSzPct val="100000"/>
              <a:buChar char="•"/>
            </a:pPr>
            <a:r>
              <a:rPr lang="fr-FR" altLang="en-US" sz="1500" dirty="0">
                <a:solidFill>
                  <a:srgbClr val="0E1C46"/>
                </a:solidFill>
                <a:latin typeface="Calibri" pitchFamily="34" charset="0"/>
                <a:ea typeface="Calibri" pitchFamily="34" charset="-122"/>
                <a:cs typeface="Calibri" pitchFamily="34" charset="-120"/>
              </a:rPr>
              <a:t>Utilité confirmée de la formation</a:t>
            </a:r>
            <a:endParaRPr lang="fr-FR" sz="1500" dirty="0"/>
          </a:p>
          <a:p>
            <a:pPr marL="203200" indent="-203200">
              <a:spcAft>
                <a:spcPts val="1000"/>
              </a:spcAft>
              <a:buSzPct val="100000"/>
              <a:buChar char="•"/>
            </a:pPr>
            <a:r>
              <a:rPr lang="fr-FR" altLang="en-US" sz="1500" dirty="0">
                <a:solidFill>
                  <a:srgbClr val="0E1C46"/>
                </a:solidFill>
                <a:latin typeface="Calibri" pitchFamily="34" charset="0"/>
                <a:ea typeface="Calibri" pitchFamily="34" charset="-122"/>
                <a:cs typeface="Calibri" pitchFamily="34" charset="-120"/>
              </a:rPr>
              <a:t>Compétences numériques à renforcer</a:t>
            </a:r>
            <a:endParaRPr lang="fr-FR" sz="1500" dirty="0"/>
          </a:p>
        </p:txBody>
      </p:sp>
      <p:pic>
        <p:nvPicPr>
          <p:cNvPr id="17"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18"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19"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11 / 21</a:t>
            </a:r>
            <a:endParaRPr lang="fr-FR" sz="1000" dirty="0"/>
          </a:p>
        </p:txBody>
      </p:sp>
      <p:sp>
        <p:nvSpPr>
          <p:cNvPr id="20" name="!!band1"/>
          <p:cNvSpPr/>
          <p:nvPr/>
        </p:nvSpPr>
        <p:spPr>
          <a:xfrm>
            <a:off x="0" y="0"/>
            <a:ext cx="4873752" cy="64008"/>
          </a:xfrm>
          <a:prstGeom prst="rect">
            <a:avLst/>
          </a:prstGeom>
          <a:solidFill>
            <a:srgbClr val="1B3F9E"/>
          </a:solidFill>
          <a:ln w="12700">
            <a:solidFill>
              <a:srgbClr val="1B3F9E"/>
            </a:solidFill>
            <a:prstDash val="solid"/>
          </a:ln>
        </p:spPr>
      </p:sp>
      <p:sp>
        <p:nvSpPr>
          <p:cNvPr id="21" name="!!band2"/>
          <p:cNvSpPr/>
          <p:nvPr/>
        </p:nvSpPr>
        <p:spPr>
          <a:xfrm>
            <a:off x="4873752" y="0"/>
            <a:ext cx="4270248" cy="64008"/>
          </a:xfrm>
          <a:prstGeom prst="rect">
            <a:avLst/>
          </a:prstGeom>
          <a:solidFill>
            <a:srgbClr val="00923A"/>
          </a:solidFill>
          <a:ln w="12700">
            <a:solidFill>
              <a:srgbClr val="00923A"/>
            </a:solidFill>
            <a:prstDash val="solid"/>
          </a:ln>
        </p:spPr>
      </p:sp>
      <p:sp>
        <p:nvSpPr>
          <p:cNvPr id="22" name="!!band3"/>
          <p:cNvSpPr/>
          <p:nvPr/>
        </p:nvSpPr>
        <p:spPr>
          <a:xfrm>
            <a:off x="9144000" y="0"/>
            <a:ext cx="3047695" cy="64008"/>
          </a:xfrm>
          <a:prstGeom prst="rect">
            <a:avLst/>
          </a:prstGeom>
          <a:solidFill>
            <a:srgbClr val="FCC600"/>
          </a:solidFill>
          <a:ln w="12700">
            <a:solidFill>
              <a:srgbClr val="FCC600"/>
            </a:solidFill>
            <a:prstDash val="solid"/>
          </a:ln>
        </p:spPr>
      </p:sp>
      <p:sp>
        <p:nvSpPr>
          <p:cNvPr id="23" name="!!railline"/>
          <p:cNvSpPr/>
          <p:nvPr/>
        </p:nvSpPr>
        <p:spPr>
          <a:xfrm>
            <a:off x="11795760" y="1600200"/>
            <a:ext cx="914" cy="3383280"/>
          </a:xfrm>
          <a:prstGeom prst="line">
            <a:avLst/>
          </a:prstGeom>
          <a:noFill/>
          <a:ln w="19050">
            <a:solidFill>
              <a:srgbClr val="D9DFEA"/>
            </a:solidFill>
            <a:prstDash val="solid"/>
          </a:ln>
        </p:spPr>
      </p:sp>
      <p:sp>
        <p:nvSpPr>
          <p:cNvPr id="24" name="!!railprog"/>
          <p:cNvSpPr/>
          <p:nvPr/>
        </p:nvSpPr>
        <p:spPr>
          <a:xfrm>
            <a:off x="11795760" y="1600200"/>
            <a:ext cx="914" cy="676656"/>
          </a:xfrm>
          <a:prstGeom prst="line">
            <a:avLst/>
          </a:prstGeom>
          <a:noFill/>
          <a:ln w="31750">
            <a:solidFill>
              <a:srgbClr val="00923A"/>
            </a:solidFill>
            <a:prstDash val="solid"/>
          </a:ln>
        </p:spPr>
      </p:sp>
      <p:sp>
        <p:nvSpPr>
          <p:cNvPr id="25"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26"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7" name="!!m2"/>
          <p:cNvSpPr/>
          <p:nvPr/>
        </p:nvSpPr>
        <p:spPr>
          <a:xfrm>
            <a:off x="11603736" y="2084832"/>
            <a:ext cx="384048" cy="384048"/>
          </a:xfrm>
          <a:prstGeom prst="ellipse">
            <a:avLst/>
          </a:prstGeom>
          <a:solidFill>
            <a:srgbClr val="1B3F9E"/>
          </a:solidFill>
          <a:ln w="15875">
            <a:solidFill>
              <a:srgbClr val="1B3F9E"/>
            </a:solidFill>
            <a:prstDash val="solid"/>
          </a:ln>
        </p:spPr>
      </p:sp>
      <p:sp>
        <p:nvSpPr>
          <p:cNvPr id="28"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9" name="!!m3"/>
          <p:cNvSpPr/>
          <p:nvPr/>
        </p:nvSpPr>
        <p:spPr>
          <a:xfrm>
            <a:off x="11603736" y="2761488"/>
            <a:ext cx="384048" cy="384048"/>
          </a:xfrm>
          <a:prstGeom prst="ellipse">
            <a:avLst/>
          </a:prstGeom>
          <a:solidFill>
            <a:srgbClr val="FFFFFF"/>
          </a:solidFill>
          <a:ln w="15875">
            <a:solidFill>
              <a:srgbClr val="BFC8DA"/>
            </a:solidFill>
            <a:prstDash val="solid"/>
          </a:ln>
        </p:spPr>
      </p:sp>
      <p:sp>
        <p:nvSpPr>
          <p:cNvPr id="30" name="!!mt3">
            <a:hlinkClick r:id="rId4"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3</a:t>
            </a:r>
            <a:endParaRPr lang="en-US" sz="1200" dirty="0"/>
          </a:p>
        </p:txBody>
      </p:sp>
      <p:sp>
        <p:nvSpPr>
          <p:cNvPr id="31"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32" name="!!mt4">
            <a:hlinkClick r:id="rId5"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33"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34" name="!!mt5">
            <a:hlinkClick r:id="rId6"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35"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36" name="!!mt6">
            <a:hlinkClick r:id="rId7"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37"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Travaux effectués</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22" presetClass="entr" presetSubtype="4" fill="hold" grpId="0" nodeType="withEffect">
                                  <p:stCondLst>
                                    <p:cond delay="25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900"/>
                                        <p:tgtEl>
                                          <p:spTgt spid="6"/>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grpId="0" nodeType="withEffect">
                                  <p:stCondLst>
                                    <p:cond delay="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10" presetClass="entr" presetSubtype="0" fill="hold" grpId="0" nodeType="withEffect">
                                  <p:stCondLst>
                                    <p:cond delay="6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p:tgtEl>
                                          <p:spTgt spid="9"/>
                                        </p:tgtEl>
                                      </p:cBhvr>
                                    </p:animEffect>
                                  </p:childTnLst>
                                </p:cTn>
                              </p:par>
                              <p:par>
                                <p:cTn id="26" presetID="22" presetClass="entr" presetSubtype="4" fill="hold" grpId="0" nodeType="withEffect">
                                  <p:stCondLst>
                                    <p:cond delay="600"/>
                                  </p:stCondLst>
                                  <p:childTnLst>
                                    <p:set>
                                      <p:cBhvr>
                                        <p:cTn id="27" dur="1" fill="hold">
                                          <p:stCondLst>
                                            <p:cond delay="0"/>
                                          </p:stCondLst>
                                        </p:cTn>
                                        <p:tgtEl>
                                          <p:spTgt spid="10"/>
                                        </p:tgtEl>
                                        <p:attrNameLst>
                                          <p:attrName>style.visibility</p:attrName>
                                        </p:attrNameLst>
                                      </p:cBhvr>
                                      <p:to>
                                        <p:strVal val="visible"/>
                                      </p:to>
                                    </p:set>
                                    <p:animEffect transition="in" filter="wipe(up)">
                                      <p:cBhvr>
                                        <p:cTn id="28" dur="900"/>
                                        <p:tgtEl>
                                          <p:spTgt spid="10"/>
                                        </p:tgtEl>
                                      </p:cBhvr>
                                    </p:animEffect>
                                  </p:childTnLst>
                                </p:cTn>
                              </p:par>
                              <p:par>
                                <p:cTn id="29" presetID="10" presetClass="entr" presetSubtype="0" fill="hold" grpId="0" nodeType="withEffect">
                                  <p:stCondLst>
                                    <p:cond delay="65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600"/>
                                        <p:tgtEl>
                                          <p:spTgt spid="11"/>
                                        </p:tgtEl>
                                      </p:cBhvr>
                                    </p:animEffect>
                                  </p:childTnLst>
                                </p:cTn>
                              </p:par>
                              <p:par>
                                <p:cTn id="32" presetID="10" presetClass="entr" presetSubtype="0" fill="hold" grpId="0" nodeType="withEffect">
                                  <p:stCondLst>
                                    <p:cond delay="7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600"/>
                                        <p:tgtEl>
                                          <p:spTgt spid="12"/>
                                        </p:tgtEl>
                                      </p:cBhvr>
                                    </p:animEffect>
                                  </p:childTnLst>
                                </p:cTn>
                              </p:par>
                              <p:par>
                                <p:cTn id="35" presetID="10" presetClass="entr" presetSubtype="0" fill="hold" grpId="0" nodeType="withEffect">
                                  <p:stCondLst>
                                    <p:cond delay="95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600"/>
                                        <p:tgtEl>
                                          <p:spTgt spid="13"/>
                                        </p:tgtEl>
                                      </p:cBhvr>
                                    </p:animEffect>
                                  </p:childTnLst>
                                </p:cTn>
                              </p:par>
                              <p:par>
                                <p:cTn id="38" presetID="22" presetClass="entr" presetSubtype="4" fill="hold" grpId="0" nodeType="withEffect">
                                  <p:stCondLst>
                                    <p:cond delay="950"/>
                                  </p:stCondLst>
                                  <p:childTnLst>
                                    <p:set>
                                      <p:cBhvr>
                                        <p:cTn id="39" dur="1" fill="hold">
                                          <p:stCondLst>
                                            <p:cond delay="0"/>
                                          </p:stCondLst>
                                        </p:cTn>
                                        <p:tgtEl>
                                          <p:spTgt spid="14"/>
                                        </p:tgtEl>
                                        <p:attrNameLst>
                                          <p:attrName>style.visibility</p:attrName>
                                        </p:attrNameLst>
                                      </p:cBhvr>
                                      <p:to>
                                        <p:strVal val="visible"/>
                                      </p:to>
                                    </p:set>
                                    <p:animEffect transition="in" filter="wipe(up)">
                                      <p:cBhvr>
                                        <p:cTn id="40" dur="900"/>
                                        <p:tgtEl>
                                          <p:spTgt spid="14"/>
                                        </p:tgtEl>
                                      </p:cBhvr>
                                    </p:animEffect>
                                  </p:childTnLst>
                                </p:cTn>
                              </p:par>
                              <p:par>
                                <p:cTn id="41" presetID="10" presetClass="entr" presetSubtype="0" fill="hold" grpId="0" nodeType="withEffect">
                                  <p:stCondLst>
                                    <p:cond delay="10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600"/>
                                        <p:tgtEl>
                                          <p:spTgt spid="15"/>
                                        </p:tgtEl>
                                      </p:cBhvr>
                                    </p:animEffect>
                                  </p:childTnLst>
                                </p:cTn>
                              </p:par>
                              <p:par>
                                <p:cTn id="44" presetID="10" presetClass="entr" presetSubtype="0" fill="hold" grpId="0" nodeType="withEffect">
                                  <p:stCondLst>
                                    <p:cond delay="110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11" grpId="0" animBg="1"/>
      <p:bldP spid="12"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3 — Problématique, hypothèses et objectifs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Un circuit organisé… mais est-il efficace ?</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qbar"/>
          <p:cNvSpPr/>
          <p:nvPr/>
        </p:nvSpPr>
        <p:spPr>
          <a:xfrm>
            <a:off x="683743" y="1874520"/>
            <a:ext cx="69860" cy="1783080"/>
          </a:xfrm>
          <a:prstGeom prst="rect">
            <a:avLst/>
          </a:prstGeom>
          <a:solidFill>
            <a:srgbClr val="FCC600"/>
          </a:solidFill>
          <a:ln w="12700">
            <a:solidFill>
              <a:srgbClr val="FCC600"/>
            </a:solidFill>
            <a:prstDash val="solid"/>
          </a:ln>
        </p:spPr>
      </p:sp>
      <p:sp>
        <p:nvSpPr>
          <p:cNvPr id="6" name="q"/>
          <p:cNvSpPr txBox="1"/>
          <p:nvPr/>
        </p:nvSpPr>
        <p:spPr>
          <a:xfrm>
            <a:off x="989381" y="1828800"/>
            <a:ext cx="8383219" cy="1828800"/>
          </a:xfrm>
          <a:prstGeom prst="rect">
            <a:avLst/>
          </a:prstGeom>
          <a:noFill/>
          <a:ln/>
        </p:spPr>
        <p:txBody>
          <a:bodyPr wrap="square" lIns="0" tIns="0" rIns="0" bIns="0" rtlCol="0" anchor="t"/>
          <a:lstStyle/>
          <a:p>
            <a:pPr indent="0" marL="0">
              <a:buNone/>
            </a:pPr>
            <a:r>
              <a:rPr lang="fr-FR" altLang="en-US" sz="2600" i="1" dirty="0">
                <a:solidFill>
                  <a:srgbClr val="0E1C46"/>
                </a:solidFill>
                <a:latin typeface="Cambria" pitchFamily="34" charset="0"/>
                <a:ea typeface="Cambria" pitchFamily="34" charset="-122"/>
                <a:cs typeface="Cambria" pitchFamily="34" charset="-120"/>
              </a:rPr>
              <a:t>Dans quelle mesure le système de gestion des courriers de la Mairie de Doumassessé permet-il un traitement rapide, fiable et traçable de l’information ?</a:t>
            </a:r>
            <a:endParaRPr lang="fr-FR" sz="2600" dirty="0"/>
          </a:p>
        </p:txBody>
      </p:sp>
      <p:sp>
        <p:nvSpPr>
          <p:cNvPr id="7" name="obs"/>
          <p:cNvSpPr txBox="1"/>
          <p:nvPr/>
        </p:nvSpPr>
        <p:spPr>
          <a:xfrm>
            <a:off x="683743" y="4160520"/>
            <a:ext cx="6986016" cy="320040"/>
          </a:xfrm>
          <a:prstGeom prst="rect">
            <a:avLst/>
          </a:prstGeom>
          <a:noFill/>
          <a:ln/>
        </p:spPr>
        <p:txBody>
          <a:bodyPr wrap="square" lIns="0" tIns="0" rIns="0" bIns="0" rtlCol="0" anchor="t"/>
          <a:lstStyle/>
          <a:p>
            <a:pPr indent="0" marL="0">
              <a:buNone/>
            </a:pPr>
            <a:r>
              <a:rPr lang="fr-FR" altLang="en-US" sz="1500" b="1" dirty="0">
                <a:solidFill>
                  <a:srgbClr val="00923A"/>
                </a:solidFill>
                <a:latin typeface="Calibri" pitchFamily="34" charset="0"/>
                <a:ea typeface="Calibri" pitchFamily="34" charset="-122"/>
                <a:cs typeface="Calibri" pitchFamily="34" charset="-120"/>
              </a:rPr>
              <a:t>Difficultés observées pendant le stage</a:t>
            </a:r>
            <a:endParaRPr lang="fr-FR" sz="1500" dirty="0"/>
          </a:p>
        </p:txBody>
      </p:sp>
      <p:sp>
        <p:nvSpPr>
          <p:cNvPr id="8" name="ob0"/>
          <p:cNvSpPr/>
          <p:nvPr/>
        </p:nvSpPr>
        <p:spPr>
          <a:xfrm>
            <a:off x="727405" y="4736592"/>
            <a:ext cx="139720" cy="146304"/>
          </a:xfrm>
          <a:prstGeom prst="rect">
            <a:avLst/>
          </a:prstGeom>
          <a:solidFill>
            <a:srgbClr val="1B3F9E"/>
          </a:solidFill>
          <a:ln w="12700">
            <a:solidFill>
              <a:srgbClr val="1B3F9E"/>
            </a:solidFill>
            <a:prstDash val="solid"/>
          </a:ln>
        </p:spPr>
      </p:sp>
      <p:sp>
        <p:nvSpPr>
          <p:cNvPr id="9" name="obt0"/>
          <p:cNvSpPr txBox="1"/>
          <p:nvPr/>
        </p:nvSpPr>
        <p:spPr>
          <a:xfrm>
            <a:off x="1076706" y="4645152"/>
            <a:ext cx="7859268" cy="329184"/>
          </a:xfrm>
          <a:prstGeom prst="rect">
            <a:avLst/>
          </a:prstGeom>
          <a:noFill/>
          <a:ln/>
        </p:spPr>
        <p:txBody>
          <a:bodyPr wrap="square" lIns="0" tIns="0" rIns="0" bIns="0" rtlCol="0" anchor="t"/>
          <a:lstStyle/>
          <a:p>
            <a:pPr indent="0" marL="0">
              <a:buNone/>
            </a:pPr>
            <a:r>
              <a:rPr lang="fr-FR" altLang="en-US" sz="1700" dirty="0">
                <a:solidFill>
                  <a:srgbClr val="0E1C46"/>
                </a:solidFill>
                <a:latin typeface="Calibri" pitchFamily="34" charset="0"/>
                <a:ea typeface="Calibri" pitchFamily="34" charset="-122"/>
                <a:cs typeface="Calibri" pitchFamily="34" charset="-120"/>
              </a:rPr>
              <a:t>Des délais avant que le courrier n’atteigne son destinataire</a:t>
            </a:r>
            <a:endParaRPr lang="fr-FR" sz="1700" dirty="0"/>
          </a:p>
        </p:txBody>
      </p:sp>
      <p:sp>
        <p:nvSpPr>
          <p:cNvPr id="10" name="ob1"/>
          <p:cNvSpPr/>
          <p:nvPr/>
        </p:nvSpPr>
        <p:spPr>
          <a:xfrm>
            <a:off x="727405" y="5239512"/>
            <a:ext cx="139720" cy="146304"/>
          </a:xfrm>
          <a:prstGeom prst="rect">
            <a:avLst/>
          </a:prstGeom>
          <a:solidFill>
            <a:srgbClr val="00923A"/>
          </a:solidFill>
          <a:ln w="12700">
            <a:solidFill>
              <a:srgbClr val="00923A"/>
            </a:solidFill>
            <a:prstDash val="solid"/>
          </a:ln>
        </p:spPr>
      </p:sp>
      <p:sp>
        <p:nvSpPr>
          <p:cNvPr id="11" name="obt1"/>
          <p:cNvSpPr txBox="1"/>
          <p:nvPr/>
        </p:nvSpPr>
        <p:spPr>
          <a:xfrm>
            <a:off x="1076706" y="5148072"/>
            <a:ext cx="7859268" cy="329184"/>
          </a:xfrm>
          <a:prstGeom prst="rect">
            <a:avLst/>
          </a:prstGeom>
          <a:noFill/>
          <a:ln/>
        </p:spPr>
        <p:txBody>
          <a:bodyPr wrap="square" lIns="0" tIns="0" rIns="0" bIns="0" rtlCol="0" anchor="t"/>
          <a:lstStyle/>
          <a:p>
            <a:pPr indent="0" marL="0">
              <a:buNone/>
            </a:pPr>
            <a:r>
              <a:rPr lang="fr-FR" altLang="en-US" sz="1700" dirty="0">
                <a:solidFill>
                  <a:srgbClr val="0E1C46"/>
                </a:solidFill>
                <a:latin typeface="Calibri" pitchFamily="34" charset="0"/>
                <a:ea typeface="Calibri" pitchFamily="34" charset="-122"/>
                <a:cs typeface="Calibri" pitchFamily="34" charset="-120"/>
              </a:rPr>
              <a:t>Un suivi entièrement manuel</a:t>
            </a:r>
            <a:endParaRPr lang="fr-FR" sz="1700" dirty="0"/>
          </a:p>
        </p:txBody>
      </p:sp>
      <p:sp>
        <p:nvSpPr>
          <p:cNvPr id="12" name="ob2"/>
          <p:cNvSpPr/>
          <p:nvPr/>
        </p:nvSpPr>
        <p:spPr>
          <a:xfrm>
            <a:off x="727405" y="5742432"/>
            <a:ext cx="139720" cy="146304"/>
          </a:xfrm>
          <a:prstGeom prst="rect">
            <a:avLst/>
          </a:prstGeom>
          <a:solidFill>
            <a:srgbClr val="9A6A00"/>
          </a:solidFill>
          <a:ln w="12700">
            <a:solidFill>
              <a:srgbClr val="9A6A00"/>
            </a:solidFill>
            <a:prstDash val="solid"/>
          </a:ln>
        </p:spPr>
      </p:sp>
      <p:sp>
        <p:nvSpPr>
          <p:cNvPr id="13" name="obt2"/>
          <p:cNvSpPr txBox="1"/>
          <p:nvPr/>
        </p:nvSpPr>
        <p:spPr>
          <a:xfrm>
            <a:off x="1076706" y="5650992"/>
            <a:ext cx="7859268" cy="329184"/>
          </a:xfrm>
          <a:prstGeom prst="rect">
            <a:avLst/>
          </a:prstGeom>
          <a:noFill/>
          <a:ln/>
        </p:spPr>
        <p:txBody>
          <a:bodyPr wrap="square" lIns="0" tIns="0" rIns="0" bIns="0" rtlCol="0" anchor="t"/>
          <a:lstStyle/>
          <a:p>
            <a:pPr indent="0" marL="0">
              <a:buNone/>
            </a:pPr>
            <a:r>
              <a:rPr lang="fr-FR" altLang="en-US" sz="1700" dirty="0">
                <a:solidFill>
                  <a:srgbClr val="0E1C46"/>
                </a:solidFill>
                <a:latin typeface="Calibri" pitchFamily="34" charset="0"/>
                <a:ea typeface="Calibri" pitchFamily="34" charset="-122"/>
                <a:cs typeface="Calibri" pitchFamily="34" charset="-120"/>
              </a:rPr>
              <a:t>La dépendance du circuit envers quelques responsables</a:t>
            </a:r>
            <a:endParaRPr lang="fr-FR" sz="1700" dirty="0"/>
          </a:p>
        </p:txBody>
      </p:sp>
      <p:pic>
        <p:nvPicPr>
          <p:cNvPr id="14"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15"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16"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12 / 21</a:t>
            </a:r>
            <a:endParaRPr lang="fr-FR" sz="1000" dirty="0"/>
          </a:p>
        </p:txBody>
      </p:sp>
      <p:sp>
        <p:nvSpPr>
          <p:cNvPr id="17" name="!!band1"/>
          <p:cNvSpPr/>
          <p:nvPr/>
        </p:nvSpPr>
        <p:spPr>
          <a:xfrm>
            <a:off x="0" y="0"/>
            <a:ext cx="4873752" cy="64008"/>
          </a:xfrm>
          <a:prstGeom prst="rect">
            <a:avLst/>
          </a:prstGeom>
          <a:solidFill>
            <a:srgbClr val="1B3F9E"/>
          </a:solidFill>
          <a:ln w="12700">
            <a:solidFill>
              <a:srgbClr val="1B3F9E"/>
            </a:solidFill>
            <a:prstDash val="solid"/>
          </a:ln>
        </p:spPr>
      </p:sp>
      <p:sp>
        <p:nvSpPr>
          <p:cNvPr id="18" name="!!band2"/>
          <p:cNvSpPr/>
          <p:nvPr/>
        </p:nvSpPr>
        <p:spPr>
          <a:xfrm>
            <a:off x="4873752" y="0"/>
            <a:ext cx="4270248" cy="64008"/>
          </a:xfrm>
          <a:prstGeom prst="rect">
            <a:avLst/>
          </a:prstGeom>
          <a:solidFill>
            <a:srgbClr val="00923A"/>
          </a:solidFill>
          <a:ln w="12700">
            <a:solidFill>
              <a:srgbClr val="00923A"/>
            </a:solidFill>
            <a:prstDash val="solid"/>
          </a:ln>
        </p:spPr>
      </p:sp>
      <p:sp>
        <p:nvSpPr>
          <p:cNvPr id="19" name="!!band3"/>
          <p:cNvSpPr/>
          <p:nvPr/>
        </p:nvSpPr>
        <p:spPr>
          <a:xfrm>
            <a:off x="9144000" y="0"/>
            <a:ext cx="3047695" cy="64008"/>
          </a:xfrm>
          <a:prstGeom prst="rect">
            <a:avLst/>
          </a:prstGeom>
          <a:solidFill>
            <a:srgbClr val="FCC600"/>
          </a:solidFill>
          <a:ln w="12700">
            <a:solidFill>
              <a:srgbClr val="FCC600"/>
            </a:solidFill>
            <a:prstDash val="solid"/>
          </a:ln>
        </p:spPr>
      </p:sp>
      <p:sp>
        <p:nvSpPr>
          <p:cNvPr id="20" name="!!railline"/>
          <p:cNvSpPr/>
          <p:nvPr/>
        </p:nvSpPr>
        <p:spPr>
          <a:xfrm>
            <a:off x="11795760" y="1600200"/>
            <a:ext cx="914" cy="3383280"/>
          </a:xfrm>
          <a:prstGeom prst="line">
            <a:avLst/>
          </a:prstGeom>
          <a:noFill/>
          <a:ln w="19050">
            <a:solidFill>
              <a:srgbClr val="D9DFEA"/>
            </a:solidFill>
            <a:prstDash val="solid"/>
          </a:ln>
        </p:spPr>
      </p:sp>
      <p:sp>
        <p:nvSpPr>
          <p:cNvPr id="21" name="!!railprog"/>
          <p:cNvSpPr/>
          <p:nvPr/>
        </p:nvSpPr>
        <p:spPr>
          <a:xfrm>
            <a:off x="11795760" y="1600200"/>
            <a:ext cx="914" cy="1353312"/>
          </a:xfrm>
          <a:prstGeom prst="line">
            <a:avLst/>
          </a:prstGeom>
          <a:noFill/>
          <a:ln w="31750">
            <a:solidFill>
              <a:srgbClr val="00923A"/>
            </a:solidFill>
            <a:prstDash val="solid"/>
          </a:ln>
        </p:spPr>
      </p:sp>
      <p:sp>
        <p:nvSpPr>
          <p:cNvPr id="22"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23"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4" name="!!m2"/>
          <p:cNvSpPr/>
          <p:nvPr/>
        </p:nvSpPr>
        <p:spPr>
          <a:xfrm>
            <a:off x="11603736" y="2084832"/>
            <a:ext cx="384048" cy="384048"/>
          </a:xfrm>
          <a:prstGeom prst="ellipse">
            <a:avLst/>
          </a:prstGeom>
          <a:solidFill>
            <a:srgbClr val="00923A"/>
          </a:solidFill>
          <a:ln w="15875">
            <a:solidFill>
              <a:srgbClr val="00923A"/>
            </a:solidFill>
            <a:prstDash val="solid"/>
          </a:ln>
        </p:spPr>
      </p:sp>
      <p:sp>
        <p:nvSpPr>
          <p:cNvPr id="25"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m3"/>
          <p:cNvSpPr/>
          <p:nvPr/>
        </p:nvSpPr>
        <p:spPr>
          <a:xfrm>
            <a:off x="11603736" y="2761488"/>
            <a:ext cx="384048" cy="384048"/>
          </a:xfrm>
          <a:prstGeom prst="ellipse">
            <a:avLst/>
          </a:prstGeom>
          <a:solidFill>
            <a:srgbClr val="1B3F9E"/>
          </a:solidFill>
          <a:ln w="15875">
            <a:solidFill>
              <a:srgbClr val="1B3F9E"/>
            </a:solidFill>
            <a:prstDash val="solid"/>
          </a:ln>
        </p:spPr>
      </p:sp>
      <p:sp>
        <p:nvSpPr>
          <p:cNvPr id="27" name="!!mt3"/>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8"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29" name="!!mt4">
            <a:hlinkClick r:id="rId4"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30"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31" name="!!mt5">
            <a:hlinkClick r:id="rId5"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32"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33" name="!!mt6">
            <a:hlinkClick r:id="rId6"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34"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Problématique</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22" presetClass="entr" presetSubtype="4" fill="hold" grpId="0" nodeType="withEffect">
                                  <p:stCondLst>
                                    <p:cond delay="20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900"/>
                                        <p:tgtEl>
                                          <p:spTgt spid="5"/>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grpId="0" nodeType="withEffect">
                                  <p:stCondLst>
                                    <p:cond delay="8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53" presetClass="entr" presetSubtype="16" fill="hold" grpId="0" nodeType="withEffect">
                                  <p:stCondLst>
                                    <p:cond delay="1000"/>
                                  </p:stCondLst>
                                  <p:childTnLst>
                                    <p:set>
                                      <p:cBhvr>
                                        <p:cTn id="21" dur="1" fill="hold">
                                          <p:stCondLst>
                                            <p:cond delay="0"/>
                                          </p:stCondLst>
                                        </p:cTn>
                                        <p:tgtEl>
                                          <p:spTgt spid="8"/>
                                        </p:tgtEl>
                                        <p:attrNameLst>
                                          <p:attrName>style.visibility</p:attrName>
                                        </p:attrNameLst>
                                      </p:cBhvr>
                                      <p:to>
                                        <p:strVal val="visible"/>
                                      </p:to>
                                    </p:set>
                                    <p:anim calcmode="lin" valueType="num">
                                      <p:cBhvr>
                                        <p:cTn id="22" dur="600" fill="hold"/>
                                        <p:tgtEl>
                                          <p:spTgt spid="8"/>
                                        </p:tgtEl>
                                        <p:attrNameLst>
                                          <p:attrName>ppt_w</p:attrName>
                                        </p:attrNameLst>
                                      </p:cBhvr>
                                      <p:tavLst>
                                        <p:tav tm="0">
                                          <p:val>
                                            <p:fltVal val="0"/>
                                          </p:val>
                                        </p:tav>
                                        <p:tav tm="100000">
                                          <p:val>
                                            <p:strVal val="#ppt_w"/>
                                          </p:val>
                                        </p:tav>
                                      </p:tavLst>
                                    </p:anim>
                                    <p:anim calcmode="lin" valueType="num">
                                      <p:cBhvr>
                                        <p:cTn id="23" dur="600" fill="hold"/>
                                        <p:tgtEl>
                                          <p:spTgt spid="8"/>
                                        </p:tgtEl>
                                        <p:attrNameLst>
                                          <p:attrName>ppt_h</p:attrName>
                                        </p:attrNameLst>
                                      </p:cBhvr>
                                      <p:tavLst>
                                        <p:tav tm="0">
                                          <p:val>
                                            <p:fltVal val="0"/>
                                          </p:val>
                                        </p:tav>
                                        <p:tav tm="100000">
                                          <p:val>
                                            <p:strVal val="#ppt_h"/>
                                          </p:val>
                                        </p:tav>
                                      </p:tavLst>
                                    </p:anim>
                                    <p:animEffect transition="in" filter="fade">
                                      <p:cBhvr>
                                        <p:cTn id="24" dur="600"/>
                                        <p:tgtEl>
                                          <p:spTgt spid="8"/>
                                        </p:tgtEl>
                                      </p:cBhvr>
                                    </p:animEffect>
                                  </p:childTnLst>
                                </p:cTn>
                              </p:par>
                              <p:par>
                                <p:cTn id="25" presetID="10" presetClass="entr" presetSubtype="0" fill="hold" grpId="0" nodeType="withEffect">
                                  <p:stCondLst>
                                    <p:cond delay="105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600"/>
                                        <p:tgtEl>
                                          <p:spTgt spid="9"/>
                                        </p:tgtEl>
                                      </p:cBhvr>
                                    </p:animEffect>
                                  </p:childTnLst>
                                </p:cTn>
                              </p:par>
                              <p:par>
                                <p:cTn id="28" presetID="53" presetClass="entr" presetSubtype="16" fill="hold" grpId="0" nodeType="withEffect">
                                  <p:stCondLst>
                                    <p:cond delay="1250"/>
                                  </p:stCondLst>
                                  <p:childTnLst>
                                    <p:set>
                                      <p:cBhvr>
                                        <p:cTn id="29" dur="1" fill="hold">
                                          <p:stCondLst>
                                            <p:cond delay="0"/>
                                          </p:stCondLst>
                                        </p:cTn>
                                        <p:tgtEl>
                                          <p:spTgt spid="10"/>
                                        </p:tgtEl>
                                        <p:attrNameLst>
                                          <p:attrName>style.visibility</p:attrName>
                                        </p:attrNameLst>
                                      </p:cBhvr>
                                      <p:to>
                                        <p:strVal val="visible"/>
                                      </p:to>
                                    </p:set>
                                    <p:anim calcmode="lin" valueType="num">
                                      <p:cBhvr>
                                        <p:cTn id="30" dur="600" fill="hold"/>
                                        <p:tgtEl>
                                          <p:spTgt spid="10"/>
                                        </p:tgtEl>
                                        <p:attrNameLst>
                                          <p:attrName>ppt_w</p:attrName>
                                        </p:attrNameLst>
                                      </p:cBhvr>
                                      <p:tavLst>
                                        <p:tav tm="0">
                                          <p:val>
                                            <p:fltVal val="0"/>
                                          </p:val>
                                        </p:tav>
                                        <p:tav tm="100000">
                                          <p:val>
                                            <p:strVal val="#ppt_w"/>
                                          </p:val>
                                        </p:tav>
                                      </p:tavLst>
                                    </p:anim>
                                    <p:anim calcmode="lin" valueType="num">
                                      <p:cBhvr>
                                        <p:cTn id="31" dur="600" fill="hold"/>
                                        <p:tgtEl>
                                          <p:spTgt spid="10"/>
                                        </p:tgtEl>
                                        <p:attrNameLst>
                                          <p:attrName>ppt_h</p:attrName>
                                        </p:attrNameLst>
                                      </p:cBhvr>
                                      <p:tavLst>
                                        <p:tav tm="0">
                                          <p:val>
                                            <p:fltVal val="0"/>
                                          </p:val>
                                        </p:tav>
                                        <p:tav tm="100000">
                                          <p:val>
                                            <p:strVal val="#ppt_h"/>
                                          </p:val>
                                        </p:tav>
                                      </p:tavLst>
                                    </p:anim>
                                    <p:animEffect transition="in" filter="fade">
                                      <p:cBhvr>
                                        <p:cTn id="32" dur="600"/>
                                        <p:tgtEl>
                                          <p:spTgt spid="10"/>
                                        </p:tgtEl>
                                      </p:cBhvr>
                                    </p:animEffect>
                                  </p:childTnLst>
                                </p:cTn>
                              </p:par>
                              <p:par>
                                <p:cTn id="33" presetID="10" presetClass="entr" presetSubtype="0" fill="hold" grpId="0" nodeType="withEffect">
                                  <p:stCondLst>
                                    <p:cond delay="13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00"/>
                                        <p:tgtEl>
                                          <p:spTgt spid="11"/>
                                        </p:tgtEl>
                                      </p:cBhvr>
                                    </p:animEffect>
                                  </p:childTnLst>
                                </p:cTn>
                              </p:par>
                              <p:par>
                                <p:cTn id="36" presetID="53" presetClass="entr" presetSubtype="16" fill="hold" grpId="0" nodeType="withEffect">
                                  <p:stCondLst>
                                    <p:cond delay="1500"/>
                                  </p:stCondLst>
                                  <p:childTnLst>
                                    <p:set>
                                      <p:cBhvr>
                                        <p:cTn id="37" dur="1" fill="hold">
                                          <p:stCondLst>
                                            <p:cond delay="0"/>
                                          </p:stCondLst>
                                        </p:cTn>
                                        <p:tgtEl>
                                          <p:spTgt spid="12"/>
                                        </p:tgtEl>
                                        <p:attrNameLst>
                                          <p:attrName>style.visibility</p:attrName>
                                        </p:attrNameLst>
                                      </p:cBhvr>
                                      <p:to>
                                        <p:strVal val="visible"/>
                                      </p:to>
                                    </p:set>
                                    <p:anim calcmode="lin" valueType="num">
                                      <p:cBhvr>
                                        <p:cTn id="38" dur="600" fill="hold"/>
                                        <p:tgtEl>
                                          <p:spTgt spid="12"/>
                                        </p:tgtEl>
                                        <p:attrNameLst>
                                          <p:attrName>ppt_w</p:attrName>
                                        </p:attrNameLst>
                                      </p:cBhvr>
                                      <p:tavLst>
                                        <p:tav tm="0">
                                          <p:val>
                                            <p:fltVal val="0"/>
                                          </p:val>
                                        </p:tav>
                                        <p:tav tm="100000">
                                          <p:val>
                                            <p:strVal val="#ppt_w"/>
                                          </p:val>
                                        </p:tav>
                                      </p:tavLst>
                                    </p:anim>
                                    <p:anim calcmode="lin" valueType="num">
                                      <p:cBhvr>
                                        <p:cTn id="39" dur="600" fill="hold"/>
                                        <p:tgtEl>
                                          <p:spTgt spid="12"/>
                                        </p:tgtEl>
                                        <p:attrNameLst>
                                          <p:attrName>ppt_h</p:attrName>
                                        </p:attrNameLst>
                                      </p:cBhvr>
                                      <p:tavLst>
                                        <p:tav tm="0">
                                          <p:val>
                                            <p:fltVal val="0"/>
                                          </p:val>
                                        </p:tav>
                                        <p:tav tm="100000">
                                          <p:val>
                                            <p:strVal val="#ppt_h"/>
                                          </p:val>
                                        </p:tav>
                                      </p:tavLst>
                                    </p:anim>
                                    <p:animEffect transition="in" filter="fade">
                                      <p:cBhvr>
                                        <p:cTn id="40" dur="600"/>
                                        <p:tgtEl>
                                          <p:spTgt spid="12"/>
                                        </p:tgtEl>
                                      </p:cBhvr>
                                    </p:animEffect>
                                  </p:childTnLst>
                                </p:cTn>
                              </p:par>
                              <p:par>
                                <p:cTn id="41" presetID="10" presetClass="entr" presetSubtype="0" fill="hold" grpId="0" nodeType="withEffect">
                                  <p:stCondLst>
                                    <p:cond delay="155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9" grpId="0" animBg="1"/>
      <p:bldP spid="11"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3 — Problématique, hypothèses et objectifs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Trois hypothèses à vérifier sur le terrain</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h0"/>
          <p:cNvSpPr/>
          <p:nvPr/>
        </p:nvSpPr>
        <p:spPr>
          <a:xfrm>
            <a:off x="683743" y="1783080"/>
            <a:ext cx="3231032" cy="3246120"/>
          </a:xfrm>
          <a:prstGeom prst="rect">
            <a:avLst/>
          </a:prstGeom>
          <a:solidFill>
            <a:srgbClr val="FFFFFF"/>
          </a:solidFill>
          <a:ln w="9525">
            <a:solidFill>
              <a:srgbClr val="D9DFEA"/>
            </a:solidFill>
            <a:prstDash val="solid"/>
          </a:ln>
        </p:spPr>
      </p:sp>
      <p:sp>
        <p:nvSpPr>
          <p:cNvPr id="6" name="h0b"/>
          <p:cNvSpPr/>
          <p:nvPr/>
        </p:nvSpPr>
        <p:spPr>
          <a:xfrm>
            <a:off x="683743" y="1783080"/>
            <a:ext cx="52395" cy="3246120"/>
          </a:xfrm>
          <a:prstGeom prst="rect">
            <a:avLst/>
          </a:prstGeom>
          <a:solidFill>
            <a:srgbClr val="1B3F9E"/>
          </a:solidFill>
          <a:ln w="12700">
            <a:solidFill>
              <a:srgbClr val="1B3F9E"/>
            </a:solidFill>
            <a:prstDash val="solid"/>
          </a:ln>
        </p:spPr>
      </p:sp>
      <p:sp>
        <p:nvSpPr>
          <p:cNvPr id="7" name="hc0"/>
          <p:cNvSpPr txBox="1"/>
          <p:nvPr/>
        </p:nvSpPr>
        <p:spPr>
          <a:xfrm>
            <a:off x="989381" y="1965960"/>
            <a:ext cx="1746504" cy="548640"/>
          </a:xfrm>
          <a:prstGeom prst="rect">
            <a:avLst/>
          </a:prstGeom>
          <a:noFill/>
          <a:ln/>
        </p:spPr>
        <p:txBody>
          <a:bodyPr wrap="square" lIns="0" tIns="0" rIns="0" bIns="0" rtlCol="0" anchor="t"/>
          <a:lstStyle/>
          <a:p>
            <a:pPr indent="0" marL="0">
              <a:buNone/>
            </a:pPr>
            <a:r>
              <a:rPr lang="fr-FR" altLang="en-US" sz="2800" b="1" dirty="0">
                <a:solidFill>
                  <a:srgbClr val="1B3F9E"/>
                </a:solidFill>
                <a:latin typeface="Calibri" pitchFamily="34" charset="0"/>
                <a:ea typeface="Calibri" pitchFamily="34" charset="-122"/>
                <a:cs typeface="Calibri" pitchFamily="34" charset="-120"/>
              </a:rPr>
              <a:t>HS1</a:t>
            </a:r>
            <a:endParaRPr lang="fr-FR" sz="2800" dirty="0"/>
          </a:p>
        </p:txBody>
      </p:sp>
      <p:sp>
        <p:nvSpPr>
          <p:cNvPr id="8" name="ht0"/>
          <p:cNvSpPr txBox="1"/>
          <p:nvPr/>
        </p:nvSpPr>
        <p:spPr>
          <a:xfrm>
            <a:off x="989381" y="2651760"/>
            <a:ext cx="2707081" cy="2240280"/>
          </a:xfrm>
          <a:prstGeom prst="rect">
            <a:avLst/>
          </a:prstGeom>
          <a:noFill/>
          <a:ln/>
        </p:spPr>
        <p:txBody>
          <a:bodyPr wrap="square" lIns="0" tIns="0" rIns="0" bIns="0" rtlCol="0" anchor="t"/>
          <a:lstStyle/>
          <a:p>
            <a:pPr indent="0" marL="0">
              <a:buNone/>
            </a:pPr>
            <a:r>
              <a:rPr lang="fr-FR" altLang="en-US" sz="1600" dirty="0">
                <a:solidFill>
                  <a:srgbClr val="0E1C46"/>
                </a:solidFill>
                <a:latin typeface="Calibri" pitchFamily="34" charset="0"/>
                <a:ea typeface="Calibri" pitchFamily="34" charset="-122"/>
                <a:cs typeface="Calibri" pitchFamily="34" charset="-120"/>
              </a:rPr>
              <a:t>Le circuit est formellement structuré, mais son application dépend de la disponibilité des responsables habilités à signer.</a:t>
            </a:r>
            <a:endParaRPr lang="fr-FR" sz="1600" dirty="0"/>
          </a:p>
        </p:txBody>
      </p:sp>
      <p:sp>
        <p:nvSpPr>
          <p:cNvPr id="9" name="h1"/>
          <p:cNvSpPr/>
          <p:nvPr/>
        </p:nvSpPr>
        <p:spPr>
          <a:xfrm>
            <a:off x="4150553" y="1783080"/>
            <a:ext cx="3231032" cy="3246120"/>
          </a:xfrm>
          <a:prstGeom prst="rect">
            <a:avLst/>
          </a:prstGeom>
          <a:solidFill>
            <a:srgbClr val="FFFFFF"/>
          </a:solidFill>
          <a:ln w="9525">
            <a:solidFill>
              <a:srgbClr val="D9DFEA"/>
            </a:solidFill>
            <a:prstDash val="solid"/>
          </a:ln>
        </p:spPr>
      </p:sp>
      <p:sp>
        <p:nvSpPr>
          <p:cNvPr id="10" name="h1b"/>
          <p:cNvSpPr/>
          <p:nvPr/>
        </p:nvSpPr>
        <p:spPr>
          <a:xfrm>
            <a:off x="4150553" y="1783080"/>
            <a:ext cx="52395" cy="3246120"/>
          </a:xfrm>
          <a:prstGeom prst="rect">
            <a:avLst/>
          </a:prstGeom>
          <a:solidFill>
            <a:srgbClr val="00923A"/>
          </a:solidFill>
          <a:ln w="12700">
            <a:solidFill>
              <a:srgbClr val="00923A"/>
            </a:solidFill>
            <a:prstDash val="solid"/>
          </a:ln>
        </p:spPr>
      </p:sp>
      <p:sp>
        <p:nvSpPr>
          <p:cNvPr id="11" name="hc1"/>
          <p:cNvSpPr txBox="1"/>
          <p:nvPr/>
        </p:nvSpPr>
        <p:spPr>
          <a:xfrm>
            <a:off x="4456191" y="1965960"/>
            <a:ext cx="1746504" cy="548640"/>
          </a:xfrm>
          <a:prstGeom prst="rect">
            <a:avLst/>
          </a:prstGeom>
          <a:noFill/>
          <a:ln/>
        </p:spPr>
        <p:txBody>
          <a:bodyPr wrap="square" lIns="0" tIns="0" rIns="0" bIns="0" rtlCol="0" anchor="t"/>
          <a:lstStyle/>
          <a:p>
            <a:pPr indent="0" marL="0">
              <a:buNone/>
            </a:pPr>
            <a:r>
              <a:rPr lang="fr-FR" altLang="en-US" sz="2800" b="1" dirty="0">
                <a:solidFill>
                  <a:srgbClr val="00923A"/>
                </a:solidFill>
                <a:latin typeface="Calibri" pitchFamily="34" charset="0"/>
                <a:ea typeface="Calibri" pitchFamily="34" charset="-122"/>
                <a:cs typeface="Calibri" pitchFamily="34" charset="-120"/>
              </a:rPr>
              <a:t>HS2</a:t>
            </a:r>
            <a:endParaRPr lang="fr-FR" sz="2800" dirty="0"/>
          </a:p>
        </p:txBody>
      </p:sp>
      <p:sp>
        <p:nvSpPr>
          <p:cNvPr id="12" name="ht1"/>
          <p:cNvSpPr txBox="1"/>
          <p:nvPr/>
        </p:nvSpPr>
        <p:spPr>
          <a:xfrm>
            <a:off x="4456191" y="2651760"/>
            <a:ext cx="2707081" cy="2240280"/>
          </a:xfrm>
          <a:prstGeom prst="rect">
            <a:avLst/>
          </a:prstGeom>
          <a:noFill/>
          <a:ln/>
        </p:spPr>
        <p:txBody>
          <a:bodyPr wrap="square" lIns="0" tIns="0" rIns="0" bIns="0" rtlCol="0" anchor="t"/>
          <a:lstStyle/>
          <a:p>
            <a:pPr indent="0" marL="0">
              <a:buNone/>
            </a:pPr>
            <a:r>
              <a:rPr lang="fr-FR" altLang="en-US" sz="1600" dirty="0">
                <a:solidFill>
                  <a:srgbClr val="0E1C46"/>
                </a:solidFill>
                <a:latin typeface="Calibri" pitchFamily="34" charset="0"/>
                <a:ea typeface="Calibri" pitchFamily="34" charset="-122"/>
                <a:cs typeface="Calibri" pitchFamily="34" charset="-120"/>
              </a:rPr>
              <a:t>L’insuffisance des moyens matériels et logistiques ralentit le traitement et le suivi des courriers.</a:t>
            </a:r>
            <a:endParaRPr lang="fr-FR" sz="1600" dirty="0"/>
          </a:p>
        </p:txBody>
      </p:sp>
      <p:sp>
        <p:nvSpPr>
          <p:cNvPr id="13" name="h2"/>
          <p:cNvSpPr/>
          <p:nvPr/>
        </p:nvSpPr>
        <p:spPr>
          <a:xfrm>
            <a:off x="7617363" y="1783080"/>
            <a:ext cx="3231032" cy="3246120"/>
          </a:xfrm>
          <a:prstGeom prst="rect">
            <a:avLst/>
          </a:prstGeom>
          <a:solidFill>
            <a:srgbClr val="FFFFFF"/>
          </a:solidFill>
          <a:ln w="9525">
            <a:solidFill>
              <a:srgbClr val="D9DFEA"/>
            </a:solidFill>
            <a:prstDash val="solid"/>
          </a:ln>
        </p:spPr>
      </p:sp>
      <p:sp>
        <p:nvSpPr>
          <p:cNvPr id="14" name="h2b"/>
          <p:cNvSpPr/>
          <p:nvPr/>
        </p:nvSpPr>
        <p:spPr>
          <a:xfrm>
            <a:off x="7617363" y="1783080"/>
            <a:ext cx="52395" cy="3246120"/>
          </a:xfrm>
          <a:prstGeom prst="rect">
            <a:avLst/>
          </a:prstGeom>
          <a:solidFill>
            <a:srgbClr val="9A6A00"/>
          </a:solidFill>
          <a:ln w="12700">
            <a:solidFill>
              <a:srgbClr val="9A6A00"/>
            </a:solidFill>
            <a:prstDash val="solid"/>
          </a:ln>
        </p:spPr>
      </p:sp>
      <p:sp>
        <p:nvSpPr>
          <p:cNvPr id="15" name="hc2"/>
          <p:cNvSpPr txBox="1"/>
          <p:nvPr/>
        </p:nvSpPr>
        <p:spPr>
          <a:xfrm>
            <a:off x="7923002" y="1965960"/>
            <a:ext cx="1746504" cy="548640"/>
          </a:xfrm>
          <a:prstGeom prst="rect">
            <a:avLst/>
          </a:prstGeom>
          <a:noFill/>
          <a:ln/>
        </p:spPr>
        <p:txBody>
          <a:bodyPr wrap="square" lIns="0" tIns="0" rIns="0" bIns="0" rtlCol="0" anchor="t"/>
          <a:lstStyle/>
          <a:p>
            <a:pPr indent="0" marL="0">
              <a:buNone/>
            </a:pPr>
            <a:r>
              <a:rPr lang="fr-FR" altLang="en-US" sz="2800" b="1" dirty="0">
                <a:solidFill>
                  <a:srgbClr val="9A6A00"/>
                </a:solidFill>
                <a:latin typeface="Calibri" pitchFamily="34" charset="0"/>
                <a:ea typeface="Calibri" pitchFamily="34" charset="-122"/>
                <a:cs typeface="Calibri" pitchFamily="34" charset="-120"/>
              </a:rPr>
              <a:t>HS3</a:t>
            </a:r>
            <a:endParaRPr lang="fr-FR" sz="2800" dirty="0"/>
          </a:p>
        </p:txBody>
      </p:sp>
      <p:sp>
        <p:nvSpPr>
          <p:cNvPr id="16" name="ht2"/>
          <p:cNvSpPr txBox="1"/>
          <p:nvPr/>
        </p:nvSpPr>
        <p:spPr>
          <a:xfrm>
            <a:off x="7923002" y="2651760"/>
            <a:ext cx="2707081" cy="2240280"/>
          </a:xfrm>
          <a:prstGeom prst="rect">
            <a:avLst/>
          </a:prstGeom>
          <a:noFill/>
          <a:ln/>
        </p:spPr>
        <p:txBody>
          <a:bodyPr wrap="square" lIns="0" tIns="0" rIns="0" bIns="0" rtlCol="0" anchor="t"/>
          <a:lstStyle/>
          <a:p>
            <a:pPr indent="0" marL="0">
              <a:buNone/>
            </a:pPr>
            <a:r>
              <a:rPr lang="fr-FR" altLang="en-US" sz="1600" dirty="0">
                <a:solidFill>
                  <a:srgbClr val="0E1C46"/>
                </a:solidFill>
                <a:latin typeface="Calibri" pitchFamily="34" charset="0"/>
                <a:ea typeface="Calibri" pitchFamily="34" charset="-122"/>
                <a:cs typeface="Calibri" pitchFamily="34" charset="-120"/>
              </a:rPr>
              <a:t>L’absence d’un outil numérique formalisé et de procédures écrites limite la traçabilité et l’harmonisation.</a:t>
            </a:r>
            <a:endParaRPr lang="fr-FR" sz="1600" dirty="0"/>
          </a:p>
        </p:txBody>
      </p:sp>
      <p:sp>
        <p:nvSpPr>
          <p:cNvPr id="17" name="og"/>
          <p:cNvSpPr/>
          <p:nvPr/>
        </p:nvSpPr>
        <p:spPr>
          <a:xfrm>
            <a:off x="683743" y="5303520"/>
            <a:ext cx="10129723" cy="777240"/>
          </a:xfrm>
          <a:prstGeom prst="rect">
            <a:avLst/>
          </a:prstGeom>
          <a:solidFill>
            <a:srgbClr val="EEF2FB"/>
          </a:solidFill>
          <a:ln w="9525">
            <a:solidFill>
              <a:srgbClr val="D9DFEA"/>
            </a:solidFill>
            <a:prstDash val="solid"/>
          </a:ln>
        </p:spPr>
      </p:sp>
      <p:sp>
        <p:nvSpPr>
          <p:cNvPr id="18" name="ogb"/>
          <p:cNvSpPr/>
          <p:nvPr/>
        </p:nvSpPr>
        <p:spPr>
          <a:xfrm>
            <a:off x="683743" y="5303520"/>
            <a:ext cx="52395" cy="777240"/>
          </a:xfrm>
          <a:prstGeom prst="rect">
            <a:avLst/>
          </a:prstGeom>
          <a:solidFill>
            <a:srgbClr val="1B3F9E"/>
          </a:solidFill>
          <a:ln w="12700">
            <a:solidFill>
              <a:srgbClr val="1B3F9E"/>
            </a:solidFill>
            <a:prstDash val="solid"/>
          </a:ln>
        </p:spPr>
      </p:sp>
      <p:sp>
        <p:nvSpPr>
          <p:cNvPr id="19" name="ogt"/>
          <p:cNvSpPr txBox="1"/>
          <p:nvPr/>
        </p:nvSpPr>
        <p:spPr>
          <a:xfrm>
            <a:off x="945718" y="5394960"/>
            <a:ext cx="9693097" cy="594360"/>
          </a:xfrm>
          <a:prstGeom prst="rect">
            <a:avLst/>
          </a:prstGeom>
          <a:noFill/>
          <a:ln/>
        </p:spPr>
        <p:txBody>
          <a:bodyPr wrap="square" lIns="0" tIns="0" rIns="0" bIns="0" rtlCol="0" anchor="ctr"/>
          <a:lstStyle/>
          <a:p>
            <a:pPr indent="0" marL="0">
              <a:buNone/>
            </a:pPr>
            <a:r>
              <a:rPr lang="fr-FR" altLang="en-US" sz="1600" b="1" dirty="0">
                <a:solidFill>
                  <a:srgbClr val="1B3F9E"/>
                </a:solidFill>
                <a:latin typeface="Calibri" pitchFamily="34" charset="0"/>
                <a:ea typeface="Calibri" pitchFamily="34" charset="-122"/>
                <a:cs typeface="Calibri" pitchFamily="34" charset="-120"/>
              </a:rPr>
              <a:t>Objectif général : </a:t>
            </a:r>
            <a:pPr indent="0" marL="0">
              <a:buNone/>
            </a:pPr>
            <a:r>
              <a:rPr lang="fr-FR" altLang="en-US" sz="1600" dirty="0">
                <a:solidFill>
                  <a:srgbClr val="0E1C46"/>
                </a:solidFill>
                <a:latin typeface="Calibri" pitchFamily="34" charset="0"/>
                <a:ea typeface="Calibri" pitchFamily="34" charset="-122"/>
                <a:cs typeface="Calibri" pitchFamily="34" charset="-120"/>
              </a:rPr>
              <a:t>analyser le fonctionnement du système, en identifier les forces et les faiblesses, et proposer des pistes d’amélioration.</a:t>
            </a:r>
            <a:endParaRPr lang="fr-FR" sz="1600" dirty="0"/>
          </a:p>
        </p:txBody>
      </p:sp>
      <p:pic>
        <p:nvPicPr>
          <p:cNvPr id="20"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21"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2"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13 / 21</a:t>
            </a:r>
            <a:endParaRPr lang="fr-FR" sz="1000" dirty="0"/>
          </a:p>
        </p:txBody>
      </p:sp>
      <p:sp>
        <p:nvSpPr>
          <p:cNvPr id="23" name="!!band1"/>
          <p:cNvSpPr/>
          <p:nvPr/>
        </p:nvSpPr>
        <p:spPr>
          <a:xfrm>
            <a:off x="0" y="0"/>
            <a:ext cx="4873752" cy="64008"/>
          </a:xfrm>
          <a:prstGeom prst="rect">
            <a:avLst/>
          </a:prstGeom>
          <a:solidFill>
            <a:srgbClr val="1B3F9E"/>
          </a:solidFill>
          <a:ln w="12700">
            <a:solidFill>
              <a:srgbClr val="1B3F9E"/>
            </a:solidFill>
            <a:prstDash val="solid"/>
          </a:ln>
        </p:spPr>
      </p:sp>
      <p:sp>
        <p:nvSpPr>
          <p:cNvPr id="24" name="!!band2"/>
          <p:cNvSpPr/>
          <p:nvPr/>
        </p:nvSpPr>
        <p:spPr>
          <a:xfrm>
            <a:off x="4873752" y="0"/>
            <a:ext cx="4270248" cy="64008"/>
          </a:xfrm>
          <a:prstGeom prst="rect">
            <a:avLst/>
          </a:prstGeom>
          <a:solidFill>
            <a:srgbClr val="00923A"/>
          </a:solidFill>
          <a:ln w="12700">
            <a:solidFill>
              <a:srgbClr val="00923A"/>
            </a:solidFill>
            <a:prstDash val="solid"/>
          </a:ln>
        </p:spPr>
      </p:sp>
      <p:sp>
        <p:nvSpPr>
          <p:cNvPr id="25" name="!!band3"/>
          <p:cNvSpPr/>
          <p:nvPr/>
        </p:nvSpPr>
        <p:spPr>
          <a:xfrm>
            <a:off x="9144000" y="0"/>
            <a:ext cx="3047695" cy="64008"/>
          </a:xfrm>
          <a:prstGeom prst="rect">
            <a:avLst/>
          </a:prstGeom>
          <a:solidFill>
            <a:srgbClr val="FCC600"/>
          </a:solidFill>
          <a:ln w="12700">
            <a:solidFill>
              <a:srgbClr val="FCC600"/>
            </a:solidFill>
            <a:prstDash val="solid"/>
          </a:ln>
        </p:spPr>
      </p:sp>
      <p:sp>
        <p:nvSpPr>
          <p:cNvPr id="26" name="!!railline"/>
          <p:cNvSpPr/>
          <p:nvPr/>
        </p:nvSpPr>
        <p:spPr>
          <a:xfrm>
            <a:off x="11795760" y="1600200"/>
            <a:ext cx="914" cy="3383280"/>
          </a:xfrm>
          <a:prstGeom prst="line">
            <a:avLst/>
          </a:prstGeom>
          <a:noFill/>
          <a:ln w="19050">
            <a:solidFill>
              <a:srgbClr val="D9DFEA"/>
            </a:solidFill>
            <a:prstDash val="solid"/>
          </a:ln>
        </p:spPr>
      </p:sp>
      <p:sp>
        <p:nvSpPr>
          <p:cNvPr id="27" name="!!railprog"/>
          <p:cNvSpPr/>
          <p:nvPr/>
        </p:nvSpPr>
        <p:spPr>
          <a:xfrm>
            <a:off x="11795760" y="1600200"/>
            <a:ext cx="914" cy="1353312"/>
          </a:xfrm>
          <a:prstGeom prst="line">
            <a:avLst/>
          </a:prstGeom>
          <a:noFill/>
          <a:ln w="31750">
            <a:solidFill>
              <a:srgbClr val="00923A"/>
            </a:solidFill>
            <a:prstDash val="solid"/>
          </a:ln>
        </p:spPr>
      </p:sp>
      <p:sp>
        <p:nvSpPr>
          <p:cNvPr id="28"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29"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0" name="!!m2"/>
          <p:cNvSpPr/>
          <p:nvPr/>
        </p:nvSpPr>
        <p:spPr>
          <a:xfrm>
            <a:off x="11603736" y="2084832"/>
            <a:ext cx="384048" cy="384048"/>
          </a:xfrm>
          <a:prstGeom prst="ellipse">
            <a:avLst/>
          </a:prstGeom>
          <a:solidFill>
            <a:srgbClr val="00923A"/>
          </a:solidFill>
          <a:ln w="15875">
            <a:solidFill>
              <a:srgbClr val="00923A"/>
            </a:solidFill>
            <a:prstDash val="solid"/>
          </a:ln>
        </p:spPr>
      </p:sp>
      <p:sp>
        <p:nvSpPr>
          <p:cNvPr id="31"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2" name="!!m3"/>
          <p:cNvSpPr/>
          <p:nvPr/>
        </p:nvSpPr>
        <p:spPr>
          <a:xfrm>
            <a:off x="11603736" y="2761488"/>
            <a:ext cx="384048" cy="384048"/>
          </a:xfrm>
          <a:prstGeom prst="ellipse">
            <a:avLst/>
          </a:prstGeom>
          <a:solidFill>
            <a:srgbClr val="1B3F9E"/>
          </a:solidFill>
          <a:ln w="15875">
            <a:solidFill>
              <a:srgbClr val="1B3F9E"/>
            </a:solidFill>
            <a:prstDash val="solid"/>
          </a:ln>
        </p:spPr>
      </p:sp>
      <p:sp>
        <p:nvSpPr>
          <p:cNvPr id="33" name="!!mt3">
            <a:hlinkClick r:id="rId4"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35" name="!!mt4">
            <a:hlinkClick r:id="rId5"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36"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37" name="!!mt5">
            <a:hlinkClick r:id="rId6"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38"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39" name="!!mt6">
            <a:hlinkClick r:id="rId7"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0"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Problématique</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22" presetClass="entr" presetSubtype="4" fill="hold" grpId="0" nodeType="withEffect">
                                  <p:stCondLst>
                                    <p:cond delay="25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900"/>
                                        <p:tgtEl>
                                          <p:spTgt spid="6"/>
                                        </p:tgtEl>
                                      </p:cBhvr>
                                    </p:animEffect>
                                  </p:childTnLst>
                                </p:cTn>
                              </p:par>
                              <p:par>
                                <p:cTn id="17" presetID="53" presetClass="entr" presetSubtype="16"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 calcmode="lin" valueType="num">
                                      <p:cBhvr>
                                        <p:cTn id="19" dur="600" fill="hold"/>
                                        <p:tgtEl>
                                          <p:spTgt spid="7"/>
                                        </p:tgtEl>
                                        <p:attrNameLst>
                                          <p:attrName>ppt_w</p:attrName>
                                        </p:attrNameLst>
                                      </p:cBhvr>
                                      <p:tavLst>
                                        <p:tav tm="0">
                                          <p:val>
                                            <p:fltVal val="0"/>
                                          </p:val>
                                        </p:tav>
                                        <p:tav tm="100000">
                                          <p:val>
                                            <p:strVal val="#ppt_w"/>
                                          </p:val>
                                        </p:tav>
                                      </p:tavLst>
                                    </p:anim>
                                    <p:anim calcmode="lin" valueType="num">
                                      <p:cBhvr>
                                        <p:cTn id="20" dur="600" fill="hold"/>
                                        <p:tgtEl>
                                          <p:spTgt spid="7"/>
                                        </p:tgtEl>
                                        <p:attrNameLst>
                                          <p:attrName>ppt_h</p:attrName>
                                        </p:attrNameLst>
                                      </p:cBhvr>
                                      <p:tavLst>
                                        <p:tav tm="0">
                                          <p:val>
                                            <p:fltVal val="0"/>
                                          </p:val>
                                        </p:tav>
                                        <p:tav tm="100000">
                                          <p:val>
                                            <p:strVal val="#ppt_h"/>
                                          </p:val>
                                        </p:tav>
                                      </p:tavLst>
                                    </p:anim>
                                    <p:animEffect transition="in" filter="fade">
                                      <p:cBhvr>
                                        <p:cTn id="21" dur="600"/>
                                        <p:tgtEl>
                                          <p:spTgt spid="7"/>
                                        </p:tgtEl>
                                      </p:cBhvr>
                                    </p:animEffect>
                                  </p:childTnLst>
                                </p:cTn>
                              </p:par>
                              <p:par>
                                <p:cTn id="22" presetID="10" presetClass="entr" presetSubtype="0" fill="hold" grpId="0" nodeType="withEffect">
                                  <p:stCondLst>
                                    <p:cond delay="35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600"/>
                                        <p:tgtEl>
                                          <p:spTgt spid="8"/>
                                        </p:tgtEl>
                                      </p:cBhvr>
                                    </p:animEffect>
                                  </p:childTnLst>
                                </p:cTn>
                              </p:par>
                              <p:par>
                                <p:cTn id="25" presetID="10" presetClass="entr" presetSubtype="0" fill="hold" grpId="0" nodeType="withEffect">
                                  <p:stCondLst>
                                    <p:cond delay="6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600"/>
                                        <p:tgtEl>
                                          <p:spTgt spid="9"/>
                                        </p:tgtEl>
                                      </p:cBhvr>
                                    </p:animEffect>
                                  </p:childTnLst>
                                </p:cTn>
                              </p:par>
                              <p:par>
                                <p:cTn id="28" presetID="22" presetClass="entr" presetSubtype="4" fill="hold" grpId="0" nodeType="withEffect">
                                  <p:stCondLst>
                                    <p:cond delay="600"/>
                                  </p:stCondLst>
                                  <p:childTnLst>
                                    <p:set>
                                      <p:cBhvr>
                                        <p:cTn id="29" dur="1" fill="hold">
                                          <p:stCondLst>
                                            <p:cond delay="0"/>
                                          </p:stCondLst>
                                        </p:cTn>
                                        <p:tgtEl>
                                          <p:spTgt spid="10"/>
                                        </p:tgtEl>
                                        <p:attrNameLst>
                                          <p:attrName>style.visibility</p:attrName>
                                        </p:attrNameLst>
                                      </p:cBhvr>
                                      <p:to>
                                        <p:strVal val="visible"/>
                                      </p:to>
                                    </p:set>
                                    <p:animEffect transition="in" filter="wipe(up)">
                                      <p:cBhvr>
                                        <p:cTn id="30" dur="900"/>
                                        <p:tgtEl>
                                          <p:spTgt spid="10"/>
                                        </p:tgtEl>
                                      </p:cBhvr>
                                    </p:animEffect>
                                  </p:childTnLst>
                                </p:cTn>
                              </p:par>
                              <p:par>
                                <p:cTn id="31" presetID="53" presetClass="entr" presetSubtype="16" fill="hold" grpId="0" nodeType="withEffect">
                                  <p:stCondLst>
                                    <p:cond delay="650"/>
                                  </p:stCondLst>
                                  <p:childTnLst>
                                    <p:set>
                                      <p:cBhvr>
                                        <p:cTn id="32" dur="1" fill="hold">
                                          <p:stCondLst>
                                            <p:cond delay="0"/>
                                          </p:stCondLst>
                                        </p:cTn>
                                        <p:tgtEl>
                                          <p:spTgt spid="11"/>
                                        </p:tgtEl>
                                        <p:attrNameLst>
                                          <p:attrName>style.visibility</p:attrName>
                                        </p:attrNameLst>
                                      </p:cBhvr>
                                      <p:to>
                                        <p:strVal val="visible"/>
                                      </p:to>
                                    </p:set>
                                    <p:anim calcmode="lin" valueType="num">
                                      <p:cBhvr>
                                        <p:cTn id="33" dur="600" fill="hold"/>
                                        <p:tgtEl>
                                          <p:spTgt spid="11"/>
                                        </p:tgtEl>
                                        <p:attrNameLst>
                                          <p:attrName>ppt_w</p:attrName>
                                        </p:attrNameLst>
                                      </p:cBhvr>
                                      <p:tavLst>
                                        <p:tav tm="0">
                                          <p:val>
                                            <p:fltVal val="0"/>
                                          </p:val>
                                        </p:tav>
                                        <p:tav tm="100000">
                                          <p:val>
                                            <p:strVal val="#ppt_w"/>
                                          </p:val>
                                        </p:tav>
                                      </p:tavLst>
                                    </p:anim>
                                    <p:anim calcmode="lin" valueType="num">
                                      <p:cBhvr>
                                        <p:cTn id="34" dur="600" fill="hold"/>
                                        <p:tgtEl>
                                          <p:spTgt spid="11"/>
                                        </p:tgtEl>
                                        <p:attrNameLst>
                                          <p:attrName>ppt_h</p:attrName>
                                        </p:attrNameLst>
                                      </p:cBhvr>
                                      <p:tavLst>
                                        <p:tav tm="0">
                                          <p:val>
                                            <p:fltVal val="0"/>
                                          </p:val>
                                        </p:tav>
                                        <p:tav tm="100000">
                                          <p:val>
                                            <p:strVal val="#ppt_h"/>
                                          </p:val>
                                        </p:tav>
                                      </p:tavLst>
                                    </p:anim>
                                    <p:animEffect transition="in" filter="fade">
                                      <p:cBhvr>
                                        <p:cTn id="35" dur="600"/>
                                        <p:tgtEl>
                                          <p:spTgt spid="11"/>
                                        </p:tgtEl>
                                      </p:cBhvr>
                                    </p:animEffect>
                                  </p:childTnLst>
                                </p:cTn>
                              </p:par>
                              <p:par>
                                <p:cTn id="36" presetID="10" presetClass="entr" presetSubtype="0" fill="hold" grpId="0" nodeType="withEffect">
                                  <p:stCondLst>
                                    <p:cond delay="7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childTnLst>
                                </p:cTn>
                              </p:par>
                              <p:par>
                                <p:cTn id="39" presetID="10" presetClass="entr" presetSubtype="0" fill="hold" grpId="0" nodeType="withEffect">
                                  <p:stCondLst>
                                    <p:cond delay="95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600"/>
                                        <p:tgtEl>
                                          <p:spTgt spid="13"/>
                                        </p:tgtEl>
                                      </p:cBhvr>
                                    </p:animEffect>
                                  </p:childTnLst>
                                </p:cTn>
                              </p:par>
                              <p:par>
                                <p:cTn id="42" presetID="22" presetClass="entr" presetSubtype="4" fill="hold" grpId="0" nodeType="withEffect">
                                  <p:stCondLst>
                                    <p:cond delay="950"/>
                                  </p:stCondLst>
                                  <p:childTnLst>
                                    <p:set>
                                      <p:cBhvr>
                                        <p:cTn id="43" dur="1" fill="hold">
                                          <p:stCondLst>
                                            <p:cond delay="0"/>
                                          </p:stCondLst>
                                        </p:cTn>
                                        <p:tgtEl>
                                          <p:spTgt spid="14"/>
                                        </p:tgtEl>
                                        <p:attrNameLst>
                                          <p:attrName>style.visibility</p:attrName>
                                        </p:attrNameLst>
                                      </p:cBhvr>
                                      <p:to>
                                        <p:strVal val="visible"/>
                                      </p:to>
                                    </p:set>
                                    <p:animEffect transition="in" filter="wipe(up)">
                                      <p:cBhvr>
                                        <p:cTn id="44" dur="900"/>
                                        <p:tgtEl>
                                          <p:spTgt spid="14"/>
                                        </p:tgtEl>
                                      </p:cBhvr>
                                    </p:animEffect>
                                  </p:childTnLst>
                                </p:cTn>
                              </p:par>
                              <p:par>
                                <p:cTn id="45" presetID="53" presetClass="entr" presetSubtype="16" fill="hold" grpId="0" nodeType="withEffect">
                                  <p:stCondLst>
                                    <p:cond delay="1000"/>
                                  </p:stCondLst>
                                  <p:childTnLst>
                                    <p:set>
                                      <p:cBhvr>
                                        <p:cTn id="46" dur="1" fill="hold">
                                          <p:stCondLst>
                                            <p:cond delay="0"/>
                                          </p:stCondLst>
                                        </p:cTn>
                                        <p:tgtEl>
                                          <p:spTgt spid="15"/>
                                        </p:tgtEl>
                                        <p:attrNameLst>
                                          <p:attrName>style.visibility</p:attrName>
                                        </p:attrNameLst>
                                      </p:cBhvr>
                                      <p:to>
                                        <p:strVal val="visible"/>
                                      </p:to>
                                    </p:set>
                                    <p:anim calcmode="lin" valueType="num">
                                      <p:cBhvr>
                                        <p:cTn id="47" dur="600" fill="hold"/>
                                        <p:tgtEl>
                                          <p:spTgt spid="15"/>
                                        </p:tgtEl>
                                        <p:attrNameLst>
                                          <p:attrName>ppt_w</p:attrName>
                                        </p:attrNameLst>
                                      </p:cBhvr>
                                      <p:tavLst>
                                        <p:tav tm="0">
                                          <p:val>
                                            <p:fltVal val="0"/>
                                          </p:val>
                                        </p:tav>
                                        <p:tav tm="100000">
                                          <p:val>
                                            <p:strVal val="#ppt_w"/>
                                          </p:val>
                                        </p:tav>
                                      </p:tavLst>
                                    </p:anim>
                                    <p:anim calcmode="lin" valueType="num">
                                      <p:cBhvr>
                                        <p:cTn id="48" dur="600" fill="hold"/>
                                        <p:tgtEl>
                                          <p:spTgt spid="15"/>
                                        </p:tgtEl>
                                        <p:attrNameLst>
                                          <p:attrName>ppt_h</p:attrName>
                                        </p:attrNameLst>
                                      </p:cBhvr>
                                      <p:tavLst>
                                        <p:tav tm="0">
                                          <p:val>
                                            <p:fltVal val="0"/>
                                          </p:val>
                                        </p:tav>
                                        <p:tav tm="100000">
                                          <p:val>
                                            <p:strVal val="#ppt_h"/>
                                          </p:val>
                                        </p:tav>
                                      </p:tavLst>
                                    </p:anim>
                                    <p:animEffect transition="in" filter="fade">
                                      <p:cBhvr>
                                        <p:cTn id="49" dur="600"/>
                                        <p:tgtEl>
                                          <p:spTgt spid="15"/>
                                        </p:tgtEl>
                                      </p:cBhvr>
                                    </p:animEffect>
                                  </p:childTnLst>
                                </p:cTn>
                              </p:par>
                              <p:par>
                                <p:cTn id="50" presetID="10" presetClass="entr" presetSubtype="0" fill="hold" grpId="0" nodeType="withEffect">
                                  <p:stCondLst>
                                    <p:cond delay="105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600"/>
                                        <p:tgtEl>
                                          <p:spTgt spid="16"/>
                                        </p:tgtEl>
                                      </p:cBhvr>
                                    </p:animEffect>
                                  </p:childTnLst>
                                </p:cTn>
                              </p:par>
                              <p:par>
                                <p:cTn id="53" presetID="22" presetClass="entr" presetSubtype="8" fill="hold" grpId="0" nodeType="withEffect">
                                  <p:stCondLst>
                                    <p:cond delay="1400"/>
                                  </p:stCondLst>
                                  <p:childTnLst>
                                    <p:set>
                                      <p:cBhvr>
                                        <p:cTn id="54" dur="1" fill="hold">
                                          <p:stCondLst>
                                            <p:cond delay="0"/>
                                          </p:stCondLst>
                                        </p:cTn>
                                        <p:tgtEl>
                                          <p:spTgt spid="17"/>
                                        </p:tgtEl>
                                        <p:attrNameLst>
                                          <p:attrName>style.visibility</p:attrName>
                                        </p:attrNameLst>
                                      </p:cBhvr>
                                      <p:to>
                                        <p:strVal val="visible"/>
                                      </p:to>
                                    </p:set>
                                    <p:animEffect transition="in" filter="wipe(left)">
                                      <p:cBhvr>
                                        <p:cTn id="55" dur="600"/>
                                        <p:tgtEl>
                                          <p:spTgt spid="17"/>
                                        </p:tgtEl>
                                      </p:cBhvr>
                                    </p:animEffect>
                                  </p:childTnLst>
                                </p:cTn>
                              </p:par>
                              <p:par>
                                <p:cTn id="56" presetID="10" presetClass="entr" presetSubtype="0" fill="hold" grpId="0" nodeType="withEffect">
                                  <p:stCondLst>
                                    <p:cond delay="140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600"/>
                                        <p:tgtEl>
                                          <p:spTgt spid="18"/>
                                        </p:tgtEl>
                                      </p:cBhvr>
                                    </p:animEffect>
                                  </p:childTnLst>
                                </p:cTn>
                              </p:par>
                              <p:par>
                                <p:cTn id="59" presetID="10" presetClass="entr" presetSubtype="0" fill="hold" grpId="0" nodeType="withEffect">
                                  <p:stCondLst>
                                    <p:cond delay="145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11" grpId="0" animBg="1"/>
      <p:bldP spid="12" grpId="0" animBg="1"/>
      <p:bldP spid="15" grpId="0" animBg="1"/>
      <p:bldP spid="16"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4 — Méthodologie</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Une approche qualitative, trois techniques de collecte</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m0"/>
          <p:cNvSpPr/>
          <p:nvPr/>
        </p:nvSpPr>
        <p:spPr>
          <a:xfrm>
            <a:off x="683743" y="1783080"/>
            <a:ext cx="6636715" cy="1097280"/>
          </a:xfrm>
          <a:prstGeom prst="rect">
            <a:avLst/>
          </a:prstGeom>
          <a:solidFill>
            <a:srgbClr val="FFFFFF"/>
          </a:solidFill>
          <a:ln w="9525">
            <a:solidFill>
              <a:srgbClr val="D9DFEA"/>
            </a:solidFill>
            <a:prstDash val="solid"/>
          </a:ln>
        </p:spPr>
      </p:sp>
      <p:sp>
        <p:nvSpPr>
          <p:cNvPr id="6" name="m0b"/>
          <p:cNvSpPr/>
          <p:nvPr/>
        </p:nvSpPr>
        <p:spPr>
          <a:xfrm>
            <a:off x="683743" y="1783080"/>
            <a:ext cx="52395" cy="1097280"/>
          </a:xfrm>
          <a:prstGeom prst="rect">
            <a:avLst/>
          </a:prstGeom>
          <a:solidFill>
            <a:srgbClr val="1B3F9E"/>
          </a:solidFill>
          <a:ln w="12700">
            <a:solidFill>
              <a:srgbClr val="1B3F9E"/>
            </a:solidFill>
            <a:prstDash val="solid"/>
          </a:ln>
        </p:spPr>
      </p:sp>
      <p:sp>
        <p:nvSpPr>
          <p:cNvPr id="7" name="mn0"/>
          <p:cNvSpPr txBox="1"/>
          <p:nvPr/>
        </p:nvSpPr>
        <p:spPr>
          <a:xfrm>
            <a:off x="945718" y="1965960"/>
            <a:ext cx="523951" cy="731520"/>
          </a:xfrm>
          <a:prstGeom prst="rect">
            <a:avLst/>
          </a:prstGeom>
          <a:noFill/>
          <a:ln/>
        </p:spPr>
        <p:txBody>
          <a:bodyPr wrap="square" lIns="0" tIns="0" rIns="0" bIns="0" rtlCol="0" anchor="t"/>
          <a:lstStyle/>
          <a:p>
            <a:pPr indent="0" marL="0">
              <a:buNone/>
            </a:pPr>
            <a:r>
              <a:rPr lang="fr-FR" altLang="en-US" sz="3200" b="1" dirty="0">
                <a:solidFill>
                  <a:srgbClr val="1B3F9E"/>
                </a:solidFill>
                <a:latin typeface="Calibri" pitchFamily="34" charset="0"/>
                <a:ea typeface="Calibri" pitchFamily="34" charset="-122"/>
                <a:cs typeface="Calibri" pitchFamily="34" charset="-120"/>
              </a:rPr>
              <a:t>1</a:t>
            </a:r>
            <a:endParaRPr lang="fr-FR" sz="3200" dirty="0"/>
          </a:p>
        </p:txBody>
      </p:sp>
      <p:sp>
        <p:nvSpPr>
          <p:cNvPr id="8" name="mt0"/>
          <p:cNvSpPr txBox="1"/>
          <p:nvPr/>
        </p:nvSpPr>
        <p:spPr>
          <a:xfrm>
            <a:off x="1644320" y="1938528"/>
            <a:ext cx="5501488" cy="822960"/>
          </a:xfrm>
          <a:prstGeom prst="rect">
            <a:avLst/>
          </a:prstGeom>
          <a:noFill/>
          <a:ln/>
        </p:spPr>
        <p:txBody>
          <a:bodyPr wrap="square" lIns="0" tIns="0" rIns="0" bIns="0" rtlCol="0" anchor="t"/>
          <a:lstStyle/>
          <a:p>
            <a:pPr indent="0" marL="0">
              <a:buNone/>
            </a:pPr>
            <a:r>
              <a:rPr lang="fr-FR" altLang="en-US" sz="1800" b="1" dirty="0">
                <a:solidFill>
                  <a:srgbClr val="0E1C46"/>
                </a:solidFill>
                <a:latin typeface="Calibri" pitchFamily="34" charset="0"/>
                <a:ea typeface="Calibri" pitchFamily="34" charset="-122"/>
                <a:cs typeface="Calibri" pitchFamily="34" charset="-120"/>
              </a:rPr>
              <a:t>Observation participante</a:t>
            </a:r>
            <a:endParaRPr lang="fr-FR" sz="1800" dirty="0"/>
          </a:p>
          <a:p>
            <a:pPr indent="0" marL="0">
              <a:buNone/>
            </a:pPr>
            <a:r>
              <a:rPr lang="fr-FR" altLang="en-US" sz="1400" dirty="0">
                <a:solidFill>
                  <a:srgbClr val="56617C"/>
                </a:solidFill>
                <a:latin typeface="Calibri" pitchFamily="34" charset="0"/>
                <a:ea typeface="Calibri" pitchFamily="34" charset="-122"/>
                <a:cs typeface="Calibri" pitchFamily="34" charset="-120"/>
              </a:rPr>
              <a:t>Treize semaines au secrétariat général, consignées dans un journal de bord.</a:t>
            </a:r>
            <a:endParaRPr lang="fr-FR" sz="1800" dirty="0"/>
          </a:p>
        </p:txBody>
      </p:sp>
      <p:sp>
        <p:nvSpPr>
          <p:cNvPr id="9" name="m1"/>
          <p:cNvSpPr/>
          <p:nvPr/>
        </p:nvSpPr>
        <p:spPr>
          <a:xfrm>
            <a:off x="683743" y="3063240"/>
            <a:ext cx="6636715" cy="1097280"/>
          </a:xfrm>
          <a:prstGeom prst="rect">
            <a:avLst/>
          </a:prstGeom>
          <a:solidFill>
            <a:srgbClr val="FFFFFF"/>
          </a:solidFill>
          <a:ln w="9525">
            <a:solidFill>
              <a:srgbClr val="D9DFEA"/>
            </a:solidFill>
            <a:prstDash val="solid"/>
          </a:ln>
        </p:spPr>
      </p:sp>
      <p:sp>
        <p:nvSpPr>
          <p:cNvPr id="10" name="m1b"/>
          <p:cNvSpPr/>
          <p:nvPr/>
        </p:nvSpPr>
        <p:spPr>
          <a:xfrm>
            <a:off x="683743" y="3063240"/>
            <a:ext cx="52395" cy="1097280"/>
          </a:xfrm>
          <a:prstGeom prst="rect">
            <a:avLst/>
          </a:prstGeom>
          <a:solidFill>
            <a:srgbClr val="00923A"/>
          </a:solidFill>
          <a:ln w="12700">
            <a:solidFill>
              <a:srgbClr val="00923A"/>
            </a:solidFill>
            <a:prstDash val="solid"/>
          </a:ln>
        </p:spPr>
      </p:sp>
      <p:sp>
        <p:nvSpPr>
          <p:cNvPr id="11" name="mn1"/>
          <p:cNvSpPr txBox="1"/>
          <p:nvPr/>
        </p:nvSpPr>
        <p:spPr>
          <a:xfrm>
            <a:off x="945718" y="3246120"/>
            <a:ext cx="523951" cy="731520"/>
          </a:xfrm>
          <a:prstGeom prst="rect">
            <a:avLst/>
          </a:prstGeom>
          <a:noFill/>
          <a:ln/>
        </p:spPr>
        <p:txBody>
          <a:bodyPr wrap="square" lIns="0" tIns="0" rIns="0" bIns="0" rtlCol="0" anchor="t"/>
          <a:lstStyle/>
          <a:p>
            <a:pPr indent="0" marL="0">
              <a:buNone/>
            </a:pPr>
            <a:r>
              <a:rPr lang="fr-FR" altLang="en-US" sz="3200" b="1" dirty="0">
                <a:solidFill>
                  <a:srgbClr val="00923A"/>
                </a:solidFill>
                <a:latin typeface="Calibri" pitchFamily="34" charset="0"/>
                <a:ea typeface="Calibri" pitchFamily="34" charset="-122"/>
                <a:cs typeface="Calibri" pitchFamily="34" charset="-120"/>
              </a:rPr>
              <a:t>2</a:t>
            </a:r>
            <a:endParaRPr lang="fr-FR" sz="3200" dirty="0"/>
          </a:p>
        </p:txBody>
      </p:sp>
      <p:sp>
        <p:nvSpPr>
          <p:cNvPr id="12" name="mt1"/>
          <p:cNvSpPr txBox="1"/>
          <p:nvPr/>
        </p:nvSpPr>
        <p:spPr>
          <a:xfrm>
            <a:off x="1644320" y="3218688"/>
            <a:ext cx="5501488" cy="822960"/>
          </a:xfrm>
          <a:prstGeom prst="rect">
            <a:avLst/>
          </a:prstGeom>
          <a:noFill/>
          <a:ln/>
        </p:spPr>
        <p:txBody>
          <a:bodyPr wrap="square" lIns="0" tIns="0" rIns="0" bIns="0" rtlCol="0" anchor="t"/>
          <a:lstStyle/>
          <a:p>
            <a:pPr indent="0" marL="0">
              <a:buNone/>
            </a:pPr>
            <a:r>
              <a:rPr lang="fr-FR" altLang="en-US" sz="1800" b="1" dirty="0">
                <a:solidFill>
                  <a:srgbClr val="0E1C46"/>
                </a:solidFill>
                <a:latin typeface="Calibri" pitchFamily="34" charset="0"/>
                <a:ea typeface="Calibri" pitchFamily="34" charset="-122"/>
                <a:cs typeface="Calibri" pitchFamily="34" charset="-120"/>
              </a:rPr>
              <a:t>Entretiens semi-directifs</a:t>
            </a:r>
            <a:endParaRPr lang="fr-FR" sz="1800" dirty="0"/>
          </a:p>
          <a:p>
            <a:pPr indent="0" marL="0">
              <a:buNone/>
            </a:pPr>
            <a:r>
              <a:rPr lang="fr-FR" altLang="en-US" sz="1400" dirty="0">
                <a:solidFill>
                  <a:srgbClr val="56617C"/>
                </a:solidFill>
                <a:latin typeface="Calibri" pitchFamily="34" charset="0"/>
                <a:ea typeface="Calibri" pitchFamily="34" charset="-122"/>
                <a:cs typeface="Calibri" pitchFamily="34" charset="-120"/>
              </a:rPr>
              <a:t>6 personnes : 3 agents (SG, DST, DPDPS) et 3 usagers venus déposer un courrier.</a:t>
            </a:r>
            <a:endParaRPr lang="fr-FR" sz="1800" dirty="0"/>
          </a:p>
        </p:txBody>
      </p:sp>
      <p:sp>
        <p:nvSpPr>
          <p:cNvPr id="13" name="m2"/>
          <p:cNvSpPr/>
          <p:nvPr/>
        </p:nvSpPr>
        <p:spPr>
          <a:xfrm>
            <a:off x="683743" y="4343400"/>
            <a:ext cx="6636715" cy="1097280"/>
          </a:xfrm>
          <a:prstGeom prst="rect">
            <a:avLst/>
          </a:prstGeom>
          <a:solidFill>
            <a:srgbClr val="FFFFFF"/>
          </a:solidFill>
          <a:ln w="9525">
            <a:solidFill>
              <a:srgbClr val="D9DFEA"/>
            </a:solidFill>
            <a:prstDash val="solid"/>
          </a:ln>
        </p:spPr>
      </p:sp>
      <p:sp>
        <p:nvSpPr>
          <p:cNvPr id="14" name="m2b"/>
          <p:cNvSpPr/>
          <p:nvPr/>
        </p:nvSpPr>
        <p:spPr>
          <a:xfrm>
            <a:off x="683743" y="4343400"/>
            <a:ext cx="52395" cy="1097280"/>
          </a:xfrm>
          <a:prstGeom prst="rect">
            <a:avLst/>
          </a:prstGeom>
          <a:solidFill>
            <a:srgbClr val="9A6A00"/>
          </a:solidFill>
          <a:ln w="12700">
            <a:solidFill>
              <a:srgbClr val="9A6A00"/>
            </a:solidFill>
            <a:prstDash val="solid"/>
          </a:ln>
        </p:spPr>
      </p:sp>
      <p:sp>
        <p:nvSpPr>
          <p:cNvPr id="15" name="mn2"/>
          <p:cNvSpPr txBox="1"/>
          <p:nvPr/>
        </p:nvSpPr>
        <p:spPr>
          <a:xfrm>
            <a:off x="945718" y="4526280"/>
            <a:ext cx="523951" cy="731520"/>
          </a:xfrm>
          <a:prstGeom prst="rect">
            <a:avLst/>
          </a:prstGeom>
          <a:noFill/>
          <a:ln/>
        </p:spPr>
        <p:txBody>
          <a:bodyPr wrap="square" lIns="0" tIns="0" rIns="0" bIns="0" rtlCol="0" anchor="t"/>
          <a:lstStyle/>
          <a:p>
            <a:pPr indent="0" marL="0">
              <a:buNone/>
            </a:pPr>
            <a:r>
              <a:rPr lang="fr-FR" altLang="en-US" sz="3200" b="1" dirty="0">
                <a:solidFill>
                  <a:srgbClr val="9A6A00"/>
                </a:solidFill>
                <a:latin typeface="Calibri" pitchFamily="34" charset="0"/>
                <a:ea typeface="Calibri" pitchFamily="34" charset="-122"/>
                <a:cs typeface="Calibri" pitchFamily="34" charset="-120"/>
              </a:rPr>
              <a:t>3</a:t>
            </a:r>
            <a:endParaRPr lang="fr-FR" sz="3200" dirty="0"/>
          </a:p>
        </p:txBody>
      </p:sp>
      <p:sp>
        <p:nvSpPr>
          <p:cNvPr id="16" name="mt2"/>
          <p:cNvSpPr txBox="1"/>
          <p:nvPr/>
        </p:nvSpPr>
        <p:spPr>
          <a:xfrm>
            <a:off x="1644320" y="4498848"/>
            <a:ext cx="5501488" cy="822960"/>
          </a:xfrm>
          <a:prstGeom prst="rect">
            <a:avLst/>
          </a:prstGeom>
          <a:noFill/>
          <a:ln/>
        </p:spPr>
        <p:txBody>
          <a:bodyPr wrap="square" lIns="0" tIns="0" rIns="0" bIns="0" rtlCol="0" anchor="t"/>
          <a:lstStyle/>
          <a:p>
            <a:pPr indent="0" marL="0">
              <a:buNone/>
            </a:pPr>
            <a:r>
              <a:rPr lang="fr-FR" altLang="en-US" sz="1800" b="1" dirty="0">
                <a:solidFill>
                  <a:srgbClr val="0E1C46"/>
                </a:solidFill>
                <a:latin typeface="Calibri" pitchFamily="34" charset="0"/>
                <a:ea typeface="Calibri" pitchFamily="34" charset="-122"/>
                <a:cs typeface="Calibri" pitchFamily="34" charset="-120"/>
              </a:rPr>
              <a:t>Analyse documentaire</a:t>
            </a:r>
            <a:endParaRPr lang="fr-FR" sz="1800" dirty="0"/>
          </a:p>
          <a:p>
            <a:pPr indent="0" marL="0">
              <a:buNone/>
            </a:pPr>
            <a:r>
              <a:rPr lang="fr-FR" altLang="en-US" sz="1400" dirty="0">
                <a:solidFill>
                  <a:srgbClr val="56617C"/>
                </a:solidFill>
                <a:latin typeface="Calibri" pitchFamily="34" charset="0"/>
                <a:ea typeface="Calibri" pitchFamily="34" charset="-122"/>
                <a:cs typeface="Calibri" pitchFamily="34" charset="-120"/>
              </a:rPr>
              <a:t>Registres arrivé, départ, transmission et fiches d’affectation.</a:t>
            </a:r>
            <a:endParaRPr lang="fr-FR" sz="1800" dirty="0"/>
          </a:p>
        </p:txBody>
      </p:sp>
      <p:sp>
        <p:nvSpPr>
          <p:cNvPr id="17" name="tri"/>
          <p:cNvSpPr/>
          <p:nvPr/>
        </p:nvSpPr>
        <p:spPr>
          <a:xfrm>
            <a:off x="7713421" y="1783080"/>
            <a:ext cx="3143707" cy="3657600"/>
          </a:xfrm>
          <a:prstGeom prst="rect">
            <a:avLst/>
          </a:prstGeom>
          <a:solidFill>
            <a:srgbClr val="EEF2FB"/>
          </a:solidFill>
          <a:ln w="9525">
            <a:solidFill>
              <a:srgbClr val="D9DFEA"/>
            </a:solidFill>
            <a:prstDash val="solid"/>
          </a:ln>
        </p:spPr>
      </p:sp>
      <p:sp>
        <p:nvSpPr>
          <p:cNvPr id="18" name="trib"/>
          <p:cNvSpPr/>
          <p:nvPr/>
        </p:nvSpPr>
        <p:spPr>
          <a:xfrm>
            <a:off x="7713421" y="1783080"/>
            <a:ext cx="52395" cy="3657600"/>
          </a:xfrm>
          <a:prstGeom prst="rect">
            <a:avLst/>
          </a:prstGeom>
          <a:solidFill>
            <a:srgbClr val="1B3F9E"/>
          </a:solidFill>
          <a:ln w="12700">
            <a:solidFill>
              <a:srgbClr val="1B3F9E"/>
            </a:solidFill>
            <a:prstDash val="solid"/>
          </a:ln>
        </p:spPr>
      </p:sp>
      <p:sp>
        <p:nvSpPr>
          <p:cNvPr id="19" name="trit"/>
          <p:cNvSpPr txBox="1"/>
          <p:nvPr/>
        </p:nvSpPr>
        <p:spPr>
          <a:xfrm>
            <a:off x="8019059" y="1965960"/>
            <a:ext cx="2663419" cy="3291840"/>
          </a:xfrm>
          <a:prstGeom prst="rect">
            <a:avLst/>
          </a:prstGeom>
          <a:noFill/>
          <a:ln/>
        </p:spPr>
        <p:txBody>
          <a:bodyPr wrap="square" lIns="0" tIns="0" rIns="0" bIns="0" rtlCol="0" anchor="ctr"/>
          <a:lstStyle/>
          <a:p>
            <a:pPr indent="0" marL="0">
              <a:buNone/>
            </a:pPr>
            <a:r>
              <a:rPr lang="fr-FR" altLang="en-US" sz="6600" b="1" dirty="0">
                <a:solidFill>
                  <a:srgbClr val="1B3F9E"/>
                </a:solidFill>
                <a:latin typeface="Calibri" pitchFamily="34" charset="0"/>
                <a:ea typeface="Calibri" pitchFamily="34" charset="-122"/>
                <a:cs typeface="Calibri" pitchFamily="34" charset="-120"/>
              </a:rPr>
              <a:t>6</a:t>
            </a:r>
            <a:endParaRPr lang="fr-FR" sz="6600" dirty="0"/>
          </a:p>
          <a:p>
            <a:pPr indent="0" marL="0">
              <a:buNone/>
            </a:pPr>
            <a:r>
              <a:rPr lang="fr-FR" altLang="en-US" sz="1800" b="1" dirty="0">
                <a:solidFill>
                  <a:srgbClr val="0E1C46"/>
                </a:solidFill>
                <a:latin typeface="Calibri" pitchFamily="34" charset="0"/>
                <a:ea typeface="Calibri" pitchFamily="34" charset="-122"/>
                <a:cs typeface="Calibri" pitchFamily="34" charset="-120"/>
              </a:rPr>
              <a:t>personnes interrogées</a:t>
            </a:r>
            <a:endParaRPr lang="fr-FR" sz="6600" dirty="0"/>
          </a:p>
          <a:p>
            <a:pPr indent="0" marL="0">
              <a:buNone/>
            </a:pPr>
            <a:r>
              <a:rPr lang="fr-FR" altLang="en-US" sz="1400" dirty="0">
                <a:solidFill>
                  <a:srgbClr val="56617C"/>
                </a:solidFill>
                <a:latin typeface="Calibri" pitchFamily="34" charset="0"/>
                <a:ea typeface="Calibri" pitchFamily="34" charset="-122"/>
                <a:cs typeface="Calibri" pitchFamily="34" charset="-120"/>
              </a:rPr>
              <a:t>Échantillon raisonné, analyse de contenu et croisement des sources.</a:t>
            </a:r>
            <a:endParaRPr lang="fr-FR" sz="6600" dirty="0"/>
          </a:p>
          <a:p>
            <a:pPr indent="0" marL="0">
              <a:buNone/>
            </a:pPr>
            <a:r>
              <a:rPr lang="fr-FR" altLang="en-US" sz="800" dirty="0">
                <a:solidFill>
                  <a:srgbClr val="0E1C46"/>
                </a:solidFill>
                <a:latin typeface="Calibri" pitchFamily="34" charset="0"/>
                <a:ea typeface="Calibri" pitchFamily="34" charset="-122"/>
                <a:cs typeface="Calibri" pitchFamily="34" charset="-120"/>
              </a:rPr>
              <a:t> </a:t>
            </a:r>
            <a:endParaRPr lang="fr-FR" sz="6600" dirty="0"/>
          </a:p>
          <a:p>
            <a:pPr indent="0" marL="0">
              <a:buNone/>
            </a:pPr>
            <a:r>
              <a:rPr lang="fr-FR" altLang="en-US" sz="1300" i="1" dirty="0">
                <a:solidFill>
                  <a:srgbClr val="9A6A00"/>
                </a:solidFill>
                <a:latin typeface="Calibri" pitchFamily="34" charset="0"/>
                <a:ea typeface="Calibri" pitchFamily="34" charset="-122"/>
                <a:cs typeface="Calibri" pitchFamily="34" charset="-120"/>
              </a:rPr>
              <a:t>Limite : un échantillon réduit, signalé dans le rapport.</a:t>
            </a:r>
            <a:endParaRPr lang="fr-FR" sz="6600" dirty="0"/>
          </a:p>
        </p:txBody>
      </p:sp>
      <p:pic>
        <p:nvPicPr>
          <p:cNvPr id="20"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21"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2"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14 / 21</a:t>
            </a:r>
            <a:endParaRPr lang="fr-FR" sz="1000" dirty="0"/>
          </a:p>
        </p:txBody>
      </p:sp>
      <p:sp>
        <p:nvSpPr>
          <p:cNvPr id="23" name="!!band1"/>
          <p:cNvSpPr/>
          <p:nvPr/>
        </p:nvSpPr>
        <p:spPr>
          <a:xfrm>
            <a:off x="0" y="0"/>
            <a:ext cx="4873752" cy="64008"/>
          </a:xfrm>
          <a:prstGeom prst="rect">
            <a:avLst/>
          </a:prstGeom>
          <a:solidFill>
            <a:srgbClr val="1B3F9E"/>
          </a:solidFill>
          <a:ln w="12700">
            <a:solidFill>
              <a:srgbClr val="1B3F9E"/>
            </a:solidFill>
            <a:prstDash val="solid"/>
          </a:ln>
        </p:spPr>
      </p:sp>
      <p:sp>
        <p:nvSpPr>
          <p:cNvPr id="24" name="!!band2"/>
          <p:cNvSpPr/>
          <p:nvPr/>
        </p:nvSpPr>
        <p:spPr>
          <a:xfrm>
            <a:off x="4873752" y="0"/>
            <a:ext cx="4270248" cy="64008"/>
          </a:xfrm>
          <a:prstGeom prst="rect">
            <a:avLst/>
          </a:prstGeom>
          <a:solidFill>
            <a:srgbClr val="00923A"/>
          </a:solidFill>
          <a:ln w="12700">
            <a:solidFill>
              <a:srgbClr val="00923A"/>
            </a:solidFill>
            <a:prstDash val="solid"/>
          </a:ln>
        </p:spPr>
      </p:sp>
      <p:sp>
        <p:nvSpPr>
          <p:cNvPr id="25" name="!!band3"/>
          <p:cNvSpPr/>
          <p:nvPr/>
        </p:nvSpPr>
        <p:spPr>
          <a:xfrm>
            <a:off x="9144000" y="0"/>
            <a:ext cx="3047695" cy="64008"/>
          </a:xfrm>
          <a:prstGeom prst="rect">
            <a:avLst/>
          </a:prstGeom>
          <a:solidFill>
            <a:srgbClr val="FCC600"/>
          </a:solidFill>
          <a:ln w="12700">
            <a:solidFill>
              <a:srgbClr val="FCC600"/>
            </a:solidFill>
            <a:prstDash val="solid"/>
          </a:ln>
        </p:spPr>
      </p:sp>
      <p:sp>
        <p:nvSpPr>
          <p:cNvPr id="26" name="!!railline"/>
          <p:cNvSpPr/>
          <p:nvPr/>
        </p:nvSpPr>
        <p:spPr>
          <a:xfrm>
            <a:off x="11795760" y="1600200"/>
            <a:ext cx="914" cy="3383280"/>
          </a:xfrm>
          <a:prstGeom prst="line">
            <a:avLst/>
          </a:prstGeom>
          <a:noFill/>
          <a:ln w="19050">
            <a:solidFill>
              <a:srgbClr val="D9DFEA"/>
            </a:solidFill>
            <a:prstDash val="solid"/>
          </a:ln>
        </p:spPr>
      </p:sp>
      <p:sp>
        <p:nvSpPr>
          <p:cNvPr id="27" name="!!railprog"/>
          <p:cNvSpPr/>
          <p:nvPr/>
        </p:nvSpPr>
        <p:spPr>
          <a:xfrm>
            <a:off x="11795760" y="1600200"/>
            <a:ext cx="914" cy="2029968"/>
          </a:xfrm>
          <a:prstGeom prst="line">
            <a:avLst/>
          </a:prstGeom>
          <a:noFill/>
          <a:ln w="31750">
            <a:solidFill>
              <a:srgbClr val="00923A"/>
            </a:solidFill>
            <a:prstDash val="solid"/>
          </a:ln>
        </p:spPr>
      </p:sp>
      <p:sp>
        <p:nvSpPr>
          <p:cNvPr id="28"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29"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0" name="!!m2"/>
          <p:cNvSpPr/>
          <p:nvPr/>
        </p:nvSpPr>
        <p:spPr>
          <a:xfrm>
            <a:off x="11603736" y="2084832"/>
            <a:ext cx="384048" cy="384048"/>
          </a:xfrm>
          <a:prstGeom prst="ellipse">
            <a:avLst/>
          </a:prstGeom>
          <a:solidFill>
            <a:srgbClr val="00923A"/>
          </a:solidFill>
          <a:ln w="15875">
            <a:solidFill>
              <a:srgbClr val="00923A"/>
            </a:solidFill>
            <a:prstDash val="solid"/>
          </a:ln>
        </p:spPr>
      </p:sp>
      <p:sp>
        <p:nvSpPr>
          <p:cNvPr id="31"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2" name="!!m3"/>
          <p:cNvSpPr/>
          <p:nvPr/>
        </p:nvSpPr>
        <p:spPr>
          <a:xfrm>
            <a:off x="11603736" y="2761488"/>
            <a:ext cx="384048" cy="384048"/>
          </a:xfrm>
          <a:prstGeom prst="ellipse">
            <a:avLst/>
          </a:prstGeom>
          <a:solidFill>
            <a:srgbClr val="00923A"/>
          </a:solidFill>
          <a:ln w="15875">
            <a:solidFill>
              <a:srgbClr val="00923A"/>
            </a:solidFill>
            <a:prstDash val="solid"/>
          </a:ln>
        </p:spPr>
      </p:sp>
      <p:sp>
        <p:nvSpPr>
          <p:cNvPr id="33" name="!!mt3">
            <a:hlinkClick r:id="rId4"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m4"/>
          <p:cNvSpPr/>
          <p:nvPr/>
        </p:nvSpPr>
        <p:spPr>
          <a:xfrm>
            <a:off x="11603736" y="3438144"/>
            <a:ext cx="384048" cy="384048"/>
          </a:xfrm>
          <a:prstGeom prst="ellipse">
            <a:avLst/>
          </a:prstGeom>
          <a:solidFill>
            <a:srgbClr val="1B3F9E"/>
          </a:solidFill>
          <a:ln w="15875">
            <a:solidFill>
              <a:srgbClr val="1B3F9E"/>
            </a:solidFill>
            <a:prstDash val="solid"/>
          </a:ln>
        </p:spPr>
      </p:sp>
      <p:sp>
        <p:nvSpPr>
          <p:cNvPr id="35" name="!!mt4"/>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6"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37" name="!!mt5">
            <a:hlinkClick r:id="rId5"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38"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39" name="!!mt6">
            <a:hlinkClick r:id="rId6"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0"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Méthodologie</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22" presetClass="entr" presetSubtype="4" fill="hold" grpId="0" nodeType="withEffect">
                                  <p:stCondLst>
                                    <p:cond delay="25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900"/>
                                        <p:tgtEl>
                                          <p:spTgt spid="6"/>
                                        </p:tgtEl>
                                      </p:cBhvr>
                                    </p:animEffect>
                                  </p:childTnLst>
                                </p:cTn>
                              </p:par>
                              <p:par>
                                <p:cTn id="17" presetID="53" presetClass="entr" presetSubtype="16"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 calcmode="lin" valueType="num">
                                      <p:cBhvr>
                                        <p:cTn id="19" dur="600" fill="hold"/>
                                        <p:tgtEl>
                                          <p:spTgt spid="7"/>
                                        </p:tgtEl>
                                        <p:attrNameLst>
                                          <p:attrName>ppt_w</p:attrName>
                                        </p:attrNameLst>
                                      </p:cBhvr>
                                      <p:tavLst>
                                        <p:tav tm="0">
                                          <p:val>
                                            <p:fltVal val="0"/>
                                          </p:val>
                                        </p:tav>
                                        <p:tav tm="100000">
                                          <p:val>
                                            <p:strVal val="#ppt_w"/>
                                          </p:val>
                                        </p:tav>
                                      </p:tavLst>
                                    </p:anim>
                                    <p:anim calcmode="lin" valueType="num">
                                      <p:cBhvr>
                                        <p:cTn id="20" dur="600" fill="hold"/>
                                        <p:tgtEl>
                                          <p:spTgt spid="7"/>
                                        </p:tgtEl>
                                        <p:attrNameLst>
                                          <p:attrName>ppt_h</p:attrName>
                                        </p:attrNameLst>
                                      </p:cBhvr>
                                      <p:tavLst>
                                        <p:tav tm="0">
                                          <p:val>
                                            <p:fltVal val="0"/>
                                          </p:val>
                                        </p:tav>
                                        <p:tav tm="100000">
                                          <p:val>
                                            <p:strVal val="#ppt_h"/>
                                          </p:val>
                                        </p:tav>
                                      </p:tavLst>
                                    </p:anim>
                                    <p:animEffect transition="in" filter="fade">
                                      <p:cBhvr>
                                        <p:cTn id="21" dur="600"/>
                                        <p:tgtEl>
                                          <p:spTgt spid="7"/>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600"/>
                                        <p:tgtEl>
                                          <p:spTgt spid="8"/>
                                        </p:tgtEl>
                                      </p:cBhvr>
                                    </p:animEffect>
                                  </p:childTnLst>
                                </p:cTn>
                              </p:par>
                              <p:par>
                                <p:cTn id="25" presetID="10" presetClass="entr" presetSubtype="0" fill="hold" grpId="0" nodeType="withEffect">
                                  <p:stCondLst>
                                    <p:cond delay="55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600"/>
                                        <p:tgtEl>
                                          <p:spTgt spid="9"/>
                                        </p:tgtEl>
                                      </p:cBhvr>
                                    </p:animEffect>
                                  </p:childTnLst>
                                </p:cTn>
                              </p:par>
                              <p:par>
                                <p:cTn id="28" presetID="22" presetClass="entr" presetSubtype="4" fill="hold" grpId="0" nodeType="withEffect">
                                  <p:stCondLst>
                                    <p:cond delay="550"/>
                                  </p:stCondLst>
                                  <p:childTnLst>
                                    <p:set>
                                      <p:cBhvr>
                                        <p:cTn id="29" dur="1" fill="hold">
                                          <p:stCondLst>
                                            <p:cond delay="0"/>
                                          </p:stCondLst>
                                        </p:cTn>
                                        <p:tgtEl>
                                          <p:spTgt spid="10"/>
                                        </p:tgtEl>
                                        <p:attrNameLst>
                                          <p:attrName>style.visibility</p:attrName>
                                        </p:attrNameLst>
                                      </p:cBhvr>
                                      <p:to>
                                        <p:strVal val="visible"/>
                                      </p:to>
                                    </p:set>
                                    <p:animEffect transition="in" filter="wipe(up)">
                                      <p:cBhvr>
                                        <p:cTn id="30" dur="900"/>
                                        <p:tgtEl>
                                          <p:spTgt spid="10"/>
                                        </p:tgtEl>
                                      </p:cBhvr>
                                    </p:animEffect>
                                  </p:childTnLst>
                                </p:cTn>
                              </p:par>
                              <p:par>
                                <p:cTn id="31" presetID="53" presetClass="entr" presetSubtype="16" fill="hold" grpId="0" nodeType="withEffect">
                                  <p:stCondLst>
                                    <p:cond delay="600"/>
                                  </p:stCondLst>
                                  <p:childTnLst>
                                    <p:set>
                                      <p:cBhvr>
                                        <p:cTn id="32" dur="1" fill="hold">
                                          <p:stCondLst>
                                            <p:cond delay="0"/>
                                          </p:stCondLst>
                                        </p:cTn>
                                        <p:tgtEl>
                                          <p:spTgt spid="11"/>
                                        </p:tgtEl>
                                        <p:attrNameLst>
                                          <p:attrName>style.visibility</p:attrName>
                                        </p:attrNameLst>
                                      </p:cBhvr>
                                      <p:to>
                                        <p:strVal val="visible"/>
                                      </p:to>
                                    </p:set>
                                    <p:anim calcmode="lin" valueType="num">
                                      <p:cBhvr>
                                        <p:cTn id="33" dur="600" fill="hold"/>
                                        <p:tgtEl>
                                          <p:spTgt spid="11"/>
                                        </p:tgtEl>
                                        <p:attrNameLst>
                                          <p:attrName>ppt_w</p:attrName>
                                        </p:attrNameLst>
                                      </p:cBhvr>
                                      <p:tavLst>
                                        <p:tav tm="0">
                                          <p:val>
                                            <p:fltVal val="0"/>
                                          </p:val>
                                        </p:tav>
                                        <p:tav tm="100000">
                                          <p:val>
                                            <p:strVal val="#ppt_w"/>
                                          </p:val>
                                        </p:tav>
                                      </p:tavLst>
                                    </p:anim>
                                    <p:anim calcmode="lin" valueType="num">
                                      <p:cBhvr>
                                        <p:cTn id="34" dur="600" fill="hold"/>
                                        <p:tgtEl>
                                          <p:spTgt spid="11"/>
                                        </p:tgtEl>
                                        <p:attrNameLst>
                                          <p:attrName>ppt_h</p:attrName>
                                        </p:attrNameLst>
                                      </p:cBhvr>
                                      <p:tavLst>
                                        <p:tav tm="0">
                                          <p:val>
                                            <p:fltVal val="0"/>
                                          </p:val>
                                        </p:tav>
                                        <p:tav tm="100000">
                                          <p:val>
                                            <p:strVal val="#ppt_h"/>
                                          </p:val>
                                        </p:tav>
                                      </p:tavLst>
                                    </p:anim>
                                    <p:animEffect transition="in" filter="fade">
                                      <p:cBhvr>
                                        <p:cTn id="35" dur="600"/>
                                        <p:tgtEl>
                                          <p:spTgt spid="11"/>
                                        </p:tgtEl>
                                      </p:cBhvr>
                                    </p:animEffect>
                                  </p:childTnLst>
                                </p:cTn>
                              </p:par>
                              <p:par>
                                <p:cTn id="36" presetID="10" presetClass="entr" presetSubtype="0" fill="hold" grpId="0" nodeType="withEffect">
                                  <p:stCondLst>
                                    <p:cond delay="6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childTnLst>
                                </p:cTn>
                              </p:par>
                              <p:par>
                                <p:cTn id="39" presetID="10" presetClass="entr" presetSubtype="0" fill="hold" grpId="0" nodeType="withEffect">
                                  <p:stCondLst>
                                    <p:cond delay="85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600"/>
                                        <p:tgtEl>
                                          <p:spTgt spid="13"/>
                                        </p:tgtEl>
                                      </p:cBhvr>
                                    </p:animEffect>
                                  </p:childTnLst>
                                </p:cTn>
                              </p:par>
                              <p:par>
                                <p:cTn id="42" presetID="22" presetClass="entr" presetSubtype="4" fill="hold" grpId="0" nodeType="withEffect">
                                  <p:stCondLst>
                                    <p:cond delay="850"/>
                                  </p:stCondLst>
                                  <p:childTnLst>
                                    <p:set>
                                      <p:cBhvr>
                                        <p:cTn id="43" dur="1" fill="hold">
                                          <p:stCondLst>
                                            <p:cond delay="0"/>
                                          </p:stCondLst>
                                        </p:cTn>
                                        <p:tgtEl>
                                          <p:spTgt spid="14"/>
                                        </p:tgtEl>
                                        <p:attrNameLst>
                                          <p:attrName>style.visibility</p:attrName>
                                        </p:attrNameLst>
                                      </p:cBhvr>
                                      <p:to>
                                        <p:strVal val="visible"/>
                                      </p:to>
                                    </p:set>
                                    <p:animEffect transition="in" filter="wipe(up)">
                                      <p:cBhvr>
                                        <p:cTn id="44" dur="900"/>
                                        <p:tgtEl>
                                          <p:spTgt spid="14"/>
                                        </p:tgtEl>
                                      </p:cBhvr>
                                    </p:animEffect>
                                  </p:childTnLst>
                                </p:cTn>
                              </p:par>
                              <p:par>
                                <p:cTn id="45" presetID="53" presetClass="entr" presetSubtype="16" fill="hold" grpId="0" nodeType="withEffect">
                                  <p:stCondLst>
                                    <p:cond delay="900"/>
                                  </p:stCondLst>
                                  <p:childTnLst>
                                    <p:set>
                                      <p:cBhvr>
                                        <p:cTn id="46" dur="1" fill="hold">
                                          <p:stCondLst>
                                            <p:cond delay="0"/>
                                          </p:stCondLst>
                                        </p:cTn>
                                        <p:tgtEl>
                                          <p:spTgt spid="15"/>
                                        </p:tgtEl>
                                        <p:attrNameLst>
                                          <p:attrName>style.visibility</p:attrName>
                                        </p:attrNameLst>
                                      </p:cBhvr>
                                      <p:to>
                                        <p:strVal val="visible"/>
                                      </p:to>
                                    </p:set>
                                    <p:anim calcmode="lin" valueType="num">
                                      <p:cBhvr>
                                        <p:cTn id="47" dur="600" fill="hold"/>
                                        <p:tgtEl>
                                          <p:spTgt spid="15"/>
                                        </p:tgtEl>
                                        <p:attrNameLst>
                                          <p:attrName>ppt_w</p:attrName>
                                        </p:attrNameLst>
                                      </p:cBhvr>
                                      <p:tavLst>
                                        <p:tav tm="0">
                                          <p:val>
                                            <p:fltVal val="0"/>
                                          </p:val>
                                        </p:tav>
                                        <p:tav tm="100000">
                                          <p:val>
                                            <p:strVal val="#ppt_w"/>
                                          </p:val>
                                        </p:tav>
                                      </p:tavLst>
                                    </p:anim>
                                    <p:anim calcmode="lin" valueType="num">
                                      <p:cBhvr>
                                        <p:cTn id="48" dur="600" fill="hold"/>
                                        <p:tgtEl>
                                          <p:spTgt spid="15"/>
                                        </p:tgtEl>
                                        <p:attrNameLst>
                                          <p:attrName>ppt_h</p:attrName>
                                        </p:attrNameLst>
                                      </p:cBhvr>
                                      <p:tavLst>
                                        <p:tav tm="0">
                                          <p:val>
                                            <p:fltVal val="0"/>
                                          </p:val>
                                        </p:tav>
                                        <p:tav tm="100000">
                                          <p:val>
                                            <p:strVal val="#ppt_h"/>
                                          </p:val>
                                        </p:tav>
                                      </p:tavLst>
                                    </p:anim>
                                    <p:animEffect transition="in" filter="fade">
                                      <p:cBhvr>
                                        <p:cTn id="49" dur="600"/>
                                        <p:tgtEl>
                                          <p:spTgt spid="15"/>
                                        </p:tgtEl>
                                      </p:cBhvr>
                                    </p:animEffect>
                                  </p:childTnLst>
                                </p:cTn>
                              </p:par>
                              <p:par>
                                <p:cTn id="50" presetID="10" presetClass="entr" presetSubtype="0" fill="hold" grpId="0" nodeType="withEffect">
                                  <p:stCondLst>
                                    <p:cond delay="90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600"/>
                                        <p:tgtEl>
                                          <p:spTgt spid="16"/>
                                        </p:tgtEl>
                                      </p:cBhvr>
                                    </p:animEffect>
                                  </p:childTnLst>
                                </p:cTn>
                              </p:par>
                              <p:par>
                                <p:cTn id="53" presetID="10" presetClass="entr" presetSubtype="0" fill="hold" grpId="0" nodeType="withEffect">
                                  <p:stCondLst>
                                    <p:cond delay="110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600"/>
                                        <p:tgtEl>
                                          <p:spTgt spid="17"/>
                                        </p:tgtEl>
                                      </p:cBhvr>
                                    </p:animEffect>
                                  </p:childTnLst>
                                </p:cTn>
                              </p:par>
                              <p:par>
                                <p:cTn id="56" presetID="22" presetClass="entr" presetSubtype="4" fill="hold" grpId="0" nodeType="withEffect">
                                  <p:stCondLst>
                                    <p:cond delay="1100"/>
                                  </p:stCondLst>
                                  <p:childTnLst>
                                    <p:set>
                                      <p:cBhvr>
                                        <p:cTn id="57" dur="1" fill="hold">
                                          <p:stCondLst>
                                            <p:cond delay="0"/>
                                          </p:stCondLst>
                                        </p:cTn>
                                        <p:tgtEl>
                                          <p:spTgt spid="18"/>
                                        </p:tgtEl>
                                        <p:attrNameLst>
                                          <p:attrName>style.visibility</p:attrName>
                                        </p:attrNameLst>
                                      </p:cBhvr>
                                      <p:to>
                                        <p:strVal val="visible"/>
                                      </p:to>
                                    </p:set>
                                    <p:animEffect transition="in" filter="wipe(up)">
                                      <p:cBhvr>
                                        <p:cTn id="58" dur="900"/>
                                        <p:tgtEl>
                                          <p:spTgt spid="18"/>
                                        </p:tgtEl>
                                      </p:cBhvr>
                                    </p:animEffect>
                                  </p:childTnLst>
                                </p:cTn>
                              </p:par>
                              <p:par>
                                <p:cTn id="59" presetID="10" presetClass="entr" presetSubtype="0" fill="hold" grpId="0" nodeType="withEffect">
                                  <p:stCondLst>
                                    <p:cond delay="115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11" grpId="0" animBg="1"/>
      <p:bldP spid="12" grpId="0" animBg="1"/>
      <p:bldP spid="15" grpId="0" animBg="1"/>
      <p:bldP spid="16" grpId="0" animBg="1"/>
      <p:bldP spid="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5 — Résultats et vérification des hypothèses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Ce que montrent l’observation et les entretiens</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k0"/>
          <p:cNvSpPr/>
          <p:nvPr/>
        </p:nvSpPr>
        <p:spPr>
          <a:xfrm>
            <a:off x="683743" y="1783080"/>
            <a:ext cx="2445106" cy="1828800"/>
          </a:xfrm>
          <a:prstGeom prst="rect">
            <a:avLst/>
          </a:prstGeom>
          <a:solidFill>
            <a:srgbClr val="FFFFFF"/>
          </a:solidFill>
          <a:ln w="9525">
            <a:solidFill>
              <a:srgbClr val="D9DFEA"/>
            </a:solidFill>
            <a:prstDash val="solid"/>
          </a:ln>
        </p:spPr>
      </p:sp>
      <p:sp>
        <p:nvSpPr>
          <p:cNvPr id="6" name="k0b"/>
          <p:cNvSpPr/>
          <p:nvPr/>
        </p:nvSpPr>
        <p:spPr>
          <a:xfrm>
            <a:off x="683743" y="1783080"/>
            <a:ext cx="52395" cy="1828800"/>
          </a:xfrm>
          <a:prstGeom prst="rect">
            <a:avLst/>
          </a:prstGeom>
          <a:solidFill>
            <a:srgbClr val="00923A"/>
          </a:solidFill>
          <a:ln w="12700">
            <a:solidFill>
              <a:srgbClr val="00923A"/>
            </a:solidFill>
            <a:prstDash val="solid"/>
          </a:ln>
        </p:spPr>
      </p:sp>
      <p:sp>
        <p:nvSpPr>
          <p:cNvPr id="7" name="kn0"/>
          <p:cNvSpPr txBox="1"/>
          <p:nvPr/>
        </p:nvSpPr>
        <p:spPr>
          <a:xfrm>
            <a:off x="945718" y="1965960"/>
            <a:ext cx="2095805" cy="822960"/>
          </a:xfrm>
          <a:prstGeom prst="rect">
            <a:avLst/>
          </a:prstGeom>
          <a:noFill/>
          <a:ln/>
        </p:spPr>
        <p:txBody>
          <a:bodyPr wrap="square" lIns="0" tIns="0" rIns="0" bIns="0" rtlCol="0" anchor="t"/>
          <a:lstStyle/>
          <a:p>
            <a:pPr indent="0" marL="0">
              <a:buNone/>
            </a:pPr>
            <a:r>
              <a:rPr lang="fr-FR" altLang="en-US" sz="3800" b="1" dirty="0">
                <a:solidFill>
                  <a:srgbClr val="00923A"/>
                </a:solidFill>
                <a:latin typeface="Calibri" pitchFamily="34" charset="0"/>
                <a:ea typeface="Calibri" pitchFamily="34" charset="-122"/>
                <a:cs typeface="Calibri" pitchFamily="34" charset="-120"/>
              </a:rPr>
              <a:t>0</a:t>
            </a:r>
            <a:endParaRPr lang="fr-FR" sz="3800" dirty="0"/>
          </a:p>
        </p:txBody>
      </p:sp>
      <p:sp>
        <p:nvSpPr>
          <p:cNvPr id="8" name="kl0"/>
          <p:cNvSpPr txBox="1"/>
          <p:nvPr/>
        </p:nvSpPr>
        <p:spPr>
          <a:xfrm>
            <a:off x="945718" y="2807208"/>
            <a:ext cx="2052142" cy="685800"/>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courrier perdu ou mal classé pendant l’observation</a:t>
            </a:r>
            <a:endParaRPr lang="fr-FR" sz="1300" dirty="0"/>
          </a:p>
        </p:txBody>
      </p:sp>
      <p:sp>
        <p:nvSpPr>
          <p:cNvPr id="9" name="k1"/>
          <p:cNvSpPr/>
          <p:nvPr/>
        </p:nvSpPr>
        <p:spPr>
          <a:xfrm>
            <a:off x="3347161" y="1783080"/>
            <a:ext cx="2445106" cy="1828800"/>
          </a:xfrm>
          <a:prstGeom prst="rect">
            <a:avLst/>
          </a:prstGeom>
          <a:solidFill>
            <a:srgbClr val="FFFFFF"/>
          </a:solidFill>
          <a:ln w="9525">
            <a:solidFill>
              <a:srgbClr val="D9DFEA"/>
            </a:solidFill>
            <a:prstDash val="solid"/>
          </a:ln>
        </p:spPr>
      </p:sp>
      <p:sp>
        <p:nvSpPr>
          <p:cNvPr id="10" name="k1b"/>
          <p:cNvSpPr/>
          <p:nvPr/>
        </p:nvSpPr>
        <p:spPr>
          <a:xfrm>
            <a:off x="3347161" y="1783080"/>
            <a:ext cx="52395" cy="1828800"/>
          </a:xfrm>
          <a:prstGeom prst="rect">
            <a:avLst/>
          </a:prstGeom>
          <a:solidFill>
            <a:srgbClr val="1B3F9E"/>
          </a:solidFill>
          <a:ln w="12700">
            <a:solidFill>
              <a:srgbClr val="1B3F9E"/>
            </a:solidFill>
            <a:prstDash val="solid"/>
          </a:ln>
        </p:spPr>
      </p:sp>
      <p:sp>
        <p:nvSpPr>
          <p:cNvPr id="11" name="kn1"/>
          <p:cNvSpPr txBox="1"/>
          <p:nvPr/>
        </p:nvSpPr>
        <p:spPr>
          <a:xfrm>
            <a:off x="3609137" y="1965960"/>
            <a:ext cx="2095805" cy="822960"/>
          </a:xfrm>
          <a:prstGeom prst="rect">
            <a:avLst/>
          </a:prstGeom>
          <a:noFill/>
          <a:ln/>
        </p:spPr>
        <p:txBody>
          <a:bodyPr wrap="square" lIns="0" tIns="0" rIns="0" bIns="0" rtlCol="0" anchor="t"/>
          <a:lstStyle/>
          <a:p>
            <a:pPr indent="0" marL="0">
              <a:buNone/>
            </a:pPr>
            <a:r>
              <a:rPr lang="fr-FR" altLang="en-US" sz="3800" b="1" dirty="0">
                <a:solidFill>
                  <a:srgbClr val="1B3F9E"/>
                </a:solidFill>
                <a:latin typeface="Calibri" pitchFamily="34" charset="0"/>
                <a:ea typeface="Calibri" pitchFamily="34" charset="-122"/>
                <a:cs typeface="Calibri" pitchFamily="34" charset="-120"/>
              </a:rPr>
              <a:t>1 à 3 j</a:t>
            </a:r>
            <a:endParaRPr lang="fr-FR" sz="3800" dirty="0"/>
          </a:p>
        </p:txBody>
      </p:sp>
      <p:sp>
        <p:nvSpPr>
          <p:cNvPr id="12" name="kl1"/>
          <p:cNvSpPr txBox="1"/>
          <p:nvPr/>
        </p:nvSpPr>
        <p:spPr>
          <a:xfrm>
            <a:off x="3609137" y="2807208"/>
            <a:ext cx="2052142" cy="685800"/>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avant signature, selon les signataires</a:t>
            </a:r>
            <a:endParaRPr lang="fr-FR" sz="1300" dirty="0"/>
          </a:p>
        </p:txBody>
      </p:sp>
      <p:sp>
        <p:nvSpPr>
          <p:cNvPr id="13" name="k2"/>
          <p:cNvSpPr/>
          <p:nvPr/>
        </p:nvSpPr>
        <p:spPr>
          <a:xfrm>
            <a:off x="683743" y="3840480"/>
            <a:ext cx="2445106" cy="1828800"/>
          </a:xfrm>
          <a:prstGeom prst="rect">
            <a:avLst/>
          </a:prstGeom>
          <a:solidFill>
            <a:srgbClr val="FFFFFF"/>
          </a:solidFill>
          <a:ln w="9525">
            <a:solidFill>
              <a:srgbClr val="D9DFEA"/>
            </a:solidFill>
            <a:prstDash val="solid"/>
          </a:ln>
        </p:spPr>
      </p:sp>
      <p:sp>
        <p:nvSpPr>
          <p:cNvPr id="14" name="k2b"/>
          <p:cNvSpPr/>
          <p:nvPr/>
        </p:nvSpPr>
        <p:spPr>
          <a:xfrm>
            <a:off x="683743" y="3840480"/>
            <a:ext cx="52395" cy="1828800"/>
          </a:xfrm>
          <a:prstGeom prst="rect">
            <a:avLst/>
          </a:prstGeom>
          <a:solidFill>
            <a:srgbClr val="9A6A00"/>
          </a:solidFill>
          <a:ln w="12700">
            <a:solidFill>
              <a:srgbClr val="9A6A00"/>
            </a:solidFill>
            <a:prstDash val="solid"/>
          </a:ln>
        </p:spPr>
      </p:sp>
      <p:sp>
        <p:nvSpPr>
          <p:cNvPr id="15" name="kn2"/>
          <p:cNvSpPr txBox="1"/>
          <p:nvPr/>
        </p:nvSpPr>
        <p:spPr>
          <a:xfrm>
            <a:off x="945718" y="4023360"/>
            <a:ext cx="2095805" cy="822960"/>
          </a:xfrm>
          <a:prstGeom prst="rect">
            <a:avLst/>
          </a:prstGeom>
          <a:noFill/>
          <a:ln/>
        </p:spPr>
        <p:txBody>
          <a:bodyPr wrap="square" lIns="0" tIns="0" rIns="0" bIns="0" rtlCol="0" anchor="t"/>
          <a:lstStyle/>
          <a:p>
            <a:pPr indent="0" marL="0">
              <a:buNone/>
            </a:pPr>
            <a:r>
              <a:rPr lang="fr-FR" altLang="en-US" sz="3800" b="1" dirty="0">
                <a:solidFill>
                  <a:srgbClr val="9A6A00"/>
                </a:solidFill>
                <a:latin typeface="Calibri" pitchFamily="34" charset="0"/>
                <a:ea typeface="Calibri" pitchFamily="34" charset="-122"/>
                <a:cs typeface="Calibri" pitchFamily="34" charset="-120"/>
              </a:rPr>
              <a:t>2</a:t>
            </a:r>
            <a:endParaRPr lang="fr-FR" sz="3800" dirty="0"/>
          </a:p>
        </p:txBody>
      </p:sp>
      <p:sp>
        <p:nvSpPr>
          <p:cNvPr id="16" name="kl2"/>
          <p:cNvSpPr txBox="1"/>
          <p:nvPr/>
        </p:nvSpPr>
        <p:spPr>
          <a:xfrm>
            <a:off x="945718" y="4864608"/>
            <a:ext cx="2052142" cy="685800"/>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agents titulaires au secrétariat</a:t>
            </a:r>
            <a:endParaRPr lang="fr-FR" sz="1300" dirty="0"/>
          </a:p>
        </p:txBody>
      </p:sp>
      <p:sp>
        <p:nvSpPr>
          <p:cNvPr id="17" name="k3"/>
          <p:cNvSpPr/>
          <p:nvPr/>
        </p:nvSpPr>
        <p:spPr>
          <a:xfrm>
            <a:off x="3347161" y="3840480"/>
            <a:ext cx="2445106" cy="1828800"/>
          </a:xfrm>
          <a:prstGeom prst="rect">
            <a:avLst/>
          </a:prstGeom>
          <a:solidFill>
            <a:srgbClr val="FFFFFF"/>
          </a:solidFill>
          <a:ln w="9525">
            <a:solidFill>
              <a:srgbClr val="D9DFEA"/>
            </a:solidFill>
            <a:prstDash val="solid"/>
          </a:ln>
        </p:spPr>
      </p:sp>
      <p:sp>
        <p:nvSpPr>
          <p:cNvPr id="18" name="k3b"/>
          <p:cNvSpPr/>
          <p:nvPr/>
        </p:nvSpPr>
        <p:spPr>
          <a:xfrm>
            <a:off x="3347161" y="3840480"/>
            <a:ext cx="52395" cy="1828800"/>
          </a:xfrm>
          <a:prstGeom prst="rect">
            <a:avLst/>
          </a:prstGeom>
          <a:solidFill>
            <a:srgbClr val="1B3F9E"/>
          </a:solidFill>
          <a:ln w="12700">
            <a:solidFill>
              <a:srgbClr val="1B3F9E"/>
            </a:solidFill>
            <a:prstDash val="solid"/>
          </a:ln>
        </p:spPr>
      </p:sp>
      <p:sp>
        <p:nvSpPr>
          <p:cNvPr id="19" name="kn3"/>
          <p:cNvSpPr txBox="1"/>
          <p:nvPr/>
        </p:nvSpPr>
        <p:spPr>
          <a:xfrm>
            <a:off x="3609137" y="4023360"/>
            <a:ext cx="2095805" cy="822960"/>
          </a:xfrm>
          <a:prstGeom prst="rect">
            <a:avLst/>
          </a:prstGeom>
          <a:noFill/>
          <a:ln/>
        </p:spPr>
        <p:txBody>
          <a:bodyPr wrap="square" lIns="0" tIns="0" rIns="0" bIns="0" rtlCol="0" anchor="t"/>
          <a:lstStyle/>
          <a:p>
            <a:pPr indent="0" marL="0">
              <a:buNone/>
            </a:pPr>
            <a:r>
              <a:rPr lang="fr-FR" altLang="en-US" sz="3800" b="1" dirty="0">
                <a:solidFill>
                  <a:srgbClr val="1B3F9E"/>
                </a:solidFill>
                <a:latin typeface="Calibri" pitchFamily="34" charset="0"/>
                <a:ea typeface="Calibri" pitchFamily="34" charset="-122"/>
                <a:cs typeface="Calibri" pitchFamily="34" charset="-120"/>
              </a:rPr>
              <a:t>3 sur 3</a:t>
            </a:r>
            <a:endParaRPr lang="fr-FR" sz="3800" dirty="0"/>
          </a:p>
        </p:txBody>
      </p:sp>
      <p:sp>
        <p:nvSpPr>
          <p:cNvPr id="20" name="kl3"/>
          <p:cNvSpPr txBox="1"/>
          <p:nvPr/>
        </p:nvSpPr>
        <p:spPr>
          <a:xfrm>
            <a:off x="3609137" y="4864608"/>
            <a:ext cx="2052142" cy="685800"/>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agents favorables à un outil numérique</a:t>
            </a:r>
            <a:endParaRPr lang="fr-FR" sz="1300" dirty="0"/>
          </a:p>
        </p:txBody>
      </p:sp>
      <p:sp>
        <p:nvSpPr>
          <p:cNvPr id="21" name="chartcard"/>
          <p:cNvSpPr/>
          <p:nvPr/>
        </p:nvSpPr>
        <p:spPr>
          <a:xfrm>
            <a:off x="6185230" y="1783080"/>
            <a:ext cx="4671898" cy="4343400"/>
          </a:xfrm>
          <a:prstGeom prst="rect">
            <a:avLst/>
          </a:prstGeom>
          <a:solidFill>
            <a:srgbClr val="FFFFFF"/>
          </a:solidFill>
          <a:ln w="9525">
            <a:solidFill>
              <a:srgbClr val="D9DFEA"/>
            </a:solidFill>
            <a:prstDash val="solid"/>
          </a:ln>
        </p:spPr>
      </p:sp>
      <p:sp>
        <p:nvSpPr>
          <p:cNvPr id="22" name="charttitle"/>
          <p:cNvSpPr txBox="1"/>
          <p:nvPr/>
        </p:nvSpPr>
        <p:spPr>
          <a:xfrm>
            <a:off x="6403543" y="1920240"/>
            <a:ext cx="4278935" cy="320040"/>
          </a:xfrm>
          <a:prstGeom prst="rect">
            <a:avLst/>
          </a:prstGeom>
          <a:noFill/>
          <a:ln/>
        </p:spPr>
        <p:txBody>
          <a:bodyPr wrap="square" lIns="0" tIns="0" rIns="0" bIns="0" rtlCol="0" anchor="t"/>
          <a:lstStyle/>
          <a:p>
            <a:pPr indent="0" marL="0">
              <a:buNone/>
            </a:pPr>
            <a:r>
              <a:rPr lang="fr-FR" altLang="en-US" sz="1400" b="1" dirty="0">
                <a:solidFill>
                  <a:srgbClr val="0E1C46"/>
                </a:solidFill>
                <a:latin typeface="Calibri" pitchFamily="34" charset="0"/>
                <a:ea typeface="Calibri" pitchFamily="34" charset="-122"/>
                <a:cs typeface="Calibri" pitchFamily="34" charset="-120"/>
              </a:rPr>
              <a:t>Courriers traités par jour et ancienneté des agents</a:t>
            </a:r>
            <a:endParaRPr lang="fr-FR" sz="1400" dirty="0"/>
          </a:p>
        </p:txBody>
      </p:sp>
      <p:graphicFrame>
        <p:nvGraphicFramePr>
          <p:cNvPr id="23" name="chart" descr=""/>
          <p:cNvGraphicFramePr/>
          <p:nvPr/>
        </p:nvGraphicFramePr>
        <p:xfrm>
          <a:off x="6316218" y="2286000"/>
          <a:ext cx="4409923" cy="3108960"/>
        </p:xfrm>
        <a:graphic xmlns:a="http://schemas.openxmlformats.org/drawingml/2006/main">
          <a:graphicData uri="http://schemas.openxmlformats.org/drawingml/2006/chart">
            <c:chart xmlns:c="http://schemas.openxmlformats.org/drawingml/2006/chart" r:id="rId1"/>
          </a:graphicData>
        </a:graphic>
      </p:graphicFrame>
      <p:sp>
        <p:nvSpPr>
          <p:cNvPr id="24" name="lg0"/>
          <p:cNvSpPr/>
          <p:nvPr/>
        </p:nvSpPr>
        <p:spPr>
          <a:xfrm>
            <a:off x="6534531" y="5641848"/>
            <a:ext cx="218313" cy="228600"/>
          </a:xfrm>
          <a:prstGeom prst="rect">
            <a:avLst/>
          </a:prstGeom>
          <a:solidFill>
            <a:srgbClr val="1B3F9E"/>
          </a:solidFill>
          <a:ln w="12700">
            <a:solidFill>
              <a:srgbClr val="1B3F9E"/>
            </a:solidFill>
            <a:prstDash val="solid"/>
          </a:ln>
        </p:spPr>
      </p:sp>
      <p:sp>
        <p:nvSpPr>
          <p:cNvPr id="25" name="lgt0"/>
          <p:cNvSpPr txBox="1"/>
          <p:nvPr/>
        </p:nvSpPr>
        <p:spPr>
          <a:xfrm>
            <a:off x="6840169" y="5605272"/>
            <a:ext cx="1746504" cy="310896"/>
          </a:xfrm>
          <a:prstGeom prst="rect">
            <a:avLst/>
          </a:prstGeom>
          <a:noFill/>
          <a:ln/>
        </p:spPr>
        <p:txBody>
          <a:bodyPr wrap="square" lIns="0" tIns="0" rIns="0" bIns="0" rtlCol="0" anchor="ctr"/>
          <a:lstStyle/>
          <a:p>
            <a:pPr indent="0" marL="0">
              <a:buNone/>
            </a:pPr>
            <a:r>
              <a:rPr lang="fr-FR" altLang="en-US" sz="1200" dirty="0">
                <a:solidFill>
                  <a:srgbClr val="0E1C46"/>
                </a:solidFill>
                <a:latin typeface="Calibri" pitchFamily="34" charset="0"/>
                <a:ea typeface="Calibri" pitchFamily="34" charset="-122"/>
                <a:cs typeface="Calibri" pitchFamily="34" charset="-120"/>
              </a:rPr>
              <a:t>Courriers par jour</a:t>
            </a:r>
            <a:endParaRPr lang="fr-FR" sz="1200" dirty="0"/>
          </a:p>
        </p:txBody>
      </p:sp>
      <p:sp>
        <p:nvSpPr>
          <p:cNvPr id="26" name="lg1"/>
          <p:cNvSpPr/>
          <p:nvPr/>
        </p:nvSpPr>
        <p:spPr>
          <a:xfrm>
            <a:off x="8630336" y="5641848"/>
            <a:ext cx="218313" cy="228600"/>
          </a:xfrm>
          <a:prstGeom prst="rect">
            <a:avLst/>
          </a:prstGeom>
          <a:solidFill>
            <a:srgbClr val="00923A"/>
          </a:solidFill>
          <a:ln w="12700">
            <a:solidFill>
              <a:srgbClr val="00923A"/>
            </a:solidFill>
            <a:prstDash val="solid"/>
          </a:ln>
        </p:spPr>
      </p:sp>
      <p:sp>
        <p:nvSpPr>
          <p:cNvPr id="27" name="lgt1"/>
          <p:cNvSpPr txBox="1"/>
          <p:nvPr/>
        </p:nvSpPr>
        <p:spPr>
          <a:xfrm>
            <a:off x="8935974" y="5605272"/>
            <a:ext cx="1746504" cy="310896"/>
          </a:xfrm>
          <a:prstGeom prst="rect">
            <a:avLst/>
          </a:prstGeom>
          <a:noFill/>
          <a:ln/>
        </p:spPr>
        <p:txBody>
          <a:bodyPr wrap="square" lIns="0" tIns="0" rIns="0" bIns="0" rtlCol="0" anchor="ctr"/>
          <a:lstStyle/>
          <a:p>
            <a:pPr indent="0" marL="0">
              <a:buNone/>
            </a:pPr>
            <a:r>
              <a:rPr lang="fr-FR" altLang="en-US" sz="1200" dirty="0">
                <a:solidFill>
                  <a:srgbClr val="0E1C46"/>
                </a:solidFill>
                <a:latin typeface="Calibri" pitchFamily="34" charset="0"/>
                <a:ea typeface="Calibri" pitchFamily="34" charset="-122"/>
                <a:cs typeface="Calibri" pitchFamily="34" charset="-120"/>
              </a:rPr>
              <a:t>Ancienneté (années)</a:t>
            </a:r>
            <a:endParaRPr lang="fr-FR" sz="1200" dirty="0"/>
          </a:p>
        </p:txBody>
      </p:sp>
      <p:pic>
        <p:nvPicPr>
          <p:cNvPr id="28" name="!!flogo" descr="Université de Kara">    </p:cNvPr>
          <p:cNvPicPr>
            <a:picLocks noChangeAspect="1"/>
          </p:cNvPicPr>
          <p:nvPr/>
        </p:nvPicPr>
        <p:blipFill>
          <a:blip r:embed="rId2"/>
          <a:stretch>
            <a:fillRect/>
          </a:stretch>
        </p:blipFill>
        <p:spPr>
          <a:xfrm>
            <a:off x="640080" y="6382512"/>
            <a:ext cx="329184" cy="274320"/>
          </a:xfrm>
          <a:prstGeom prst="rect">
            <a:avLst/>
          </a:prstGeom>
        </p:spPr>
      </p:pic>
      <p:sp>
        <p:nvSpPr>
          <p:cNvPr id="29"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30"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15 / 21</a:t>
            </a:r>
            <a:endParaRPr lang="fr-FR" sz="1000" dirty="0"/>
          </a:p>
        </p:txBody>
      </p:sp>
      <p:sp>
        <p:nvSpPr>
          <p:cNvPr id="31" name="!!band1"/>
          <p:cNvSpPr/>
          <p:nvPr/>
        </p:nvSpPr>
        <p:spPr>
          <a:xfrm>
            <a:off x="0" y="0"/>
            <a:ext cx="4873752" cy="64008"/>
          </a:xfrm>
          <a:prstGeom prst="rect">
            <a:avLst/>
          </a:prstGeom>
          <a:solidFill>
            <a:srgbClr val="1B3F9E"/>
          </a:solidFill>
          <a:ln w="12700">
            <a:solidFill>
              <a:srgbClr val="1B3F9E"/>
            </a:solidFill>
            <a:prstDash val="solid"/>
          </a:ln>
        </p:spPr>
      </p:sp>
      <p:sp>
        <p:nvSpPr>
          <p:cNvPr id="32" name="!!band2"/>
          <p:cNvSpPr/>
          <p:nvPr/>
        </p:nvSpPr>
        <p:spPr>
          <a:xfrm>
            <a:off x="4873752" y="0"/>
            <a:ext cx="4270248" cy="64008"/>
          </a:xfrm>
          <a:prstGeom prst="rect">
            <a:avLst/>
          </a:prstGeom>
          <a:solidFill>
            <a:srgbClr val="00923A"/>
          </a:solidFill>
          <a:ln w="12700">
            <a:solidFill>
              <a:srgbClr val="00923A"/>
            </a:solidFill>
            <a:prstDash val="solid"/>
          </a:ln>
        </p:spPr>
      </p:sp>
      <p:sp>
        <p:nvSpPr>
          <p:cNvPr id="33" name="!!band3"/>
          <p:cNvSpPr/>
          <p:nvPr/>
        </p:nvSpPr>
        <p:spPr>
          <a:xfrm>
            <a:off x="9144000" y="0"/>
            <a:ext cx="3047695" cy="64008"/>
          </a:xfrm>
          <a:prstGeom prst="rect">
            <a:avLst/>
          </a:prstGeom>
          <a:solidFill>
            <a:srgbClr val="FCC600"/>
          </a:solidFill>
          <a:ln w="12700">
            <a:solidFill>
              <a:srgbClr val="FCC600"/>
            </a:solidFill>
            <a:prstDash val="solid"/>
          </a:ln>
        </p:spPr>
      </p:sp>
      <p:sp>
        <p:nvSpPr>
          <p:cNvPr id="34" name="!!railline"/>
          <p:cNvSpPr/>
          <p:nvPr/>
        </p:nvSpPr>
        <p:spPr>
          <a:xfrm>
            <a:off x="11795760" y="1600200"/>
            <a:ext cx="914" cy="3383280"/>
          </a:xfrm>
          <a:prstGeom prst="line">
            <a:avLst/>
          </a:prstGeom>
          <a:noFill/>
          <a:ln w="19050">
            <a:solidFill>
              <a:srgbClr val="D9DFEA"/>
            </a:solidFill>
            <a:prstDash val="solid"/>
          </a:ln>
        </p:spPr>
      </p:sp>
      <p:sp>
        <p:nvSpPr>
          <p:cNvPr id="35" name="!!railprog"/>
          <p:cNvSpPr/>
          <p:nvPr/>
        </p:nvSpPr>
        <p:spPr>
          <a:xfrm>
            <a:off x="11795760" y="1600200"/>
            <a:ext cx="914" cy="2706624"/>
          </a:xfrm>
          <a:prstGeom prst="line">
            <a:avLst/>
          </a:prstGeom>
          <a:noFill/>
          <a:ln w="31750">
            <a:solidFill>
              <a:srgbClr val="00923A"/>
            </a:solidFill>
            <a:prstDash val="solid"/>
          </a:ln>
        </p:spPr>
      </p:sp>
      <p:sp>
        <p:nvSpPr>
          <p:cNvPr id="36"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37" name="!!mt1">
            <a:hlinkClick r:id="rId3"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8" name="!!m2"/>
          <p:cNvSpPr/>
          <p:nvPr/>
        </p:nvSpPr>
        <p:spPr>
          <a:xfrm>
            <a:off x="11603736" y="2084832"/>
            <a:ext cx="384048" cy="384048"/>
          </a:xfrm>
          <a:prstGeom prst="ellipse">
            <a:avLst/>
          </a:prstGeom>
          <a:solidFill>
            <a:srgbClr val="00923A"/>
          </a:solidFill>
          <a:ln w="15875">
            <a:solidFill>
              <a:srgbClr val="00923A"/>
            </a:solidFill>
            <a:prstDash val="solid"/>
          </a:ln>
        </p:spPr>
      </p:sp>
      <p:sp>
        <p:nvSpPr>
          <p:cNvPr id="39" name="!!mt2">
            <a:hlinkClick r:id="rId4"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0" name="!!m3"/>
          <p:cNvSpPr/>
          <p:nvPr/>
        </p:nvSpPr>
        <p:spPr>
          <a:xfrm>
            <a:off x="11603736" y="2761488"/>
            <a:ext cx="384048" cy="384048"/>
          </a:xfrm>
          <a:prstGeom prst="ellipse">
            <a:avLst/>
          </a:prstGeom>
          <a:solidFill>
            <a:srgbClr val="00923A"/>
          </a:solidFill>
          <a:ln w="15875">
            <a:solidFill>
              <a:srgbClr val="00923A"/>
            </a:solidFill>
            <a:prstDash val="solid"/>
          </a:ln>
        </p:spPr>
      </p:sp>
      <p:sp>
        <p:nvSpPr>
          <p:cNvPr id="41" name="!!mt3">
            <a:hlinkClick r:id="rId5"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m4"/>
          <p:cNvSpPr/>
          <p:nvPr/>
        </p:nvSpPr>
        <p:spPr>
          <a:xfrm>
            <a:off x="11603736" y="3438144"/>
            <a:ext cx="384048" cy="384048"/>
          </a:xfrm>
          <a:prstGeom prst="ellipse">
            <a:avLst/>
          </a:prstGeom>
          <a:solidFill>
            <a:srgbClr val="00923A"/>
          </a:solidFill>
          <a:ln w="15875">
            <a:solidFill>
              <a:srgbClr val="00923A"/>
            </a:solidFill>
            <a:prstDash val="solid"/>
          </a:ln>
        </p:spPr>
      </p:sp>
      <p:sp>
        <p:nvSpPr>
          <p:cNvPr id="43" name="!!mt4">
            <a:hlinkClick r:id="rId6"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4" name="!!m5"/>
          <p:cNvSpPr/>
          <p:nvPr/>
        </p:nvSpPr>
        <p:spPr>
          <a:xfrm>
            <a:off x="11603736" y="4114800"/>
            <a:ext cx="384048" cy="384048"/>
          </a:xfrm>
          <a:prstGeom prst="ellipse">
            <a:avLst/>
          </a:prstGeom>
          <a:solidFill>
            <a:srgbClr val="1B3F9E"/>
          </a:solidFill>
          <a:ln w="15875">
            <a:solidFill>
              <a:srgbClr val="1B3F9E"/>
            </a:solidFill>
            <a:prstDash val="solid"/>
          </a:ln>
        </p:spPr>
      </p:sp>
      <p:sp>
        <p:nvSpPr>
          <p:cNvPr id="45" name="!!mt5"/>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6"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47" name="!!mt6">
            <a:hlinkClick r:id="rId7"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8"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Résultats</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22" presetClass="entr" presetSubtype="4" fill="hold" grpId="0" nodeType="withEffect">
                                  <p:stCondLst>
                                    <p:cond delay="25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900"/>
                                        <p:tgtEl>
                                          <p:spTgt spid="6"/>
                                        </p:tgtEl>
                                      </p:cBhvr>
                                    </p:animEffect>
                                  </p:childTnLst>
                                </p:cTn>
                              </p:par>
                              <p:par>
                                <p:cTn id="17" presetID="53" presetClass="entr" presetSubtype="16" fill="hold" grpId="0" nodeType="withEffect">
                                  <p:stCondLst>
                                    <p:cond delay="250"/>
                                  </p:stCondLst>
                                  <p:childTnLst>
                                    <p:set>
                                      <p:cBhvr>
                                        <p:cTn id="18" dur="1" fill="hold">
                                          <p:stCondLst>
                                            <p:cond delay="0"/>
                                          </p:stCondLst>
                                        </p:cTn>
                                        <p:tgtEl>
                                          <p:spTgt spid="7"/>
                                        </p:tgtEl>
                                        <p:attrNameLst>
                                          <p:attrName>style.visibility</p:attrName>
                                        </p:attrNameLst>
                                      </p:cBhvr>
                                      <p:to>
                                        <p:strVal val="visible"/>
                                      </p:to>
                                    </p:set>
                                    <p:anim calcmode="lin" valueType="num">
                                      <p:cBhvr>
                                        <p:cTn id="19" dur="600" fill="hold"/>
                                        <p:tgtEl>
                                          <p:spTgt spid="7"/>
                                        </p:tgtEl>
                                        <p:attrNameLst>
                                          <p:attrName>ppt_w</p:attrName>
                                        </p:attrNameLst>
                                      </p:cBhvr>
                                      <p:tavLst>
                                        <p:tav tm="0">
                                          <p:val>
                                            <p:fltVal val="0"/>
                                          </p:val>
                                        </p:tav>
                                        <p:tav tm="100000">
                                          <p:val>
                                            <p:strVal val="#ppt_w"/>
                                          </p:val>
                                        </p:tav>
                                      </p:tavLst>
                                    </p:anim>
                                    <p:anim calcmode="lin" valueType="num">
                                      <p:cBhvr>
                                        <p:cTn id="20" dur="600" fill="hold"/>
                                        <p:tgtEl>
                                          <p:spTgt spid="7"/>
                                        </p:tgtEl>
                                        <p:attrNameLst>
                                          <p:attrName>ppt_h</p:attrName>
                                        </p:attrNameLst>
                                      </p:cBhvr>
                                      <p:tavLst>
                                        <p:tav tm="0">
                                          <p:val>
                                            <p:fltVal val="0"/>
                                          </p:val>
                                        </p:tav>
                                        <p:tav tm="100000">
                                          <p:val>
                                            <p:strVal val="#ppt_h"/>
                                          </p:val>
                                        </p:tav>
                                      </p:tavLst>
                                    </p:anim>
                                    <p:animEffect transition="in" filter="fade">
                                      <p:cBhvr>
                                        <p:cTn id="21" dur="600"/>
                                        <p:tgtEl>
                                          <p:spTgt spid="7"/>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600"/>
                                        <p:tgtEl>
                                          <p:spTgt spid="8"/>
                                        </p:tgtEl>
                                      </p:cBhvr>
                                    </p:animEffect>
                                  </p:childTnLst>
                                </p:cTn>
                              </p:par>
                              <p:par>
                                <p:cTn id="25" presetID="10" presetClass="entr" presetSubtype="0" fill="hold" grpId="0" nodeType="withEffect">
                                  <p:stCondLst>
                                    <p:cond delay="5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600"/>
                                        <p:tgtEl>
                                          <p:spTgt spid="9"/>
                                        </p:tgtEl>
                                      </p:cBhvr>
                                    </p:animEffect>
                                  </p:childTnLst>
                                </p:cTn>
                              </p:par>
                              <p:par>
                                <p:cTn id="28" presetID="22" presetClass="entr" presetSubtype="4" fill="hold" grpId="0" nodeType="withEffect">
                                  <p:stCondLst>
                                    <p:cond delay="500"/>
                                  </p:stCondLst>
                                  <p:childTnLst>
                                    <p:set>
                                      <p:cBhvr>
                                        <p:cTn id="29" dur="1" fill="hold">
                                          <p:stCondLst>
                                            <p:cond delay="0"/>
                                          </p:stCondLst>
                                        </p:cTn>
                                        <p:tgtEl>
                                          <p:spTgt spid="10"/>
                                        </p:tgtEl>
                                        <p:attrNameLst>
                                          <p:attrName>style.visibility</p:attrName>
                                        </p:attrNameLst>
                                      </p:cBhvr>
                                      <p:to>
                                        <p:strVal val="visible"/>
                                      </p:to>
                                    </p:set>
                                    <p:animEffect transition="in" filter="wipe(up)">
                                      <p:cBhvr>
                                        <p:cTn id="30" dur="900"/>
                                        <p:tgtEl>
                                          <p:spTgt spid="10"/>
                                        </p:tgtEl>
                                      </p:cBhvr>
                                    </p:animEffect>
                                  </p:childTnLst>
                                </p:cTn>
                              </p:par>
                              <p:par>
                                <p:cTn id="31" presetID="53" presetClass="entr" presetSubtype="16" fill="hold" grpId="0" nodeType="withEffect">
                                  <p:stCondLst>
                                    <p:cond delay="500"/>
                                  </p:stCondLst>
                                  <p:childTnLst>
                                    <p:set>
                                      <p:cBhvr>
                                        <p:cTn id="32" dur="1" fill="hold">
                                          <p:stCondLst>
                                            <p:cond delay="0"/>
                                          </p:stCondLst>
                                        </p:cTn>
                                        <p:tgtEl>
                                          <p:spTgt spid="11"/>
                                        </p:tgtEl>
                                        <p:attrNameLst>
                                          <p:attrName>style.visibility</p:attrName>
                                        </p:attrNameLst>
                                      </p:cBhvr>
                                      <p:to>
                                        <p:strVal val="visible"/>
                                      </p:to>
                                    </p:set>
                                    <p:anim calcmode="lin" valueType="num">
                                      <p:cBhvr>
                                        <p:cTn id="33" dur="600" fill="hold"/>
                                        <p:tgtEl>
                                          <p:spTgt spid="11"/>
                                        </p:tgtEl>
                                        <p:attrNameLst>
                                          <p:attrName>ppt_w</p:attrName>
                                        </p:attrNameLst>
                                      </p:cBhvr>
                                      <p:tavLst>
                                        <p:tav tm="0">
                                          <p:val>
                                            <p:fltVal val="0"/>
                                          </p:val>
                                        </p:tav>
                                        <p:tav tm="100000">
                                          <p:val>
                                            <p:strVal val="#ppt_w"/>
                                          </p:val>
                                        </p:tav>
                                      </p:tavLst>
                                    </p:anim>
                                    <p:anim calcmode="lin" valueType="num">
                                      <p:cBhvr>
                                        <p:cTn id="34" dur="600" fill="hold"/>
                                        <p:tgtEl>
                                          <p:spTgt spid="11"/>
                                        </p:tgtEl>
                                        <p:attrNameLst>
                                          <p:attrName>ppt_h</p:attrName>
                                        </p:attrNameLst>
                                      </p:cBhvr>
                                      <p:tavLst>
                                        <p:tav tm="0">
                                          <p:val>
                                            <p:fltVal val="0"/>
                                          </p:val>
                                        </p:tav>
                                        <p:tav tm="100000">
                                          <p:val>
                                            <p:strVal val="#ppt_h"/>
                                          </p:val>
                                        </p:tav>
                                      </p:tavLst>
                                    </p:anim>
                                    <p:animEffect transition="in" filter="fade">
                                      <p:cBhvr>
                                        <p:cTn id="35" dur="600"/>
                                        <p:tgtEl>
                                          <p:spTgt spid="11"/>
                                        </p:tgtEl>
                                      </p:cBhvr>
                                    </p:animEffect>
                                  </p:childTnLst>
                                </p:cTn>
                              </p:par>
                              <p:par>
                                <p:cTn id="36" presetID="10" presetClass="entr" presetSubtype="0" fill="hold" grpId="0" nodeType="withEffect">
                                  <p:stCondLst>
                                    <p:cond delay="55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childTnLst>
                                </p:cTn>
                              </p:par>
                              <p:par>
                                <p:cTn id="39" presetID="10" presetClass="entr" presetSubtype="0" fill="hold" grpId="0" nodeType="withEffect">
                                  <p:stCondLst>
                                    <p:cond delay="75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600"/>
                                        <p:tgtEl>
                                          <p:spTgt spid="13"/>
                                        </p:tgtEl>
                                      </p:cBhvr>
                                    </p:animEffect>
                                  </p:childTnLst>
                                </p:cTn>
                              </p:par>
                              <p:par>
                                <p:cTn id="42" presetID="22" presetClass="entr" presetSubtype="4" fill="hold" grpId="0" nodeType="withEffect">
                                  <p:stCondLst>
                                    <p:cond delay="750"/>
                                  </p:stCondLst>
                                  <p:childTnLst>
                                    <p:set>
                                      <p:cBhvr>
                                        <p:cTn id="43" dur="1" fill="hold">
                                          <p:stCondLst>
                                            <p:cond delay="0"/>
                                          </p:stCondLst>
                                        </p:cTn>
                                        <p:tgtEl>
                                          <p:spTgt spid="14"/>
                                        </p:tgtEl>
                                        <p:attrNameLst>
                                          <p:attrName>style.visibility</p:attrName>
                                        </p:attrNameLst>
                                      </p:cBhvr>
                                      <p:to>
                                        <p:strVal val="visible"/>
                                      </p:to>
                                    </p:set>
                                    <p:animEffect transition="in" filter="wipe(up)">
                                      <p:cBhvr>
                                        <p:cTn id="44" dur="900"/>
                                        <p:tgtEl>
                                          <p:spTgt spid="14"/>
                                        </p:tgtEl>
                                      </p:cBhvr>
                                    </p:animEffect>
                                  </p:childTnLst>
                                </p:cTn>
                              </p:par>
                              <p:par>
                                <p:cTn id="45" presetID="53" presetClass="entr" presetSubtype="16" fill="hold" grpId="0" nodeType="withEffect">
                                  <p:stCondLst>
                                    <p:cond delay="750"/>
                                  </p:stCondLst>
                                  <p:childTnLst>
                                    <p:set>
                                      <p:cBhvr>
                                        <p:cTn id="46" dur="1" fill="hold">
                                          <p:stCondLst>
                                            <p:cond delay="0"/>
                                          </p:stCondLst>
                                        </p:cTn>
                                        <p:tgtEl>
                                          <p:spTgt spid="15"/>
                                        </p:tgtEl>
                                        <p:attrNameLst>
                                          <p:attrName>style.visibility</p:attrName>
                                        </p:attrNameLst>
                                      </p:cBhvr>
                                      <p:to>
                                        <p:strVal val="visible"/>
                                      </p:to>
                                    </p:set>
                                    <p:anim calcmode="lin" valueType="num">
                                      <p:cBhvr>
                                        <p:cTn id="47" dur="600" fill="hold"/>
                                        <p:tgtEl>
                                          <p:spTgt spid="15"/>
                                        </p:tgtEl>
                                        <p:attrNameLst>
                                          <p:attrName>ppt_w</p:attrName>
                                        </p:attrNameLst>
                                      </p:cBhvr>
                                      <p:tavLst>
                                        <p:tav tm="0">
                                          <p:val>
                                            <p:fltVal val="0"/>
                                          </p:val>
                                        </p:tav>
                                        <p:tav tm="100000">
                                          <p:val>
                                            <p:strVal val="#ppt_w"/>
                                          </p:val>
                                        </p:tav>
                                      </p:tavLst>
                                    </p:anim>
                                    <p:anim calcmode="lin" valueType="num">
                                      <p:cBhvr>
                                        <p:cTn id="48" dur="600" fill="hold"/>
                                        <p:tgtEl>
                                          <p:spTgt spid="15"/>
                                        </p:tgtEl>
                                        <p:attrNameLst>
                                          <p:attrName>ppt_h</p:attrName>
                                        </p:attrNameLst>
                                      </p:cBhvr>
                                      <p:tavLst>
                                        <p:tav tm="0">
                                          <p:val>
                                            <p:fltVal val="0"/>
                                          </p:val>
                                        </p:tav>
                                        <p:tav tm="100000">
                                          <p:val>
                                            <p:strVal val="#ppt_h"/>
                                          </p:val>
                                        </p:tav>
                                      </p:tavLst>
                                    </p:anim>
                                    <p:animEffect transition="in" filter="fade">
                                      <p:cBhvr>
                                        <p:cTn id="49" dur="600"/>
                                        <p:tgtEl>
                                          <p:spTgt spid="15"/>
                                        </p:tgtEl>
                                      </p:cBhvr>
                                    </p:animEffect>
                                  </p:childTnLst>
                                </p:cTn>
                              </p:par>
                              <p:par>
                                <p:cTn id="50" presetID="10" presetClass="entr" presetSubtype="0" fill="hold" grpId="0" nodeType="withEffect">
                                  <p:stCondLst>
                                    <p:cond delay="80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600"/>
                                        <p:tgtEl>
                                          <p:spTgt spid="16"/>
                                        </p:tgtEl>
                                      </p:cBhvr>
                                    </p:animEffect>
                                  </p:childTnLst>
                                </p:cTn>
                              </p:par>
                              <p:par>
                                <p:cTn id="53" presetID="10" presetClass="entr" presetSubtype="0" fill="hold" grpId="0" nodeType="withEffect">
                                  <p:stCondLst>
                                    <p:cond delay="100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600"/>
                                        <p:tgtEl>
                                          <p:spTgt spid="17"/>
                                        </p:tgtEl>
                                      </p:cBhvr>
                                    </p:animEffect>
                                  </p:childTnLst>
                                </p:cTn>
                              </p:par>
                              <p:par>
                                <p:cTn id="56" presetID="22" presetClass="entr" presetSubtype="4" fill="hold" grpId="0" nodeType="withEffect">
                                  <p:stCondLst>
                                    <p:cond delay="1000"/>
                                  </p:stCondLst>
                                  <p:childTnLst>
                                    <p:set>
                                      <p:cBhvr>
                                        <p:cTn id="57" dur="1" fill="hold">
                                          <p:stCondLst>
                                            <p:cond delay="0"/>
                                          </p:stCondLst>
                                        </p:cTn>
                                        <p:tgtEl>
                                          <p:spTgt spid="18"/>
                                        </p:tgtEl>
                                        <p:attrNameLst>
                                          <p:attrName>style.visibility</p:attrName>
                                        </p:attrNameLst>
                                      </p:cBhvr>
                                      <p:to>
                                        <p:strVal val="visible"/>
                                      </p:to>
                                    </p:set>
                                    <p:animEffect transition="in" filter="wipe(up)">
                                      <p:cBhvr>
                                        <p:cTn id="58" dur="900"/>
                                        <p:tgtEl>
                                          <p:spTgt spid="18"/>
                                        </p:tgtEl>
                                      </p:cBhvr>
                                    </p:animEffect>
                                  </p:childTnLst>
                                </p:cTn>
                              </p:par>
                              <p:par>
                                <p:cTn id="59" presetID="53" presetClass="entr" presetSubtype="16" fill="hold" grpId="0" nodeType="withEffect">
                                  <p:stCondLst>
                                    <p:cond delay="1000"/>
                                  </p:stCondLst>
                                  <p:childTnLst>
                                    <p:set>
                                      <p:cBhvr>
                                        <p:cTn id="60" dur="1" fill="hold">
                                          <p:stCondLst>
                                            <p:cond delay="0"/>
                                          </p:stCondLst>
                                        </p:cTn>
                                        <p:tgtEl>
                                          <p:spTgt spid="19"/>
                                        </p:tgtEl>
                                        <p:attrNameLst>
                                          <p:attrName>style.visibility</p:attrName>
                                        </p:attrNameLst>
                                      </p:cBhvr>
                                      <p:to>
                                        <p:strVal val="visible"/>
                                      </p:to>
                                    </p:set>
                                    <p:anim calcmode="lin" valueType="num">
                                      <p:cBhvr>
                                        <p:cTn id="61" dur="600" fill="hold"/>
                                        <p:tgtEl>
                                          <p:spTgt spid="19"/>
                                        </p:tgtEl>
                                        <p:attrNameLst>
                                          <p:attrName>ppt_w</p:attrName>
                                        </p:attrNameLst>
                                      </p:cBhvr>
                                      <p:tavLst>
                                        <p:tav tm="0">
                                          <p:val>
                                            <p:fltVal val="0"/>
                                          </p:val>
                                        </p:tav>
                                        <p:tav tm="100000">
                                          <p:val>
                                            <p:strVal val="#ppt_w"/>
                                          </p:val>
                                        </p:tav>
                                      </p:tavLst>
                                    </p:anim>
                                    <p:anim calcmode="lin" valueType="num">
                                      <p:cBhvr>
                                        <p:cTn id="62" dur="600" fill="hold"/>
                                        <p:tgtEl>
                                          <p:spTgt spid="19"/>
                                        </p:tgtEl>
                                        <p:attrNameLst>
                                          <p:attrName>ppt_h</p:attrName>
                                        </p:attrNameLst>
                                      </p:cBhvr>
                                      <p:tavLst>
                                        <p:tav tm="0">
                                          <p:val>
                                            <p:fltVal val="0"/>
                                          </p:val>
                                        </p:tav>
                                        <p:tav tm="100000">
                                          <p:val>
                                            <p:strVal val="#ppt_h"/>
                                          </p:val>
                                        </p:tav>
                                      </p:tavLst>
                                    </p:anim>
                                    <p:animEffect transition="in" filter="fade">
                                      <p:cBhvr>
                                        <p:cTn id="63" dur="600"/>
                                        <p:tgtEl>
                                          <p:spTgt spid="19"/>
                                        </p:tgtEl>
                                      </p:cBhvr>
                                    </p:animEffect>
                                  </p:childTnLst>
                                </p:cTn>
                              </p:par>
                              <p:par>
                                <p:cTn id="64" presetID="10" presetClass="entr" presetSubtype="0" fill="hold" grpId="0" nodeType="withEffect">
                                  <p:stCondLst>
                                    <p:cond delay="105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600"/>
                                        <p:tgtEl>
                                          <p:spTgt spid="20"/>
                                        </p:tgtEl>
                                      </p:cBhvr>
                                    </p:animEffect>
                                  </p:childTnLst>
                                </p:cTn>
                              </p:par>
                              <p:par>
                                <p:cTn id="67" presetID="10" presetClass="entr" presetSubtype="0" fill="hold" grpId="0" nodeType="withEffect">
                                  <p:stCondLst>
                                    <p:cond delay="110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600"/>
                                        <p:tgtEl>
                                          <p:spTgt spid="21"/>
                                        </p:tgtEl>
                                      </p:cBhvr>
                                    </p:animEffect>
                                  </p:childTnLst>
                                </p:cTn>
                              </p:par>
                              <p:par>
                                <p:cTn id="70" presetID="10" presetClass="entr" presetSubtype="0" fill="hold" grpId="0" nodeType="withEffect">
                                  <p:stCondLst>
                                    <p:cond delay="120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600"/>
                                        <p:tgtEl>
                                          <p:spTgt spid="22"/>
                                        </p:tgtEl>
                                      </p:cBhvr>
                                    </p:animEffect>
                                  </p:childTnLst>
                                </p:cTn>
                              </p:par>
                              <p:par>
                                <p:cTn id="73" presetID="22" presetClass="entr" presetSubtype="4" fill="hold" grpId="0" nodeType="withEffect">
                                  <p:stCondLst>
                                    <p:cond delay="1400"/>
                                  </p:stCondLst>
                                  <p:childTnLst>
                                    <p:set>
                                      <p:cBhvr>
                                        <p:cTn id="74" dur="1" fill="hold">
                                          <p:stCondLst>
                                            <p:cond delay="0"/>
                                          </p:stCondLst>
                                        </p:cTn>
                                        <p:tgtEl>
                                          <p:spTgt spid="23"/>
                                        </p:tgtEl>
                                        <p:attrNameLst>
                                          <p:attrName>style.visibility</p:attrName>
                                        </p:attrNameLst>
                                      </p:cBhvr>
                                      <p:to>
                                        <p:strVal val="visible"/>
                                      </p:to>
                                    </p:set>
                                    <p:animEffect transition="in" filter="wipe(up)">
                                      <p:cBhvr>
                                        <p:cTn id="75" dur="900"/>
                                        <p:tgtEl>
                                          <p:spTgt spid="23"/>
                                        </p:tgtEl>
                                      </p:cBhvr>
                                    </p:animEffect>
                                  </p:childTnLst>
                                </p:cTn>
                              </p:par>
                              <p:par>
                                <p:cTn id="76" presetID="53" presetClass="entr" presetSubtype="16" fill="hold" grpId="0" nodeType="withEffect">
                                  <p:stCondLst>
                                    <p:cond delay="2000"/>
                                  </p:stCondLst>
                                  <p:childTnLst>
                                    <p:set>
                                      <p:cBhvr>
                                        <p:cTn id="77" dur="1" fill="hold">
                                          <p:stCondLst>
                                            <p:cond delay="0"/>
                                          </p:stCondLst>
                                        </p:cTn>
                                        <p:tgtEl>
                                          <p:spTgt spid="24"/>
                                        </p:tgtEl>
                                        <p:attrNameLst>
                                          <p:attrName>style.visibility</p:attrName>
                                        </p:attrNameLst>
                                      </p:cBhvr>
                                      <p:to>
                                        <p:strVal val="visible"/>
                                      </p:to>
                                    </p:set>
                                    <p:anim calcmode="lin" valueType="num">
                                      <p:cBhvr>
                                        <p:cTn id="78" dur="600" fill="hold"/>
                                        <p:tgtEl>
                                          <p:spTgt spid="24"/>
                                        </p:tgtEl>
                                        <p:attrNameLst>
                                          <p:attrName>ppt_w</p:attrName>
                                        </p:attrNameLst>
                                      </p:cBhvr>
                                      <p:tavLst>
                                        <p:tav tm="0">
                                          <p:val>
                                            <p:fltVal val="0"/>
                                          </p:val>
                                        </p:tav>
                                        <p:tav tm="100000">
                                          <p:val>
                                            <p:strVal val="#ppt_w"/>
                                          </p:val>
                                        </p:tav>
                                      </p:tavLst>
                                    </p:anim>
                                    <p:anim calcmode="lin" valueType="num">
                                      <p:cBhvr>
                                        <p:cTn id="79" dur="600" fill="hold"/>
                                        <p:tgtEl>
                                          <p:spTgt spid="24"/>
                                        </p:tgtEl>
                                        <p:attrNameLst>
                                          <p:attrName>ppt_h</p:attrName>
                                        </p:attrNameLst>
                                      </p:cBhvr>
                                      <p:tavLst>
                                        <p:tav tm="0">
                                          <p:val>
                                            <p:fltVal val="0"/>
                                          </p:val>
                                        </p:tav>
                                        <p:tav tm="100000">
                                          <p:val>
                                            <p:strVal val="#ppt_h"/>
                                          </p:val>
                                        </p:tav>
                                      </p:tavLst>
                                    </p:anim>
                                    <p:animEffect transition="in" filter="fade">
                                      <p:cBhvr>
                                        <p:cTn id="80" dur="600"/>
                                        <p:tgtEl>
                                          <p:spTgt spid="24"/>
                                        </p:tgtEl>
                                      </p:cBhvr>
                                    </p:animEffect>
                                  </p:childTnLst>
                                </p:cTn>
                              </p:par>
                              <p:par>
                                <p:cTn id="81" presetID="22" presetClass="entr" presetSubtype="8" fill="hold" grpId="0" nodeType="withEffect">
                                  <p:stCondLst>
                                    <p:cond delay="2050"/>
                                  </p:stCondLst>
                                  <p:childTnLst>
                                    <p:set>
                                      <p:cBhvr>
                                        <p:cTn id="82" dur="1" fill="hold">
                                          <p:stCondLst>
                                            <p:cond delay="0"/>
                                          </p:stCondLst>
                                        </p:cTn>
                                        <p:tgtEl>
                                          <p:spTgt spid="25"/>
                                        </p:tgtEl>
                                        <p:attrNameLst>
                                          <p:attrName>style.visibility</p:attrName>
                                        </p:attrNameLst>
                                      </p:cBhvr>
                                      <p:to>
                                        <p:strVal val="visible"/>
                                      </p:to>
                                    </p:set>
                                    <p:animEffect transition="in" filter="wipe(left)">
                                      <p:cBhvr>
                                        <p:cTn id="83" dur="600"/>
                                        <p:tgtEl>
                                          <p:spTgt spid="25"/>
                                        </p:tgtEl>
                                      </p:cBhvr>
                                    </p:animEffect>
                                  </p:childTnLst>
                                </p:cTn>
                              </p:par>
                              <p:par>
                                <p:cTn id="84" presetID="53" presetClass="entr" presetSubtype="16" fill="hold" grpId="0" nodeType="withEffect">
                                  <p:stCondLst>
                                    <p:cond delay="2300"/>
                                  </p:stCondLst>
                                  <p:childTnLst>
                                    <p:set>
                                      <p:cBhvr>
                                        <p:cTn id="85" dur="1" fill="hold">
                                          <p:stCondLst>
                                            <p:cond delay="0"/>
                                          </p:stCondLst>
                                        </p:cTn>
                                        <p:tgtEl>
                                          <p:spTgt spid="26"/>
                                        </p:tgtEl>
                                        <p:attrNameLst>
                                          <p:attrName>style.visibility</p:attrName>
                                        </p:attrNameLst>
                                      </p:cBhvr>
                                      <p:to>
                                        <p:strVal val="visible"/>
                                      </p:to>
                                    </p:set>
                                    <p:anim calcmode="lin" valueType="num">
                                      <p:cBhvr>
                                        <p:cTn id="86" dur="600" fill="hold"/>
                                        <p:tgtEl>
                                          <p:spTgt spid="26"/>
                                        </p:tgtEl>
                                        <p:attrNameLst>
                                          <p:attrName>ppt_w</p:attrName>
                                        </p:attrNameLst>
                                      </p:cBhvr>
                                      <p:tavLst>
                                        <p:tav tm="0">
                                          <p:val>
                                            <p:fltVal val="0"/>
                                          </p:val>
                                        </p:tav>
                                        <p:tav tm="100000">
                                          <p:val>
                                            <p:strVal val="#ppt_w"/>
                                          </p:val>
                                        </p:tav>
                                      </p:tavLst>
                                    </p:anim>
                                    <p:anim calcmode="lin" valueType="num">
                                      <p:cBhvr>
                                        <p:cTn id="87" dur="600" fill="hold"/>
                                        <p:tgtEl>
                                          <p:spTgt spid="26"/>
                                        </p:tgtEl>
                                        <p:attrNameLst>
                                          <p:attrName>ppt_h</p:attrName>
                                        </p:attrNameLst>
                                      </p:cBhvr>
                                      <p:tavLst>
                                        <p:tav tm="0">
                                          <p:val>
                                            <p:fltVal val="0"/>
                                          </p:val>
                                        </p:tav>
                                        <p:tav tm="100000">
                                          <p:val>
                                            <p:strVal val="#ppt_h"/>
                                          </p:val>
                                        </p:tav>
                                      </p:tavLst>
                                    </p:anim>
                                    <p:animEffect transition="in" filter="fade">
                                      <p:cBhvr>
                                        <p:cTn id="88" dur="600"/>
                                        <p:tgtEl>
                                          <p:spTgt spid="26"/>
                                        </p:tgtEl>
                                      </p:cBhvr>
                                    </p:animEffect>
                                  </p:childTnLst>
                                </p:cTn>
                              </p:par>
                              <p:par>
                                <p:cTn id="89" presetID="22" presetClass="entr" presetSubtype="8" fill="hold" grpId="0" nodeType="withEffect">
                                  <p:stCondLst>
                                    <p:cond delay="2350"/>
                                  </p:stCondLst>
                                  <p:childTnLst>
                                    <p:set>
                                      <p:cBhvr>
                                        <p:cTn id="90" dur="1" fill="hold">
                                          <p:stCondLst>
                                            <p:cond delay="0"/>
                                          </p:stCondLst>
                                        </p:cTn>
                                        <p:tgtEl>
                                          <p:spTgt spid="27"/>
                                        </p:tgtEl>
                                        <p:attrNameLst>
                                          <p:attrName>style.visibility</p:attrName>
                                        </p:attrNameLst>
                                      </p:cBhvr>
                                      <p:to>
                                        <p:strVal val="visible"/>
                                      </p:to>
                                    </p:set>
                                    <p:animEffect transition="in" filter="wipe(left)">
                                      <p:cBhvr>
                                        <p:cTn id="91"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11" grpId="0" animBg="1"/>
      <p:bldP spid="12" grpId="0" animBg="1"/>
      <p:bldP spid="15" grpId="0" animBg="1"/>
      <p:bldP spid="16" grpId="0" animBg="1"/>
      <p:bldP spid="19" grpId="0" animBg="1"/>
      <p:bldP spid="20" grpId="0" animBg="1"/>
      <p:bldP spid="22" grpId="0" animBg="1"/>
      <p:bldP spid="25" grpId="0" animBg="1"/>
      <p:bldP spid="27" grpId="0" animBg="1"/>
      <p:bldGraphic spid="23"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5 — Résultats et vérification des hypothèses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Cinq constats principaux</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cl0"/>
          <p:cNvSpPr/>
          <p:nvPr/>
        </p:nvSpPr>
        <p:spPr>
          <a:xfrm>
            <a:off x="683743" y="2578608"/>
            <a:ext cx="10129723" cy="914"/>
          </a:xfrm>
          <a:prstGeom prst="line">
            <a:avLst/>
          </a:prstGeom>
          <a:noFill/>
          <a:ln w="9525">
            <a:solidFill>
              <a:srgbClr val="D9DFEA"/>
            </a:solidFill>
            <a:prstDash val="solid"/>
          </a:ln>
        </p:spPr>
      </p:sp>
      <p:sp>
        <p:nvSpPr>
          <p:cNvPr id="6" name="cn0"/>
          <p:cNvSpPr txBox="1"/>
          <p:nvPr/>
        </p:nvSpPr>
        <p:spPr>
          <a:xfrm>
            <a:off x="683743" y="1801368"/>
            <a:ext cx="523951" cy="685800"/>
          </a:xfrm>
          <a:prstGeom prst="rect">
            <a:avLst/>
          </a:prstGeom>
          <a:noFill/>
          <a:ln/>
        </p:spPr>
        <p:txBody>
          <a:bodyPr wrap="square" lIns="0" tIns="0" rIns="0" bIns="0" rtlCol="0" anchor="t"/>
          <a:lstStyle/>
          <a:p>
            <a:pPr indent="0" marL="0">
              <a:buNone/>
            </a:pPr>
            <a:r>
              <a:rPr lang="fr-FR" altLang="en-US" sz="3000" b="1" dirty="0">
                <a:solidFill>
                  <a:srgbClr val="00923A"/>
                </a:solidFill>
                <a:latin typeface="Calibri" pitchFamily="34" charset="0"/>
                <a:ea typeface="Calibri" pitchFamily="34" charset="-122"/>
                <a:cs typeface="Calibri" pitchFamily="34" charset="-120"/>
              </a:rPr>
              <a:t>1</a:t>
            </a:r>
            <a:endParaRPr lang="fr-FR" sz="3000" dirty="0"/>
          </a:p>
        </p:txBody>
      </p:sp>
      <p:sp>
        <p:nvSpPr>
          <p:cNvPr id="7" name="ct0"/>
          <p:cNvSpPr txBox="1"/>
          <p:nvPr/>
        </p:nvSpPr>
        <p:spPr>
          <a:xfrm>
            <a:off x="1295019" y="1819656"/>
            <a:ext cx="9431122" cy="73152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Le circuit fonctionne et la traçabilité est assurée</a:t>
            </a:r>
            <a:endParaRPr lang="fr-FR" sz="1700" dirty="0"/>
          </a:p>
          <a:p>
            <a:pPr indent="0" marL="0">
              <a:buNone/>
            </a:pPr>
            <a:r>
              <a:rPr lang="fr-FR" altLang="en-US" sz="1400" dirty="0">
                <a:solidFill>
                  <a:srgbClr val="56617C"/>
                </a:solidFill>
                <a:latin typeface="Calibri" pitchFamily="34" charset="0"/>
                <a:ea typeface="Calibri" pitchFamily="34" charset="-122"/>
                <a:cs typeface="Calibri" pitchFamily="34" charset="-120"/>
              </a:rPr>
              <a:t>Étapes claires et respectées, décharge systématique, aucun courrier perdu pendant l’observation.</a:t>
            </a:r>
            <a:endParaRPr lang="fr-FR" sz="1700" dirty="0"/>
          </a:p>
        </p:txBody>
      </p:sp>
      <p:sp>
        <p:nvSpPr>
          <p:cNvPr id="8" name="cl1"/>
          <p:cNvSpPr/>
          <p:nvPr/>
        </p:nvSpPr>
        <p:spPr>
          <a:xfrm>
            <a:off x="683743" y="3465576"/>
            <a:ext cx="10129723" cy="914"/>
          </a:xfrm>
          <a:prstGeom prst="line">
            <a:avLst/>
          </a:prstGeom>
          <a:noFill/>
          <a:ln w="9525">
            <a:solidFill>
              <a:srgbClr val="D9DFEA"/>
            </a:solidFill>
            <a:prstDash val="solid"/>
          </a:ln>
        </p:spPr>
      </p:sp>
      <p:sp>
        <p:nvSpPr>
          <p:cNvPr id="9" name="cn1"/>
          <p:cNvSpPr txBox="1"/>
          <p:nvPr/>
        </p:nvSpPr>
        <p:spPr>
          <a:xfrm>
            <a:off x="683743" y="2688336"/>
            <a:ext cx="523951" cy="685800"/>
          </a:xfrm>
          <a:prstGeom prst="rect">
            <a:avLst/>
          </a:prstGeom>
          <a:noFill/>
          <a:ln/>
        </p:spPr>
        <p:txBody>
          <a:bodyPr wrap="square" lIns="0" tIns="0" rIns="0" bIns="0" rtlCol="0" anchor="t"/>
          <a:lstStyle/>
          <a:p>
            <a:pPr indent="0" marL="0">
              <a:buNone/>
            </a:pPr>
            <a:r>
              <a:rPr lang="fr-FR" altLang="en-US" sz="3000" b="1" dirty="0">
                <a:solidFill>
                  <a:srgbClr val="1B3F9E"/>
                </a:solidFill>
                <a:latin typeface="Calibri" pitchFamily="34" charset="0"/>
                <a:ea typeface="Calibri" pitchFamily="34" charset="-122"/>
                <a:cs typeface="Calibri" pitchFamily="34" charset="-120"/>
              </a:rPr>
              <a:t>2</a:t>
            </a:r>
            <a:endParaRPr lang="fr-FR" sz="3000" dirty="0"/>
          </a:p>
        </p:txBody>
      </p:sp>
      <p:sp>
        <p:nvSpPr>
          <p:cNvPr id="10" name="ct1"/>
          <p:cNvSpPr txBox="1"/>
          <p:nvPr/>
        </p:nvSpPr>
        <p:spPr>
          <a:xfrm>
            <a:off x="1295019" y="2706624"/>
            <a:ext cx="9431122" cy="73152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Le circuit dépend de quelques personnes</a:t>
            </a:r>
            <a:endParaRPr lang="fr-FR" sz="1700" dirty="0"/>
          </a:p>
          <a:p>
            <a:pPr indent="0" marL="0">
              <a:buNone/>
            </a:pPr>
            <a:r>
              <a:rPr lang="fr-FR" altLang="en-US" sz="1400" dirty="0">
                <a:solidFill>
                  <a:srgbClr val="56617C"/>
                </a:solidFill>
                <a:latin typeface="Calibri" pitchFamily="34" charset="0"/>
                <a:ea typeface="Calibri" pitchFamily="34" charset="-122"/>
                <a:cs typeface="Calibri" pitchFamily="34" charset="-120"/>
              </a:rPr>
              <a:t>De 1 à 3 jours avant signature selon la disponibilité des signataires ; deux agents titulaires seulement.</a:t>
            </a:r>
            <a:endParaRPr lang="fr-FR" sz="1700" dirty="0"/>
          </a:p>
        </p:txBody>
      </p:sp>
      <p:sp>
        <p:nvSpPr>
          <p:cNvPr id="11" name="cl2"/>
          <p:cNvSpPr/>
          <p:nvPr/>
        </p:nvSpPr>
        <p:spPr>
          <a:xfrm>
            <a:off x="683743" y="4352544"/>
            <a:ext cx="10129723" cy="914"/>
          </a:xfrm>
          <a:prstGeom prst="line">
            <a:avLst/>
          </a:prstGeom>
          <a:noFill/>
          <a:ln w="9525">
            <a:solidFill>
              <a:srgbClr val="D9DFEA"/>
            </a:solidFill>
            <a:prstDash val="solid"/>
          </a:ln>
        </p:spPr>
      </p:sp>
      <p:sp>
        <p:nvSpPr>
          <p:cNvPr id="12" name="cn2"/>
          <p:cNvSpPr txBox="1"/>
          <p:nvPr/>
        </p:nvSpPr>
        <p:spPr>
          <a:xfrm>
            <a:off x="683743" y="3575304"/>
            <a:ext cx="523951" cy="685800"/>
          </a:xfrm>
          <a:prstGeom prst="rect">
            <a:avLst/>
          </a:prstGeom>
          <a:noFill/>
          <a:ln/>
        </p:spPr>
        <p:txBody>
          <a:bodyPr wrap="square" lIns="0" tIns="0" rIns="0" bIns="0" rtlCol="0" anchor="t"/>
          <a:lstStyle/>
          <a:p>
            <a:pPr indent="0" marL="0">
              <a:buNone/>
            </a:pPr>
            <a:r>
              <a:rPr lang="fr-FR" altLang="en-US" sz="3000" b="1" dirty="0">
                <a:solidFill>
                  <a:srgbClr val="9A6A00"/>
                </a:solidFill>
                <a:latin typeface="Calibri" pitchFamily="34" charset="0"/>
                <a:ea typeface="Calibri" pitchFamily="34" charset="-122"/>
                <a:cs typeface="Calibri" pitchFamily="34" charset="-120"/>
              </a:rPr>
              <a:t>3</a:t>
            </a:r>
            <a:endParaRPr lang="fr-FR" sz="3000" dirty="0"/>
          </a:p>
        </p:txBody>
      </p:sp>
      <p:sp>
        <p:nvSpPr>
          <p:cNvPr id="13" name="ct2"/>
          <p:cNvSpPr txBox="1"/>
          <p:nvPr/>
        </p:nvSpPr>
        <p:spPr>
          <a:xfrm>
            <a:off x="1295019" y="3593592"/>
            <a:ext cx="9431122" cy="73152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Les moyens sont limités</a:t>
            </a:r>
            <a:endParaRPr lang="fr-FR" sz="1700" dirty="0"/>
          </a:p>
          <a:p>
            <a:pPr indent="0" marL="0">
              <a:buNone/>
            </a:pPr>
            <a:r>
              <a:rPr lang="fr-FR" altLang="en-US" sz="1400" dirty="0">
                <a:solidFill>
                  <a:srgbClr val="56617C"/>
                </a:solidFill>
                <a:latin typeface="Calibri" pitchFamily="34" charset="0"/>
                <a:ea typeface="Calibri" pitchFamily="34" charset="-122"/>
                <a:cs typeface="Calibri" pitchFamily="34" charset="-120"/>
              </a:rPr>
              <a:t>Registres papier, deux ordinateurs, un photocopieur, fournitures irrégulières, bureaux exigus.</a:t>
            </a:r>
            <a:endParaRPr lang="fr-FR" sz="1700" dirty="0"/>
          </a:p>
        </p:txBody>
      </p:sp>
      <p:sp>
        <p:nvSpPr>
          <p:cNvPr id="14" name="cl3"/>
          <p:cNvSpPr/>
          <p:nvPr/>
        </p:nvSpPr>
        <p:spPr>
          <a:xfrm>
            <a:off x="683743" y="5239512"/>
            <a:ext cx="10129723" cy="914"/>
          </a:xfrm>
          <a:prstGeom prst="line">
            <a:avLst/>
          </a:prstGeom>
          <a:noFill/>
          <a:ln w="9525">
            <a:solidFill>
              <a:srgbClr val="D9DFEA"/>
            </a:solidFill>
            <a:prstDash val="solid"/>
          </a:ln>
        </p:spPr>
      </p:sp>
      <p:sp>
        <p:nvSpPr>
          <p:cNvPr id="15" name="cn3"/>
          <p:cNvSpPr txBox="1"/>
          <p:nvPr/>
        </p:nvSpPr>
        <p:spPr>
          <a:xfrm>
            <a:off x="683743" y="4462272"/>
            <a:ext cx="523951" cy="685800"/>
          </a:xfrm>
          <a:prstGeom prst="rect">
            <a:avLst/>
          </a:prstGeom>
          <a:noFill/>
          <a:ln/>
        </p:spPr>
        <p:txBody>
          <a:bodyPr wrap="square" lIns="0" tIns="0" rIns="0" bIns="0" rtlCol="0" anchor="t"/>
          <a:lstStyle/>
          <a:p>
            <a:pPr indent="0" marL="0">
              <a:buNone/>
            </a:pPr>
            <a:r>
              <a:rPr lang="fr-FR" altLang="en-US" sz="3000" b="1" dirty="0">
                <a:solidFill>
                  <a:srgbClr val="1B3F9E"/>
                </a:solidFill>
                <a:latin typeface="Calibri" pitchFamily="34" charset="0"/>
                <a:ea typeface="Calibri" pitchFamily="34" charset="-122"/>
                <a:cs typeface="Calibri" pitchFamily="34" charset="-120"/>
              </a:rPr>
              <a:t>4</a:t>
            </a:r>
            <a:endParaRPr lang="fr-FR" sz="3000" dirty="0"/>
          </a:p>
        </p:txBody>
      </p:sp>
      <p:sp>
        <p:nvSpPr>
          <p:cNvPr id="16" name="ct3"/>
          <p:cNvSpPr txBox="1"/>
          <p:nvPr/>
        </p:nvSpPr>
        <p:spPr>
          <a:xfrm>
            <a:off x="1295019" y="4480560"/>
            <a:ext cx="9431122" cy="73152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Un usage numérique informel existe déjà</a:t>
            </a:r>
            <a:endParaRPr lang="fr-FR" sz="1700" dirty="0"/>
          </a:p>
          <a:p>
            <a:pPr indent="0" marL="0">
              <a:buNone/>
            </a:pPr>
            <a:r>
              <a:rPr lang="fr-FR" altLang="en-US" sz="1400" dirty="0">
                <a:solidFill>
                  <a:srgbClr val="56617C"/>
                </a:solidFill>
                <a:latin typeface="Calibri" pitchFamily="34" charset="0"/>
                <a:ea typeface="Calibri" pitchFamily="34" charset="-122"/>
                <a:cs typeface="Calibri" pitchFamily="34" charset="-120"/>
              </a:rPr>
              <a:t>WhatsApp et courriel pour l’urgent, sans trace officielle ; les trois agents souhaitent un outil formel.</a:t>
            </a:r>
            <a:endParaRPr lang="fr-FR" sz="1700" dirty="0"/>
          </a:p>
        </p:txBody>
      </p:sp>
      <p:sp>
        <p:nvSpPr>
          <p:cNvPr id="17" name="cl4"/>
          <p:cNvSpPr/>
          <p:nvPr/>
        </p:nvSpPr>
        <p:spPr>
          <a:xfrm>
            <a:off x="683743" y="6126480"/>
            <a:ext cx="10129723" cy="914"/>
          </a:xfrm>
          <a:prstGeom prst="line">
            <a:avLst/>
          </a:prstGeom>
          <a:noFill/>
          <a:ln w="9525">
            <a:solidFill>
              <a:srgbClr val="D9DFEA"/>
            </a:solidFill>
            <a:prstDash val="solid"/>
          </a:ln>
        </p:spPr>
      </p:sp>
      <p:sp>
        <p:nvSpPr>
          <p:cNvPr id="18" name="cn4"/>
          <p:cNvSpPr txBox="1"/>
          <p:nvPr/>
        </p:nvSpPr>
        <p:spPr>
          <a:xfrm>
            <a:off x="683743" y="5349240"/>
            <a:ext cx="523951" cy="685800"/>
          </a:xfrm>
          <a:prstGeom prst="rect">
            <a:avLst/>
          </a:prstGeom>
          <a:noFill/>
          <a:ln/>
        </p:spPr>
        <p:txBody>
          <a:bodyPr wrap="square" lIns="0" tIns="0" rIns="0" bIns="0" rtlCol="0" anchor="t"/>
          <a:lstStyle/>
          <a:p>
            <a:pPr indent="0" marL="0">
              <a:buNone/>
            </a:pPr>
            <a:r>
              <a:rPr lang="fr-FR" altLang="en-US" sz="3000" b="1" dirty="0">
                <a:solidFill>
                  <a:srgbClr val="00923A"/>
                </a:solidFill>
                <a:latin typeface="Calibri" pitchFamily="34" charset="0"/>
                <a:ea typeface="Calibri" pitchFamily="34" charset="-122"/>
                <a:cs typeface="Calibri" pitchFamily="34" charset="-120"/>
              </a:rPr>
              <a:t>5</a:t>
            </a:r>
            <a:endParaRPr lang="fr-FR" sz="3000" dirty="0"/>
          </a:p>
        </p:txBody>
      </p:sp>
      <p:sp>
        <p:nvSpPr>
          <p:cNvPr id="19" name="ct4"/>
          <p:cNvSpPr txBox="1"/>
          <p:nvPr/>
        </p:nvSpPr>
        <p:spPr>
          <a:xfrm>
            <a:off x="1295019" y="5367528"/>
            <a:ext cx="9431122" cy="73152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Aucune procédure écrite commune</a:t>
            </a:r>
            <a:endParaRPr lang="fr-FR" sz="1700" dirty="0"/>
          </a:p>
          <a:p>
            <a:pPr indent="0" marL="0">
              <a:buNone/>
            </a:pPr>
            <a:r>
              <a:rPr lang="fr-FR" altLang="en-US" sz="1400" dirty="0">
                <a:solidFill>
                  <a:srgbClr val="56617C"/>
                </a:solidFill>
                <a:latin typeface="Calibri" pitchFamily="34" charset="0"/>
                <a:ea typeface="Calibri" pitchFamily="34" charset="-122"/>
                <a:cs typeface="Calibri" pitchFamily="34" charset="-120"/>
              </a:rPr>
              <a:t>Pas de modèle standard de réponse ; des pratiques d’enregistrement qui varient d’une direction à l’autre.</a:t>
            </a:r>
            <a:endParaRPr lang="fr-FR" sz="1700" dirty="0"/>
          </a:p>
        </p:txBody>
      </p:sp>
      <p:pic>
        <p:nvPicPr>
          <p:cNvPr id="20"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21"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2"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16 / 21</a:t>
            </a:r>
            <a:endParaRPr lang="fr-FR" sz="1000" dirty="0"/>
          </a:p>
        </p:txBody>
      </p:sp>
      <p:sp>
        <p:nvSpPr>
          <p:cNvPr id="23" name="!!band1"/>
          <p:cNvSpPr/>
          <p:nvPr/>
        </p:nvSpPr>
        <p:spPr>
          <a:xfrm>
            <a:off x="0" y="0"/>
            <a:ext cx="4873752" cy="64008"/>
          </a:xfrm>
          <a:prstGeom prst="rect">
            <a:avLst/>
          </a:prstGeom>
          <a:solidFill>
            <a:srgbClr val="1B3F9E"/>
          </a:solidFill>
          <a:ln w="12700">
            <a:solidFill>
              <a:srgbClr val="1B3F9E"/>
            </a:solidFill>
            <a:prstDash val="solid"/>
          </a:ln>
        </p:spPr>
      </p:sp>
      <p:sp>
        <p:nvSpPr>
          <p:cNvPr id="24" name="!!band2"/>
          <p:cNvSpPr/>
          <p:nvPr/>
        </p:nvSpPr>
        <p:spPr>
          <a:xfrm>
            <a:off x="4873752" y="0"/>
            <a:ext cx="4270248" cy="64008"/>
          </a:xfrm>
          <a:prstGeom prst="rect">
            <a:avLst/>
          </a:prstGeom>
          <a:solidFill>
            <a:srgbClr val="00923A"/>
          </a:solidFill>
          <a:ln w="12700">
            <a:solidFill>
              <a:srgbClr val="00923A"/>
            </a:solidFill>
            <a:prstDash val="solid"/>
          </a:ln>
        </p:spPr>
      </p:sp>
      <p:sp>
        <p:nvSpPr>
          <p:cNvPr id="25" name="!!band3"/>
          <p:cNvSpPr/>
          <p:nvPr/>
        </p:nvSpPr>
        <p:spPr>
          <a:xfrm>
            <a:off x="9144000" y="0"/>
            <a:ext cx="3047695" cy="64008"/>
          </a:xfrm>
          <a:prstGeom prst="rect">
            <a:avLst/>
          </a:prstGeom>
          <a:solidFill>
            <a:srgbClr val="FCC600"/>
          </a:solidFill>
          <a:ln w="12700">
            <a:solidFill>
              <a:srgbClr val="FCC600"/>
            </a:solidFill>
            <a:prstDash val="solid"/>
          </a:ln>
        </p:spPr>
      </p:sp>
      <p:sp>
        <p:nvSpPr>
          <p:cNvPr id="26" name="!!railline"/>
          <p:cNvSpPr/>
          <p:nvPr/>
        </p:nvSpPr>
        <p:spPr>
          <a:xfrm>
            <a:off x="11795760" y="1600200"/>
            <a:ext cx="914" cy="3383280"/>
          </a:xfrm>
          <a:prstGeom prst="line">
            <a:avLst/>
          </a:prstGeom>
          <a:noFill/>
          <a:ln w="19050">
            <a:solidFill>
              <a:srgbClr val="D9DFEA"/>
            </a:solidFill>
            <a:prstDash val="solid"/>
          </a:ln>
        </p:spPr>
      </p:sp>
      <p:sp>
        <p:nvSpPr>
          <p:cNvPr id="27" name="!!railprog"/>
          <p:cNvSpPr/>
          <p:nvPr/>
        </p:nvSpPr>
        <p:spPr>
          <a:xfrm>
            <a:off x="11795760" y="1600200"/>
            <a:ext cx="914" cy="2706624"/>
          </a:xfrm>
          <a:prstGeom prst="line">
            <a:avLst/>
          </a:prstGeom>
          <a:noFill/>
          <a:ln w="31750">
            <a:solidFill>
              <a:srgbClr val="00923A"/>
            </a:solidFill>
            <a:prstDash val="solid"/>
          </a:ln>
        </p:spPr>
      </p:sp>
      <p:sp>
        <p:nvSpPr>
          <p:cNvPr id="28"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29"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0" name="!!m2"/>
          <p:cNvSpPr/>
          <p:nvPr/>
        </p:nvSpPr>
        <p:spPr>
          <a:xfrm>
            <a:off x="11603736" y="2084832"/>
            <a:ext cx="384048" cy="384048"/>
          </a:xfrm>
          <a:prstGeom prst="ellipse">
            <a:avLst/>
          </a:prstGeom>
          <a:solidFill>
            <a:srgbClr val="00923A"/>
          </a:solidFill>
          <a:ln w="15875">
            <a:solidFill>
              <a:srgbClr val="00923A"/>
            </a:solidFill>
            <a:prstDash val="solid"/>
          </a:ln>
        </p:spPr>
      </p:sp>
      <p:sp>
        <p:nvSpPr>
          <p:cNvPr id="31"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2" name="!!m3"/>
          <p:cNvSpPr/>
          <p:nvPr/>
        </p:nvSpPr>
        <p:spPr>
          <a:xfrm>
            <a:off x="11603736" y="2761488"/>
            <a:ext cx="384048" cy="384048"/>
          </a:xfrm>
          <a:prstGeom prst="ellipse">
            <a:avLst/>
          </a:prstGeom>
          <a:solidFill>
            <a:srgbClr val="00923A"/>
          </a:solidFill>
          <a:ln w="15875">
            <a:solidFill>
              <a:srgbClr val="00923A"/>
            </a:solidFill>
            <a:prstDash val="solid"/>
          </a:ln>
        </p:spPr>
      </p:sp>
      <p:sp>
        <p:nvSpPr>
          <p:cNvPr id="33" name="!!mt3">
            <a:hlinkClick r:id="rId4"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m4"/>
          <p:cNvSpPr/>
          <p:nvPr/>
        </p:nvSpPr>
        <p:spPr>
          <a:xfrm>
            <a:off x="11603736" y="3438144"/>
            <a:ext cx="384048" cy="384048"/>
          </a:xfrm>
          <a:prstGeom prst="ellipse">
            <a:avLst/>
          </a:prstGeom>
          <a:solidFill>
            <a:srgbClr val="00923A"/>
          </a:solidFill>
          <a:ln w="15875">
            <a:solidFill>
              <a:srgbClr val="00923A"/>
            </a:solidFill>
            <a:prstDash val="solid"/>
          </a:ln>
        </p:spPr>
      </p:sp>
      <p:sp>
        <p:nvSpPr>
          <p:cNvPr id="35" name="!!mt4">
            <a:hlinkClick r:id="rId5"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6" name="!!m5"/>
          <p:cNvSpPr/>
          <p:nvPr/>
        </p:nvSpPr>
        <p:spPr>
          <a:xfrm>
            <a:off x="11603736" y="4114800"/>
            <a:ext cx="384048" cy="384048"/>
          </a:xfrm>
          <a:prstGeom prst="ellipse">
            <a:avLst/>
          </a:prstGeom>
          <a:solidFill>
            <a:srgbClr val="1B3F9E"/>
          </a:solidFill>
          <a:ln w="15875">
            <a:solidFill>
              <a:srgbClr val="1B3F9E"/>
            </a:solidFill>
            <a:prstDash val="solid"/>
          </a:ln>
        </p:spPr>
      </p:sp>
      <p:sp>
        <p:nvSpPr>
          <p:cNvPr id="37" name="!!mt5">
            <a:hlinkClick r:id="rId6"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8"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39" name="!!mt6">
            <a:hlinkClick r:id="rId7"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0"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Résultats</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53" presetClass="entr" presetSubtype="16" fill="hold" grpId="0" nodeType="withEffect">
                                  <p:stCondLst>
                                    <p:cond delay="250"/>
                                  </p:stCondLst>
                                  <p:childTnLst>
                                    <p:set>
                                      <p:cBhvr>
                                        <p:cTn id="12" dur="1" fill="hold">
                                          <p:stCondLst>
                                            <p:cond delay="0"/>
                                          </p:stCondLst>
                                        </p:cTn>
                                        <p:tgtEl>
                                          <p:spTgt spid="6"/>
                                        </p:tgtEl>
                                        <p:attrNameLst>
                                          <p:attrName>style.visibility</p:attrName>
                                        </p:attrNameLst>
                                      </p:cBhvr>
                                      <p:to>
                                        <p:strVal val="visible"/>
                                      </p:to>
                                    </p:set>
                                    <p:anim calcmode="lin" valueType="num">
                                      <p:cBhvr>
                                        <p:cTn id="13" dur="600" fill="hold"/>
                                        <p:tgtEl>
                                          <p:spTgt spid="6"/>
                                        </p:tgtEl>
                                        <p:attrNameLst>
                                          <p:attrName>ppt_w</p:attrName>
                                        </p:attrNameLst>
                                      </p:cBhvr>
                                      <p:tavLst>
                                        <p:tav tm="0">
                                          <p:val>
                                            <p:fltVal val="0"/>
                                          </p:val>
                                        </p:tav>
                                        <p:tav tm="100000">
                                          <p:val>
                                            <p:strVal val="#ppt_w"/>
                                          </p:val>
                                        </p:tav>
                                      </p:tavLst>
                                    </p:anim>
                                    <p:anim calcmode="lin" valueType="num">
                                      <p:cBhvr>
                                        <p:cTn id="14" dur="600" fill="hold"/>
                                        <p:tgtEl>
                                          <p:spTgt spid="6"/>
                                        </p:tgtEl>
                                        <p:attrNameLst>
                                          <p:attrName>ppt_h</p:attrName>
                                        </p:attrNameLst>
                                      </p:cBhvr>
                                      <p:tavLst>
                                        <p:tav tm="0">
                                          <p:val>
                                            <p:fltVal val="0"/>
                                          </p:val>
                                        </p:tav>
                                        <p:tav tm="100000">
                                          <p:val>
                                            <p:strVal val="#ppt_h"/>
                                          </p:val>
                                        </p:tav>
                                      </p:tavLst>
                                    </p:anim>
                                    <p:animEffect transition="in" filter="fade">
                                      <p:cBhvr>
                                        <p:cTn id="15" dur="600"/>
                                        <p:tgtEl>
                                          <p:spTgt spid="6"/>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600"/>
                                        <p:tgtEl>
                                          <p:spTgt spid="5"/>
                                        </p:tgtEl>
                                      </p:cBhvr>
                                    </p:animEffect>
                                  </p:childTnLst>
                                </p:cTn>
                              </p:par>
                              <p:par>
                                <p:cTn id="22" presetID="53" presetClass="entr" presetSubtype="16" fill="hold" grpId="0" nodeType="withEffect">
                                  <p:stCondLst>
                                    <p:cond delay="600"/>
                                  </p:stCondLst>
                                  <p:childTnLst>
                                    <p:set>
                                      <p:cBhvr>
                                        <p:cTn id="23" dur="1" fill="hold">
                                          <p:stCondLst>
                                            <p:cond delay="0"/>
                                          </p:stCondLst>
                                        </p:cTn>
                                        <p:tgtEl>
                                          <p:spTgt spid="9"/>
                                        </p:tgtEl>
                                        <p:attrNameLst>
                                          <p:attrName>style.visibility</p:attrName>
                                        </p:attrNameLst>
                                      </p:cBhvr>
                                      <p:to>
                                        <p:strVal val="visible"/>
                                      </p:to>
                                    </p:set>
                                    <p:anim calcmode="lin" valueType="num">
                                      <p:cBhvr>
                                        <p:cTn id="24" dur="600" fill="hold"/>
                                        <p:tgtEl>
                                          <p:spTgt spid="9"/>
                                        </p:tgtEl>
                                        <p:attrNameLst>
                                          <p:attrName>ppt_w</p:attrName>
                                        </p:attrNameLst>
                                      </p:cBhvr>
                                      <p:tavLst>
                                        <p:tav tm="0">
                                          <p:val>
                                            <p:fltVal val="0"/>
                                          </p:val>
                                        </p:tav>
                                        <p:tav tm="100000">
                                          <p:val>
                                            <p:strVal val="#ppt_w"/>
                                          </p:val>
                                        </p:tav>
                                      </p:tavLst>
                                    </p:anim>
                                    <p:anim calcmode="lin" valueType="num">
                                      <p:cBhvr>
                                        <p:cTn id="25" dur="600" fill="hold"/>
                                        <p:tgtEl>
                                          <p:spTgt spid="9"/>
                                        </p:tgtEl>
                                        <p:attrNameLst>
                                          <p:attrName>ppt_h</p:attrName>
                                        </p:attrNameLst>
                                      </p:cBhvr>
                                      <p:tavLst>
                                        <p:tav tm="0">
                                          <p:val>
                                            <p:fltVal val="0"/>
                                          </p:val>
                                        </p:tav>
                                        <p:tav tm="100000">
                                          <p:val>
                                            <p:strVal val="#ppt_h"/>
                                          </p:val>
                                        </p:tav>
                                      </p:tavLst>
                                    </p:anim>
                                    <p:animEffect transition="in" filter="fade">
                                      <p:cBhvr>
                                        <p:cTn id="26" dur="600"/>
                                        <p:tgtEl>
                                          <p:spTgt spid="9"/>
                                        </p:tgtEl>
                                      </p:cBhvr>
                                    </p:animEffect>
                                  </p:childTnLst>
                                </p:cTn>
                              </p:par>
                              <p:par>
                                <p:cTn id="27" presetID="10" presetClass="entr" presetSubtype="0" fill="hold" grpId="0" nodeType="withEffect">
                                  <p:stCondLst>
                                    <p:cond delay="65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600"/>
                                        <p:tgtEl>
                                          <p:spTgt spid="10"/>
                                        </p:tgtEl>
                                      </p:cBhvr>
                                    </p:animEffect>
                                  </p:childTnLst>
                                </p:cTn>
                              </p:par>
                              <p:par>
                                <p:cTn id="30" presetID="22" presetClass="entr" presetSubtype="8" fill="hold" grpId="0" nodeType="withEffect">
                                  <p:stCondLst>
                                    <p:cond delay="65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600"/>
                                        <p:tgtEl>
                                          <p:spTgt spid="8"/>
                                        </p:tgtEl>
                                      </p:cBhvr>
                                    </p:animEffect>
                                  </p:childTnLst>
                                </p:cTn>
                              </p:par>
                              <p:par>
                                <p:cTn id="33" presetID="53" presetClass="entr" presetSubtype="16" fill="hold" grpId="0" nodeType="withEffect">
                                  <p:stCondLst>
                                    <p:cond delay="950"/>
                                  </p:stCondLst>
                                  <p:childTnLst>
                                    <p:set>
                                      <p:cBhvr>
                                        <p:cTn id="34" dur="1" fill="hold">
                                          <p:stCondLst>
                                            <p:cond delay="0"/>
                                          </p:stCondLst>
                                        </p:cTn>
                                        <p:tgtEl>
                                          <p:spTgt spid="12"/>
                                        </p:tgtEl>
                                        <p:attrNameLst>
                                          <p:attrName>style.visibility</p:attrName>
                                        </p:attrNameLst>
                                      </p:cBhvr>
                                      <p:to>
                                        <p:strVal val="visible"/>
                                      </p:to>
                                    </p:set>
                                    <p:anim calcmode="lin" valueType="num">
                                      <p:cBhvr>
                                        <p:cTn id="35" dur="600" fill="hold"/>
                                        <p:tgtEl>
                                          <p:spTgt spid="12"/>
                                        </p:tgtEl>
                                        <p:attrNameLst>
                                          <p:attrName>ppt_w</p:attrName>
                                        </p:attrNameLst>
                                      </p:cBhvr>
                                      <p:tavLst>
                                        <p:tav tm="0">
                                          <p:val>
                                            <p:fltVal val="0"/>
                                          </p:val>
                                        </p:tav>
                                        <p:tav tm="100000">
                                          <p:val>
                                            <p:strVal val="#ppt_w"/>
                                          </p:val>
                                        </p:tav>
                                      </p:tavLst>
                                    </p:anim>
                                    <p:anim calcmode="lin" valueType="num">
                                      <p:cBhvr>
                                        <p:cTn id="36" dur="600" fill="hold"/>
                                        <p:tgtEl>
                                          <p:spTgt spid="12"/>
                                        </p:tgtEl>
                                        <p:attrNameLst>
                                          <p:attrName>ppt_h</p:attrName>
                                        </p:attrNameLst>
                                      </p:cBhvr>
                                      <p:tavLst>
                                        <p:tav tm="0">
                                          <p:val>
                                            <p:fltVal val="0"/>
                                          </p:val>
                                        </p:tav>
                                        <p:tav tm="100000">
                                          <p:val>
                                            <p:strVal val="#ppt_h"/>
                                          </p:val>
                                        </p:tav>
                                      </p:tavLst>
                                    </p:anim>
                                    <p:animEffect transition="in" filter="fade">
                                      <p:cBhvr>
                                        <p:cTn id="37" dur="600"/>
                                        <p:tgtEl>
                                          <p:spTgt spid="12"/>
                                        </p:tgtEl>
                                      </p:cBhvr>
                                    </p:animEffect>
                                  </p:childTnLst>
                                </p:cTn>
                              </p:par>
                              <p:par>
                                <p:cTn id="38" presetID="10" presetClass="entr" presetSubtype="0" fill="hold" grpId="0" nodeType="withEffect">
                                  <p:stCondLst>
                                    <p:cond delay="100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600"/>
                                        <p:tgtEl>
                                          <p:spTgt spid="13"/>
                                        </p:tgtEl>
                                      </p:cBhvr>
                                    </p:animEffect>
                                  </p:childTnLst>
                                </p:cTn>
                              </p:par>
                              <p:par>
                                <p:cTn id="41" presetID="22" presetClass="entr" presetSubtype="8" fill="hold" grpId="0" nodeType="withEffect">
                                  <p:stCondLst>
                                    <p:cond delay="100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600"/>
                                        <p:tgtEl>
                                          <p:spTgt spid="11"/>
                                        </p:tgtEl>
                                      </p:cBhvr>
                                    </p:animEffect>
                                  </p:childTnLst>
                                </p:cTn>
                              </p:par>
                              <p:par>
                                <p:cTn id="44" presetID="53" presetClass="entr" presetSubtype="16" fill="hold" grpId="0" nodeType="withEffect">
                                  <p:stCondLst>
                                    <p:cond delay="1300"/>
                                  </p:stCondLst>
                                  <p:childTnLst>
                                    <p:set>
                                      <p:cBhvr>
                                        <p:cTn id="45" dur="1" fill="hold">
                                          <p:stCondLst>
                                            <p:cond delay="0"/>
                                          </p:stCondLst>
                                        </p:cTn>
                                        <p:tgtEl>
                                          <p:spTgt spid="15"/>
                                        </p:tgtEl>
                                        <p:attrNameLst>
                                          <p:attrName>style.visibility</p:attrName>
                                        </p:attrNameLst>
                                      </p:cBhvr>
                                      <p:to>
                                        <p:strVal val="visible"/>
                                      </p:to>
                                    </p:set>
                                    <p:anim calcmode="lin" valueType="num">
                                      <p:cBhvr>
                                        <p:cTn id="46" dur="600" fill="hold"/>
                                        <p:tgtEl>
                                          <p:spTgt spid="15"/>
                                        </p:tgtEl>
                                        <p:attrNameLst>
                                          <p:attrName>ppt_w</p:attrName>
                                        </p:attrNameLst>
                                      </p:cBhvr>
                                      <p:tavLst>
                                        <p:tav tm="0">
                                          <p:val>
                                            <p:fltVal val="0"/>
                                          </p:val>
                                        </p:tav>
                                        <p:tav tm="100000">
                                          <p:val>
                                            <p:strVal val="#ppt_w"/>
                                          </p:val>
                                        </p:tav>
                                      </p:tavLst>
                                    </p:anim>
                                    <p:anim calcmode="lin" valueType="num">
                                      <p:cBhvr>
                                        <p:cTn id="47" dur="600" fill="hold"/>
                                        <p:tgtEl>
                                          <p:spTgt spid="15"/>
                                        </p:tgtEl>
                                        <p:attrNameLst>
                                          <p:attrName>ppt_h</p:attrName>
                                        </p:attrNameLst>
                                      </p:cBhvr>
                                      <p:tavLst>
                                        <p:tav tm="0">
                                          <p:val>
                                            <p:fltVal val="0"/>
                                          </p:val>
                                        </p:tav>
                                        <p:tav tm="100000">
                                          <p:val>
                                            <p:strVal val="#ppt_h"/>
                                          </p:val>
                                        </p:tav>
                                      </p:tavLst>
                                    </p:anim>
                                    <p:animEffect transition="in" filter="fade">
                                      <p:cBhvr>
                                        <p:cTn id="48" dur="600"/>
                                        <p:tgtEl>
                                          <p:spTgt spid="15"/>
                                        </p:tgtEl>
                                      </p:cBhvr>
                                    </p:animEffect>
                                  </p:childTnLst>
                                </p:cTn>
                              </p:par>
                              <p:par>
                                <p:cTn id="49" presetID="10" presetClass="entr" presetSubtype="0" fill="hold" grpId="0" nodeType="withEffect">
                                  <p:stCondLst>
                                    <p:cond delay="135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600"/>
                                        <p:tgtEl>
                                          <p:spTgt spid="16"/>
                                        </p:tgtEl>
                                      </p:cBhvr>
                                    </p:animEffect>
                                  </p:childTnLst>
                                </p:cTn>
                              </p:par>
                              <p:par>
                                <p:cTn id="52" presetID="22" presetClass="entr" presetSubtype="8" fill="hold" grpId="0" nodeType="withEffect">
                                  <p:stCondLst>
                                    <p:cond delay="1350"/>
                                  </p:stCondLst>
                                  <p:childTnLst>
                                    <p:set>
                                      <p:cBhvr>
                                        <p:cTn id="53" dur="1" fill="hold">
                                          <p:stCondLst>
                                            <p:cond delay="0"/>
                                          </p:stCondLst>
                                        </p:cTn>
                                        <p:tgtEl>
                                          <p:spTgt spid="14"/>
                                        </p:tgtEl>
                                        <p:attrNameLst>
                                          <p:attrName>style.visibility</p:attrName>
                                        </p:attrNameLst>
                                      </p:cBhvr>
                                      <p:to>
                                        <p:strVal val="visible"/>
                                      </p:to>
                                    </p:set>
                                    <p:animEffect transition="in" filter="wipe(left)">
                                      <p:cBhvr>
                                        <p:cTn id="54" dur="600"/>
                                        <p:tgtEl>
                                          <p:spTgt spid="14"/>
                                        </p:tgtEl>
                                      </p:cBhvr>
                                    </p:animEffect>
                                  </p:childTnLst>
                                </p:cTn>
                              </p:par>
                              <p:par>
                                <p:cTn id="55" presetID="53" presetClass="entr" presetSubtype="16" fill="hold" grpId="0" nodeType="withEffect">
                                  <p:stCondLst>
                                    <p:cond delay="1650"/>
                                  </p:stCondLst>
                                  <p:childTnLst>
                                    <p:set>
                                      <p:cBhvr>
                                        <p:cTn id="56" dur="1" fill="hold">
                                          <p:stCondLst>
                                            <p:cond delay="0"/>
                                          </p:stCondLst>
                                        </p:cTn>
                                        <p:tgtEl>
                                          <p:spTgt spid="18"/>
                                        </p:tgtEl>
                                        <p:attrNameLst>
                                          <p:attrName>style.visibility</p:attrName>
                                        </p:attrNameLst>
                                      </p:cBhvr>
                                      <p:to>
                                        <p:strVal val="visible"/>
                                      </p:to>
                                    </p:set>
                                    <p:anim calcmode="lin" valueType="num">
                                      <p:cBhvr>
                                        <p:cTn id="57" dur="600" fill="hold"/>
                                        <p:tgtEl>
                                          <p:spTgt spid="18"/>
                                        </p:tgtEl>
                                        <p:attrNameLst>
                                          <p:attrName>ppt_w</p:attrName>
                                        </p:attrNameLst>
                                      </p:cBhvr>
                                      <p:tavLst>
                                        <p:tav tm="0">
                                          <p:val>
                                            <p:fltVal val="0"/>
                                          </p:val>
                                        </p:tav>
                                        <p:tav tm="100000">
                                          <p:val>
                                            <p:strVal val="#ppt_w"/>
                                          </p:val>
                                        </p:tav>
                                      </p:tavLst>
                                    </p:anim>
                                    <p:anim calcmode="lin" valueType="num">
                                      <p:cBhvr>
                                        <p:cTn id="58" dur="600" fill="hold"/>
                                        <p:tgtEl>
                                          <p:spTgt spid="18"/>
                                        </p:tgtEl>
                                        <p:attrNameLst>
                                          <p:attrName>ppt_h</p:attrName>
                                        </p:attrNameLst>
                                      </p:cBhvr>
                                      <p:tavLst>
                                        <p:tav tm="0">
                                          <p:val>
                                            <p:fltVal val="0"/>
                                          </p:val>
                                        </p:tav>
                                        <p:tav tm="100000">
                                          <p:val>
                                            <p:strVal val="#ppt_h"/>
                                          </p:val>
                                        </p:tav>
                                      </p:tavLst>
                                    </p:anim>
                                    <p:animEffect transition="in" filter="fade">
                                      <p:cBhvr>
                                        <p:cTn id="59" dur="600"/>
                                        <p:tgtEl>
                                          <p:spTgt spid="18"/>
                                        </p:tgtEl>
                                      </p:cBhvr>
                                    </p:animEffect>
                                  </p:childTnLst>
                                </p:cTn>
                              </p:par>
                              <p:par>
                                <p:cTn id="60" presetID="10" presetClass="entr" presetSubtype="0" fill="hold" grpId="0" nodeType="withEffect">
                                  <p:stCondLst>
                                    <p:cond delay="170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600"/>
                                        <p:tgtEl>
                                          <p:spTgt spid="19"/>
                                        </p:tgtEl>
                                      </p:cBhvr>
                                    </p:animEffect>
                                  </p:childTnLst>
                                </p:cTn>
                              </p:par>
                              <p:par>
                                <p:cTn id="63" presetID="22" presetClass="entr" presetSubtype="8" fill="hold" grpId="0" nodeType="withEffect">
                                  <p:stCondLst>
                                    <p:cond delay="1700"/>
                                  </p:stCondLst>
                                  <p:childTnLst>
                                    <p:set>
                                      <p:cBhvr>
                                        <p:cTn id="64" dur="1" fill="hold">
                                          <p:stCondLst>
                                            <p:cond delay="0"/>
                                          </p:stCondLst>
                                        </p:cTn>
                                        <p:tgtEl>
                                          <p:spTgt spid="17"/>
                                        </p:tgtEl>
                                        <p:attrNameLst>
                                          <p:attrName>style.visibility</p:attrName>
                                        </p:attrNameLst>
                                      </p:cBhvr>
                                      <p:to>
                                        <p:strVal val="visible"/>
                                      </p:to>
                                    </p:set>
                                    <p:animEffect transition="in" filter="wipe(left)">
                                      <p:cBhvr>
                                        <p:cTn id="65" dur="6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5 — Résultats et vérification des hypothèses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Vérification des hypothèses</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v0"/>
          <p:cNvSpPr/>
          <p:nvPr/>
        </p:nvSpPr>
        <p:spPr>
          <a:xfrm>
            <a:off x="683743" y="1783080"/>
            <a:ext cx="10129723" cy="868680"/>
          </a:xfrm>
          <a:prstGeom prst="rect">
            <a:avLst/>
          </a:prstGeom>
          <a:solidFill>
            <a:srgbClr val="FFFFFF"/>
          </a:solidFill>
          <a:ln w="9525">
            <a:solidFill>
              <a:srgbClr val="D9DFEA"/>
            </a:solidFill>
            <a:prstDash val="solid"/>
          </a:ln>
        </p:spPr>
      </p:sp>
      <p:sp>
        <p:nvSpPr>
          <p:cNvPr id="6" name="vc0"/>
          <p:cNvSpPr txBox="1"/>
          <p:nvPr/>
        </p:nvSpPr>
        <p:spPr>
          <a:xfrm>
            <a:off x="945718" y="1984248"/>
            <a:ext cx="785927" cy="457200"/>
          </a:xfrm>
          <a:prstGeom prst="rect">
            <a:avLst/>
          </a:prstGeom>
          <a:noFill/>
          <a:ln/>
        </p:spPr>
        <p:txBody>
          <a:bodyPr wrap="square" lIns="0" tIns="0" rIns="0" bIns="0" rtlCol="0" anchor="t"/>
          <a:lstStyle/>
          <a:p>
            <a:pPr indent="0" marL="0">
              <a:buNone/>
            </a:pPr>
            <a:r>
              <a:rPr lang="fr-FR" altLang="en-US" sz="2200" b="1" dirty="0">
                <a:solidFill>
                  <a:srgbClr val="1B3F9E"/>
                </a:solidFill>
                <a:latin typeface="Calibri" pitchFamily="34" charset="0"/>
                <a:ea typeface="Calibri" pitchFamily="34" charset="-122"/>
                <a:cs typeface="Calibri" pitchFamily="34" charset="-120"/>
              </a:rPr>
              <a:t>HS1</a:t>
            </a:r>
            <a:endParaRPr lang="fr-FR" sz="2200" dirty="0"/>
          </a:p>
        </p:txBody>
      </p:sp>
      <p:sp>
        <p:nvSpPr>
          <p:cNvPr id="7" name="vt0"/>
          <p:cNvSpPr txBox="1"/>
          <p:nvPr/>
        </p:nvSpPr>
        <p:spPr>
          <a:xfrm>
            <a:off x="1818970" y="2020824"/>
            <a:ext cx="5501488" cy="411480"/>
          </a:xfrm>
          <a:prstGeom prst="rect">
            <a:avLst/>
          </a:prstGeom>
          <a:noFill/>
          <a:ln/>
        </p:spPr>
        <p:txBody>
          <a:bodyPr wrap="square" lIns="0" tIns="0" rIns="0" bIns="0" rtlCol="0" anchor="t"/>
          <a:lstStyle/>
          <a:p>
            <a:pPr indent="0" marL="0">
              <a:buNone/>
            </a:pPr>
            <a:r>
              <a:rPr lang="fr-FR" altLang="en-US" sz="1700" dirty="0">
                <a:solidFill>
                  <a:srgbClr val="0E1C46"/>
                </a:solidFill>
                <a:latin typeface="Calibri" pitchFamily="34" charset="0"/>
                <a:ea typeface="Calibri" pitchFamily="34" charset="-122"/>
                <a:cs typeface="Calibri" pitchFamily="34" charset="-120"/>
              </a:rPr>
              <a:t>Application dépendante des signataires</a:t>
            </a:r>
            <a:endParaRPr lang="fr-FR" sz="1700" dirty="0"/>
          </a:p>
        </p:txBody>
      </p:sp>
      <p:sp>
        <p:nvSpPr>
          <p:cNvPr id="8" name="vb0"/>
          <p:cNvSpPr/>
          <p:nvPr/>
        </p:nvSpPr>
        <p:spPr>
          <a:xfrm>
            <a:off x="7669759" y="1965960"/>
            <a:ext cx="2881732" cy="502920"/>
          </a:xfrm>
          <a:prstGeom prst="rect">
            <a:avLst/>
          </a:prstGeom>
          <a:solidFill>
            <a:srgbClr val="E7F4EC"/>
          </a:solidFill>
          <a:ln w="12700">
            <a:solidFill>
              <a:srgbClr val="00923A"/>
            </a:solidFill>
            <a:prstDash val="solid"/>
          </a:ln>
        </p:spPr>
      </p:sp>
      <p:sp>
        <p:nvSpPr>
          <p:cNvPr id="9" name="vbt0"/>
          <p:cNvSpPr txBox="1"/>
          <p:nvPr/>
        </p:nvSpPr>
        <p:spPr>
          <a:xfrm>
            <a:off x="7669759" y="1965960"/>
            <a:ext cx="2881732" cy="502920"/>
          </a:xfrm>
          <a:prstGeom prst="rect">
            <a:avLst/>
          </a:prstGeom>
          <a:noFill/>
          <a:ln/>
        </p:spPr>
        <p:txBody>
          <a:bodyPr wrap="square" lIns="0" tIns="0" rIns="0" bIns="0" rtlCol="0" anchor="ctr"/>
          <a:lstStyle/>
          <a:p>
            <a:pPr algn="ctr" indent="0" marL="0">
              <a:buNone/>
            </a:pPr>
            <a:r>
              <a:rPr lang="fr-FR" altLang="en-US" sz="1500" b="1" dirty="0">
                <a:solidFill>
                  <a:srgbClr val="00923A"/>
                </a:solidFill>
                <a:latin typeface="Calibri" pitchFamily="34" charset="0"/>
                <a:ea typeface="Calibri" pitchFamily="34" charset="-122"/>
                <a:cs typeface="Calibri" pitchFamily="34" charset="-120"/>
              </a:rPr>
              <a:t>Confirmée</a:t>
            </a:r>
            <a:endParaRPr lang="fr-FR" sz="1500" dirty="0"/>
          </a:p>
        </p:txBody>
      </p:sp>
      <p:sp>
        <p:nvSpPr>
          <p:cNvPr id="10" name="v1"/>
          <p:cNvSpPr/>
          <p:nvPr/>
        </p:nvSpPr>
        <p:spPr>
          <a:xfrm>
            <a:off x="683743" y="2834640"/>
            <a:ext cx="10129723" cy="868680"/>
          </a:xfrm>
          <a:prstGeom prst="rect">
            <a:avLst/>
          </a:prstGeom>
          <a:solidFill>
            <a:srgbClr val="FFFFFF"/>
          </a:solidFill>
          <a:ln w="9525">
            <a:solidFill>
              <a:srgbClr val="D9DFEA"/>
            </a:solidFill>
            <a:prstDash val="solid"/>
          </a:ln>
        </p:spPr>
      </p:sp>
      <p:sp>
        <p:nvSpPr>
          <p:cNvPr id="11" name="vc1"/>
          <p:cNvSpPr txBox="1"/>
          <p:nvPr/>
        </p:nvSpPr>
        <p:spPr>
          <a:xfrm>
            <a:off x="945718" y="3035808"/>
            <a:ext cx="785927" cy="457200"/>
          </a:xfrm>
          <a:prstGeom prst="rect">
            <a:avLst/>
          </a:prstGeom>
          <a:noFill/>
          <a:ln/>
        </p:spPr>
        <p:txBody>
          <a:bodyPr wrap="square" lIns="0" tIns="0" rIns="0" bIns="0" rtlCol="0" anchor="t"/>
          <a:lstStyle/>
          <a:p>
            <a:pPr indent="0" marL="0">
              <a:buNone/>
            </a:pPr>
            <a:r>
              <a:rPr lang="fr-FR" altLang="en-US" sz="2200" b="1" dirty="0">
                <a:solidFill>
                  <a:srgbClr val="1B3F9E"/>
                </a:solidFill>
                <a:latin typeface="Calibri" pitchFamily="34" charset="0"/>
                <a:ea typeface="Calibri" pitchFamily="34" charset="-122"/>
                <a:cs typeface="Calibri" pitchFamily="34" charset="-120"/>
              </a:rPr>
              <a:t>HS2</a:t>
            </a:r>
            <a:endParaRPr lang="fr-FR" sz="2200" dirty="0"/>
          </a:p>
        </p:txBody>
      </p:sp>
      <p:sp>
        <p:nvSpPr>
          <p:cNvPr id="12" name="vt1"/>
          <p:cNvSpPr txBox="1"/>
          <p:nvPr/>
        </p:nvSpPr>
        <p:spPr>
          <a:xfrm>
            <a:off x="1818970" y="3072384"/>
            <a:ext cx="5501488" cy="411480"/>
          </a:xfrm>
          <a:prstGeom prst="rect">
            <a:avLst/>
          </a:prstGeom>
          <a:noFill/>
          <a:ln/>
        </p:spPr>
        <p:txBody>
          <a:bodyPr wrap="square" lIns="0" tIns="0" rIns="0" bIns="0" rtlCol="0" anchor="t"/>
          <a:lstStyle/>
          <a:p>
            <a:pPr indent="0" marL="0">
              <a:buNone/>
            </a:pPr>
            <a:r>
              <a:rPr lang="fr-FR" altLang="en-US" sz="1700" dirty="0">
                <a:solidFill>
                  <a:srgbClr val="0E1C46"/>
                </a:solidFill>
                <a:latin typeface="Calibri" pitchFamily="34" charset="0"/>
                <a:ea typeface="Calibri" pitchFamily="34" charset="-122"/>
                <a:cs typeface="Calibri" pitchFamily="34" charset="-120"/>
              </a:rPr>
              <a:t>Moyens matériels et logistiques insuffisants</a:t>
            </a:r>
            <a:endParaRPr lang="fr-FR" sz="1700" dirty="0"/>
          </a:p>
        </p:txBody>
      </p:sp>
      <p:sp>
        <p:nvSpPr>
          <p:cNvPr id="13" name="vb1"/>
          <p:cNvSpPr/>
          <p:nvPr/>
        </p:nvSpPr>
        <p:spPr>
          <a:xfrm>
            <a:off x="7669759" y="3017520"/>
            <a:ext cx="2881732" cy="502920"/>
          </a:xfrm>
          <a:prstGeom prst="rect">
            <a:avLst/>
          </a:prstGeom>
          <a:solidFill>
            <a:srgbClr val="FFF6D6"/>
          </a:solidFill>
          <a:ln w="12700">
            <a:solidFill>
              <a:srgbClr val="9A6A00"/>
            </a:solidFill>
            <a:prstDash val="solid"/>
          </a:ln>
        </p:spPr>
      </p:sp>
      <p:sp>
        <p:nvSpPr>
          <p:cNvPr id="14" name="vbt1"/>
          <p:cNvSpPr txBox="1"/>
          <p:nvPr/>
        </p:nvSpPr>
        <p:spPr>
          <a:xfrm>
            <a:off x="7669759" y="3017520"/>
            <a:ext cx="2881732" cy="502920"/>
          </a:xfrm>
          <a:prstGeom prst="rect">
            <a:avLst/>
          </a:prstGeom>
          <a:noFill/>
          <a:ln/>
        </p:spPr>
        <p:txBody>
          <a:bodyPr wrap="square" lIns="0" tIns="0" rIns="0" bIns="0" rtlCol="0" anchor="ctr"/>
          <a:lstStyle/>
          <a:p>
            <a:pPr algn="ctr" indent="0" marL="0">
              <a:buNone/>
            </a:pPr>
            <a:r>
              <a:rPr lang="fr-FR" altLang="en-US" sz="1500" b="1" dirty="0">
                <a:solidFill>
                  <a:srgbClr val="9A6A00"/>
                </a:solidFill>
                <a:latin typeface="Calibri" pitchFamily="34" charset="0"/>
                <a:ea typeface="Calibri" pitchFamily="34" charset="-122"/>
                <a:cs typeface="Calibri" pitchFamily="34" charset="-120"/>
              </a:rPr>
              <a:t>Partiellement confirmée</a:t>
            </a:r>
            <a:endParaRPr lang="fr-FR" sz="1500" dirty="0"/>
          </a:p>
        </p:txBody>
      </p:sp>
      <p:sp>
        <p:nvSpPr>
          <p:cNvPr id="15" name="v2"/>
          <p:cNvSpPr/>
          <p:nvPr/>
        </p:nvSpPr>
        <p:spPr>
          <a:xfrm>
            <a:off x="683743" y="3886200"/>
            <a:ext cx="10129723" cy="868680"/>
          </a:xfrm>
          <a:prstGeom prst="rect">
            <a:avLst/>
          </a:prstGeom>
          <a:solidFill>
            <a:srgbClr val="FFFFFF"/>
          </a:solidFill>
          <a:ln w="9525">
            <a:solidFill>
              <a:srgbClr val="D9DFEA"/>
            </a:solidFill>
            <a:prstDash val="solid"/>
          </a:ln>
        </p:spPr>
      </p:sp>
      <p:sp>
        <p:nvSpPr>
          <p:cNvPr id="16" name="vc2"/>
          <p:cNvSpPr txBox="1"/>
          <p:nvPr/>
        </p:nvSpPr>
        <p:spPr>
          <a:xfrm>
            <a:off x="945718" y="4087368"/>
            <a:ext cx="785927" cy="457200"/>
          </a:xfrm>
          <a:prstGeom prst="rect">
            <a:avLst/>
          </a:prstGeom>
          <a:noFill/>
          <a:ln/>
        </p:spPr>
        <p:txBody>
          <a:bodyPr wrap="square" lIns="0" tIns="0" rIns="0" bIns="0" rtlCol="0" anchor="t"/>
          <a:lstStyle/>
          <a:p>
            <a:pPr indent="0" marL="0">
              <a:buNone/>
            </a:pPr>
            <a:r>
              <a:rPr lang="fr-FR" altLang="en-US" sz="2200" b="1" dirty="0">
                <a:solidFill>
                  <a:srgbClr val="1B3F9E"/>
                </a:solidFill>
                <a:latin typeface="Calibri" pitchFamily="34" charset="0"/>
                <a:ea typeface="Calibri" pitchFamily="34" charset="-122"/>
                <a:cs typeface="Calibri" pitchFamily="34" charset="-120"/>
              </a:rPr>
              <a:t>HS3</a:t>
            </a:r>
            <a:endParaRPr lang="fr-FR" sz="2200" dirty="0"/>
          </a:p>
        </p:txBody>
      </p:sp>
      <p:sp>
        <p:nvSpPr>
          <p:cNvPr id="17" name="vt2"/>
          <p:cNvSpPr txBox="1"/>
          <p:nvPr/>
        </p:nvSpPr>
        <p:spPr>
          <a:xfrm>
            <a:off x="1818970" y="4123944"/>
            <a:ext cx="5501488" cy="411480"/>
          </a:xfrm>
          <a:prstGeom prst="rect">
            <a:avLst/>
          </a:prstGeom>
          <a:noFill/>
          <a:ln/>
        </p:spPr>
        <p:txBody>
          <a:bodyPr wrap="square" lIns="0" tIns="0" rIns="0" bIns="0" rtlCol="0" anchor="t"/>
          <a:lstStyle/>
          <a:p>
            <a:pPr indent="0" marL="0">
              <a:buNone/>
            </a:pPr>
            <a:r>
              <a:rPr lang="fr-FR" altLang="en-US" sz="1700" dirty="0">
                <a:solidFill>
                  <a:srgbClr val="0E1C46"/>
                </a:solidFill>
                <a:latin typeface="Calibri" pitchFamily="34" charset="0"/>
                <a:ea typeface="Calibri" pitchFamily="34" charset="-122"/>
                <a:cs typeface="Calibri" pitchFamily="34" charset="-120"/>
              </a:rPr>
              <a:t>Pas d’outil numérique formalisé ni de procédures écrites</a:t>
            </a:r>
            <a:endParaRPr lang="fr-FR" sz="1700" dirty="0"/>
          </a:p>
        </p:txBody>
      </p:sp>
      <p:sp>
        <p:nvSpPr>
          <p:cNvPr id="18" name="vb2"/>
          <p:cNvSpPr/>
          <p:nvPr/>
        </p:nvSpPr>
        <p:spPr>
          <a:xfrm>
            <a:off x="7669759" y="4069080"/>
            <a:ext cx="2881732" cy="502920"/>
          </a:xfrm>
          <a:prstGeom prst="rect">
            <a:avLst/>
          </a:prstGeom>
          <a:solidFill>
            <a:srgbClr val="E7F4EC"/>
          </a:solidFill>
          <a:ln w="12700">
            <a:solidFill>
              <a:srgbClr val="00923A"/>
            </a:solidFill>
            <a:prstDash val="solid"/>
          </a:ln>
        </p:spPr>
      </p:sp>
      <p:sp>
        <p:nvSpPr>
          <p:cNvPr id="19" name="vbt2"/>
          <p:cNvSpPr txBox="1"/>
          <p:nvPr/>
        </p:nvSpPr>
        <p:spPr>
          <a:xfrm>
            <a:off x="7669759" y="4069080"/>
            <a:ext cx="2881732" cy="502920"/>
          </a:xfrm>
          <a:prstGeom prst="rect">
            <a:avLst/>
          </a:prstGeom>
          <a:noFill/>
          <a:ln/>
        </p:spPr>
        <p:txBody>
          <a:bodyPr wrap="square" lIns="0" tIns="0" rIns="0" bIns="0" rtlCol="0" anchor="ctr"/>
          <a:lstStyle/>
          <a:p>
            <a:pPr algn="ctr" indent="0" marL="0">
              <a:buNone/>
            </a:pPr>
            <a:r>
              <a:rPr lang="fr-FR" altLang="en-US" sz="1500" b="1" dirty="0">
                <a:solidFill>
                  <a:srgbClr val="00923A"/>
                </a:solidFill>
                <a:latin typeface="Calibri" pitchFamily="34" charset="0"/>
                <a:ea typeface="Calibri" pitchFamily="34" charset="-122"/>
                <a:cs typeface="Calibri" pitchFamily="34" charset="-120"/>
              </a:rPr>
              <a:t>Confirmée</a:t>
            </a:r>
            <a:endParaRPr lang="fr-FR" sz="1500" dirty="0"/>
          </a:p>
        </p:txBody>
      </p:sp>
      <p:sp>
        <p:nvSpPr>
          <p:cNvPr id="20" name="hp"/>
          <p:cNvSpPr/>
          <p:nvPr/>
        </p:nvSpPr>
        <p:spPr>
          <a:xfrm>
            <a:off x="683743" y="5029200"/>
            <a:ext cx="10129723" cy="1051560"/>
          </a:xfrm>
          <a:prstGeom prst="rect">
            <a:avLst/>
          </a:prstGeom>
          <a:solidFill>
            <a:srgbClr val="EEF2FB"/>
          </a:solidFill>
          <a:ln w="9525">
            <a:solidFill>
              <a:srgbClr val="D9DFEA"/>
            </a:solidFill>
            <a:prstDash val="solid"/>
          </a:ln>
        </p:spPr>
      </p:sp>
      <p:sp>
        <p:nvSpPr>
          <p:cNvPr id="21" name="hpb"/>
          <p:cNvSpPr/>
          <p:nvPr/>
        </p:nvSpPr>
        <p:spPr>
          <a:xfrm>
            <a:off x="683743" y="5029200"/>
            <a:ext cx="52395" cy="1051560"/>
          </a:xfrm>
          <a:prstGeom prst="rect">
            <a:avLst/>
          </a:prstGeom>
          <a:solidFill>
            <a:srgbClr val="1B3F9E"/>
          </a:solidFill>
          <a:ln w="12700">
            <a:solidFill>
              <a:srgbClr val="1B3F9E"/>
            </a:solidFill>
            <a:prstDash val="solid"/>
          </a:ln>
        </p:spPr>
      </p:sp>
      <p:sp>
        <p:nvSpPr>
          <p:cNvPr id="22" name="hpt"/>
          <p:cNvSpPr txBox="1"/>
          <p:nvPr/>
        </p:nvSpPr>
        <p:spPr>
          <a:xfrm>
            <a:off x="945718" y="5120640"/>
            <a:ext cx="9693097" cy="868680"/>
          </a:xfrm>
          <a:prstGeom prst="rect">
            <a:avLst/>
          </a:prstGeom>
          <a:noFill/>
          <a:ln/>
        </p:spPr>
        <p:txBody>
          <a:bodyPr wrap="square" lIns="0" tIns="0" rIns="0" bIns="0" rtlCol="0" anchor="ctr"/>
          <a:lstStyle/>
          <a:p>
            <a:pPr indent="0" marL="0">
              <a:buNone/>
            </a:pPr>
            <a:r>
              <a:rPr lang="fr-FR" altLang="en-US" sz="1500" b="1" dirty="0">
                <a:solidFill>
                  <a:srgbClr val="1B3F9E"/>
                </a:solidFill>
                <a:latin typeface="Calibri" pitchFamily="34" charset="0"/>
                <a:ea typeface="Calibri" pitchFamily="34" charset="-122"/>
                <a:cs typeface="Calibri" pitchFamily="34" charset="-120"/>
              </a:rPr>
              <a:t>Hypothèse principale partiellement confirmée. </a:t>
            </a:r>
            <a:pPr indent="0" marL="0">
              <a:buNone/>
            </a:pPr>
            <a:r>
              <a:rPr lang="fr-FR" altLang="en-US" sz="1500" dirty="0">
                <a:solidFill>
                  <a:srgbClr val="0E1C46"/>
                </a:solidFill>
                <a:latin typeface="Calibri" pitchFamily="34" charset="0"/>
                <a:ea typeface="Calibri" pitchFamily="34" charset="-122"/>
                <a:cs typeface="Calibri" pitchFamily="34" charset="-120"/>
              </a:rPr>
              <a:t>Le système est bien organisé et fiable, mais son efficacité reste limitée par la dépendance envers quelques responsables, des moyens insuffisants et l’absence d’outils numériques formalisés.</a:t>
            </a:r>
            <a:endParaRPr lang="fr-FR" sz="1500" dirty="0"/>
          </a:p>
        </p:txBody>
      </p:sp>
      <p:pic>
        <p:nvPicPr>
          <p:cNvPr id="23"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24"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5"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17 / 21</a:t>
            </a:r>
            <a:endParaRPr lang="fr-FR" sz="1000" dirty="0"/>
          </a:p>
        </p:txBody>
      </p:sp>
      <p:sp>
        <p:nvSpPr>
          <p:cNvPr id="26" name="!!band1"/>
          <p:cNvSpPr/>
          <p:nvPr/>
        </p:nvSpPr>
        <p:spPr>
          <a:xfrm>
            <a:off x="0" y="0"/>
            <a:ext cx="4873752" cy="64008"/>
          </a:xfrm>
          <a:prstGeom prst="rect">
            <a:avLst/>
          </a:prstGeom>
          <a:solidFill>
            <a:srgbClr val="1B3F9E"/>
          </a:solidFill>
          <a:ln w="12700">
            <a:solidFill>
              <a:srgbClr val="1B3F9E"/>
            </a:solidFill>
            <a:prstDash val="solid"/>
          </a:ln>
        </p:spPr>
      </p:sp>
      <p:sp>
        <p:nvSpPr>
          <p:cNvPr id="27" name="!!band2"/>
          <p:cNvSpPr/>
          <p:nvPr/>
        </p:nvSpPr>
        <p:spPr>
          <a:xfrm>
            <a:off x="4873752" y="0"/>
            <a:ext cx="4270248" cy="64008"/>
          </a:xfrm>
          <a:prstGeom prst="rect">
            <a:avLst/>
          </a:prstGeom>
          <a:solidFill>
            <a:srgbClr val="00923A"/>
          </a:solidFill>
          <a:ln w="12700">
            <a:solidFill>
              <a:srgbClr val="00923A"/>
            </a:solidFill>
            <a:prstDash val="solid"/>
          </a:ln>
        </p:spPr>
      </p:sp>
      <p:sp>
        <p:nvSpPr>
          <p:cNvPr id="28" name="!!band3"/>
          <p:cNvSpPr/>
          <p:nvPr/>
        </p:nvSpPr>
        <p:spPr>
          <a:xfrm>
            <a:off x="9144000" y="0"/>
            <a:ext cx="3047695" cy="64008"/>
          </a:xfrm>
          <a:prstGeom prst="rect">
            <a:avLst/>
          </a:prstGeom>
          <a:solidFill>
            <a:srgbClr val="FCC600"/>
          </a:solidFill>
          <a:ln w="12700">
            <a:solidFill>
              <a:srgbClr val="FCC600"/>
            </a:solidFill>
            <a:prstDash val="solid"/>
          </a:ln>
        </p:spPr>
      </p:sp>
      <p:sp>
        <p:nvSpPr>
          <p:cNvPr id="29" name="!!railline"/>
          <p:cNvSpPr/>
          <p:nvPr/>
        </p:nvSpPr>
        <p:spPr>
          <a:xfrm>
            <a:off x="11795760" y="1600200"/>
            <a:ext cx="914" cy="3383280"/>
          </a:xfrm>
          <a:prstGeom prst="line">
            <a:avLst/>
          </a:prstGeom>
          <a:noFill/>
          <a:ln w="19050">
            <a:solidFill>
              <a:srgbClr val="D9DFEA"/>
            </a:solidFill>
            <a:prstDash val="solid"/>
          </a:ln>
        </p:spPr>
      </p:sp>
      <p:sp>
        <p:nvSpPr>
          <p:cNvPr id="30" name="!!railprog"/>
          <p:cNvSpPr/>
          <p:nvPr/>
        </p:nvSpPr>
        <p:spPr>
          <a:xfrm>
            <a:off x="11795760" y="1600200"/>
            <a:ext cx="914" cy="2706624"/>
          </a:xfrm>
          <a:prstGeom prst="line">
            <a:avLst/>
          </a:prstGeom>
          <a:noFill/>
          <a:ln w="31750">
            <a:solidFill>
              <a:srgbClr val="00923A"/>
            </a:solidFill>
            <a:prstDash val="solid"/>
          </a:ln>
        </p:spPr>
      </p:sp>
      <p:sp>
        <p:nvSpPr>
          <p:cNvPr id="31"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32"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3" name="!!m2"/>
          <p:cNvSpPr/>
          <p:nvPr/>
        </p:nvSpPr>
        <p:spPr>
          <a:xfrm>
            <a:off x="11603736" y="2084832"/>
            <a:ext cx="384048" cy="384048"/>
          </a:xfrm>
          <a:prstGeom prst="ellipse">
            <a:avLst/>
          </a:prstGeom>
          <a:solidFill>
            <a:srgbClr val="00923A"/>
          </a:solidFill>
          <a:ln w="15875">
            <a:solidFill>
              <a:srgbClr val="00923A"/>
            </a:solidFill>
            <a:prstDash val="solid"/>
          </a:ln>
        </p:spPr>
      </p:sp>
      <p:sp>
        <p:nvSpPr>
          <p:cNvPr id="34"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5" name="!!m3"/>
          <p:cNvSpPr/>
          <p:nvPr/>
        </p:nvSpPr>
        <p:spPr>
          <a:xfrm>
            <a:off x="11603736" y="2761488"/>
            <a:ext cx="384048" cy="384048"/>
          </a:xfrm>
          <a:prstGeom prst="ellipse">
            <a:avLst/>
          </a:prstGeom>
          <a:solidFill>
            <a:srgbClr val="00923A"/>
          </a:solidFill>
          <a:ln w="15875">
            <a:solidFill>
              <a:srgbClr val="00923A"/>
            </a:solidFill>
            <a:prstDash val="solid"/>
          </a:ln>
        </p:spPr>
      </p:sp>
      <p:sp>
        <p:nvSpPr>
          <p:cNvPr id="36" name="!!mt3">
            <a:hlinkClick r:id="rId4"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7" name="!!m4"/>
          <p:cNvSpPr/>
          <p:nvPr/>
        </p:nvSpPr>
        <p:spPr>
          <a:xfrm>
            <a:off x="11603736" y="3438144"/>
            <a:ext cx="384048" cy="384048"/>
          </a:xfrm>
          <a:prstGeom prst="ellipse">
            <a:avLst/>
          </a:prstGeom>
          <a:solidFill>
            <a:srgbClr val="00923A"/>
          </a:solidFill>
          <a:ln w="15875">
            <a:solidFill>
              <a:srgbClr val="00923A"/>
            </a:solidFill>
            <a:prstDash val="solid"/>
          </a:ln>
        </p:spPr>
      </p:sp>
      <p:sp>
        <p:nvSpPr>
          <p:cNvPr id="38" name="!!mt4">
            <a:hlinkClick r:id="rId5"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9" name="!!m5"/>
          <p:cNvSpPr/>
          <p:nvPr/>
        </p:nvSpPr>
        <p:spPr>
          <a:xfrm>
            <a:off x="11603736" y="4114800"/>
            <a:ext cx="384048" cy="384048"/>
          </a:xfrm>
          <a:prstGeom prst="ellipse">
            <a:avLst/>
          </a:prstGeom>
          <a:solidFill>
            <a:srgbClr val="1B3F9E"/>
          </a:solidFill>
          <a:ln w="15875">
            <a:solidFill>
              <a:srgbClr val="1B3F9E"/>
            </a:solidFill>
            <a:prstDash val="solid"/>
          </a:ln>
        </p:spPr>
      </p:sp>
      <p:sp>
        <p:nvSpPr>
          <p:cNvPr id="40" name="!!mt5">
            <a:hlinkClick r:id="rId6"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1"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42" name="!!mt6">
            <a:hlinkClick r:id="rId7"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3"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Résultats</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53" presetClass="entr" presetSubtype="16" fill="hold" grpId="0" nodeType="withEffect">
                                  <p:stCondLst>
                                    <p:cond delay="500"/>
                                  </p:stCondLst>
                                  <p:childTnLst>
                                    <p:set>
                                      <p:cBhvr>
                                        <p:cTn id="21" dur="1" fill="hold">
                                          <p:stCondLst>
                                            <p:cond delay="0"/>
                                          </p:stCondLst>
                                        </p:cTn>
                                        <p:tgtEl>
                                          <p:spTgt spid="8"/>
                                        </p:tgtEl>
                                        <p:attrNameLst>
                                          <p:attrName>style.visibility</p:attrName>
                                        </p:attrNameLst>
                                      </p:cBhvr>
                                      <p:to>
                                        <p:strVal val="visible"/>
                                      </p:to>
                                    </p:set>
                                    <p:anim calcmode="lin" valueType="num">
                                      <p:cBhvr>
                                        <p:cTn id="22" dur="600" fill="hold"/>
                                        <p:tgtEl>
                                          <p:spTgt spid="8"/>
                                        </p:tgtEl>
                                        <p:attrNameLst>
                                          <p:attrName>ppt_w</p:attrName>
                                        </p:attrNameLst>
                                      </p:cBhvr>
                                      <p:tavLst>
                                        <p:tav tm="0">
                                          <p:val>
                                            <p:fltVal val="0"/>
                                          </p:val>
                                        </p:tav>
                                        <p:tav tm="100000">
                                          <p:val>
                                            <p:strVal val="#ppt_w"/>
                                          </p:val>
                                        </p:tav>
                                      </p:tavLst>
                                    </p:anim>
                                    <p:anim calcmode="lin" valueType="num">
                                      <p:cBhvr>
                                        <p:cTn id="23" dur="600" fill="hold"/>
                                        <p:tgtEl>
                                          <p:spTgt spid="8"/>
                                        </p:tgtEl>
                                        <p:attrNameLst>
                                          <p:attrName>ppt_h</p:attrName>
                                        </p:attrNameLst>
                                      </p:cBhvr>
                                      <p:tavLst>
                                        <p:tav tm="0">
                                          <p:val>
                                            <p:fltVal val="0"/>
                                          </p:val>
                                        </p:tav>
                                        <p:tav tm="100000">
                                          <p:val>
                                            <p:strVal val="#ppt_h"/>
                                          </p:val>
                                        </p:tav>
                                      </p:tavLst>
                                    </p:anim>
                                    <p:animEffect transition="in" filter="fade">
                                      <p:cBhvr>
                                        <p:cTn id="24" dur="600"/>
                                        <p:tgtEl>
                                          <p:spTgt spid="8"/>
                                        </p:tgtEl>
                                      </p:cBhvr>
                                    </p:animEffect>
                                  </p:childTnLst>
                                </p:cTn>
                              </p:par>
                              <p:par>
                                <p:cTn id="25" presetID="53" presetClass="entr" presetSubtype="16" fill="hold" grpId="0" nodeType="withEffect">
                                  <p:stCondLst>
                                    <p:cond delay="500"/>
                                  </p:stCondLst>
                                  <p:childTnLst>
                                    <p:set>
                                      <p:cBhvr>
                                        <p:cTn id="26" dur="1" fill="hold">
                                          <p:stCondLst>
                                            <p:cond delay="0"/>
                                          </p:stCondLst>
                                        </p:cTn>
                                        <p:tgtEl>
                                          <p:spTgt spid="9"/>
                                        </p:tgtEl>
                                        <p:attrNameLst>
                                          <p:attrName>style.visibility</p:attrName>
                                        </p:attrNameLst>
                                      </p:cBhvr>
                                      <p:to>
                                        <p:strVal val="visible"/>
                                      </p:to>
                                    </p:set>
                                    <p:anim calcmode="lin" valueType="num">
                                      <p:cBhvr>
                                        <p:cTn id="27" dur="600" fill="hold"/>
                                        <p:tgtEl>
                                          <p:spTgt spid="9"/>
                                        </p:tgtEl>
                                        <p:attrNameLst>
                                          <p:attrName>ppt_w</p:attrName>
                                        </p:attrNameLst>
                                      </p:cBhvr>
                                      <p:tavLst>
                                        <p:tav tm="0">
                                          <p:val>
                                            <p:fltVal val="0"/>
                                          </p:val>
                                        </p:tav>
                                        <p:tav tm="100000">
                                          <p:val>
                                            <p:strVal val="#ppt_w"/>
                                          </p:val>
                                        </p:tav>
                                      </p:tavLst>
                                    </p:anim>
                                    <p:anim calcmode="lin" valueType="num">
                                      <p:cBhvr>
                                        <p:cTn id="28" dur="600" fill="hold"/>
                                        <p:tgtEl>
                                          <p:spTgt spid="9"/>
                                        </p:tgtEl>
                                        <p:attrNameLst>
                                          <p:attrName>ppt_h</p:attrName>
                                        </p:attrNameLst>
                                      </p:cBhvr>
                                      <p:tavLst>
                                        <p:tav tm="0">
                                          <p:val>
                                            <p:fltVal val="0"/>
                                          </p:val>
                                        </p:tav>
                                        <p:tav tm="100000">
                                          <p:val>
                                            <p:strVal val="#ppt_h"/>
                                          </p:val>
                                        </p:tav>
                                      </p:tavLst>
                                    </p:anim>
                                    <p:animEffect transition="in" filter="fade">
                                      <p:cBhvr>
                                        <p:cTn id="29" dur="600"/>
                                        <p:tgtEl>
                                          <p:spTgt spid="9"/>
                                        </p:tgtEl>
                                      </p:cBhvr>
                                    </p:animEffect>
                                  </p:childTnLst>
                                </p:cTn>
                              </p:par>
                              <p:par>
                                <p:cTn id="30" presetID="10" presetClass="entr" presetSubtype="0" fill="hold" grpId="0" nodeType="withEffect">
                                  <p:stCondLst>
                                    <p:cond delay="65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600"/>
                                        <p:tgtEl>
                                          <p:spTgt spid="10"/>
                                        </p:tgtEl>
                                      </p:cBhvr>
                                    </p:animEffect>
                                  </p:childTnLst>
                                </p:cTn>
                              </p:par>
                              <p:par>
                                <p:cTn id="33" presetID="10" presetClass="entr" presetSubtype="0" fill="hold" grpId="0" nodeType="withEffect">
                                  <p:stCondLst>
                                    <p:cond delay="6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00"/>
                                        <p:tgtEl>
                                          <p:spTgt spid="11"/>
                                        </p:tgtEl>
                                      </p:cBhvr>
                                    </p:animEffect>
                                  </p:childTnLst>
                                </p:cTn>
                              </p:par>
                              <p:par>
                                <p:cTn id="36" presetID="10" presetClass="entr" presetSubtype="0" fill="hold" grpId="0" nodeType="withEffect">
                                  <p:stCondLst>
                                    <p:cond delay="65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childTnLst>
                                </p:cTn>
                              </p:par>
                              <p:par>
                                <p:cTn id="39" presetID="53" presetClass="entr" presetSubtype="16" fill="hold" grpId="0" nodeType="withEffect">
                                  <p:stCondLst>
                                    <p:cond delay="950"/>
                                  </p:stCondLst>
                                  <p:childTnLst>
                                    <p:set>
                                      <p:cBhvr>
                                        <p:cTn id="40" dur="1" fill="hold">
                                          <p:stCondLst>
                                            <p:cond delay="0"/>
                                          </p:stCondLst>
                                        </p:cTn>
                                        <p:tgtEl>
                                          <p:spTgt spid="13"/>
                                        </p:tgtEl>
                                        <p:attrNameLst>
                                          <p:attrName>style.visibility</p:attrName>
                                        </p:attrNameLst>
                                      </p:cBhvr>
                                      <p:to>
                                        <p:strVal val="visible"/>
                                      </p:to>
                                    </p:set>
                                    <p:anim calcmode="lin" valueType="num">
                                      <p:cBhvr>
                                        <p:cTn id="41" dur="600" fill="hold"/>
                                        <p:tgtEl>
                                          <p:spTgt spid="13"/>
                                        </p:tgtEl>
                                        <p:attrNameLst>
                                          <p:attrName>ppt_w</p:attrName>
                                        </p:attrNameLst>
                                      </p:cBhvr>
                                      <p:tavLst>
                                        <p:tav tm="0">
                                          <p:val>
                                            <p:fltVal val="0"/>
                                          </p:val>
                                        </p:tav>
                                        <p:tav tm="100000">
                                          <p:val>
                                            <p:strVal val="#ppt_w"/>
                                          </p:val>
                                        </p:tav>
                                      </p:tavLst>
                                    </p:anim>
                                    <p:anim calcmode="lin" valueType="num">
                                      <p:cBhvr>
                                        <p:cTn id="42" dur="600" fill="hold"/>
                                        <p:tgtEl>
                                          <p:spTgt spid="13"/>
                                        </p:tgtEl>
                                        <p:attrNameLst>
                                          <p:attrName>ppt_h</p:attrName>
                                        </p:attrNameLst>
                                      </p:cBhvr>
                                      <p:tavLst>
                                        <p:tav tm="0">
                                          <p:val>
                                            <p:fltVal val="0"/>
                                          </p:val>
                                        </p:tav>
                                        <p:tav tm="100000">
                                          <p:val>
                                            <p:strVal val="#ppt_h"/>
                                          </p:val>
                                        </p:tav>
                                      </p:tavLst>
                                    </p:anim>
                                    <p:animEffect transition="in" filter="fade">
                                      <p:cBhvr>
                                        <p:cTn id="43" dur="600"/>
                                        <p:tgtEl>
                                          <p:spTgt spid="13"/>
                                        </p:tgtEl>
                                      </p:cBhvr>
                                    </p:animEffect>
                                  </p:childTnLst>
                                </p:cTn>
                              </p:par>
                              <p:par>
                                <p:cTn id="44" presetID="53" presetClass="entr" presetSubtype="16" fill="hold" grpId="0" nodeType="withEffect">
                                  <p:stCondLst>
                                    <p:cond delay="950"/>
                                  </p:stCondLst>
                                  <p:childTnLst>
                                    <p:set>
                                      <p:cBhvr>
                                        <p:cTn id="45" dur="1" fill="hold">
                                          <p:stCondLst>
                                            <p:cond delay="0"/>
                                          </p:stCondLst>
                                        </p:cTn>
                                        <p:tgtEl>
                                          <p:spTgt spid="14"/>
                                        </p:tgtEl>
                                        <p:attrNameLst>
                                          <p:attrName>style.visibility</p:attrName>
                                        </p:attrNameLst>
                                      </p:cBhvr>
                                      <p:to>
                                        <p:strVal val="visible"/>
                                      </p:to>
                                    </p:set>
                                    <p:anim calcmode="lin" valueType="num">
                                      <p:cBhvr>
                                        <p:cTn id="46" dur="600" fill="hold"/>
                                        <p:tgtEl>
                                          <p:spTgt spid="14"/>
                                        </p:tgtEl>
                                        <p:attrNameLst>
                                          <p:attrName>ppt_w</p:attrName>
                                        </p:attrNameLst>
                                      </p:cBhvr>
                                      <p:tavLst>
                                        <p:tav tm="0">
                                          <p:val>
                                            <p:fltVal val="0"/>
                                          </p:val>
                                        </p:tav>
                                        <p:tav tm="100000">
                                          <p:val>
                                            <p:strVal val="#ppt_w"/>
                                          </p:val>
                                        </p:tav>
                                      </p:tavLst>
                                    </p:anim>
                                    <p:anim calcmode="lin" valueType="num">
                                      <p:cBhvr>
                                        <p:cTn id="47" dur="600" fill="hold"/>
                                        <p:tgtEl>
                                          <p:spTgt spid="14"/>
                                        </p:tgtEl>
                                        <p:attrNameLst>
                                          <p:attrName>ppt_h</p:attrName>
                                        </p:attrNameLst>
                                      </p:cBhvr>
                                      <p:tavLst>
                                        <p:tav tm="0">
                                          <p:val>
                                            <p:fltVal val="0"/>
                                          </p:val>
                                        </p:tav>
                                        <p:tav tm="100000">
                                          <p:val>
                                            <p:strVal val="#ppt_h"/>
                                          </p:val>
                                        </p:tav>
                                      </p:tavLst>
                                    </p:anim>
                                    <p:animEffect transition="in" filter="fade">
                                      <p:cBhvr>
                                        <p:cTn id="48" dur="600"/>
                                        <p:tgtEl>
                                          <p:spTgt spid="14"/>
                                        </p:tgtEl>
                                      </p:cBhvr>
                                    </p:animEffect>
                                  </p:childTnLst>
                                </p:cTn>
                              </p:par>
                              <p:par>
                                <p:cTn id="49" presetID="10" presetClass="entr" presetSubtype="0" fill="hold" grpId="0" nodeType="withEffect">
                                  <p:stCondLst>
                                    <p:cond delay="110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600"/>
                                        <p:tgtEl>
                                          <p:spTgt spid="15"/>
                                        </p:tgtEl>
                                      </p:cBhvr>
                                    </p:animEffect>
                                  </p:childTnLst>
                                </p:cTn>
                              </p:par>
                              <p:par>
                                <p:cTn id="52" presetID="10" presetClass="entr" presetSubtype="0" fill="hold" grpId="0" nodeType="withEffect">
                                  <p:stCondLst>
                                    <p:cond delay="110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600"/>
                                        <p:tgtEl>
                                          <p:spTgt spid="16"/>
                                        </p:tgtEl>
                                      </p:cBhvr>
                                    </p:animEffect>
                                  </p:childTnLst>
                                </p:cTn>
                              </p:par>
                              <p:par>
                                <p:cTn id="55" presetID="10" presetClass="entr" presetSubtype="0" fill="hold" grpId="0" nodeType="withEffect">
                                  <p:stCondLst>
                                    <p:cond delay="110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600"/>
                                        <p:tgtEl>
                                          <p:spTgt spid="17"/>
                                        </p:tgtEl>
                                      </p:cBhvr>
                                    </p:animEffect>
                                  </p:childTnLst>
                                </p:cTn>
                              </p:par>
                              <p:par>
                                <p:cTn id="58" presetID="53" presetClass="entr" presetSubtype="16" fill="hold" grpId="0" nodeType="withEffect">
                                  <p:stCondLst>
                                    <p:cond delay="1400"/>
                                  </p:stCondLst>
                                  <p:childTnLst>
                                    <p:set>
                                      <p:cBhvr>
                                        <p:cTn id="59" dur="1" fill="hold">
                                          <p:stCondLst>
                                            <p:cond delay="0"/>
                                          </p:stCondLst>
                                        </p:cTn>
                                        <p:tgtEl>
                                          <p:spTgt spid="18"/>
                                        </p:tgtEl>
                                        <p:attrNameLst>
                                          <p:attrName>style.visibility</p:attrName>
                                        </p:attrNameLst>
                                      </p:cBhvr>
                                      <p:to>
                                        <p:strVal val="visible"/>
                                      </p:to>
                                    </p:set>
                                    <p:anim calcmode="lin" valueType="num">
                                      <p:cBhvr>
                                        <p:cTn id="60" dur="600" fill="hold"/>
                                        <p:tgtEl>
                                          <p:spTgt spid="18"/>
                                        </p:tgtEl>
                                        <p:attrNameLst>
                                          <p:attrName>ppt_w</p:attrName>
                                        </p:attrNameLst>
                                      </p:cBhvr>
                                      <p:tavLst>
                                        <p:tav tm="0">
                                          <p:val>
                                            <p:fltVal val="0"/>
                                          </p:val>
                                        </p:tav>
                                        <p:tav tm="100000">
                                          <p:val>
                                            <p:strVal val="#ppt_w"/>
                                          </p:val>
                                        </p:tav>
                                      </p:tavLst>
                                    </p:anim>
                                    <p:anim calcmode="lin" valueType="num">
                                      <p:cBhvr>
                                        <p:cTn id="61" dur="600" fill="hold"/>
                                        <p:tgtEl>
                                          <p:spTgt spid="18"/>
                                        </p:tgtEl>
                                        <p:attrNameLst>
                                          <p:attrName>ppt_h</p:attrName>
                                        </p:attrNameLst>
                                      </p:cBhvr>
                                      <p:tavLst>
                                        <p:tav tm="0">
                                          <p:val>
                                            <p:fltVal val="0"/>
                                          </p:val>
                                        </p:tav>
                                        <p:tav tm="100000">
                                          <p:val>
                                            <p:strVal val="#ppt_h"/>
                                          </p:val>
                                        </p:tav>
                                      </p:tavLst>
                                    </p:anim>
                                    <p:animEffect transition="in" filter="fade">
                                      <p:cBhvr>
                                        <p:cTn id="62" dur="600"/>
                                        <p:tgtEl>
                                          <p:spTgt spid="18"/>
                                        </p:tgtEl>
                                      </p:cBhvr>
                                    </p:animEffect>
                                  </p:childTnLst>
                                </p:cTn>
                              </p:par>
                              <p:par>
                                <p:cTn id="63" presetID="53" presetClass="entr" presetSubtype="16" fill="hold" grpId="0" nodeType="withEffect">
                                  <p:stCondLst>
                                    <p:cond delay="1400"/>
                                  </p:stCondLst>
                                  <p:childTnLst>
                                    <p:set>
                                      <p:cBhvr>
                                        <p:cTn id="64" dur="1" fill="hold">
                                          <p:stCondLst>
                                            <p:cond delay="0"/>
                                          </p:stCondLst>
                                        </p:cTn>
                                        <p:tgtEl>
                                          <p:spTgt spid="19"/>
                                        </p:tgtEl>
                                        <p:attrNameLst>
                                          <p:attrName>style.visibility</p:attrName>
                                        </p:attrNameLst>
                                      </p:cBhvr>
                                      <p:to>
                                        <p:strVal val="visible"/>
                                      </p:to>
                                    </p:set>
                                    <p:anim calcmode="lin" valueType="num">
                                      <p:cBhvr>
                                        <p:cTn id="65" dur="600" fill="hold"/>
                                        <p:tgtEl>
                                          <p:spTgt spid="19"/>
                                        </p:tgtEl>
                                        <p:attrNameLst>
                                          <p:attrName>ppt_w</p:attrName>
                                        </p:attrNameLst>
                                      </p:cBhvr>
                                      <p:tavLst>
                                        <p:tav tm="0">
                                          <p:val>
                                            <p:fltVal val="0"/>
                                          </p:val>
                                        </p:tav>
                                        <p:tav tm="100000">
                                          <p:val>
                                            <p:strVal val="#ppt_w"/>
                                          </p:val>
                                        </p:tav>
                                      </p:tavLst>
                                    </p:anim>
                                    <p:anim calcmode="lin" valueType="num">
                                      <p:cBhvr>
                                        <p:cTn id="66" dur="600" fill="hold"/>
                                        <p:tgtEl>
                                          <p:spTgt spid="19"/>
                                        </p:tgtEl>
                                        <p:attrNameLst>
                                          <p:attrName>ppt_h</p:attrName>
                                        </p:attrNameLst>
                                      </p:cBhvr>
                                      <p:tavLst>
                                        <p:tav tm="0">
                                          <p:val>
                                            <p:fltVal val="0"/>
                                          </p:val>
                                        </p:tav>
                                        <p:tav tm="100000">
                                          <p:val>
                                            <p:strVal val="#ppt_h"/>
                                          </p:val>
                                        </p:tav>
                                      </p:tavLst>
                                    </p:anim>
                                    <p:animEffect transition="in" filter="fade">
                                      <p:cBhvr>
                                        <p:cTn id="67" dur="600"/>
                                        <p:tgtEl>
                                          <p:spTgt spid="19"/>
                                        </p:tgtEl>
                                      </p:cBhvr>
                                    </p:animEffect>
                                  </p:childTnLst>
                                </p:cTn>
                              </p:par>
                              <p:par>
                                <p:cTn id="68" presetID="22" presetClass="entr" presetSubtype="8" fill="hold" grpId="0" nodeType="withEffect">
                                  <p:stCondLst>
                                    <p:cond delay="1700"/>
                                  </p:stCondLst>
                                  <p:childTnLst>
                                    <p:set>
                                      <p:cBhvr>
                                        <p:cTn id="69" dur="1" fill="hold">
                                          <p:stCondLst>
                                            <p:cond delay="0"/>
                                          </p:stCondLst>
                                        </p:cTn>
                                        <p:tgtEl>
                                          <p:spTgt spid="20"/>
                                        </p:tgtEl>
                                        <p:attrNameLst>
                                          <p:attrName>style.visibility</p:attrName>
                                        </p:attrNameLst>
                                      </p:cBhvr>
                                      <p:to>
                                        <p:strVal val="visible"/>
                                      </p:to>
                                    </p:set>
                                    <p:animEffect transition="in" filter="wipe(left)">
                                      <p:cBhvr>
                                        <p:cTn id="70" dur="600"/>
                                        <p:tgtEl>
                                          <p:spTgt spid="20"/>
                                        </p:tgtEl>
                                      </p:cBhvr>
                                    </p:animEffect>
                                  </p:childTnLst>
                                </p:cTn>
                              </p:par>
                              <p:par>
                                <p:cTn id="71" presetID="10" presetClass="entr" presetSubtype="0" fill="hold" grpId="0" nodeType="withEffect">
                                  <p:stCondLst>
                                    <p:cond delay="170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600"/>
                                        <p:tgtEl>
                                          <p:spTgt spid="21"/>
                                        </p:tgtEl>
                                      </p:cBhvr>
                                    </p:animEffect>
                                  </p:childTnLst>
                                </p:cTn>
                              </p:par>
                              <p:par>
                                <p:cTn id="74" presetID="10" presetClass="entr" presetSubtype="0" fill="hold" grpId="0" nodeType="withEffect">
                                  <p:stCondLst>
                                    <p:cond delay="175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9" grpId="0" animBg="1"/>
      <p:bldP spid="11" grpId="0" animBg="1"/>
      <p:bldP spid="12" grpId="0" animBg="1"/>
      <p:bldP spid="14" grpId="0" animBg="1"/>
      <p:bldP spid="16" grpId="0" animBg="1"/>
      <p:bldP spid="17" grpId="0" animBg="1"/>
      <p:bldP spid="19" grpId="0" animBg="1"/>
      <p:bldP spid="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6 — Recommandations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Sept recommandations, dont quatre prioritaires</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r0"/>
          <p:cNvSpPr/>
          <p:nvPr/>
        </p:nvSpPr>
        <p:spPr>
          <a:xfrm>
            <a:off x="683743" y="1783080"/>
            <a:ext cx="3842309" cy="3154680"/>
          </a:xfrm>
          <a:prstGeom prst="rect">
            <a:avLst/>
          </a:prstGeom>
          <a:solidFill>
            <a:srgbClr val="1B3F9E"/>
          </a:solidFill>
          <a:ln w="12700">
            <a:solidFill>
              <a:srgbClr val="1B3F9E"/>
            </a:solidFill>
            <a:prstDash val="solid"/>
          </a:ln>
        </p:spPr>
      </p:sp>
      <p:sp>
        <p:nvSpPr>
          <p:cNvPr id="6" name="r0t"/>
          <p:cNvSpPr txBox="1"/>
          <p:nvPr/>
        </p:nvSpPr>
        <p:spPr>
          <a:xfrm>
            <a:off x="989381" y="1920240"/>
            <a:ext cx="3318358" cy="2926080"/>
          </a:xfrm>
          <a:prstGeom prst="rect">
            <a:avLst/>
          </a:prstGeom>
          <a:noFill/>
          <a:ln/>
        </p:spPr>
        <p:txBody>
          <a:bodyPr wrap="square" lIns="0" tIns="0" rIns="0" bIns="0" rtlCol="0" anchor="t"/>
          <a:lstStyle/>
          <a:p>
            <a:pPr indent="0" marL="0">
              <a:buNone/>
            </a:pPr>
            <a:r>
              <a:rPr lang="fr-FR" altLang="en-US" sz="4000" b="1" dirty="0">
                <a:solidFill>
                  <a:srgbClr val="FCC600"/>
                </a:solidFill>
                <a:latin typeface="Calibri" pitchFamily="34" charset="0"/>
                <a:ea typeface="Calibri" pitchFamily="34" charset="-122"/>
                <a:cs typeface="Calibri" pitchFamily="34" charset="-120"/>
              </a:rPr>
              <a:t>1</a:t>
            </a:r>
            <a:endParaRPr lang="fr-FR" sz="4000" dirty="0"/>
          </a:p>
          <a:p>
            <a:pPr indent="0" marL="0">
              <a:buNone/>
            </a:pPr>
            <a:r>
              <a:rPr lang="fr-FR" altLang="en-US" sz="2200" b="1" dirty="0">
                <a:solidFill>
                  <a:srgbClr val="FFFFFF"/>
                </a:solidFill>
                <a:latin typeface="Calibri" pitchFamily="34" charset="0"/>
                <a:ea typeface="Calibri" pitchFamily="34" charset="-122"/>
                <a:cs typeface="Calibri" pitchFamily="34" charset="-120"/>
              </a:rPr>
              <a:t>Un registre numérique partagé</a:t>
            </a:r>
            <a:endParaRPr lang="fr-FR" sz="4000" dirty="0"/>
          </a:p>
          <a:p>
            <a:pPr indent="0" marL="0">
              <a:buNone/>
            </a:pPr>
            <a:r>
              <a:rPr lang="fr-FR" altLang="en-US" sz="1500" dirty="0">
                <a:solidFill>
                  <a:srgbClr val="DCE4F7"/>
                </a:solidFill>
                <a:latin typeface="Calibri" pitchFamily="34" charset="0"/>
                <a:ea typeface="Calibri" pitchFamily="34" charset="-122"/>
                <a:cs typeface="Calibri" pitchFamily="34" charset="-120"/>
              </a:rPr>
              <a:t>Un simple tableau commun, un numéro unique par courrier, avec l’appui de la DECTN.</a:t>
            </a:r>
            <a:endParaRPr lang="fr-FR" sz="4000" dirty="0"/>
          </a:p>
        </p:txBody>
      </p:sp>
      <p:sp>
        <p:nvSpPr>
          <p:cNvPr id="7" name="r1"/>
          <p:cNvSpPr/>
          <p:nvPr/>
        </p:nvSpPr>
        <p:spPr>
          <a:xfrm>
            <a:off x="4788027" y="1783080"/>
            <a:ext cx="6025439" cy="932688"/>
          </a:xfrm>
          <a:prstGeom prst="rect">
            <a:avLst/>
          </a:prstGeom>
          <a:solidFill>
            <a:srgbClr val="FFFFFF"/>
          </a:solidFill>
          <a:ln w="9525">
            <a:solidFill>
              <a:srgbClr val="D9DFEA"/>
            </a:solidFill>
            <a:prstDash val="solid"/>
          </a:ln>
        </p:spPr>
      </p:sp>
      <p:sp>
        <p:nvSpPr>
          <p:cNvPr id="8" name="r1b"/>
          <p:cNvSpPr/>
          <p:nvPr/>
        </p:nvSpPr>
        <p:spPr>
          <a:xfrm>
            <a:off x="4788027" y="1783080"/>
            <a:ext cx="52395" cy="932688"/>
          </a:xfrm>
          <a:prstGeom prst="rect">
            <a:avLst/>
          </a:prstGeom>
          <a:solidFill>
            <a:srgbClr val="00923A"/>
          </a:solidFill>
          <a:ln w="12700">
            <a:solidFill>
              <a:srgbClr val="00923A"/>
            </a:solidFill>
            <a:prstDash val="solid"/>
          </a:ln>
        </p:spPr>
      </p:sp>
      <p:sp>
        <p:nvSpPr>
          <p:cNvPr id="9" name="rn1"/>
          <p:cNvSpPr txBox="1"/>
          <p:nvPr/>
        </p:nvSpPr>
        <p:spPr>
          <a:xfrm>
            <a:off x="5050003" y="1901952"/>
            <a:ext cx="480289" cy="685800"/>
          </a:xfrm>
          <a:prstGeom prst="rect">
            <a:avLst/>
          </a:prstGeom>
          <a:noFill/>
          <a:ln/>
        </p:spPr>
        <p:txBody>
          <a:bodyPr wrap="square" lIns="0" tIns="0" rIns="0" bIns="0" rtlCol="0" anchor="t"/>
          <a:lstStyle/>
          <a:p>
            <a:pPr indent="0" marL="0">
              <a:buNone/>
            </a:pPr>
            <a:r>
              <a:rPr lang="fr-FR" altLang="en-US" sz="2800" b="1" dirty="0">
                <a:solidFill>
                  <a:srgbClr val="00923A"/>
                </a:solidFill>
                <a:latin typeface="Calibri" pitchFamily="34" charset="0"/>
                <a:ea typeface="Calibri" pitchFamily="34" charset="-122"/>
                <a:cs typeface="Calibri" pitchFamily="34" charset="-120"/>
              </a:rPr>
              <a:t>2</a:t>
            </a:r>
            <a:endParaRPr lang="fr-FR" sz="2800" dirty="0"/>
          </a:p>
        </p:txBody>
      </p:sp>
      <p:sp>
        <p:nvSpPr>
          <p:cNvPr id="10" name="rt1"/>
          <p:cNvSpPr txBox="1"/>
          <p:nvPr/>
        </p:nvSpPr>
        <p:spPr>
          <a:xfrm>
            <a:off x="5617616" y="1892808"/>
            <a:ext cx="5064862" cy="73152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Formaliser les échanges numériques</a:t>
            </a:r>
            <a:endParaRPr lang="fr-FR" sz="1700" dirty="0"/>
          </a:p>
          <a:p>
            <a:pPr indent="0" marL="0">
              <a:buNone/>
            </a:pPr>
            <a:r>
              <a:rPr lang="fr-FR" altLang="en-US" sz="1400" dirty="0">
                <a:solidFill>
                  <a:srgbClr val="56617C"/>
                </a:solidFill>
                <a:latin typeface="Calibri" pitchFamily="34" charset="0"/>
                <a:ea typeface="Calibri" pitchFamily="34" charset="-122"/>
                <a:cs typeface="Calibri" pitchFamily="34" charset="-120"/>
              </a:rPr>
              <a:t>Une adresse électronique institutionnelle par direction.</a:t>
            </a:r>
            <a:endParaRPr lang="fr-FR" sz="1700" dirty="0"/>
          </a:p>
        </p:txBody>
      </p:sp>
      <p:sp>
        <p:nvSpPr>
          <p:cNvPr id="11" name="r2"/>
          <p:cNvSpPr/>
          <p:nvPr/>
        </p:nvSpPr>
        <p:spPr>
          <a:xfrm>
            <a:off x="4788027" y="2862072"/>
            <a:ext cx="6025439" cy="932688"/>
          </a:xfrm>
          <a:prstGeom prst="rect">
            <a:avLst/>
          </a:prstGeom>
          <a:solidFill>
            <a:srgbClr val="FFFFFF"/>
          </a:solidFill>
          <a:ln w="9525">
            <a:solidFill>
              <a:srgbClr val="D9DFEA"/>
            </a:solidFill>
            <a:prstDash val="solid"/>
          </a:ln>
        </p:spPr>
      </p:sp>
      <p:sp>
        <p:nvSpPr>
          <p:cNvPr id="12" name="r2b"/>
          <p:cNvSpPr/>
          <p:nvPr/>
        </p:nvSpPr>
        <p:spPr>
          <a:xfrm>
            <a:off x="4788027" y="2862072"/>
            <a:ext cx="52395" cy="932688"/>
          </a:xfrm>
          <a:prstGeom prst="rect">
            <a:avLst/>
          </a:prstGeom>
          <a:solidFill>
            <a:srgbClr val="1B3F9E"/>
          </a:solidFill>
          <a:ln w="12700">
            <a:solidFill>
              <a:srgbClr val="1B3F9E"/>
            </a:solidFill>
            <a:prstDash val="solid"/>
          </a:ln>
        </p:spPr>
      </p:sp>
      <p:sp>
        <p:nvSpPr>
          <p:cNvPr id="13" name="rn2"/>
          <p:cNvSpPr txBox="1"/>
          <p:nvPr/>
        </p:nvSpPr>
        <p:spPr>
          <a:xfrm>
            <a:off x="5050003" y="2980944"/>
            <a:ext cx="480289" cy="685800"/>
          </a:xfrm>
          <a:prstGeom prst="rect">
            <a:avLst/>
          </a:prstGeom>
          <a:noFill/>
          <a:ln/>
        </p:spPr>
        <p:txBody>
          <a:bodyPr wrap="square" lIns="0" tIns="0" rIns="0" bIns="0" rtlCol="0" anchor="t"/>
          <a:lstStyle/>
          <a:p>
            <a:pPr indent="0" marL="0">
              <a:buNone/>
            </a:pPr>
            <a:r>
              <a:rPr lang="fr-FR" altLang="en-US" sz="2800" b="1" dirty="0">
                <a:solidFill>
                  <a:srgbClr val="1B3F9E"/>
                </a:solidFill>
                <a:latin typeface="Calibri" pitchFamily="34" charset="0"/>
                <a:ea typeface="Calibri" pitchFamily="34" charset="-122"/>
                <a:cs typeface="Calibri" pitchFamily="34" charset="-120"/>
              </a:rPr>
              <a:t>3</a:t>
            </a:r>
            <a:endParaRPr lang="fr-FR" sz="2800" dirty="0"/>
          </a:p>
        </p:txBody>
      </p:sp>
      <p:sp>
        <p:nvSpPr>
          <p:cNvPr id="14" name="rt2"/>
          <p:cNvSpPr txBox="1"/>
          <p:nvPr/>
        </p:nvSpPr>
        <p:spPr>
          <a:xfrm>
            <a:off x="5617616" y="2971800"/>
            <a:ext cx="5064862" cy="73152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Assurer la continuité</a:t>
            </a:r>
            <a:endParaRPr lang="fr-FR" sz="1700" dirty="0"/>
          </a:p>
          <a:p>
            <a:pPr indent="0" marL="0">
              <a:buNone/>
            </a:pPr>
            <a:r>
              <a:rPr lang="fr-FR" altLang="en-US" sz="1400" dirty="0">
                <a:solidFill>
                  <a:srgbClr val="56617C"/>
                </a:solidFill>
                <a:latin typeface="Calibri" pitchFamily="34" charset="0"/>
                <a:ea typeface="Calibri" pitchFamily="34" charset="-122"/>
                <a:cs typeface="Calibri" pitchFamily="34" charset="-120"/>
              </a:rPr>
              <a:t>Suppléants, délégations de signature, guide de procédures.</a:t>
            </a:r>
            <a:endParaRPr lang="fr-FR" sz="1700" dirty="0"/>
          </a:p>
        </p:txBody>
      </p:sp>
      <p:sp>
        <p:nvSpPr>
          <p:cNvPr id="15" name="r3"/>
          <p:cNvSpPr/>
          <p:nvPr/>
        </p:nvSpPr>
        <p:spPr>
          <a:xfrm>
            <a:off x="4788027" y="3941064"/>
            <a:ext cx="6025439" cy="932688"/>
          </a:xfrm>
          <a:prstGeom prst="rect">
            <a:avLst/>
          </a:prstGeom>
          <a:solidFill>
            <a:srgbClr val="FFFFFF"/>
          </a:solidFill>
          <a:ln w="9525">
            <a:solidFill>
              <a:srgbClr val="D9DFEA"/>
            </a:solidFill>
            <a:prstDash val="solid"/>
          </a:ln>
        </p:spPr>
      </p:sp>
      <p:sp>
        <p:nvSpPr>
          <p:cNvPr id="16" name="r3b"/>
          <p:cNvSpPr/>
          <p:nvPr/>
        </p:nvSpPr>
        <p:spPr>
          <a:xfrm>
            <a:off x="4788027" y="3941064"/>
            <a:ext cx="52395" cy="932688"/>
          </a:xfrm>
          <a:prstGeom prst="rect">
            <a:avLst/>
          </a:prstGeom>
          <a:solidFill>
            <a:srgbClr val="9A6A00"/>
          </a:solidFill>
          <a:ln w="12700">
            <a:solidFill>
              <a:srgbClr val="9A6A00"/>
            </a:solidFill>
            <a:prstDash val="solid"/>
          </a:ln>
        </p:spPr>
      </p:sp>
      <p:sp>
        <p:nvSpPr>
          <p:cNvPr id="17" name="rn3"/>
          <p:cNvSpPr txBox="1"/>
          <p:nvPr/>
        </p:nvSpPr>
        <p:spPr>
          <a:xfrm>
            <a:off x="5050003" y="4059936"/>
            <a:ext cx="480289" cy="685800"/>
          </a:xfrm>
          <a:prstGeom prst="rect">
            <a:avLst/>
          </a:prstGeom>
          <a:noFill/>
          <a:ln/>
        </p:spPr>
        <p:txBody>
          <a:bodyPr wrap="square" lIns="0" tIns="0" rIns="0" bIns="0" rtlCol="0" anchor="t"/>
          <a:lstStyle/>
          <a:p>
            <a:pPr indent="0" marL="0">
              <a:buNone/>
            </a:pPr>
            <a:r>
              <a:rPr lang="fr-FR" altLang="en-US" sz="2800" b="1" dirty="0">
                <a:solidFill>
                  <a:srgbClr val="9A6A00"/>
                </a:solidFill>
                <a:latin typeface="Calibri" pitchFamily="34" charset="0"/>
                <a:ea typeface="Calibri" pitchFamily="34" charset="-122"/>
                <a:cs typeface="Calibri" pitchFamily="34" charset="-120"/>
              </a:rPr>
              <a:t>4</a:t>
            </a:r>
            <a:endParaRPr lang="fr-FR" sz="2800" dirty="0"/>
          </a:p>
        </p:txBody>
      </p:sp>
      <p:sp>
        <p:nvSpPr>
          <p:cNvPr id="18" name="rt3"/>
          <p:cNvSpPr txBox="1"/>
          <p:nvPr/>
        </p:nvSpPr>
        <p:spPr>
          <a:xfrm>
            <a:off x="5617616" y="4050792"/>
            <a:ext cx="5064862" cy="73152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Organiser la distribution interne</a:t>
            </a:r>
            <a:endParaRPr lang="fr-FR" sz="1700" dirty="0"/>
          </a:p>
          <a:p>
            <a:pPr indent="0" marL="0">
              <a:buNone/>
            </a:pPr>
            <a:r>
              <a:rPr lang="fr-FR" altLang="en-US" sz="1400" dirty="0">
                <a:solidFill>
                  <a:srgbClr val="56617C"/>
                </a:solidFill>
                <a:latin typeface="Calibri" pitchFamily="34" charset="0"/>
                <a:ea typeface="Calibri" pitchFamily="34" charset="-122"/>
                <a:cs typeface="Calibri" pitchFamily="34" charset="-120"/>
              </a:rPr>
              <a:t>Un agent de liaison et un meilleur approvisionnement en fournitures.</a:t>
            </a:r>
            <a:endParaRPr lang="fr-FR" sz="1700" dirty="0"/>
          </a:p>
        </p:txBody>
      </p:sp>
      <p:sp>
        <p:nvSpPr>
          <p:cNvPr id="19" name="ro"/>
          <p:cNvSpPr/>
          <p:nvPr/>
        </p:nvSpPr>
        <p:spPr>
          <a:xfrm>
            <a:off x="683743" y="5138928"/>
            <a:ext cx="10129723" cy="960120"/>
          </a:xfrm>
          <a:prstGeom prst="rect">
            <a:avLst/>
          </a:prstGeom>
          <a:solidFill>
            <a:srgbClr val="EEF2FB"/>
          </a:solidFill>
          <a:ln w="9525">
            <a:solidFill>
              <a:srgbClr val="D9DFEA"/>
            </a:solidFill>
            <a:prstDash val="solid"/>
          </a:ln>
        </p:spPr>
      </p:sp>
      <p:sp>
        <p:nvSpPr>
          <p:cNvPr id="20" name="rot"/>
          <p:cNvSpPr txBox="1"/>
          <p:nvPr/>
        </p:nvSpPr>
        <p:spPr>
          <a:xfrm>
            <a:off x="945718" y="5212080"/>
            <a:ext cx="9693097" cy="822960"/>
          </a:xfrm>
          <a:prstGeom prst="rect">
            <a:avLst/>
          </a:prstGeom>
          <a:noFill/>
          <a:ln/>
        </p:spPr>
        <p:txBody>
          <a:bodyPr wrap="square" lIns="0" tIns="0" rIns="0" bIns="0" rtlCol="0" anchor="ctr"/>
          <a:lstStyle/>
          <a:p>
            <a:pPr indent="0" marL="0">
              <a:buNone/>
            </a:pPr>
            <a:r>
              <a:rPr lang="fr-FR" altLang="en-US" sz="1500" b="1" dirty="0">
                <a:solidFill>
                  <a:srgbClr val="1B3F9E"/>
                </a:solidFill>
                <a:latin typeface="Calibri" pitchFamily="34" charset="0"/>
                <a:ea typeface="Calibri" pitchFamily="34" charset="-122"/>
                <a:cs typeface="Calibri" pitchFamily="34" charset="-120"/>
              </a:rPr>
              <a:t>Également : </a:t>
            </a:r>
            <a:pPr indent="0" marL="0">
              <a:buNone/>
            </a:pPr>
            <a:r>
              <a:rPr lang="fr-FR" altLang="en-US" sz="1500" dirty="0">
                <a:solidFill>
                  <a:srgbClr val="0E1C46"/>
                </a:solidFill>
                <a:latin typeface="Calibri" pitchFamily="34" charset="0"/>
                <a:ea typeface="Calibri" pitchFamily="34" charset="-122"/>
                <a:cs typeface="Calibri" pitchFamily="34" charset="-120"/>
              </a:rPr>
              <a:t>un état périodique des besoins avec un stock de sécurité ; le réaménagement des bureaux, puis leur extension ; la formation du personnel à la gestion documentaire et aux outils numériques.</a:t>
            </a:r>
            <a:endParaRPr lang="fr-FR" sz="1500" dirty="0"/>
          </a:p>
        </p:txBody>
      </p:sp>
      <p:pic>
        <p:nvPicPr>
          <p:cNvPr id="21"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22"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3"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18 / 21</a:t>
            </a:r>
            <a:endParaRPr lang="fr-FR" sz="1000" dirty="0"/>
          </a:p>
        </p:txBody>
      </p:sp>
      <p:sp>
        <p:nvSpPr>
          <p:cNvPr id="24" name="!!band1"/>
          <p:cNvSpPr/>
          <p:nvPr/>
        </p:nvSpPr>
        <p:spPr>
          <a:xfrm>
            <a:off x="0" y="0"/>
            <a:ext cx="4873752" cy="64008"/>
          </a:xfrm>
          <a:prstGeom prst="rect">
            <a:avLst/>
          </a:prstGeom>
          <a:solidFill>
            <a:srgbClr val="1B3F9E"/>
          </a:solidFill>
          <a:ln w="12700">
            <a:solidFill>
              <a:srgbClr val="1B3F9E"/>
            </a:solidFill>
            <a:prstDash val="solid"/>
          </a:ln>
        </p:spPr>
      </p:sp>
      <p:sp>
        <p:nvSpPr>
          <p:cNvPr id="25" name="!!band2"/>
          <p:cNvSpPr/>
          <p:nvPr/>
        </p:nvSpPr>
        <p:spPr>
          <a:xfrm>
            <a:off x="4873752" y="0"/>
            <a:ext cx="4270248" cy="64008"/>
          </a:xfrm>
          <a:prstGeom prst="rect">
            <a:avLst/>
          </a:prstGeom>
          <a:solidFill>
            <a:srgbClr val="00923A"/>
          </a:solidFill>
          <a:ln w="12700">
            <a:solidFill>
              <a:srgbClr val="00923A"/>
            </a:solidFill>
            <a:prstDash val="solid"/>
          </a:ln>
        </p:spPr>
      </p:sp>
      <p:sp>
        <p:nvSpPr>
          <p:cNvPr id="26" name="!!band3"/>
          <p:cNvSpPr/>
          <p:nvPr/>
        </p:nvSpPr>
        <p:spPr>
          <a:xfrm>
            <a:off x="9144000" y="0"/>
            <a:ext cx="3047695" cy="64008"/>
          </a:xfrm>
          <a:prstGeom prst="rect">
            <a:avLst/>
          </a:prstGeom>
          <a:solidFill>
            <a:srgbClr val="FCC600"/>
          </a:solidFill>
          <a:ln w="12700">
            <a:solidFill>
              <a:srgbClr val="FCC600"/>
            </a:solidFill>
            <a:prstDash val="solid"/>
          </a:ln>
        </p:spPr>
      </p:sp>
      <p:sp>
        <p:nvSpPr>
          <p:cNvPr id="27" name="!!railline"/>
          <p:cNvSpPr/>
          <p:nvPr/>
        </p:nvSpPr>
        <p:spPr>
          <a:xfrm>
            <a:off x="11795760" y="1600200"/>
            <a:ext cx="914" cy="3383280"/>
          </a:xfrm>
          <a:prstGeom prst="line">
            <a:avLst/>
          </a:prstGeom>
          <a:noFill/>
          <a:ln w="19050">
            <a:solidFill>
              <a:srgbClr val="D9DFEA"/>
            </a:solidFill>
            <a:prstDash val="solid"/>
          </a:ln>
        </p:spPr>
      </p:sp>
      <p:sp>
        <p:nvSpPr>
          <p:cNvPr id="28" name="!!railprog"/>
          <p:cNvSpPr/>
          <p:nvPr/>
        </p:nvSpPr>
        <p:spPr>
          <a:xfrm>
            <a:off x="11795760" y="1600200"/>
            <a:ext cx="914" cy="3383280"/>
          </a:xfrm>
          <a:prstGeom prst="line">
            <a:avLst/>
          </a:prstGeom>
          <a:noFill/>
          <a:ln w="31750">
            <a:solidFill>
              <a:srgbClr val="00923A"/>
            </a:solidFill>
            <a:prstDash val="solid"/>
          </a:ln>
        </p:spPr>
      </p:sp>
      <p:sp>
        <p:nvSpPr>
          <p:cNvPr id="29"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30"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1" name="!!m2"/>
          <p:cNvSpPr/>
          <p:nvPr/>
        </p:nvSpPr>
        <p:spPr>
          <a:xfrm>
            <a:off x="11603736" y="2084832"/>
            <a:ext cx="384048" cy="384048"/>
          </a:xfrm>
          <a:prstGeom prst="ellipse">
            <a:avLst/>
          </a:prstGeom>
          <a:solidFill>
            <a:srgbClr val="00923A"/>
          </a:solidFill>
          <a:ln w="15875">
            <a:solidFill>
              <a:srgbClr val="00923A"/>
            </a:solidFill>
            <a:prstDash val="solid"/>
          </a:ln>
        </p:spPr>
      </p:sp>
      <p:sp>
        <p:nvSpPr>
          <p:cNvPr id="32"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3" name="!!m3"/>
          <p:cNvSpPr/>
          <p:nvPr/>
        </p:nvSpPr>
        <p:spPr>
          <a:xfrm>
            <a:off x="11603736" y="2761488"/>
            <a:ext cx="384048" cy="384048"/>
          </a:xfrm>
          <a:prstGeom prst="ellipse">
            <a:avLst/>
          </a:prstGeom>
          <a:solidFill>
            <a:srgbClr val="00923A"/>
          </a:solidFill>
          <a:ln w="15875">
            <a:solidFill>
              <a:srgbClr val="00923A"/>
            </a:solidFill>
            <a:prstDash val="solid"/>
          </a:ln>
        </p:spPr>
      </p:sp>
      <p:sp>
        <p:nvSpPr>
          <p:cNvPr id="34" name="!!mt3">
            <a:hlinkClick r:id="rId4"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5" name="!!m4"/>
          <p:cNvSpPr/>
          <p:nvPr/>
        </p:nvSpPr>
        <p:spPr>
          <a:xfrm>
            <a:off x="11603736" y="3438144"/>
            <a:ext cx="384048" cy="384048"/>
          </a:xfrm>
          <a:prstGeom prst="ellipse">
            <a:avLst/>
          </a:prstGeom>
          <a:solidFill>
            <a:srgbClr val="00923A"/>
          </a:solidFill>
          <a:ln w="15875">
            <a:solidFill>
              <a:srgbClr val="00923A"/>
            </a:solidFill>
            <a:prstDash val="solid"/>
          </a:ln>
        </p:spPr>
      </p:sp>
      <p:sp>
        <p:nvSpPr>
          <p:cNvPr id="36" name="!!mt4">
            <a:hlinkClick r:id="rId5"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7" name="!!m5"/>
          <p:cNvSpPr/>
          <p:nvPr/>
        </p:nvSpPr>
        <p:spPr>
          <a:xfrm>
            <a:off x="11603736" y="4114800"/>
            <a:ext cx="384048" cy="384048"/>
          </a:xfrm>
          <a:prstGeom prst="ellipse">
            <a:avLst/>
          </a:prstGeom>
          <a:solidFill>
            <a:srgbClr val="00923A"/>
          </a:solidFill>
          <a:ln w="15875">
            <a:solidFill>
              <a:srgbClr val="00923A"/>
            </a:solidFill>
            <a:prstDash val="solid"/>
          </a:ln>
        </p:spPr>
      </p:sp>
      <p:sp>
        <p:nvSpPr>
          <p:cNvPr id="38" name="!!mt5">
            <a:hlinkClick r:id="rId6"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9" name="!!m6"/>
          <p:cNvSpPr/>
          <p:nvPr/>
        </p:nvSpPr>
        <p:spPr>
          <a:xfrm>
            <a:off x="11603736" y="4791456"/>
            <a:ext cx="384048" cy="384048"/>
          </a:xfrm>
          <a:prstGeom prst="ellipse">
            <a:avLst/>
          </a:prstGeom>
          <a:solidFill>
            <a:srgbClr val="1B3F9E"/>
          </a:solidFill>
          <a:ln w="15875">
            <a:solidFill>
              <a:srgbClr val="1B3F9E"/>
            </a:solidFill>
            <a:prstDash val="solid"/>
          </a:ln>
        </p:spPr>
      </p:sp>
      <p:sp>
        <p:nvSpPr>
          <p:cNvPr id="40" name="!!mt6"/>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1"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Recommandations</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22" presetClass="entr" presetSubtype="8" fill="hold" grpId="0" nodeType="withEffect">
                                  <p:stCondLst>
                                    <p:cond delay="20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
                                        <p:tgtEl>
                                          <p:spTgt spid="5"/>
                                        </p:tgtEl>
                                      </p:cBhvr>
                                    </p:animEffect>
                                  </p:childTnLst>
                                </p:cTn>
                              </p:par>
                              <p:par>
                                <p:cTn id="14" presetID="10" presetClass="entr" presetSubtype="0" fill="hold" grpId="0" nodeType="withEffect">
                                  <p:stCondLst>
                                    <p:cond delay="3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grpId="0" nodeType="withEffect">
                                  <p:stCondLst>
                                    <p:cond delay="7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22" presetClass="entr" presetSubtype="4" fill="hold" grpId="0" nodeType="withEffect">
                                  <p:stCondLst>
                                    <p:cond delay="70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900"/>
                                        <p:tgtEl>
                                          <p:spTgt spid="8"/>
                                        </p:tgtEl>
                                      </p:cBhvr>
                                    </p:animEffect>
                                  </p:childTnLst>
                                </p:cTn>
                              </p:par>
                              <p:par>
                                <p:cTn id="23" presetID="53" presetClass="entr" presetSubtype="16" fill="hold" grpId="0" nodeType="withEffect">
                                  <p:stCondLst>
                                    <p:cond delay="750"/>
                                  </p:stCondLst>
                                  <p:childTnLst>
                                    <p:set>
                                      <p:cBhvr>
                                        <p:cTn id="24" dur="1" fill="hold">
                                          <p:stCondLst>
                                            <p:cond delay="0"/>
                                          </p:stCondLst>
                                        </p:cTn>
                                        <p:tgtEl>
                                          <p:spTgt spid="9"/>
                                        </p:tgtEl>
                                        <p:attrNameLst>
                                          <p:attrName>style.visibility</p:attrName>
                                        </p:attrNameLst>
                                      </p:cBhvr>
                                      <p:to>
                                        <p:strVal val="visible"/>
                                      </p:to>
                                    </p:set>
                                    <p:anim calcmode="lin" valueType="num">
                                      <p:cBhvr>
                                        <p:cTn id="25" dur="600" fill="hold"/>
                                        <p:tgtEl>
                                          <p:spTgt spid="9"/>
                                        </p:tgtEl>
                                        <p:attrNameLst>
                                          <p:attrName>ppt_w</p:attrName>
                                        </p:attrNameLst>
                                      </p:cBhvr>
                                      <p:tavLst>
                                        <p:tav tm="0">
                                          <p:val>
                                            <p:fltVal val="0"/>
                                          </p:val>
                                        </p:tav>
                                        <p:tav tm="100000">
                                          <p:val>
                                            <p:strVal val="#ppt_w"/>
                                          </p:val>
                                        </p:tav>
                                      </p:tavLst>
                                    </p:anim>
                                    <p:anim calcmode="lin" valueType="num">
                                      <p:cBhvr>
                                        <p:cTn id="26" dur="600" fill="hold"/>
                                        <p:tgtEl>
                                          <p:spTgt spid="9"/>
                                        </p:tgtEl>
                                        <p:attrNameLst>
                                          <p:attrName>ppt_h</p:attrName>
                                        </p:attrNameLst>
                                      </p:cBhvr>
                                      <p:tavLst>
                                        <p:tav tm="0">
                                          <p:val>
                                            <p:fltVal val="0"/>
                                          </p:val>
                                        </p:tav>
                                        <p:tav tm="100000">
                                          <p:val>
                                            <p:strVal val="#ppt_h"/>
                                          </p:val>
                                        </p:tav>
                                      </p:tavLst>
                                    </p:anim>
                                    <p:animEffect transition="in" filter="fade">
                                      <p:cBhvr>
                                        <p:cTn id="27" dur="600"/>
                                        <p:tgtEl>
                                          <p:spTgt spid="9"/>
                                        </p:tgtEl>
                                      </p:cBhvr>
                                    </p:animEffect>
                                  </p:childTnLst>
                                </p:cTn>
                              </p:par>
                              <p:par>
                                <p:cTn id="28" presetID="10" presetClass="entr" presetSubtype="0" fill="hold" grpId="0" nodeType="withEffect">
                                  <p:stCondLst>
                                    <p:cond delay="7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childTnLst>
                                </p:cTn>
                              </p:par>
                              <p:par>
                                <p:cTn id="31" presetID="10" presetClass="entr" presetSubtype="0" fill="hold" grpId="0" nodeType="withEffect">
                                  <p:stCondLst>
                                    <p:cond delay="10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600"/>
                                        <p:tgtEl>
                                          <p:spTgt spid="11"/>
                                        </p:tgtEl>
                                      </p:cBhvr>
                                    </p:animEffect>
                                  </p:childTnLst>
                                </p:cTn>
                              </p:par>
                              <p:par>
                                <p:cTn id="34" presetID="22" presetClass="entr" presetSubtype="4" fill="hold" grpId="0" nodeType="withEffect">
                                  <p:stCondLst>
                                    <p:cond delay="1000"/>
                                  </p:stCondLst>
                                  <p:childTnLst>
                                    <p:set>
                                      <p:cBhvr>
                                        <p:cTn id="35" dur="1" fill="hold">
                                          <p:stCondLst>
                                            <p:cond delay="0"/>
                                          </p:stCondLst>
                                        </p:cTn>
                                        <p:tgtEl>
                                          <p:spTgt spid="12"/>
                                        </p:tgtEl>
                                        <p:attrNameLst>
                                          <p:attrName>style.visibility</p:attrName>
                                        </p:attrNameLst>
                                      </p:cBhvr>
                                      <p:to>
                                        <p:strVal val="visible"/>
                                      </p:to>
                                    </p:set>
                                    <p:animEffect transition="in" filter="wipe(up)">
                                      <p:cBhvr>
                                        <p:cTn id="36" dur="900"/>
                                        <p:tgtEl>
                                          <p:spTgt spid="12"/>
                                        </p:tgtEl>
                                      </p:cBhvr>
                                    </p:animEffect>
                                  </p:childTnLst>
                                </p:cTn>
                              </p:par>
                              <p:par>
                                <p:cTn id="37" presetID="53" presetClass="entr" presetSubtype="16" fill="hold" grpId="0" nodeType="withEffect">
                                  <p:stCondLst>
                                    <p:cond delay="1050"/>
                                  </p:stCondLst>
                                  <p:childTnLst>
                                    <p:set>
                                      <p:cBhvr>
                                        <p:cTn id="38" dur="1" fill="hold">
                                          <p:stCondLst>
                                            <p:cond delay="0"/>
                                          </p:stCondLst>
                                        </p:cTn>
                                        <p:tgtEl>
                                          <p:spTgt spid="13"/>
                                        </p:tgtEl>
                                        <p:attrNameLst>
                                          <p:attrName>style.visibility</p:attrName>
                                        </p:attrNameLst>
                                      </p:cBhvr>
                                      <p:to>
                                        <p:strVal val="visible"/>
                                      </p:to>
                                    </p:set>
                                    <p:anim calcmode="lin" valueType="num">
                                      <p:cBhvr>
                                        <p:cTn id="39" dur="600" fill="hold"/>
                                        <p:tgtEl>
                                          <p:spTgt spid="13"/>
                                        </p:tgtEl>
                                        <p:attrNameLst>
                                          <p:attrName>ppt_w</p:attrName>
                                        </p:attrNameLst>
                                      </p:cBhvr>
                                      <p:tavLst>
                                        <p:tav tm="0">
                                          <p:val>
                                            <p:fltVal val="0"/>
                                          </p:val>
                                        </p:tav>
                                        <p:tav tm="100000">
                                          <p:val>
                                            <p:strVal val="#ppt_w"/>
                                          </p:val>
                                        </p:tav>
                                      </p:tavLst>
                                    </p:anim>
                                    <p:anim calcmode="lin" valueType="num">
                                      <p:cBhvr>
                                        <p:cTn id="40" dur="600" fill="hold"/>
                                        <p:tgtEl>
                                          <p:spTgt spid="13"/>
                                        </p:tgtEl>
                                        <p:attrNameLst>
                                          <p:attrName>ppt_h</p:attrName>
                                        </p:attrNameLst>
                                      </p:cBhvr>
                                      <p:tavLst>
                                        <p:tav tm="0">
                                          <p:val>
                                            <p:fltVal val="0"/>
                                          </p:val>
                                        </p:tav>
                                        <p:tav tm="100000">
                                          <p:val>
                                            <p:strVal val="#ppt_h"/>
                                          </p:val>
                                        </p:tav>
                                      </p:tavLst>
                                    </p:anim>
                                    <p:animEffect transition="in" filter="fade">
                                      <p:cBhvr>
                                        <p:cTn id="41" dur="600"/>
                                        <p:tgtEl>
                                          <p:spTgt spid="13"/>
                                        </p:tgtEl>
                                      </p:cBhvr>
                                    </p:animEffect>
                                  </p:childTnLst>
                                </p:cTn>
                              </p:par>
                              <p:par>
                                <p:cTn id="42" presetID="10" presetClass="entr" presetSubtype="0" fill="hold" grpId="0" nodeType="withEffect">
                                  <p:stCondLst>
                                    <p:cond delay="105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600"/>
                                        <p:tgtEl>
                                          <p:spTgt spid="14"/>
                                        </p:tgtEl>
                                      </p:cBhvr>
                                    </p:animEffect>
                                  </p:childTnLst>
                                </p:cTn>
                              </p:par>
                              <p:par>
                                <p:cTn id="45" presetID="10" presetClass="entr" presetSubtype="0" fill="hold" grpId="0" nodeType="withEffect">
                                  <p:stCondLst>
                                    <p:cond delay="130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600"/>
                                        <p:tgtEl>
                                          <p:spTgt spid="15"/>
                                        </p:tgtEl>
                                      </p:cBhvr>
                                    </p:animEffect>
                                  </p:childTnLst>
                                </p:cTn>
                              </p:par>
                              <p:par>
                                <p:cTn id="48" presetID="22" presetClass="entr" presetSubtype="4" fill="hold" grpId="0" nodeType="withEffect">
                                  <p:stCondLst>
                                    <p:cond delay="1300"/>
                                  </p:stCondLst>
                                  <p:childTnLst>
                                    <p:set>
                                      <p:cBhvr>
                                        <p:cTn id="49" dur="1" fill="hold">
                                          <p:stCondLst>
                                            <p:cond delay="0"/>
                                          </p:stCondLst>
                                        </p:cTn>
                                        <p:tgtEl>
                                          <p:spTgt spid="16"/>
                                        </p:tgtEl>
                                        <p:attrNameLst>
                                          <p:attrName>style.visibility</p:attrName>
                                        </p:attrNameLst>
                                      </p:cBhvr>
                                      <p:to>
                                        <p:strVal val="visible"/>
                                      </p:to>
                                    </p:set>
                                    <p:animEffect transition="in" filter="wipe(up)">
                                      <p:cBhvr>
                                        <p:cTn id="50" dur="900"/>
                                        <p:tgtEl>
                                          <p:spTgt spid="16"/>
                                        </p:tgtEl>
                                      </p:cBhvr>
                                    </p:animEffect>
                                  </p:childTnLst>
                                </p:cTn>
                              </p:par>
                              <p:par>
                                <p:cTn id="51" presetID="53" presetClass="entr" presetSubtype="16" fill="hold" grpId="0" nodeType="withEffect">
                                  <p:stCondLst>
                                    <p:cond delay="1350"/>
                                  </p:stCondLst>
                                  <p:childTnLst>
                                    <p:set>
                                      <p:cBhvr>
                                        <p:cTn id="52" dur="1" fill="hold">
                                          <p:stCondLst>
                                            <p:cond delay="0"/>
                                          </p:stCondLst>
                                        </p:cTn>
                                        <p:tgtEl>
                                          <p:spTgt spid="17"/>
                                        </p:tgtEl>
                                        <p:attrNameLst>
                                          <p:attrName>style.visibility</p:attrName>
                                        </p:attrNameLst>
                                      </p:cBhvr>
                                      <p:to>
                                        <p:strVal val="visible"/>
                                      </p:to>
                                    </p:set>
                                    <p:anim calcmode="lin" valueType="num">
                                      <p:cBhvr>
                                        <p:cTn id="53" dur="600" fill="hold"/>
                                        <p:tgtEl>
                                          <p:spTgt spid="17"/>
                                        </p:tgtEl>
                                        <p:attrNameLst>
                                          <p:attrName>ppt_w</p:attrName>
                                        </p:attrNameLst>
                                      </p:cBhvr>
                                      <p:tavLst>
                                        <p:tav tm="0">
                                          <p:val>
                                            <p:fltVal val="0"/>
                                          </p:val>
                                        </p:tav>
                                        <p:tav tm="100000">
                                          <p:val>
                                            <p:strVal val="#ppt_w"/>
                                          </p:val>
                                        </p:tav>
                                      </p:tavLst>
                                    </p:anim>
                                    <p:anim calcmode="lin" valueType="num">
                                      <p:cBhvr>
                                        <p:cTn id="54" dur="600" fill="hold"/>
                                        <p:tgtEl>
                                          <p:spTgt spid="17"/>
                                        </p:tgtEl>
                                        <p:attrNameLst>
                                          <p:attrName>ppt_h</p:attrName>
                                        </p:attrNameLst>
                                      </p:cBhvr>
                                      <p:tavLst>
                                        <p:tav tm="0">
                                          <p:val>
                                            <p:fltVal val="0"/>
                                          </p:val>
                                        </p:tav>
                                        <p:tav tm="100000">
                                          <p:val>
                                            <p:strVal val="#ppt_h"/>
                                          </p:val>
                                        </p:tav>
                                      </p:tavLst>
                                    </p:anim>
                                    <p:animEffect transition="in" filter="fade">
                                      <p:cBhvr>
                                        <p:cTn id="55" dur="600"/>
                                        <p:tgtEl>
                                          <p:spTgt spid="17"/>
                                        </p:tgtEl>
                                      </p:cBhvr>
                                    </p:animEffect>
                                  </p:childTnLst>
                                </p:cTn>
                              </p:par>
                              <p:par>
                                <p:cTn id="56" presetID="10" presetClass="entr" presetSubtype="0" fill="hold" grpId="0" nodeType="withEffect">
                                  <p:stCondLst>
                                    <p:cond delay="135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600"/>
                                        <p:tgtEl>
                                          <p:spTgt spid="18"/>
                                        </p:tgtEl>
                                      </p:cBhvr>
                                    </p:animEffect>
                                  </p:childTnLst>
                                </p:cTn>
                              </p:par>
                              <p:par>
                                <p:cTn id="59" presetID="22" presetClass="entr" presetSubtype="8" fill="hold" grpId="0" nodeType="withEffect">
                                  <p:stCondLst>
                                    <p:cond delay="1800"/>
                                  </p:stCondLst>
                                  <p:childTnLst>
                                    <p:set>
                                      <p:cBhvr>
                                        <p:cTn id="60" dur="1" fill="hold">
                                          <p:stCondLst>
                                            <p:cond delay="0"/>
                                          </p:stCondLst>
                                        </p:cTn>
                                        <p:tgtEl>
                                          <p:spTgt spid="19"/>
                                        </p:tgtEl>
                                        <p:attrNameLst>
                                          <p:attrName>style.visibility</p:attrName>
                                        </p:attrNameLst>
                                      </p:cBhvr>
                                      <p:to>
                                        <p:strVal val="visible"/>
                                      </p:to>
                                    </p:set>
                                    <p:animEffect transition="in" filter="wipe(left)">
                                      <p:cBhvr>
                                        <p:cTn id="61" dur="600"/>
                                        <p:tgtEl>
                                          <p:spTgt spid="19"/>
                                        </p:tgtEl>
                                      </p:cBhvr>
                                    </p:animEffect>
                                  </p:childTnLst>
                                </p:cTn>
                              </p:par>
                              <p:par>
                                <p:cTn id="62" presetID="10" presetClass="entr" presetSubtype="0" fill="hold" grpId="0" nodeType="withEffect">
                                  <p:stCondLst>
                                    <p:cond delay="185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9" grpId="0" animBg="1"/>
      <p:bldP spid="10" grpId="0" animBg="1"/>
      <p:bldP spid="13" grpId="0" animBg="1"/>
      <p:bldP spid="14" grpId="0" animBg="1"/>
      <p:bldP spid="17" grpId="0" animBg="1"/>
      <p:bldP spid="18" grpId="0" animBg="1"/>
      <p:bldP spid="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6 — Recommandations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Commencer simple, numériser progressivement</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tl"/>
          <p:cNvSpPr/>
          <p:nvPr/>
        </p:nvSpPr>
        <p:spPr>
          <a:xfrm>
            <a:off x="1006846" y="2286000"/>
            <a:ext cx="7990256" cy="54864"/>
          </a:xfrm>
          <a:prstGeom prst="rect">
            <a:avLst/>
          </a:prstGeom>
          <a:solidFill>
            <a:srgbClr val="E3E8F2"/>
          </a:solidFill>
          <a:ln w="12700">
            <a:solidFill>
              <a:srgbClr val="E3E8F2"/>
            </a:solidFill>
            <a:prstDash val="solid"/>
          </a:ln>
        </p:spPr>
      </p:sp>
      <p:sp>
        <p:nvSpPr>
          <p:cNvPr id="6" name="tlseg0"/>
          <p:cNvSpPr/>
          <p:nvPr/>
        </p:nvSpPr>
        <p:spPr>
          <a:xfrm>
            <a:off x="1006846" y="2286000"/>
            <a:ext cx="2663419" cy="54864"/>
          </a:xfrm>
          <a:prstGeom prst="rect">
            <a:avLst/>
          </a:prstGeom>
          <a:solidFill>
            <a:srgbClr val="00923A"/>
          </a:solidFill>
          <a:ln w="12700">
            <a:solidFill>
              <a:srgbClr val="00923A"/>
            </a:solidFill>
            <a:prstDash val="solid"/>
          </a:ln>
        </p:spPr>
      </p:sp>
      <p:sp>
        <p:nvSpPr>
          <p:cNvPr id="7" name="tlseg1"/>
          <p:cNvSpPr/>
          <p:nvPr/>
        </p:nvSpPr>
        <p:spPr>
          <a:xfrm>
            <a:off x="3670264" y="2286000"/>
            <a:ext cx="2663419" cy="54864"/>
          </a:xfrm>
          <a:prstGeom prst="rect">
            <a:avLst/>
          </a:prstGeom>
          <a:solidFill>
            <a:srgbClr val="9A6A00"/>
          </a:solidFill>
          <a:ln w="12700">
            <a:solidFill>
              <a:srgbClr val="9A6A00"/>
            </a:solidFill>
            <a:prstDash val="solid"/>
          </a:ln>
        </p:spPr>
      </p:sp>
      <p:sp>
        <p:nvSpPr>
          <p:cNvPr id="8" name="tlseg2"/>
          <p:cNvSpPr/>
          <p:nvPr/>
        </p:nvSpPr>
        <p:spPr>
          <a:xfrm>
            <a:off x="6333683" y="2286000"/>
            <a:ext cx="2663419" cy="54864"/>
          </a:xfrm>
          <a:prstGeom prst="rect">
            <a:avLst/>
          </a:prstGeom>
          <a:solidFill>
            <a:srgbClr val="1B3F9E"/>
          </a:solidFill>
          <a:ln w="12700">
            <a:solidFill>
              <a:srgbClr val="1B3F9E"/>
            </a:solidFill>
            <a:prstDash val="solid"/>
          </a:ln>
        </p:spPr>
      </p:sp>
      <p:sp>
        <p:nvSpPr>
          <p:cNvPr id="9" name="pd0"/>
          <p:cNvSpPr/>
          <p:nvPr/>
        </p:nvSpPr>
        <p:spPr>
          <a:xfrm>
            <a:off x="814730" y="2084832"/>
            <a:ext cx="436626" cy="457200"/>
          </a:xfrm>
          <a:prstGeom prst="ellipse">
            <a:avLst/>
          </a:prstGeom>
          <a:solidFill>
            <a:srgbClr val="1B3F9E"/>
          </a:solidFill>
          <a:ln w="38100">
            <a:solidFill>
              <a:srgbClr val="FFFFFF"/>
            </a:solidFill>
            <a:prstDash val="solid"/>
          </a:ln>
        </p:spPr>
      </p:sp>
      <p:sp>
        <p:nvSpPr>
          <p:cNvPr id="10" name="pdn0"/>
          <p:cNvSpPr txBox="1"/>
          <p:nvPr/>
        </p:nvSpPr>
        <p:spPr>
          <a:xfrm>
            <a:off x="814730" y="2084832"/>
            <a:ext cx="436626" cy="457200"/>
          </a:xfrm>
          <a:prstGeom prst="rect">
            <a:avLst/>
          </a:prstGeom>
          <a:noFill/>
          <a:ln/>
        </p:spPr>
        <p:txBody>
          <a:bodyPr wrap="square" lIns="0" tIns="0" rIns="0" bIns="0" rtlCol="0" anchor="ctr"/>
          <a:lstStyle/>
          <a:p>
            <a:pPr algn="ctr" indent="0" marL="0">
              <a:buNone/>
            </a:pPr>
            <a:r>
              <a:rPr lang="fr-FR" altLang="en-US" sz="1400" b="1" dirty="0">
                <a:solidFill>
                  <a:srgbClr val="FFFFFF"/>
                </a:solidFill>
                <a:latin typeface="Calibri" pitchFamily="34" charset="0"/>
                <a:ea typeface="Calibri" pitchFamily="34" charset="-122"/>
                <a:cs typeface="Calibri" pitchFamily="34" charset="-120"/>
              </a:rPr>
              <a:t>1</a:t>
            </a:r>
            <a:endParaRPr lang="fr-FR" sz="1400" dirty="0"/>
          </a:p>
        </p:txBody>
      </p:sp>
      <p:sp>
        <p:nvSpPr>
          <p:cNvPr id="11" name="pc0"/>
          <p:cNvSpPr/>
          <p:nvPr/>
        </p:nvSpPr>
        <p:spPr>
          <a:xfrm>
            <a:off x="683743" y="2834640"/>
            <a:ext cx="2445106" cy="3154680"/>
          </a:xfrm>
          <a:prstGeom prst="rect">
            <a:avLst/>
          </a:prstGeom>
          <a:solidFill>
            <a:srgbClr val="FFFFFF"/>
          </a:solidFill>
          <a:ln w="9525">
            <a:solidFill>
              <a:srgbClr val="D9DFEA"/>
            </a:solidFill>
            <a:prstDash val="solid"/>
          </a:ln>
        </p:spPr>
      </p:sp>
      <p:sp>
        <p:nvSpPr>
          <p:cNvPr id="12" name="pc0b"/>
          <p:cNvSpPr/>
          <p:nvPr/>
        </p:nvSpPr>
        <p:spPr>
          <a:xfrm>
            <a:off x="683743" y="2834640"/>
            <a:ext cx="52395" cy="3154680"/>
          </a:xfrm>
          <a:prstGeom prst="rect">
            <a:avLst/>
          </a:prstGeom>
          <a:solidFill>
            <a:srgbClr val="1B3F9E"/>
          </a:solidFill>
          <a:ln w="12700">
            <a:solidFill>
              <a:srgbClr val="1B3F9E"/>
            </a:solidFill>
            <a:prstDash val="solid"/>
          </a:ln>
        </p:spPr>
      </p:sp>
      <p:sp>
        <p:nvSpPr>
          <p:cNvPr id="13" name="pct0"/>
          <p:cNvSpPr txBox="1"/>
          <p:nvPr/>
        </p:nvSpPr>
        <p:spPr>
          <a:xfrm>
            <a:off x="945718" y="3017520"/>
            <a:ext cx="2052142" cy="777240"/>
          </a:xfrm>
          <a:prstGeom prst="rect">
            <a:avLst/>
          </a:prstGeom>
          <a:noFill/>
          <a:ln/>
        </p:spPr>
        <p:txBody>
          <a:bodyPr wrap="square" lIns="0" tIns="0" rIns="0" bIns="0" rtlCol="0" anchor="t"/>
          <a:lstStyle/>
          <a:p>
            <a:pPr indent="0" marL="0">
              <a:buNone/>
            </a:pPr>
            <a:r>
              <a:rPr lang="fr-FR" altLang="en-US" sz="1300" b="1" dirty="0">
                <a:solidFill>
                  <a:srgbClr val="1B3F9E"/>
                </a:solidFill>
                <a:latin typeface="Calibri" pitchFamily="34" charset="0"/>
                <a:ea typeface="Calibri" pitchFamily="34" charset="-122"/>
                <a:cs typeface="Calibri" pitchFamily="34" charset="-120"/>
              </a:rPr>
              <a:t>0 – 3 mois</a:t>
            </a:r>
            <a:endParaRPr lang="fr-FR" sz="1300" dirty="0"/>
          </a:p>
          <a:p>
            <a:pPr indent="0" marL="0">
              <a:buNone/>
            </a:pPr>
            <a:r>
              <a:rPr lang="fr-FR" altLang="en-US" sz="2000" b="1" dirty="0">
                <a:solidFill>
                  <a:srgbClr val="0E1C46"/>
                </a:solidFill>
                <a:latin typeface="Calibri" pitchFamily="34" charset="0"/>
                <a:ea typeface="Calibri" pitchFamily="34" charset="-122"/>
                <a:cs typeface="Calibri" pitchFamily="34" charset="-120"/>
              </a:rPr>
              <a:t>Démarrer simple</a:t>
            </a:r>
            <a:endParaRPr lang="fr-FR" sz="1300" dirty="0"/>
          </a:p>
        </p:txBody>
      </p:sp>
      <p:sp>
        <p:nvSpPr>
          <p:cNvPr id="14" name="pci0"/>
          <p:cNvSpPr txBox="1"/>
          <p:nvPr/>
        </p:nvSpPr>
        <p:spPr>
          <a:xfrm>
            <a:off x="945718" y="3931920"/>
            <a:ext cx="2052142" cy="1828800"/>
          </a:xfrm>
          <a:prstGeom prst="rect">
            <a:avLst/>
          </a:prstGeom>
          <a:noFill/>
          <a:ln/>
        </p:spPr>
        <p:txBody>
          <a:bodyPr wrap="square" lIns="0" tIns="0" rIns="0" bIns="0" rtlCol="0" anchor="t"/>
          <a:lstStyle/>
          <a:p>
            <a:pPr marL="177800" indent="-177800">
              <a:spcAft>
                <a:spcPts val="600"/>
              </a:spcAft>
              <a:buSzPct val="100000"/>
              <a:buChar char="•"/>
            </a:pPr>
            <a:r>
              <a:rPr lang="fr-FR" altLang="en-US" sz="1300" dirty="0">
                <a:solidFill>
                  <a:srgbClr val="56617C"/>
                </a:solidFill>
                <a:latin typeface="Calibri" pitchFamily="34" charset="0"/>
                <a:ea typeface="Calibri" pitchFamily="34" charset="-122"/>
                <a:cs typeface="Calibri" pitchFamily="34" charset="-120"/>
              </a:rPr>
              <a:t>Registre partagé, numéro unique</a:t>
            </a:r>
            <a:endParaRPr lang="fr-FR" sz="1300" dirty="0"/>
          </a:p>
          <a:p>
            <a:pPr marL="177800" indent="-177800">
              <a:spcAft>
                <a:spcPts val="600"/>
              </a:spcAft>
              <a:buSzPct val="100000"/>
              <a:buChar char="•"/>
            </a:pPr>
            <a:r>
              <a:rPr lang="fr-FR" altLang="en-US" sz="1300" dirty="0">
                <a:solidFill>
                  <a:srgbClr val="56617C"/>
                </a:solidFill>
                <a:latin typeface="Calibri" pitchFamily="34" charset="0"/>
                <a:ea typeface="Calibri" pitchFamily="34" charset="-122"/>
                <a:cs typeface="Calibri" pitchFamily="34" charset="-120"/>
              </a:rPr>
              <a:t>Adresses par direction</a:t>
            </a:r>
            <a:endParaRPr lang="fr-FR" sz="1300" dirty="0"/>
          </a:p>
          <a:p>
            <a:pPr marL="177800" indent="-177800">
              <a:spcAft>
                <a:spcPts val="600"/>
              </a:spcAft>
              <a:buSzPct val="100000"/>
              <a:buChar char="•"/>
            </a:pPr>
            <a:r>
              <a:rPr lang="fr-FR" altLang="en-US" sz="1300" dirty="0">
                <a:solidFill>
                  <a:srgbClr val="56617C"/>
                </a:solidFill>
                <a:latin typeface="Calibri" pitchFamily="34" charset="0"/>
                <a:ea typeface="Calibri" pitchFamily="34" charset="-122"/>
                <a:cs typeface="Calibri" pitchFamily="34" charset="-120"/>
              </a:rPr>
              <a:t>Agent de liaison</a:t>
            </a:r>
            <a:endParaRPr lang="fr-FR" sz="1300" dirty="0"/>
          </a:p>
        </p:txBody>
      </p:sp>
      <p:sp>
        <p:nvSpPr>
          <p:cNvPr id="15" name="pd1"/>
          <p:cNvSpPr/>
          <p:nvPr/>
        </p:nvSpPr>
        <p:spPr>
          <a:xfrm>
            <a:off x="3478149" y="2084832"/>
            <a:ext cx="436626" cy="457200"/>
          </a:xfrm>
          <a:prstGeom prst="ellipse">
            <a:avLst/>
          </a:prstGeom>
          <a:solidFill>
            <a:srgbClr val="00923A"/>
          </a:solidFill>
          <a:ln w="38100">
            <a:solidFill>
              <a:srgbClr val="FFFFFF"/>
            </a:solidFill>
            <a:prstDash val="solid"/>
          </a:ln>
        </p:spPr>
      </p:sp>
      <p:sp>
        <p:nvSpPr>
          <p:cNvPr id="16" name="pdn1"/>
          <p:cNvSpPr txBox="1"/>
          <p:nvPr/>
        </p:nvSpPr>
        <p:spPr>
          <a:xfrm>
            <a:off x="3478149" y="2084832"/>
            <a:ext cx="436626" cy="457200"/>
          </a:xfrm>
          <a:prstGeom prst="rect">
            <a:avLst/>
          </a:prstGeom>
          <a:noFill/>
          <a:ln/>
        </p:spPr>
        <p:txBody>
          <a:bodyPr wrap="square" lIns="0" tIns="0" rIns="0" bIns="0" rtlCol="0" anchor="ctr"/>
          <a:lstStyle/>
          <a:p>
            <a:pPr algn="ctr" indent="0" marL="0">
              <a:buNone/>
            </a:pPr>
            <a:r>
              <a:rPr lang="fr-FR" altLang="en-US" sz="1400" b="1" dirty="0">
                <a:solidFill>
                  <a:srgbClr val="FFFFFF"/>
                </a:solidFill>
                <a:latin typeface="Calibri" pitchFamily="34" charset="0"/>
                <a:ea typeface="Calibri" pitchFamily="34" charset="-122"/>
                <a:cs typeface="Calibri" pitchFamily="34" charset="-120"/>
              </a:rPr>
              <a:t>2</a:t>
            </a:r>
            <a:endParaRPr lang="fr-FR" sz="1400" dirty="0"/>
          </a:p>
        </p:txBody>
      </p:sp>
      <p:sp>
        <p:nvSpPr>
          <p:cNvPr id="17" name="pc1"/>
          <p:cNvSpPr/>
          <p:nvPr/>
        </p:nvSpPr>
        <p:spPr>
          <a:xfrm>
            <a:off x="3347161" y="2834640"/>
            <a:ext cx="2445106" cy="3154680"/>
          </a:xfrm>
          <a:prstGeom prst="rect">
            <a:avLst/>
          </a:prstGeom>
          <a:solidFill>
            <a:srgbClr val="FFFFFF"/>
          </a:solidFill>
          <a:ln w="9525">
            <a:solidFill>
              <a:srgbClr val="D9DFEA"/>
            </a:solidFill>
            <a:prstDash val="solid"/>
          </a:ln>
        </p:spPr>
      </p:sp>
      <p:sp>
        <p:nvSpPr>
          <p:cNvPr id="18" name="pc1b"/>
          <p:cNvSpPr/>
          <p:nvPr/>
        </p:nvSpPr>
        <p:spPr>
          <a:xfrm>
            <a:off x="3347161" y="2834640"/>
            <a:ext cx="52395" cy="3154680"/>
          </a:xfrm>
          <a:prstGeom prst="rect">
            <a:avLst/>
          </a:prstGeom>
          <a:solidFill>
            <a:srgbClr val="00923A"/>
          </a:solidFill>
          <a:ln w="12700">
            <a:solidFill>
              <a:srgbClr val="00923A"/>
            </a:solidFill>
            <a:prstDash val="solid"/>
          </a:ln>
        </p:spPr>
      </p:sp>
      <p:sp>
        <p:nvSpPr>
          <p:cNvPr id="19" name="pct1"/>
          <p:cNvSpPr txBox="1"/>
          <p:nvPr/>
        </p:nvSpPr>
        <p:spPr>
          <a:xfrm>
            <a:off x="3609137" y="3017520"/>
            <a:ext cx="2052142" cy="777240"/>
          </a:xfrm>
          <a:prstGeom prst="rect">
            <a:avLst/>
          </a:prstGeom>
          <a:noFill/>
          <a:ln/>
        </p:spPr>
        <p:txBody>
          <a:bodyPr wrap="square" lIns="0" tIns="0" rIns="0" bIns="0" rtlCol="0" anchor="t"/>
          <a:lstStyle/>
          <a:p>
            <a:pPr indent="0" marL="0">
              <a:buNone/>
            </a:pPr>
            <a:r>
              <a:rPr lang="fr-FR" altLang="en-US" sz="1300" b="1" dirty="0">
                <a:solidFill>
                  <a:srgbClr val="00923A"/>
                </a:solidFill>
                <a:latin typeface="Calibri" pitchFamily="34" charset="0"/>
                <a:ea typeface="Calibri" pitchFamily="34" charset="-122"/>
                <a:cs typeface="Calibri" pitchFamily="34" charset="-120"/>
              </a:rPr>
              <a:t>3 – 6 mois</a:t>
            </a:r>
            <a:endParaRPr lang="fr-FR" sz="1300" dirty="0"/>
          </a:p>
          <a:p>
            <a:pPr indent="0" marL="0">
              <a:buNone/>
            </a:pPr>
            <a:r>
              <a:rPr lang="fr-FR" altLang="en-US" sz="2000" b="1" dirty="0">
                <a:solidFill>
                  <a:srgbClr val="0E1C46"/>
                </a:solidFill>
                <a:latin typeface="Calibri" pitchFamily="34" charset="0"/>
                <a:ea typeface="Calibri" pitchFamily="34" charset="-122"/>
                <a:cs typeface="Calibri" pitchFamily="34" charset="-120"/>
              </a:rPr>
              <a:t>Organiser</a:t>
            </a:r>
            <a:endParaRPr lang="fr-FR" sz="1300" dirty="0"/>
          </a:p>
        </p:txBody>
      </p:sp>
      <p:sp>
        <p:nvSpPr>
          <p:cNvPr id="20" name="pci1"/>
          <p:cNvSpPr txBox="1"/>
          <p:nvPr/>
        </p:nvSpPr>
        <p:spPr>
          <a:xfrm>
            <a:off x="3609137" y="3931920"/>
            <a:ext cx="2052142" cy="1828800"/>
          </a:xfrm>
          <a:prstGeom prst="rect">
            <a:avLst/>
          </a:prstGeom>
          <a:noFill/>
          <a:ln/>
        </p:spPr>
        <p:txBody>
          <a:bodyPr wrap="square" lIns="0" tIns="0" rIns="0" bIns="0" rtlCol="0" anchor="t"/>
          <a:lstStyle/>
          <a:p>
            <a:pPr marL="177800" indent="-177800">
              <a:spcAft>
                <a:spcPts val="600"/>
              </a:spcAft>
              <a:buSzPct val="100000"/>
              <a:buChar char="•"/>
            </a:pPr>
            <a:r>
              <a:rPr lang="fr-FR" altLang="en-US" sz="1300" dirty="0">
                <a:solidFill>
                  <a:srgbClr val="56617C"/>
                </a:solidFill>
                <a:latin typeface="Calibri" pitchFamily="34" charset="0"/>
                <a:ea typeface="Calibri" pitchFamily="34" charset="-122"/>
                <a:cs typeface="Calibri" pitchFamily="34" charset="-120"/>
              </a:rPr>
              <a:t>Formation des agents</a:t>
            </a:r>
            <a:endParaRPr lang="fr-FR" sz="1300" dirty="0"/>
          </a:p>
          <a:p>
            <a:pPr marL="177800" indent="-177800">
              <a:spcAft>
                <a:spcPts val="600"/>
              </a:spcAft>
              <a:buSzPct val="100000"/>
              <a:buChar char="•"/>
            </a:pPr>
            <a:r>
              <a:rPr lang="fr-FR" altLang="en-US" sz="1300" dirty="0">
                <a:solidFill>
                  <a:srgbClr val="56617C"/>
                </a:solidFill>
                <a:latin typeface="Calibri" pitchFamily="34" charset="0"/>
                <a:ea typeface="Calibri" pitchFamily="34" charset="-122"/>
                <a:cs typeface="Calibri" pitchFamily="34" charset="-120"/>
              </a:rPr>
              <a:t>Suppléants et délégations</a:t>
            </a:r>
            <a:endParaRPr lang="fr-FR" sz="1300" dirty="0"/>
          </a:p>
          <a:p>
            <a:pPr marL="177800" indent="-177800">
              <a:spcAft>
                <a:spcPts val="600"/>
              </a:spcAft>
              <a:buSzPct val="100000"/>
              <a:buChar char="•"/>
            </a:pPr>
            <a:r>
              <a:rPr lang="fr-FR" altLang="en-US" sz="1300" dirty="0">
                <a:solidFill>
                  <a:srgbClr val="56617C"/>
                </a:solidFill>
                <a:latin typeface="Calibri" pitchFamily="34" charset="0"/>
                <a:ea typeface="Calibri" pitchFamily="34" charset="-122"/>
                <a:cs typeface="Calibri" pitchFamily="34" charset="-120"/>
              </a:rPr>
              <a:t>Suivi des délais</a:t>
            </a:r>
            <a:endParaRPr lang="fr-FR" sz="1300" dirty="0"/>
          </a:p>
        </p:txBody>
      </p:sp>
      <p:sp>
        <p:nvSpPr>
          <p:cNvPr id="21" name="pd2"/>
          <p:cNvSpPr/>
          <p:nvPr/>
        </p:nvSpPr>
        <p:spPr>
          <a:xfrm>
            <a:off x="6141568" y="2084832"/>
            <a:ext cx="436626" cy="457200"/>
          </a:xfrm>
          <a:prstGeom prst="ellipse">
            <a:avLst/>
          </a:prstGeom>
          <a:solidFill>
            <a:srgbClr val="9A6A00"/>
          </a:solidFill>
          <a:ln w="38100">
            <a:solidFill>
              <a:srgbClr val="FFFFFF"/>
            </a:solidFill>
            <a:prstDash val="solid"/>
          </a:ln>
        </p:spPr>
      </p:sp>
      <p:sp>
        <p:nvSpPr>
          <p:cNvPr id="22" name="pdn2"/>
          <p:cNvSpPr txBox="1"/>
          <p:nvPr/>
        </p:nvSpPr>
        <p:spPr>
          <a:xfrm>
            <a:off x="6141568" y="2084832"/>
            <a:ext cx="436626" cy="457200"/>
          </a:xfrm>
          <a:prstGeom prst="rect">
            <a:avLst/>
          </a:prstGeom>
          <a:noFill/>
          <a:ln/>
        </p:spPr>
        <p:txBody>
          <a:bodyPr wrap="square" lIns="0" tIns="0" rIns="0" bIns="0" rtlCol="0" anchor="ctr"/>
          <a:lstStyle/>
          <a:p>
            <a:pPr algn="ctr" indent="0" marL="0">
              <a:buNone/>
            </a:pPr>
            <a:r>
              <a:rPr lang="fr-FR" altLang="en-US" sz="1400" b="1" dirty="0">
                <a:solidFill>
                  <a:srgbClr val="FFFFFF"/>
                </a:solidFill>
                <a:latin typeface="Calibri" pitchFamily="34" charset="0"/>
                <a:ea typeface="Calibri" pitchFamily="34" charset="-122"/>
                <a:cs typeface="Calibri" pitchFamily="34" charset="-120"/>
              </a:rPr>
              <a:t>3</a:t>
            </a:r>
            <a:endParaRPr lang="fr-FR" sz="1400" dirty="0"/>
          </a:p>
        </p:txBody>
      </p:sp>
      <p:sp>
        <p:nvSpPr>
          <p:cNvPr id="23" name="pc2"/>
          <p:cNvSpPr/>
          <p:nvPr/>
        </p:nvSpPr>
        <p:spPr>
          <a:xfrm>
            <a:off x="6010580" y="2834640"/>
            <a:ext cx="2445106" cy="3154680"/>
          </a:xfrm>
          <a:prstGeom prst="rect">
            <a:avLst/>
          </a:prstGeom>
          <a:solidFill>
            <a:srgbClr val="FFFFFF"/>
          </a:solidFill>
          <a:ln w="9525">
            <a:solidFill>
              <a:srgbClr val="D9DFEA"/>
            </a:solidFill>
            <a:prstDash val="solid"/>
          </a:ln>
        </p:spPr>
      </p:sp>
      <p:sp>
        <p:nvSpPr>
          <p:cNvPr id="24" name="pc2b"/>
          <p:cNvSpPr/>
          <p:nvPr/>
        </p:nvSpPr>
        <p:spPr>
          <a:xfrm>
            <a:off x="6010580" y="2834640"/>
            <a:ext cx="52395" cy="3154680"/>
          </a:xfrm>
          <a:prstGeom prst="rect">
            <a:avLst/>
          </a:prstGeom>
          <a:solidFill>
            <a:srgbClr val="9A6A00"/>
          </a:solidFill>
          <a:ln w="12700">
            <a:solidFill>
              <a:srgbClr val="9A6A00"/>
            </a:solidFill>
            <a:prstDash val="solid"/>
          </a:ln>
        </p:spPr>
      </p:sp>
      <p:sp>
        <p:nvSpPr>
          <p:cNvPr id="25" name="pct2"/>
          <p:cNvSpPr txBox="1"/>
          <p:nvPr/>
        </p:nvSpPr>
        <p:spPr>
          <a:xfrm>
            <a:off x="6272555" y="3017520"/>
            <a:ext cx="2052142" cy="777240"/>
          </a:xfrm>
          <a:prstGeom prst="rect">
            <a:avLst/>
          </a:prstGeom>
          <a:noFill/>
          <a:ln/>
        </p:spPr>
        <p:txBody>
          <a:bodyPr wrap="square" lIns="0" tIns="0" rIns="0" bIns="0" rtlCol="0" anchor="t"/>
          <a:lstStyle/>
          <a:p>
            <a:pPr indent="0" marL="0">
              <a:buNone/>
            </a:pPr>
            <a:r>
              <a:rPr lang="fr-FR" altLang="en-US" sz="1300" b="1" dirty="0">
                <a:solidFill>
                  <a:srgbClr val="9A6A00"/>
                </a:solidFill>
                <a:latin typeface="Calibri" pitchFamily="34" charset="0"/>
                <a:ea typeface="Calibri" pitchFamily="34" charset="-122"/>
                <a:cs typeface="Calibri" pitchFamily="34" charset="-120"/>
              </a:rPr>
              <a:t>6 – 12 mois</a:t>
            </a:r>
            <a:endParaRPr lang="fr-FR" sz="1300" dirty="0"/>
          </a:p>
          <a:p>
            <a:pPr indent="0" marL="0">
              <a:buNone/>
            </a:pPr>
            <a:r>
              <a:rPr lang="fr-FR" altLang="en-US" sz="2000" b="1" dirty="0">
                <a:solidFill>
                  <a:srgbClr val="0E1C46"/>
                </a:solidFill>
                <a:latin typeface="Calibri" pitchFamily="34" charset="0"/>
                <a:ea typeface="Calibri" pitchFamily="34" charset="-122"/>
                <a:cs typeface="Calibri" pitchFamily="34" charset="-120"/>
              </a:rPr>
              <a:t>Dématérialiser</a:t>
            </a:r>
            <a:endParaRPr lang="fr-FR" sz="1300" dirty="0"/>
          </a:p>
        </p:txBody>
      </p:sp>
      <p:sp>
        <p:nvSpPr>
          <p:cNvPr id="26" name="pci2"/>
          <p:cNvSpPr txBox="1"/>
          <p:nvPr/>
        </p:nvSpPr>
        <p:spPr>
          <a:xfrm>
            <a:off x="6272555" y="3931920"/>
            <a:ext cx="2052142" cy="1828800"/>
          </a:xfrm>
          <a:prstGeom prst="rect">
            <a:avLst/>
          </a:prstGeom>
          <a:noFill/>
          <a:ln/>
        </p:spPr>
        <p:txBody>
          <a:bodyPr wrap="square" lIns="0" tIns="0" rIns="0" bIns="0" rtlCol="0" anchor="t"/>
          <a:lstStyle/>
          <a:p>
            <a:pPr marL="177800" indent="-177800">
              <a:spcAft>
                <a:spcPts val="600"/>
              </a:spcAft>
              <a:buSzPct val="100000"/>
              <a:buChar char="•"/>
            </a:pPr>
            <a:r>
              <a:rPr lang="fr-FR" altLang="en-US" sz="1300" dirty="0">
                <a:solidFill>
                  <a:srgbClr val="56617C"/>
                </a:solidFill>
                <a:latin typeface="Calibri" pitchFamily="34" charset="0"/>
                <a:ea typeface="Calibri" pitchFamily="34" charset="-122"/>
                <a:cs typeface="Calibri" pitchFamily="34" charset="-120"/>
              </a:rPr>
              <a:t>Logiciel de gestion du courrier</a:t>
            </a:r>
            <a:endParaRPr lang="fr-FR" sz="1300" dirty="0"/>
          </a:p>
          <a:p>
            <a:pPr marL="177800" indent="-177800">
              <a:spcAft>
                <a:spcPts val="600"/>
              </a:spcAft>
              <a:buSzPct val="100000"/>
              <a:buChar char="•"/>
            </a:pPr>
            <a:r>
              <a:rPr lang="fr-FR" altLang="en-US" sz="1300" dirty="0">
                <a:solidFill>
                  <a:srgbClr val="56617C"/>
                </a:solidFill>
                <a:latin typeface="Calibri" pitchFamily="34" charset="0"/>
                <a:ea typeface="Calibri" pitchFamily="34" charset="-122"/>
                <a:cs typeface="Calibri" pitchFamily="34" charset="-120"/>
              </a:rPr>
              <a:t>Numérisation, visa électronique</a:t>
            </a:r>
            <a:endParaRPr lang="fr-FR" sz="1300" dirty="0"/>
          </a:p>
          <a:p>
            <a:pPr marL="177800" indent="-177800">
              <a:spcAft>
                <a:spcPts val="600"/>
              </a:spcAft>
              <a:buSzPct val="100000"/>
              <a:buChar char="•"/>
            </a:pPr>
            <a:r>
              <a:rPr lang="fr-FR" altLang="en-US" sz="1300" dirty="0">
                <a:solidFill>
                  <a:srgbClr val="56617C"/>
                </a:solidFill>
                <a:latin typeface="Calibri" pitchFamily="34" charset="0"/>
                <a:ea typeface="Calibri" pitchFamily="34" charset="-122"/>
                <a:cs typeface="Calibri" pitchFamily="34" charset="-120"/>
              </a:rPr>
              <a:t>Numéro de suivi pour l’usager</a:t>
            </a:r>
            <a:endParaRPr lang="fr-FR" sz="1300" dirty="0"/>
          </a:p>
        </p:txBody>
      </p:sp>
      <p:sp>
        <p:nvSpPr>
          <p:cNvPr id="27" name="pd3"/>
          <p:cNvSpPr/>
          <p:nvPr/>
        </p:nvSpPr>
        <p:spPr>
          <a:xfrm>
            <a:off x="8804986" y="2084832"/>
            <a:ext cx="436626" cy="457200"/>
          </a:xfrm>
          <a:prstGeom prst="ellipse">
            <a:avLst/>
          </a:prstGeom>
          <a:solidFill>
            <a:srgbClr val="1B3F9E"/>
          </a:solidFill>
          <a:ln w="38100">
            <a:solidFill>
              <a:srgbClr val="FFFFFF"/>
            </a:solidFill>
            <a:prstDash val="solid"/>
          </a:ln>
        </p:spPr>
      </p:sp>
      <p:sp>
        <p:nvSpPr>
          <p:cNvPr id="28" name="pdn3"/>
          <p:cNvSpPr txBox="1"/>
          <p:nvPr/>
        </p:nvSpPr>
        <p:spPr>
          <a:xfrm>
            <a:off x="8804986" y="2084832"/>
            <a:ext cx="436626" cy="457200"/>
          </a:xfrm>
          <a:prstGeom prst="rect">
            <a:avLst/>
          </a:prstGeom>
          <a:noFill/>
          <a:ln/>
        </p:spPr>
        <p:txBody>
          <a:bodyPr wrap="square" lIns="0" tIns="0" rIns="0" bIns="0" rtlCol="0" anchor="ctr"/>
          <a:lstStyle/>
          <a:p>
            <a:pPr algn="ctr" indent="0" marL="0">
              <a:buNone/>
            </a:pPr>
            <a:r>
              <a:rPr lang="fr-FR" altLang="en-US" sz="1400" b="1" dirty="0">
                <a:solidFill>
                  <a:srgbClr val="FFFFFF"/>
                </a:solidFill>
                <a:latin typeface="Calibri" pitchFamily="34" charset="0"/>
                <a:ea typeface="Calibri" pitchFamily="34" charset="-122"/>
                <a:cs typeface="Calibri" pitchFamily="34" charset="-120"/>
              </a:rPr>
              <a:t>4</a:t>
            </a:r>
            <a:endParaRPr lang="fr-FR" sz="1400" dirty="0"/>
          </a:p>
        </p:txBody>
      </p:sp>
      <p:sp>
        <p:nvSpPr>
          <p:cNvPr id="29" name="pc3"/>
          <p:cNvSpPr/>
          <p:nvPr/>
        </p:nvSpPr>
        <p:spPr>
          <a:xfrm>
            <a:off x="8673998" y="2834640"/>
            <a:ext cx="2445106" cy="3154680"/>
          </a:xfrm>
          <a:prstGeom prst="rect">
            <a:avLst/>
          </a:prstGeom>
          <a:solidFill>
            <a:srgbClr val="FFFFFF"/>
          </a:solidFill>
          <a:ln w="9525">
            <a:solidFill>
              <a:srgbClr val="D9DFEA"/>
            </a:solidFill>
            <a:prstDash val="solid"/>
          </a:ln>
        </p:spPr>
      </p:sp>
      <p:sp>
        <p:nvSpPr>
          <p:cNvPr id="30" name="pc3b"/>
          <p:cNvSpPr/>
          <p:nvPr/>
        </p:nvSpPr>
        <p:spPr>
          <a:xfrm>
            <a:off x="8673998" y="2834640"/>
            <a:ext cx="52395" cy="3154680"/>
          </a:xfrm>
          <a:prstGeom prst="rect">
            <a:avLst/>
          </a:prstGeom>
          <a:solidFill>
            <a:srgbClr val="1B3F9E"/>
          </a:solidFill>
          <a:ln w="12700">
            <a:solidFill>
              <a:srgbClr val="1B3F9E"/>
            </a:solidFill>
            <a:prstDash val="solid"/>
          </a:ln>
        </p:spPr>
      </p:sp>
      <p:sp>
        <p:nvSpPr>
          <p:cNvPr id="31" name="pct3"/>
          <p:cNvSpPr txBox="1"/>
          <p:nvPr/>
        </p:nvSpPr>
        <p:spPr>
          <a:xfrm>
            <a:off x="8935974" y="3017520"/>
            <a:ext cx="2052142" cy="777240"/>
          </a:xfrm>
          <a:prstGeom prst="rect">
            <a:avLst/>
          </a:prstGeom>
          <a:noFill/>
          <a:ln/>
        </p:spPr>
        <p:txBody>
          <a:bodyPr wrap="square" lIns="0" tIns="0" rIns="0" bIns="0" rtlCol="0" anchor="t"/>
          <a:lstStyle/>
          <a:p>
            <a:pPr indent="0" marL="0">
              <a:buNone/>
            </a:pPr>
            <a:r>
              <a:rPr lang="fr-FR" altLang="en-US" sz="1300" b="1" dirty="0">
                <a:solidFill>
                  <a:srgbClr val="1B3F9E"/>
                </a:solidFill>
                <a:latin typeface="Calibri" pitchFamily="34" charset="0"/>
                <a:ea typeface="Calibri" pitchFamily="34" charset="-122"/>
                <a:cs typeface="Calibri" pitchFamily="34" charset="-120"/>
              </a:rPr>
              <a:t>Au-delà d’un an</a:t>
            </a:r>
            <a:endParaRPr lang="fr-FR" sz="1300" dirty="0"/>
          </a:p>
          <a:p>
            <a:pPr indent="0" marL="0">
              <a:buNone/>
            </a:pPr>
            <a:r>
              <a:rPr lang="fr-FR" altLang="en-US" sz="2000" b="1" dirty="0">
                <a:solidFill>
                  <a:srgbClr val="0E1C46"/>
                </a:solidFill>
                <a:latin typeface="Calibri" pitchFamily="34" charset="0"/>
                <a:ea typeface="Calibri" pitchFamily="34" charset="-122"/>
                <a:cs typeface="Calibri" pitchFamily="34" charset="-120"/>
              </a:rPr>
              <a:t>Étendre</a:t>
            </a:r>
            <a:endParaRPr lang="fr-FR" sz="1300" dirty="0"/>
          </a:p>
        </p:txBody>
      </p:sp>
      <p:sp>
        <p:nvSpPr>
          <p:cNvPr id="32" name="pci3"/>
          <p:cNvSpPr txBox="1"/>
          <p:nvPr/>
        </p:nvSpPr>
        <p:spPr>
          <a:xfrm>
            <a:off x="8935974" y="3931920"/>
            <a:ext cx="2052142" cy="1828800"/>
          </a:xfrm>
          <a:prstGeom prst="rect">
            <a:avLst/>
          </a:prstGeom>
          <a:noFill/>
          <a:ln/>
        </p:spPr>
        <p:txBody>
          <a:bodyPr wrap="square" lIns="0" tIns="0" rIns="0" bIns="0" rtlCol="0" anchor="t"/>
          <a:lstStyle/>
          <a:p>
            <a:pPr marL="177800" indent="-177800">
              <a:spcAft>
                <a:spcPts val="600"/>
              </a:spcAft>
              <a:buSzPct val="100000"/>
              <a:buChar char="•"/>
            </a:pPr>
            <a:r>
              <a:rPr lang="fr-FR" altLang="en-US" sz="1300" dirty="0">
                <a:solidFill>
                  <a:srgbClr val="56617C"/>
                </a:solidFill>
                <a:latin typeface="Calibri" pitchFamily="34" charset="0"/>
                <a:ea typeface="Calibri" pitchFamily="34" charset="-122"/>
                <a:cs typeface="Calibri" pitchFamily="34" charset="-120"/>
              </a:rPr>
              <a:t>Toutes les directions</a:t>
            </a:r>
            <a:endParaRPr lang="fr-FR" sz="1300" dirty="0"/>
          </a:p>
          <a:p>
            <a:pPr marL="177800" indent="-177800">
              <a:spcAft>
                <a:spcPts val="600"/>
              </a:spcAft>
              <a:buSzPct val="100000"/>
              <a:buChar char="•"/>
            </a:pPr>
            <a:r>
              <a:rPr lang="fr-FR" altLang="en-US" sz="1300" dirty="0">
                <a:solidFill>
                  <a:srgbClr val="56617C"/>
                </a:solidFill>
                <a:latin typeface="Calibri" pitchFamily="34" charset="0"/>
                <a:ea typeface="Calibri" pitchFamily="34" charset="-122"/>
                <a:cs typeface="Calibri" pitchFamily="34" charset="-120"/>
              </a:rPr>
              <a:t>Lien avec l’état civil</a:t>
            </a:r>
            <a:endParaRPr lang="fr-FR" sz="1300" dirty="0"/>
          </a:p>
          <a:p>
            <a:pPr marL="177800" indent="-177800">
              <a:spcAft>
                <a:spcPts val="600"/>
              </a:spcAft>
              <a:buSzPct val="100000"/>
              <a:buChar char="•"/>
            </a:pPr>
            <a:r>
              <a:rPr lang="fr-FR" altLang="en-US" sz="1300" dirty="0">
                <a:solidFill>
                  <a:srgbClr val="56617C"/>
                </a:solidFill>
                <a:latin typeface="Calibri" pitchFamily="34" charset="0"/>
                <a:ea typeface="Calibri" pitchFamily="34" charset="-122"/>
                <a:cs typeface="Calibri" pitchFamily="34" charset="-120"/>
              </a:rPr>
              <a:t>Archives numérisées</a:t>
            </a:r>
            <a:endParaRPr lang="fr-FR" sz="1300" dirty="0"/>
          </a:p>
        </p:txBody>
      </p:sp>
      <p:pic>
        <p:nvPicPr>
          <p:cNvPr id="33"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34"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35"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19 / 21</a:t>
            </a:r>
            <a:endParaRPr lang="fr-FR" sz="1000" dirty="0"/>
          </a:p>
        </p:txBody>
      </p:sp>
      <p:sp>
        <p:nvSpPr>
          <p:cNvPr id="36" name="!!band1"/>
          <p:cNvSpPr/>
          <p:nvPr/>
        </p:nvSpPr>
        <p:spPr>
          <a:xfrm>
            <a:off x="0" y="0"/>
            <a:ext cx="4873752" cy="64008"/>
          </a:xfrm>
          <a:prstGeom prst="rect">
            <a:avLst/>
          </a:prstGeom>
          <a:solidFill>
            <a:srgbClr val="1B3F9E"/>
          </a:solidFill>
          <a:ln w="12700">
            <a:solidFill>
              <a:srgbClr val="1B3F9E"/>
            </a:solidFill>
            <a:prstDash val="solid"/>
          </a:ln>
        </p:spPr>
      </p:sp>
      <p:sp>
        <p:nvSpPr>
          <p:cNvPr id="37" name="!!band2"/>
          <p:cNvSpPr/>
          <p:nvPr/>
        </p:nvSpPr>
        <p:spPr>
          <a:xfrm>
            <a:off x="4873752" y="0"/>
            <a:ext cx="4270248" cy="64008"/>
          </a:xfrm>
          <a:prstGeom prst="rect">
            <a:avLst/>
          </a:prstGeom>
          <a:solidFill>
            <a:srgbClr val="00923A"/>
          </a:solidFill>
          <a:ln w="12700">
            <a:solidFill>
              <a:srgbClr val="00923A"/>
            </a:solidFill>
            <a:prstDash val="solid"/>
          </a:ln>
        </p:spPr>
      </p:sp>
      <p:sp>
        <p:nvSpPr>
          <p:cNvPr id="38" name="!!band3"/>
          <p:cNvSpPr/>
          <p:nvPr/>
        </p:nvSpPr>
        <p:spPr>
          <a:xfrm>
            <a:off x="9144000" y="0"/>
            <a:ext cx="3047695" cy="64008"/>
          </a:xfrm>
          <a:prstGeom prst="rect">
            <a:avLst/>
          </a:prstGeom>
          <a:solidFill>
            <a:srgbClr val="FCC600"/>
          </a:solidFill>
          <a:ln w="12700">
            <a:solidFill>
              <a:srgbClr val="FCC600"/>
            </a:solidFill>
            <a:prstDash val="solid"/>
          </a:ln>
        </p:spPr>
      </p:sp>
      <p:sp>
        <p:nvSpPr>
          <p:cNvPr id="39" name="!!railline"/>
          <p:cNvSpPr/>
          <p:nvPr/>
        </p:nvSpPr>
        <p:spPr>
          <a:xfrm>
            <a:off x="11795760" y="1600200"/>
            <a:ext cx="914" cy="3383280"/>
          </a:xfrm>
          <a:prstGeom prst="line">
            <a:avLst/>
          </a:prstGeom>
          <a:noFill/>
          <a:ln w="19050">
            <a:solidFill>
              <a:srgbClr val="D9DFEA"/>
            </a:solidFill>
            <a:prstDash val="solid"/>
          </a:ln>
        </p:spPr>
      </p:sp>
      <p:sp>
        <p:nvSpPr>
          <p:cNvPr id="40" name="!!railprog"/>
          <p:cNvSpPr/>
          <p:nvPr/>
        </p:nvSpPr>
        <p:spPr>
          <a:xfrm>
            <a:off x="11795760" y="1600200"/>
            <a:ext cx="914" cy="3383280"/>
          </a:xfrm>
          <a:prstGeom prst="line">
            <a:avLst/>
          </a:prstGeom>
          <a:noFill/>
          <a:ln w="31750">
            <a:solidFill>
              <a:srgbClr val="00923A"/>
            </a:solidFill>
            <a:prstDash val="solid"/>
          </a:ln>
        </p:spPr>
      </p:sp>
      <p:sp>
        <p:nvSpPr>
          <p:cNvPr id="41"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42"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3" name="!!m2"/>
          <p:cNvSpPr/>
          <p:nvPr/>
        </p:nvSpPr>
        <p:spPr>
          <a:xfrm>
            <a:off x="11603736" y="2084832"/>
            <a:ext cx="384048" cy="384048"/>
          </a:xfrm>
          <a:prstGeom prst="ellipse">
            <a:avLst/>
          </a:prstGeom>
          <a:solidFill>
            <a:srgbClr val="00923A"/>
          </a:solidFill>
          <a:ln w="15875">
            <a:solidFill>
              <a:srgbClr val="00923A"/>
            </a:solidFill>
            <a:prstDash val="solid"/>
          </a:ln>
        </p:spPr>
      </p:sp>
      <p:sp>
        <p:nvSpPr>
          <p:cNvPr id="44"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5" name="!!m3"/>
          <p:cNvSpPr/>
          <p:nvPr/>
        </p:nvSpPr>
        <p:spPr>
          <a:xfrm>
            <a:off x="11603736" y="2761488"/>
            <a:ext cx="384048" cy="384048"/>
          </a:xfrm>
          <a:prstGeom prst="ellipse">
            <a:avLst/>
          </a:prstGeom>
          <a:solidFill>
            <a:srgbClr val="00923A"/>
          </a:solidFill>
          <a:ln w="15875">
            <a:solidFill>
              <a:srgbClr val="00923A"/>
            </a:solidFill>
            <a:prstDash val="solid"/>
          </a:ln>
        </p:spPr>
      </p:sp>
      <p:sp>
        <p:nvSpPr>
          <p:cNvPr id="46" name="!!mt3">
            <a:hlinkClick r:id="rId4"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7" name="!!m4"/>
          <p:cNvSpPr/>
          <p:nvPr/>
        </p:nvSpPr>
        <p:spPr>
          <a:xfrm>
            <a:off x="11603736" y="3438144"/>
            <a:ext cx="384048" cy="384048"/>
          </a:xfrm>
          <a:prstGeom prst="ellipse">
            <a:avLst/>
          </a:prstGeom>
          <a:solidFill>
            <a:srgbClr val="00923A"/>
          </a:solidFill>
          <a:ln w="15875">
            <a:solidFill>
              <a:srgbClr val="00923A"/>
            </a:solidFill>
            <a:prstDash val="solid"/>
          </a:ln>
        </p:spPr>
      </p:sp>
      <p:sp>
        <p:nvSpPr>
          <p:cNvPr id="48" name="!!mt4">
            <a:hlinkClick r:id="rId5"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9" name="!!m5"/>
          <p:cNvSpPr/>
          <p:nvPr/>
        </p:nvSpPr>
        <p:spPr>
          <a:xfrm>
            <a:off x="11603736" y="4114800"/>
            <a:ext cx="384048" cy="384048"/>
          </a:xfrm>
          <a:prstGeom prst="ellipse">
            <a:avLst/>
          </a:prstGeom>
          <a:solidFill>
            <a:srgbClr val="00923A"/>
          </a:solidFill>
          <a:ln w="15875">
            <a:solidFill>
              <a:srgbClr val="00923A"/>
            </a:solidFill>
            <a:prstDash val="solid"/>
          </a:ln>
        </p:spPr>
      </p:sp>
      <p:sp>
        <p:nvSpPr>
          <p:cNvPr id="50" name="!!mt5">
            <a:hlinkClick r:id="rId6"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51" name="!!m6"/>
          <p:cNvSpPr/>
          <p:nvPr/>
        </p:nvSpPr>
        <p:spPr>
          <a:xfrm>
            <a:off x="11603736" y="4791456"/>
            <a:ext cx="384048" cy="384048"/>
          </a:xfrm>
          <a:prstGeom prst="ellipse">
            <a:avLst/>
          </a:prstGeom>
          <a:solidFill>
            <a:srgbClr val="1B3F9E"/>
          </a:solidFill>
          <a:ln w="15875">
            <a:solidFill>
              <a:srgbClr val="1B3F9E"/>
            </a:solidFill>
            <a:prstDash val="solid"/>
          </a:ln>
        </p:spPr>
      </p:sp>
      <p:sp>
        <p:nvSpPr>
          <p:cNvPr id="52" name="!!mt6">
            <a:hlinkClick r:id="rId7"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53"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Recommandations</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600"/>
                                        <p:tgtEl>
                                          <p:spTgt spid="3"/>
                                        </p:tgtEl>
                                      </p:cBhvr>
                                    </p:animEffect>
                                  </p:childTnLst>
                                </p:cTn>
                              </p:par>
                              <p:par>
                                <p:cTn id="14" presetID="53" presetClass="entr" presetSubtype="16" fill="hold" grpId="0" nodeType="withEffect">
                                  <p:stCondLst>
                                    <p:cond delay="300"/>
                                  </p:stCondLst>
                                  <p:childTnLst>
                                    <p:set>
                                      <p:cBhvr>
                                        <p:cTn id="15" dur="1" fill="hold">
                                          <p:stCondLst>
                                            <p:cond delay="0"/>
                                          </p:stCondLst>
                                        </p:cTn>
                                        <p:tgtEl>
                                          <p:spTgt spid="9"/>
                                        </p:tgtEl>
                                        <p:attrNameLst>
                                          <p:attrName>style.visibility</p:attrName>
                                        </p:attrNameLst>
                                      </p:cBhvr>
                                      <p:to>
                                        <p:strVal val="visible"/>
                                      </p:to>
                                    </p:set>
                                    <p:anim calcmode="lin" valueType="num">
                                      <p:cBhvr>
                                        <p:cTn id="16" dur="600" fill="hold"/>
                                        <p:tgtEl>
                                          <p:spTgt spid="9"/>
                                        </p:tgtEl>
                                        <p:attrNameLst>
                                          <p:attrName>ppt_w</p:attrName>
                                        </p:attrNameLst>
                                      </p:cBhvr>
                                      <p:tavLst>
                                        <p:tav tm="0">
                                          <p:val>
                                            <p:fltVal val="0"/>
                                          </p:val>
                                        </p:tav>
                                        <p:tav tm="100000">
                                          <p:val>
                                            <p:strVal val="#ppt_w"/>
                                          </p:val>
                                        </p:tav>
                                      </p:tavLst>
                                    </p:anim>
                                    <p:anim calcmode="lin" valueType="num">
                                      <p:cBhvr>
                                        <p:cTn id="17" dur="600" fill="hold"/>
                                        <p:tgtEl>
                                          <p:spTgt spid="9"/>
                                        </p:tgtEl>
                                        <p:attrNameLst>
                                          <p:attrName>ppt_h</p:attrName>
                                        </p:attrNameLst>
                                      </p:cBhvr>
                                      <p:tavLst>
                                        <p:tav tm="0">
                                          <p:val>
                                            <p:fltVal val="0"/>
                                          </p:val>
                                        </p:tav>
                                        <p:tav tm="100000">
                                          <p:val>
                                            <p:strVal val="#ppt_h"/>
                                          </p:val>
                                        </p:tav>
                                      </p:tavLst>
                                    </p:anim>
                                    <p:animEffect transition="in" filter="fade">
                                      <p:cBhvr>
                                        <p:cTn id="18" dur="600"/>
                                        <p:tgtEl>
                                          <p:spTgt spid="9"/>
                                        </p:tgtEl>
                                      </p:cBhvr>
                                    </p:animEffect>
                                  </p:childTnLst>
                                </p:cTn>
                              </p:par>
                              <p:par>
                                <p:cTn id="19" presetID="53" presetClass="entr" presetSubtype="16" fill="hold" grpId="0" nodeType="withEffect">
                                  <p:stCondLst>
                                    <p:cond delay="300"/>
                                  </p:stCondLst>
                                  <p:childTnLst>
                                    <p:set>
                                      <p:cBhvr>
                                        <p:cTn id="20" dur="1" fill="hold">
                                          <p:stCondLst>
                                            <p:cond delay="0"/>
                                          </p:stCondLst>
                                        </p:cTn>
                                        <p:tgtEl>
                                          <p:spTgt spid="10"/>
                                        </p:tgtEl>
                                        <p:attrNameLst>
                                          <p:attrName>style.visibility</p:attrName>
                                        </p:attrNameLst>
                                      </p:cBhvr>
                                      <p:to>
                                        <p:strVal val="visible"/>
                                      </p:to>
                                    </p:set>
                                    <p:anim calcmode="lin" valueType="num">
                                      <p:cBhvr>
                                        <p:cTn id="21" dur="600" fill="hold"/>
                                        <p:tgtEl>
                                          <p:spTgt spid="10"/>
                                        </p:tgtEl>
                                        <p:attrNameLst>
                                          <p:attrName>ppt_w</p:attrName>
                                        </p:attrNameLst>
                                      </p:cBhvr>
                                      <p:tavLst>
                                        <p:tav tm="0">
                                          <p:val>
                                            <p:fltVal val="0"/>
                                          </p:val>
                                        </p:tav>
                                        <p:tav tm="100000">
                                          <p:val>
                                            <p:strVal val="#ppt_w"/>
                                          </p:val>
                                        </p:tav>
                                      </p:tavLst>
                                    </p:anim>
                                    <p:anim calcmode="lin" valueType="num">
                                      <p:cBhvr>
                                        <p:cTn id="22" dur="600" fill="hold"/>
                                        <p:tgtEl>
                                          <p:spTgt spid="10"/>
                                        </p:tgtEl>
                                        <p:attrNameLst>
                                          <p:attrName>ppt_h</p:attrName>
                                        </p:attrNameLst>
                                      </p:cBhvr>
                                      <p:tavLst>
                                        <p:tav tm="0">
                                          <p:val>
                                            <p:fltVal val="0"/>
                                          </p:val>
                                        </p:tav>
                                        <p:tav tm="100000">
                                          <p:val>
                                            <p:strVal val="#ppt_h"/>
                                          </p:val>
                                        </p:tav>
                                      </p:tavLst>
                                    </p:anim>
                                    <p:animEffect transition="in" filter="fade">
                                      <p:cBhvr>
                                        <p:cTn id="23" dur="600"/>
                                        <p:tgtEl>
                                          <p:spTgt spid="10"/>
                                        </p:tgtEl>
                                      </p:cBhvr>
                                    </p:animEffect>
                                  </p:childTnLst>
                                </p:cTn>
                              </p:par>
                              <p:par>
                                <p:cTn id="24" presetID="10" presetClass="entr" presetSubtype="0" fill="hold" grpId="0" nodeType="withEffect">
                                  <p:stCondLst>
                                    <p:cond delay="45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600"/>
                                        <p:tgtEl>
                                          <p:spTgt spid="11"/>
                                        </p:tgtEl>
                                      </p:cBhvr>
                                    </p:animEffect>
                                  </p:childTnLst>
                                </p:cTn>
                              </p:par>
                              <p:par>
                                <p:cTn id="27" presetID="10" presetClass="entr" presetSubtype="0" fill="hold" grpId="0" nodeType="withEffect">
                                  <p:stCondLst>
                                    <p:cond delay="45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600"/>
                                        <p:tgtEl>
                                          <p:spTgt spid="13"/>
                                        </p:tgtEl>
                                      </p:cBhvr>
                                    </p:animEffect>
                                  </p:childTnLst>
                                </p:cTn>
                              </p:par>
                              <p:par>
                                <p:cTn id="30" presetID="10" presetClass="entr" presetSubtype="0" fill="hold" grpId="0" nodeType="withEffect">
                                  <p:stCondLst>
                                    <p:cond delay="45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600"/>
                                        <p:tgtEl>
                                          <p:spTgt spid="14"/>
                                        </p:tgtEl>
                                      </p:cBhvr>
                                    </p:animEffect>
                                  </p:childTnLst>
                                </p:cTn>
                              </p:par>
                              <p:par>
                                <p:cTn id="33" presetID="22" presetClass="entr" presetSubtype="4" fill="hold" grpId="0" nodeType="withEffect">
                                  <p:stCondLst>
                                    <p:cond delay="450"/>
                                  </p:stCondLst>
                                  <p:childTnLst>
                                    <p:set>
                                      <p:cBhvr>
                                        <p:cTn id="34" dur="1" fill="hold">
                                          <p:stCondLst>
                                            <p:cond delay="0"/>
                                          </p:stCondLst>
                                        </p:cTn>
                                        <p:tgtEl>
                                          <p:spTgt spid="12"/>
                                        </p:tgtEl>
                                        <p:attrNameLst>
                                          <p:attrName>style.visibility</p:attrName>
                                        </p:attrNameLst>
                                      </p:cBhvr>
                                      <p:to>
                                        <p:strVal val="visible"/>
                                      </p:to>
                                    </p:set>
                                    <p:animEffect transition="in" filter="wipe(up)">
                                      <p:cBhvr>
                                        <p:cTn id="35" dur="900"/>
                                        <p:tgtEl>
                                          <p:spTgt spid="12"/>
                                        </p:tgtEl>
                                      </p:cBhvr>
                                    </p:animEffect>
                                  </p:childTnLst>
                                </p:cTn>
                              </p:par>
                              <p:par>
                                <p:cTn id="36" presetID="22" presetClass="entr" presetSubtype="8" fill="hold" grpId="0" nodeType="withEffect">
                                  <p:stCondLst>
                                    <p:cond delay="900"/>
                                  </p:stCondLst>
                                  <p:childTnLst>
                                    <p:set>
                                      <p:cBhvr>
                                        <p:cTn id="37" dur="1" fill="hold">
                                          <p:stCondLst>
                                            <p:cond delay="0"/>
                                          </p:stCondLst>
                                        </p:cTn>
                                        <p:tgtEl>
                                          <p:spTgt spid="6"/>
                                        </p:tgtEl>
                                        <p:attrNameLst>
                                          <p:attrName>style.visibility</p:attrName>
                                        </p:attrNameLst>
                                      </p:cBhvr>
                                      <p:to>
                                        <p:strVal val="visible"/>
                                      </p:to>
                                    </p:set>
                                    <p:animEffect transition="in" filter="wipe(left)">
                                      <p:cBhvr>
                                        <p:cTn id="38" dur="600"/>
                                        <p:tgtEl>
                                          <p:spTgt spid="6"/>
                                        </p:tgtEl>
                                      </p:cBhvr>
                                    </p:animEffect>
                                  </p:childTnLst>
                                </p:cTn>
                              </p:par>
                              <p:par>
                                <p:cTn id="39" presetID="53" presetClass="entr" presetSubtype="16" fill="hold" grpId="0" nodeType="withEffect">
                                  <p:stCondLst>
                                    <p:cond delay="1000"/>
                                  </p:stCondLst>
                                  <p:childTnLst>
                                    <p:set>
                                      <p:cBhvr>
                                        <p:cTn id="40" dur="1" fill="hold">
                                          <p:stCondLst>
                                            <p:cond delay="0"/>
                                          </p:stCondLst>
                                        </p:cTn>
                                        <p:tgtEl>
                                          <p:spTgt spid="15"/>
                                        </p:tgtEl>
                                        <p:attrNameLst>
                                          <p:attrName>style.visibility</p:attrName>
                                        </p:attrNameLst>
                                      </p:cBhvr>
                                      <p:to>
                                        <p:strVal val="visible"/>
                                      </p:to>
                                    </p:set>
                                    <p:anim calcmode="lin" valueType="num">
                                      <p:cBhvr>
                                        <p:cTn id="41" dur="600" fill="hold"/>
                                        <p:tgtEl>
                                          <p:spTgt spid="15"/>
                                        </p:tgtEl>
                                        <p:attrNameLst>
                                          <p:attrName>ppt_w</p:attrName>
                                        </p:attrNameLst>
                                      </p:cBhvr>
                                      <p:tavLst>
                                        <p:tav tm="0">
                                          <p:val>
                                            <p:fltVal val="0"/>
                                          </p:val>
                                        </p:tav>
                                        <p:tav tm="100000">
                                          <p:val>
                                            <p:strVal val="#ppt_w"/>
                                          </p:val>
                                        </p:tav>
                                      </p:tavLst>
                                    </p:anim>
                                    <p:anim calcmode="lin" valueType="num">
                                      <p:cBhvr>
                                        <p:cTn id="42" dur="600" fill="hold"/>
                                        <p:tgtEl>
                                          <p:spTgt spid="15"/>
                                        </p:tgtEl>
                                        <p:attrNameLst>
                                          <p:attrName>ppt_h</p:attrName>
                                        </p:attrNameLst>
                                      </p:cBhvr>
                                      <p:tavLst>
                                        <p:tav tm="0">
                                          <p:val>
                                            <p:fltVal val="0"/>
                                          </p:val>
                                        </p:tav>
                                        <p:tav tm="100000">
                                          <p:val>
                                            <p:strVal val="#ppt_h"/>
                                          </p:val>
                                        </p:tav>
                                      </p:tavLst>
                                    </p:anim>
                                    <p:animEffect transition="in" filter="fade">
                                      <p:cBhvr>
                                        <p:cTn id="43" dur="600"/>
                                        <p:tgtEl>
                                          <p:spTgt spid="15"/>
                                        </p:tgtEl>
                                      </p:cBhvr>
                                    </p:animEffect>
                                  </p:childTnLst>
                                </p:cTn>
                              </p:par>
                              <p:par>
                                <p:cTn id="44" presetID="53" presetClass="entr" presetSubtype="16" fill="hold" grpId="0" nodeType="withEffect">
                                  <p:stCondLst>
                                    <p:cond delay="1000"/>
                                  </p:stCondLst>
                                  <p:childTnLst>
                                    <p:set>
                                      <p:cBhvr>
                                        <p:cTn id="45" dur="1" fill="hold">
                                          <p:stCondLst>
                                            <p:cond delay="0"/>
                                          </p:stCondLst>
                                        </p:cTn>
                                        <p:tgtEl>
                                          <p:spTgt spid="16"/>
                                        </p:tgtEl>
                                        <p:attrNameLst>
                                          <p:attrName>style.visibility</p:attrName>
                                        </p:attrNameLst>
                                      </p:cBhvr>
                                      <p:to>
                                        <p:strVal val="visible"/>
                                      </p:to>
                                    </p:set>
                                    <p:anim calcmode="lin" valueType="num">
                                      <p:cBhvr>
                                        <p:cTn id="46" dur="600" fill="hold"/>
                                        <p:tgtEl>
                                          <p:spTgt spid="16"/>
                                        </p:tgtEl>
                                        <p:attrNameLst>
                                          <p:attrName>ppt_w</p:attrName>
                                        </p:attrNameLst>
                                      </p:cBhvr>
                                      <p:tavLst>
                                        <p:tav tm="0">
                                          <p:val>
                                            <p:fltVal val="0"/>
                                          </p:val>
                                        </p:tav>
                                        <p:tav tm="100000">
                                          <p:val>
                                            <p:strVal val="#ppt_w"/>
                                          </p:val>
                                        </p:tav>
                                      </p:tavLst>
                                    </p:anim>
                                    <p:anim calcmode="lin" valueType="num">
                                      <p:cBhvr>
                                        <p:cTn id="47" dur="600" fill="hold"/>
                                        <p:tgtEl>
                                          <p:spTgt spid="16"/>
                                        </p:tgtEl>
                                        <p:attrNameLst>
                                          <p:attrName>ppt_h</p:attrName>
                                        </p:attrNameLst>
                                      </p:cBhvr>
                                      <p:tavLst>
                                        <p:tav tm="0">
                                          <p:val>
                                            <p:fltVal val="0"/>
                                          </p:val>
                                        </p:tav>
                                        <p:tav tm="100000">
                                          <p:val>
                                            <p:strVal val="#ppt_h"/>
                                          </p:val>
                                        </p:tav>
                                      </p:tavLst>
                                    </p:anim>
                                    <p:animEffect transition="in" filter="fade">
                                      <p:cBhvr>
                                        <p:cTn id="48" dur="600"/>
                                        <p:tgtEl>
                                          <p:spTgt spid="16"/>
                                        </p:tgtEl>
                                      </p:cBhvr>
                                    </p:animEffect>
                                  </p:childTnLst>
                                </p:cTn>
                              </p:par>
                              <p:par>
                                <p:cTn id="49" presetID="10" presetClass="entr" presetSubtype="0" fill="hold" grpId="0" nodeType="withEffect">
                                  <p:stCondLst>
                                    <p:cond delay="115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600"/>
                                        <p:tgtEl>
                                          <p:spTgt spid="17"/>
                                        </p:tgtEl>
                                      </p:cBhvr>
                                    </p:animEffect>
                                  </p:childTnLst>
                                </p:cTn>
                              </p:par>
                              <p:par>
                                <p:cTn id="52" presetID="10" presetClass="entr" presetSubtype="0" fill="hold" grpId="0" nodeType="withEffect">
                                  <p:stCondLst>
                                    <p:cond delay="115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grpId="0" nodeType="withEffect">
                                  <p:stCondLst>
                                    <p:cond delay="115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22" presetClass="entr" presetSubtype="4" fill="hold" grpId="0" nodeType="withEffect">
                                  <p:stCondLst>
                                    <p:cond delay="1150"/>
                                  </p:stCondLst>
                                  <p:childTnLst>
                                    <p:set>
                                      <p:cBhvr>
                                        <p:cTn id="59" dur="1" fill="hold">
                                          <p:stCondLst>
                                            <p:cond delay="0"/>
                                          </p:stCondLst>
                                        </p:cTn>
                                        <p:tgtEl>
                                          <p:spTgt spid="18"/>
                                        </p:tgtEl>
                                        <p:attrNameLst>
                                          <p:attrName>style.visibility</p:attrName>
                                        </p:attrNameLst>
                                      </p:cBhvr>
                                      <p:to>
                                        <p:strVal val="visible"/>
                                      </p:to>
                                    </p:set>
                                    <p:animEffect transition="in" filter="wipe(up)">
                                      <p:cBhvr>
                                        <p:cTn id="60" dur="900"/>
                                        <p:tgtEl>
                                          <p:spTgt spid="18"/>
                                        </p:tgtEl>
                                      </p:cBhvr>
                                    </p:animEffect>
                                  </p:childTnLst>
                                </p:cTn>
                              </p:par>
                              <p:par>
                                <p:cTn id="61" presetID="22" presetClass="entr" presetSubtype="8" fill="hold" grpId="0" nodeType="withEffect">
                                  <p:stCondLst>
                                    <p:cond delay="1600"/>
                                  </p:stCondLst>
                                  <p:childTnLst>
                                    <p:set>
                                      <p:cBhvr>
                                        <p:cTn id="62" dur="1" fill="hold">
                                          <p:stCondLst>
                                            <p:cond delay="0"/>
                                          </p:stCondLst>
                                        </p:cTn>
                                        <p:tgtEl>
                                          <p:spTgt spid="7"/>
                                        </p:tgtEl>
                                        <p:attrNameLst>
                                          <p:attrName>style.visibility</p:attrName>
                                        </p:attrNameLst>
                                      </p:cBhvr>
                                      <p:to>
                                        <p:strVal val="visible"/>
                                      </p:to>
                                    </p:set>
                                    <p:animEffect transition="in" filter="wipe(left)">
                                      <p:cBhvr>
                                        <p:cTn id="63" dur="600"/>
                                        <p:tgtEl>
                                          <p:spTgt spid="7"/>
                                        </p:tgtEl>
                                      </p:cBhvr>
                                    </p:animEffect>
                                  </p:childTnLst>
                                </p:cTn>
                              </p:par>
                              <p:par>
                                <p:cTn id="64" presetID="53" presetClass="entr" presetSubtype="16" fill="hold" grpId="0" nodeType="withEffect">
                                  <p:stCondLst>
                                    <p:cond delay="1700"/>
                                  </p:stCondLst>
                                  <p:childTnLst>
                                    <p:set>
                                      <p:cBhvr>
                                        <p:cTn id="65" dur="1" fill="hold">
                                          <p:stCondLst>
                                            <p:cond delay="0"/>
                                          </p:stCondLst>
                                        </p:cTn>
                                        <p:tgtEl>
                                          <p:spTgt spid="21"/>
                                        </p:tgtEl>
                                        <p:attrNameLst>
                                          <p:attrName>style.visibility</p:attrName>
                                        </p:attrNameLst>
                                      </p:cBhvr>
                                      <p:to>
                                        <p:strVal val="visible"/>
                                      </p:to>
                                    </p:set>
                                    <p:anim calcmode="lin" valueType="num">
                                      <p:cBhvr>
                                        <p:cTn id="66" dur="600" fill="hold"/>
                                        <p:tgtEl>
                                          <p:spTgt spid="21"/>
                                        </p:tgtEl>
                                        <p:attrNameLst>
                                          <p:attrName>ppt_w</p:attrName>
                                        </p:attrNameLst>
                                      </p:cBhvr>
                                      <p:tavLst>
                                        <p:tav tm="0">
                                          <p:val>
                                            <p:fltVal val="0"/>
                                          </p:val>
                                        </p:tav>
                                        <p:tav tm="100000">
                                          <p:val>
                                            <p:strVal val="#ppt_w"/>
                                          </p:val>
                                        </p:tav>
                                      </p:tavLst>
                                    </p:anim>
                                    <p:anim calcmode="lin" valueType="num">
                                      <p:cBhvr>
                                        <p:cTn id="67" dur="600" fill="hold"/>
                                        <p:tgtEl>
                                          <p:spTgt spid="21"/>
                                        </p:tgtEl>
                                        <p:attrNameLst>
                                          <p:attrName>ppt_h</p:attrName>
                                        </p:attrNameLst>
                                      </p:cBhvr>
                                      <p:tavLst>
                                        <p:tav tm="0">
                                          <p:val>
                                            <p:fltVal val="0"/>
                                          </p:val>
                                        </p:tav>
                                        <p:tav tm="100000">
                                          <p:val>
                                            <p:strVal val="#ppt_h"/>
                                          </p:val>
                                        </p:tav>
                                      </p:tavLst>
                                    </p:anim>
                                    <p:animEffect transition="in" filter="fade">
                                      <p:cBhvr>
                                        <p:cTn id="68" dur="600"/>
                                        <p:tgtEl>
                                          <p:spTgt spid="21"/>
                                        </p:tgtEl>
                                      </p:cBhvr>
                                    </p:animEffect>
                                  </p:childTnLst>
                                </p:cTn>
                              </p:par>
                              <p:par>
                                <p:cTn id="69" presetID="53" presetClass="entr" presetSubtype="16" fill="hold" grpId="0" nodeType="withEffect">
                                  <p:stCondLst>
                                    <p:cond delay="1700"/>
                                  </p:stCondLst>
                                  <p:childTnLst>
                                    <p:set>
                                      <p:cBhvr>
                                        <p:cTn id="70" dur="1" fill="hold">
                                          <p:stCondLst>
                                            <p:cond delay="0"/>
                                          </p:stCondLst>
                                        </p:cTn>
                                        <p:tgtEl>
                                          <p:spTgt spid="22"/>
                                        </p:tgtEl>
                                        <p:attrNameLst>
                                          <p:attrName>style.visibility</p:attrName>
                                        </p:attrNameLst>
                                      </p:cBhvr>
                                      <p:to>
                                        <p:strVal val="visible"/>
                                      </p:to>
                                    </p:set>
                                    <p:anim calcmode="lin" valueType="num">
                                      <p:cBhvr>
                                        <p:cTn id="71" dur="600" fill="hold"/>
                                        <p:tgtEl>
                                          <p:spTgt spid="22"/>
                                        </p:tgtEl>
                                        <p:attrNameLst>
                                          <p:attrName>ppt_w</p:attrName>
                                        </p:attrNameLst>
                                      </p:cBhvr>
                                      <p:tavLst>
                                        <p:tav tm="0">
                                          <p:val>
                                            <p:fltVal val="0"/>
                                          </p:val>
                                        </p:tav>
                                        <p:tav tm="100000">
                                          <p:val>
                                            <p:strVal val="#ppt_w"/>
                                          </p:val>
                                        </p:tav>
                                      </p:tavLst>
                                    </p:anim>
                                    <p:anim calcmode="lin" valueType="num">
                                      <p:cBhvr>
                                        <p:cTn id="72" dur="600" fill="hold"/>
                                        <p:tgtEl>
                                          <p:spTgt spid="22"/>
                                        </p:tgtEl>
                                        <p:attrNameLst>
                                          <p:attrName>ppt_h</p:attrName>
                                        </p:attrNameLst>
                                      </p:cBhvr>
                                      <p:tavLst>
                                        <p:tav tm="0">
                                          <p:val>
                                            <p:fltVal val="0"/>
                                          </p:val>
                                        </p:tav>
                                        <p:tav tm="100000">
                                          <p:val>
                                            <p:strVal val="#ppt_h"/>
                                          </p:val>
                                        </p:tav>
                                      </p:tavLst>
                                    </p:anim>
                                    <p:animEffect transition="in" filter="fade">
                                      <p:cBhvr>
                                        <p:cTn id="73" dur="600"/>
                                        <p:tgtEl>
                                          <p:spTgt spid="22"/>
                                        </p:tgtEl>
                                      </p:cBhvr>
                                    </p:animEffect>
                                  </p:childTnLst>
                                </p:cTn>
                              </p:par>
                              <p:par>
                                <p:cTn id="74" presetID="10" presetClass="entr" presetSubtype="0" fill="hold" grpId="0" nodeType="withEffect">
                                  <p:stCondLst>
                                    <p:cond delay="185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600"/>
                                        <p:tgtEl>
                                          <p:spTgt spid="23"/>
                                        </p:tgtEl>
                                      </p:cBhvr>
                                    </p:animEffect>
                                  </p:childTnLst>
                                </p:cTn>
                              </p:par>
                              <p:par>
                                <p:cTn id="77" presetID="10" presetClass="entr" presetSubtype="0" fill="hold" grpId="0" nodeType="withEffect">
                                  <p:stCondLst>
                                    <p:cond delay="185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600"/>
                                        <p:tgtEl>
                                          <p:spTgt spid="25"/>
                                        </p:tgtEl>
                                      </p:cBhvr>
                                    </p:animEffect>
                                  </p:childTnLst>
                                </p:cTn>
                              </p:par>
                              <p:par>
                                <p:cTn id="80" presetID="10" presetClass="entr" presetSubtype="0" fill="hold" grpId="0" nodeType="withEffect">
                                  <p:stCondLst>
                                    <p:cond delay="185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600"/>
                                        <p:tgtEl>
                                          <p:spTgt spid="26"/>
                                        </p:tgtEl>
                                      </p:cBhvr>
                                    </p:animEffect>
                                  </p:childTnLst>
                                </p:cTn>
                              </p:par>
                              <p:par>
                                <p:cTn id="83" presetID="22" presetClass="entr" presetSubtype="4" fill="hold" grpId="0" nodeType="withEffect">
                                  <p:stCondLst>
                                    <p:cond delay="1850"/>
                                  </p:stCondLst>
                                  <p:childTnLst>
                                    <p:set>
                                      <p:cBhvr>
                                        <p:cTn id="84" dur="1" fill="hold">
                                          <p:stCondLst>
                                            <p:cond delay="0"/>
                                          </p:stCondLst>
                                        </p:cTn>
                                        <p:tgtEl>
                                          <p:spTgt spid="24"/>
                                        </p:tgtEl>
                                        <p:attrNameLst>
                                          <p:attrName>style.visibility</p:attrName>
                                        </p:attrNameLst>
                                      </p:cBhvr>
                                      <p:to>
                                        <p:strVal val="visible"/>
                                      </p:to>
                                    </p:set>
                                    <p:animEffect transition="in" filter="wipe(up)">
                                      <p:cBhvr>
                                        <p:cTn id="85" dur="900"/>
                                        <p:tgtEl>
                                          <p:spTgt spid="24"/>
                                        </p:tgtEl>
                                      </p:cBhvr>
                                    </p:animEffect>
                                  </p:childTnLst>
                                </p:cTn>
                              </p:par>
                              <p:par>
                                <p:cTn id="86" presetID="22" presetClass="entr" presetSubtype="8" fill="hold" grpId="0" nodeType="withEffect">
                                  <p:stCondLst>
                                    <p:cond delay="2300"/>
                                  </p:stCondLst>
                                  <p:childTnLst>
                                    <p:set>
                                      <p:cBhvr>
                                        <p:cTn id="87" dur="1" fill="hold">
                                          <p:stCondLst>
                                            <p:cond delay="0"/>
                                          </p:stCondLst>
                                        </p:cTn>
                                        <p:tgtEl>
                                          <p:spTgt spid="8"/>
                                        </p:tgtEl>
                                        <p:attrNameLst>
                                          <p:attrName>style.visibility</p:attrName>
                                        </p:attrNameLst>
                                      </p:cBhvr>
                                      <p:to>
                                        <p:strVal val="visible"/>
                                      </p:to>
                                    </p:set>
                                    <p:animEffect transition="in" filter="wipe(left)">
                                      <p:cBhvr>
                                        <p:cTn id="88" dur="600"/>
                                        <p:tgtEl>
                                          <p:spTgt spid="8"/>
                                        </p:tgtEl>
                                      </p:cBhvr>
                                    </p:animEffect>
                                  </p:childTnLst>
                                </p:cTn>
                              </p:par>
                              <p:par>
                                <p:cTn id="89" presetID="53" presetClass="entr" presetSubtype="16" fill="hold" grpId="0" nodeType="withEffect">
                                  <p:stCondLst>
                                    <p:cond delay="2400"/>
                                  </p:stCondLst>
                                  <p:childTnLst>
                                    <p:set>
                                      <p:cBhvr>
                                        <p:cTn id="90" dur="1" fill="hold">
                                          <p:stCondLst>
                                            <p:cond delay="0"/>
                                          </p:stCondLst>
                                        </p:cTn>
                                        <p:tgtEl>
                                          <p:spTgt spid="27"/>
                                        </p:tgtEl>
                                        <p:attrNameLst>
                                          <p:attrName>style.visibility</p:attrName>
                                        </p:attrNameLst>
                                      </p:cBhvr>
                                      <p:to>
                                        <p:strVal val="visible"/>
                                      </p:to>
                                    </p:set>
                                    <p:anim calcmode="lin" valueType="num">
                                      <p:cBhvr>
                                        <p:cTn id="91" dur="600" fill="hold"/>
                                        <p:tgtEl>
                                          <p:spTgt spid="27"/>
                                        </p:tgtEl>
                                        <p:attrNameLst>
                                          <p:attrName>ppt_w</p:attrName>
                                        </p:attrNameLst>
                                      </p:cBhvr>
                                      <p:tavLst>
                                        <p:tav tm="0">
                                          <p:val>
                                            <p:fltVal val="0"/>
                                          </p:val>
                                        </p:tav>
                                        <p:tav tm="100000">
                                          <p:val>
                                            <p:strVal val="#ppt_w"/>
                                          </p:val>
                                        </p:tav>
                                      </p:tavLst>
                                    </p:anim>
                                    <p:anim calcmode="lin" valueType="num">
                                      <p:cBhvr>
                                        <p:cTn id="92" dur="600" fill="hold"/>
                                        <p:tgtEl>
                                          <p:spTgt spid="27"/>
                                        </p:tgtEl>
                                        <p:attrNameLst>
                                          <p:attrName>ppt_h</p:attrName>
                                        </p:attrNameLst>
                                      </p:cBhvr>
                                      <p:tavLst>
                                        <p:tav tm="0">
                                          <p:val>
                                            <p:fltVal val="0"/>
                                          </p:val>
                                        </p:tav>
                                        <p:tav tm="100000">
                                          <p:val>
                                            <p:strVal val="#ppt_h"/>
                                          </p:val>
                                        </p:tav>
                                      </p:tavLst>
                                    </p:anim>
                                    <p:animEffect transition="in" filter="fade">
                                      <p:cBhvr>
                                        <p:cTn id="93" dur="600"/>
                                        <p:tgtEl>
                                          <p:spTgt spid="27"/>
                                        </p:tgtEl>
                                      </p:cBhvr>
                                    </p:animEffect>
                                  </p:childTnLst>
                                </p:cTn>
                              </p:par>
                              <p:par>
                                <p:cTn id="94" presetID="53" presetClass="entr" presetSubtype="16" fill="hold" grpId="0" nodeType="withEffect">
                                  <p:stCondLst>
                                    <p:cond delay="2400"/>
                                  </p:stCondLst>
                                  <p:childTnLst>
                                    <p:set>
                                      <p:cBhvr>
                                        <p:cTn id="95" dur="1" fill="hold">
                                          <p:stCondLst>
                                            <p:cond delay="0"/>
                                          </p:stCondLst>
                                        </p:cTn>
                                        <p:tgtEl>
                                          <p:spTgt spid="28"/>
                                        </p:tgtEl>
                                        <p:attrNameLst>
                                          <p:attrName>style.visibility</p:attrName>
                                        </p:attrNameLst>
                                      </p:cBhvr>
                                      <p:to>
                                        <p:strVal val="visible"/>
                                      </p:to>
                                    </p:set>
                                    <p:anim calcmode="lin" valueType="num">
                                      <p:cBhvr>
                                        <p:cTn id="96" dur="600" fill="hold"/>
                                        <p:tgtEl>
                                          <p:spTgt spid="28"/>
                                        </p:tgtEl>
                                        <p:attrNameLst>
                                          <p:attrName>ppt_w</p:attrName>
                                        </p:attrNameLst>
                                      </p:cBhvr>
                                      <p:tavLst>
                                        <p:tav tm="0">
                                          <p:val>
                                            <p:fltVal val="0"/>
                                          </p:val>
                                        </p:tav>
                                        <p:tav tm="100000">
                                          <p:val>
                                            <p:strVal val="#ppt_w"/>
                                          </p:val>
                                        </p:tav>
                                      </p:tavLst>
                                    </p:anim>
                                    <p:anim calcmode="lin" valueType="num">
                                      <p:cBhvr>
                                        <p:cTn id="97" dur="600" fill="hold"/>
                                        <p:tgtEl>
                                          <p:spTgt spid="28"/>
                                        </p:tgtEl>
                                        <p:attrNameLst>
                                          <p:attrName>ppt_h</p:attrName>
                                        </p:attrNameLst>
                                      </p:cBhvr>
                                      <p:tavLst>
                                        <p:tav tm="0">
                                          <p:val>
                                            <p:fltVal val="0"/>
                                          </p:val>
                                        </p:tav>
                                        <p:tav tm="100000">
                                          <p:val>
                                            <p:strVal val="#ppt_h"/>
                                          </p:val>
                                        </p:tav>
                                      </p:tavLst>
                                    </p:anim>
                                    <p:animEffect transition="in" filter="fade">
                                      <p:cBhvr>
                                        <p:cTn id="98" dur="600"/>
                                        <p:tgtEl>
                                          <p:spTgt spid="28"/>
                                        </p:tgtEl>
                                      </p:cBhvr>
                                    </p:animEffect>
                                  </p:childTnLst>
                                </p:cTn>
                              </p:par>
                              <p:par>
                                <p:cTn id="99" presetID="10" presetClass="entr" presetSubtype="0" fill="hold" grpId="0" nodeType="withEffect">
                                  <p:stCondLst>
                                    <p:cond delay="2550"/>
                                  </p:stCondLst>
                                  <p:childTnLst>
                                    <p:set>
                                      <p:cBhvr>
                                        <p:cTn id="100" dur="1" fill="hold">
                                          <p:stCondLst>
                                            <p:cond delay="0"/>
                                          </p:stCondLst>
                                        </p:cTn>
                                        <p:tgtEl>
                                          <p:spTgt spid="29"/>
                                        </p:tgtEl>
                                        <p:attrNameLst>
                                          <p:attrName>style.visibility</p:attrName>
                                        </p:attrNameLst>
                                      </p:cBhvr>
                                      <p:to>
                                        <p:strVal val="visible"/>
                                      </p:to>
                                    </p:set>
                                    <p:animEffect transition="in" filter="fade">
                                      <p:cBhvr>
                                        <p:cTn id="101" dur="600"/>
                                        <p:tgtEl>
                                          <p:spTgt spid="29"/>
                                        </p:tgtEl>
                                      </p:cBhvr>
                                    </p:animEffect>
                                  </p:childTnLst>
                                </p:cTn>
                              </p:par>
                              <p:par>
                                <p:cTn id="102" presetID="10" presetClass="entr" presetSubtype="0" fill="hold" grpId="0" nodeType="withEffect">
                                  <p:stCondLst>
                                    <p:cond delay="2550"/>
                                  </p:stCondLst>
                                  <p:childTnLst>
                                    <p:set>
                                      <p:cBhvr>
                                        <p:cTn id="103" dur="1" fill="hold">
                                          <p:stCondLst>
                                            <p:cond delay="0"/>
                                          </p:stCondLst>
                                        </p:cTn>
                                        <p:tgtEl>
                                          <p:spTgt spid="31"/>
                                        </p:tgtEl>
                                        <p:attrNameLst>
                                          <p:attrName>style.visibility</p:attrName>
                                        </p:attrNameLst>
                                      </p:cBhvr>
                                      <p:to>
                                        <p:strVal val="visible"/>
                                      </p:to>
                                    </p:set>
                                    <p:animEffect transition="in" filter="fade">
                                      <p:cBhvr>
                                        <p:cTn id="104" dur="600"/>
                                        <p:tgtEl>
                                          <p:spTgt spid="31"/>
                                        </p:tgtEl>
                                      </p:cBhvr>
                                    </p:animEffect>
                                  </p:childTnLst>
                                </p:cTn>
                              </p:par>
                              <p:par>
                                <p:cTn id="105" presetID="10" presetClass="entr" presetSubtype="0" fill="hold" grpId="0" nodeType="withEffect">
                                  <p:stCondLst>
                                    <p:cond delay="2550"/>
                                  </p:stCondLst>
                                  <p:childTnLst>
                                    <p:set>
                                      <p:cBhvr>
                                        <p:cTn id="106" dur="1" fill="hold">
                                          <p:stCondLst>
                                            <p:cond delay="0"/>
                                          </p:stCondLst>
                                        </p:cTn>
                                        <p:tgtEl>
                                          <p:spTgt spid="32"/>
                                        </p:tgtEl>
                                        <p:attrNameLst>
                                          <p:attrName>style.visibility</p:attrName>
                                        </p:attrNameLst>
                                      </p:cBhvr>
                                      <p:to>
                                        <p:strVal val="visible"/>
                                      </p:to>
                                    </p:set>
                                    <p:animEffect transition="in" filter="fade">
                                      <p:cBhvr>
                                        <p:cTn id="107" dur="600"/>
                                        <p:tgtEl>
                                          <p:spTgt spid="32"/>
                                        </p:tgtEl>
                                      </p:cBhvr>
                                    </p:animEffect>
                                  </p:childTnLst>
                                </p:cTn>
                              </p:par>
                              <p:par>
                                <p:cTn id="108" presetID="22" presetClass="entr" presetSubtype="4" fill="hold" grpId="0" nodeType="withEffect">
                                  <p:stCondLst>
                                    <p:cond delay="2550"/>
                                  </p:stCondLst>
                                  <p:childTnLst>
                                    <p:set>
                                      <p:cBhvr>
                                        <p:cTn id="109" dur="1" fill="hold">
                                          <p:stCondLst>
                                            <p:cond delay="0"/>
                                          </p:stCondLst>
                                        </p:cTn>
                                        <p:tgtEl>
                                          <p:spTgt spid="30"/>
                                        </p:tgtEl>
                                        <p:attrNameLst>
                                          <p:attrName>style.visibility</p:attrName>
                                        </p:attrNameLst>
                                      </p:cBhvr>
                                      <p:to>
                                        <p:strVal val="visible"/>
                                      </p:to>
                                    </p:set>
                                    <p:animEffect transition="in" filter="wipe(up)">
                                      <p:cBhvr>
                                        <p:cTn id="110" dur="9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0" grpId="0" animBg="1"/>
      <p:bldP spid="13" grpId="0" animBg="1"/>
      <p:bldP spid="14" grpId="0" animBg="1"/>
      <p:bldP spid="16" grpId="0" animBg="1"/>
      <p:bldP spid="19" grpId="0" animBg="1"/>
      <p:bldP spid="20" grpId="0" animBg="1"/>
      <p:bldP spid="22" grpId="0" animBg="1"/>
      <p:bldP spid="25" grpId="0" animBg="1"/>
      <p:bldP spid="26" grpId="0" animBg="1"/>
      <p:bldP spid="28" grpId="0" animBg="1"/>
      <p:bldP spid="31" grpId="0" animBg="1"/>
      <p:bldP spid="3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914400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Conclusion</a:t>
            </a:r>
            <a:endParaRPr lang="fr-FR" sz="1300" dirty="0"/>
          </a:p>
        </p:txBody>
      </p:sp>
      <p:sp>
        <p:nvSpPr>
          <p:cNvPr id="3" name="title"/>
          <p:cNvSpPr txBox="1"/>
          <p:nvPr/>
        </p:nvSpPr>
        <p:spPr>
          <a:xfrm>
            <a:off x="640080" y="676656"/>
            <a:ext cx="10058400"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Un circuit sérieux, à moderniser</a:t>
            </a:r>
            <a:endParaRPr lang="fr-FR" sz="3000" dirty="0"/>
          </a:p>
        </p:txBody>
      </p:sp>
      <p:sp>
        <p:nvSpPr>
          <p:cNvPr id="4" name="!!rule"/>
          <p:cNvSpPr/>
          <p:nvPr/>
        </p:nvSpPr>
        <p:spPr>
          <a:xfrm>
            <a:off x="640080" y="1417320"/>
            <a:ext cx="731520" cy="45720"/>
          </a:xfrm>
          <a:prstGeom prst="rect">
            <a:avLst/>
          </a:prstGeom>
          <a:solidFill>
            <a:srgbClr val="00923A"/>
          </a:solidFill>
          <a:ln w="12700">
            <a:solidFill>
              <a:srgbClr val="00923A"/>
            </a:solidFill>
            <a:prstDash val="solid"/>
          </a:ln>
        </p:spPr>
      </p:sp>
      <p:sp>
        <p:nvSpPr>
          <p:cNvPr id="5" name="cb0"/>
          <p:cNvSpPr/>
          <p:nvPr/>
        </p:nvSpPr>
        <p:spPr>
          <a:xfrm>
            <a:off x="685800" y="1783080"/>
            <a:ext cx="6766560" cy="1097280"/>
          </a:xfrm>
          <a:prstGeom prst="rect">
            <a:avLst/>
          </a:prstGeom>
          <a:solidFill>
            <a:srgbClr val="FFFFFF"/>
          </a:solidFill>
          <a:ln w="9525">
            <a:solidFill>
              <a:srgbClr val="D9DFEA"/>
            </a:solidFill>
            <a:prstDash val="solid"/>
          </a:ln>
        </p:spPr>
      </p:sp>
      <p:sp>
        <p:nvSpPr>
          <p:cNvPr id="6" name="cb0b"/>
          <p:cNvSpPr/>
          <p:nvPr/>
        </p:nvSpPr>
        <p:spPr>
          <a:xfrm>
            <a:off x="685800" y="1783080"/>
            <a:ext cx="54864" cy="1097280"/>
          </a:xfrm>
          <a:prstGeom prst="rect">
            <a:avLst/>
          </a:prstGeom>
          <a:solidFill>
            <a:srgbClr val="00923A"/>
          </a:solidFill>
          <a:ln w="12700">
            <a:solidFill>
              <a:srgbClr val="00923A"/>
            </a:solidFill>
            <a:prstDash val="solid"/>
          </a:ln>
        </p:spPr>
      </p:sp>
      <p:sp>
        <p:nvSpPr>
          <p:cNvPr id="7" name="cnt0"/>
          <p:cNvSpPr txBox="1"/>
          <p:nvPr/>
        </p:nvSpPr>
        <p:spPr>
          <a:xfrm>
            <a:off x="960120" y="1965960"/>
            <a:ext cx="548640" cy="731520"/>
          </a:xfrm>
          <a:prstGeom prst="rect">
            <a:avLst/>
          </a:prstGeom>
          <a:noFill/>
          <a:ln/>
        </p:spPr>
        <p:txBody>
          <a:bodyPr wrap="square" lIns="0" tIns="0" rIns="0" bIns="0" rtlCol="0" anchor="t"/>
          <a:lstStyle/>
          <a:p>
            <a:pPr indent="0" marL="0">
              <a:buNone/>
            </a:pPr>
            <a:r>
              <a:rPr lang="fr-FR" altLang="en-US" sz="3200" b="1" dirty="0">
                <a:solidFill>
                  <a:srgbClr val="00923A"/>
                </a:solidFill>
                <a:latin typeface="Calibri" pitchFamily="34" charset="0"/>
                <a:ea typeface="Calibri" pitchFamily="34" charset="-122"/>
                <a:cs typeface="Calibri" pitchFamily="34" charset="-120"/>
              </a:rPr>
              <a:t>1</a:t>
            </a:r>
            <a:endParaRPr lang="fr-FR" sz="3200" dirty="0"/>
          </a:p>
        </p:txBody>
      </p:sp>
      <p:sp>
        <p:nvSpPr>
          <p:cNvPr id="8" name="ct0"/>
          <p:cNvSpPr txBox="1"/>
          <p:nvPr/>
        </p:nvSpPr>
        <p:spPr>
          <a:xfrm>
            <a:off x="1645920" y="1938528"/>
            <a:ext cx="5669280" cy="822960"/>
          </a:xfrm>
          <a:prstGeom prst="rect">
            <a:avLst/>
          </a:prstGeom>
          <a:noFill/>
          <a:ln/>
        </p:spPr>
        <p:txBody>
          <a:bodyPr wrap="square" lIns="0" tIns="0" rIns="0" bIns="0" rtlCol="0" anchor="t"/>
          <a:lstStyle/>
          <a:p>
            <a:pPr indent="0" marL="0">
              <a:buNone/>
            </a:pPr>
            <a:r>
              <a:rPr lang="fr-FR" altLang="en-US" sz="1900" b="1" dirty="0">
                <a:solidFill>
                  <a:srgbClr val="0E1C46"/>
                </a:solidFill>
                <a:latin typeface="Calibri" pitchFamily="34" charset="0"/>
                <a:ea typeface="Calibri" pitchFamily="34" charset="-122"/>
                <a:cs typeface="Calibri" pitchFamily="34" charset="-120"/>
              </a:rPr>
              <a:t>Un circuit fiable</a:t>
            </a:r>
            <a:endParaRPr lang="fr-FR" sz="1900" dirty="0"/>
          </a:p>
          <a:p>
            <a:pPr indent="0" marL="0">
              <a:buNone/>
            </a:pPr>
            <a:r>
              <a:rPr lang="fr-FR" altLang="en-US" sz="1400" dirty="0">
                <a:solidFill>
                  <a:srgbClr val="56617C"/>
                </a:solidFill>
                <a:latin typeface="Calibri" pitchFamily="34" charset="0"/>
                <a:ea typeface="Calibri" pitchFamily="34" charset="-122"/>
                <a:cs typeface="Calibri" pitchFamily="34" charset="-120"/>
              </a:rPr>
              <a:t>Étapes claires, décharges systématiques, aucune perte constatée.</a:t>
            </a:r>
            <a:endParaRPr lang="fr-FR" sz="1900" dirty="0"/>
          </a:p>
        </p:txBody>
      </p:sp>
      <p:sp>
        <p:nvSpPr>
          <p:cNvPr id="9" name="cb1"/>
          <p:cNvSpPr/>
          <p:nvPr/>
        </p:nvSpPr>
        <p:spPr>
          <a:xfrm>
            <a:off x="685800" y="3063240"/>
            <a:ext cx="6766560" cy="1097280"/>
          </a:xfrm>
          <a:prstGeom prst="rect">
            <a:avLst/>
          </a:prstGeom>
          <a:solidFill>
            <a:srgbClr val="FFFFFF"/>
          </a:solidFill>
          <a:ln w="9525">
            <a:solidFill>
              <a:srgbClr val="D9DFEA"/>
            </a:solidFill>
            <a:prstDash val="solid"/>
          </a:ln>
        </p:spPr>
      </p:sp>
      <p:sp>
        <p:nvSpPr>
          <p:cNvPr id="10" name="cb1b"/>
          <p:cNvSpPr/>
          <p:nvPr/>
        </p:nvSpPr>
        <p:spPr>
          <a:xfrm>
            <a:off x="685800" y="3063240"/>
            <a:ext cx="54864" cy="1097280"/>
          </a:xfrm>
          <a:prstGeom prst="rect">
            <a:avLst/>
          </a:prstGeom>
          <a:solidFill>
            <a:srgbClr val="9A6A00"/>
          </a:solidFill>
          <a:ln w="12700">
            <a:solidFill>
              <a:srgbClr val="9A6A00"/>
            </a:solidFill>
            <a:prstDash val="solid"/>
          </a:ln>
        </p:spPr>
      </p:sp>
      <p:sp>
        <p:nvSpPr>
          <p:cNvPr id="11" name="cnt1"/>
          <p:cNvSpPr txBox="1"/>
          <p:nvPr/>
        </p:nvSpPr>
        <p:spPr>
          <a:xfrm>
            <a:off x="960120" y="3246120"/>
            <a:ext cx="548640" cy="731520"/>
          </a:xfrm>
          <a:prstGeom prst="rect">
            <a:avLst/>
          </a:prstGeom>
          <a:noFill/>
          <a:ln/>
        </p:spPr>
        <p:txBody>
          <a:bodyPr wrap="square" lIns="0" tIns="0" rIns="0" bIns="0" rtlCol="0" anchor="t"/>
          <a:lstStyle/>
          <a:p>
            <a:pPr indent="0" marL="0">
              <a:buNone/>
            </a:pPr>
            <a:r>
              <a:rPr lang="fr-FR" altLang="en-US" sz="3200" b="1" dirty="0">
                <a:solidFill>
                  <a:srgbClr val="9A6A00"/>
                </a:solidFill>
                <a:latin typeface="Calibri" pitchFamily="34" charset="0"/>
                <a:ea typeface="Calibri" pitchFamily="34" charset="-122"/>
                <a:cs typeface="Calibri" pitchFamily="34" charset="-120"/>
              </a:rPr>
              <a:t>2</a:t>
            </a:r>
            <a:endParaRPr lang="fr-FR" sz="3200" dirty="0"/>
          </a:p>
        </p:txBody>
      </p:sp>
      <p:sp>
        <p:nvSpPr>
          <p:cNvPr id="12" name="ct1"/>
          <p:cNvSpPr txBox="1"/>
          <p:nvPr/>
        </p:nvSpPr>
        <p:spPr>
          <a:xfrm>
            <a:off x="1645920" y="3218688"/>
            <a:ext cx="5669280" cy="822960"/>
          </a:xfrm>
          <a:prstGeom prst="rect">
            <a:avLst/>
          </a:prstGeom>
          <a:noFill/>
          <a:ln/>
        </p:spPr>
        <p:txBody>
          <a:bodyPr wrap="square" lIns="0" tIns="0" rIns="0" bIns="0" rtlCol="0" anchor="t"/>
          <a:lstStyle/>
          <a:p>
            <a:pPr indent="0" marL="0">
              <a:buNone/>
            </a:pPr>
            <a:r>
              <a:rPr lang="fr-FR" altLang="en-US" sz="1900" b="1" dirty="0">
                <a:solidFill>
                  <a:srgbClr val="0E1C46"/>
                </a:solidFill>
                <a:latin typeface="Calibri" pitchFamily="34" charset="0"/>
                <a:ea typeface="Calibri" pitchFamily="34" charset="-122"/>
                <a:cs typeface="Calibri" pitchFamily="34" charset="-120"/>
              </a:rPr>
              <a:t>Mais une rapidité limitée</a:t>
            </a:r>
            <a:endParaRPr lang="fr-FR" sz="1900" dirty="0"/>
          </a:p>
          <a:p>
            <a:pPr indent="0" marL="0">
              <a:buNone/>
            </a:pPr>
            <a:r>
              <a:rPr lang="fr-FR" altLang="en-US" sz="1400" dirty="0">
                <a:solidFill>
                  <a:srgbClr val="56617C"/>
                </a:solidFill>
                <a:latin typeface="Calibri" pitchFamily="34" charset="0"/>
                <a:ea typeface="Calibri" pitchFamily="34" charset="-122"/>
                <a:cs typeface="Calibri" pitchFamily="34" charset="-120"/>
              </a:rPr>
              <a:t>Dépendance envers quelques responsables, moyens insuffisants, suivi manuel.</a:t>
            </a:r>
            <a:endParaRPr lang="fr-FR" sz="1900" dirty="0"/>
          </a:p>
        </p:txBody>
      </p:sp>
      <p:sp>
        <p:nvSpPr>
          <p:cNvPr id="13" name="cb2"/>
          <p:cNvSpPr/>
          <p:nvPr/>
        </p:nvSpPr>
        <p:spPr>
          <a:xfrm>
            <a:off x="685800" y="4343400"/>
            <a:ext cx="6766560" cy="1097280"/>
          </a:xfrm>
          <a:prstGeom prst="rect">
            <a:avLst/>
          </a:prstGeom>
          <a:solidFill>
            <a:srgbClr val="FFFFFF"/>
          </a:solidFill>
          <a:ln w="9525">
            <a:solidFill>
              <a:srgbClr val="D9DFEA"/>
            </a:solidFill>
            <a:prstDash val="solid"/>
          </a:ln>
        </p:spPr>
      </p:sp>
      <p:sp>
        <p:nvSpPr>
          <p:cNvPr id="14" name="cb2b"/>
          <p:cNvSpPr/>
          <p:nvPr/>
        </p:nvSpPr>
        <p:spPr>
          <a:xfrm>
            <a:off x="685800" y="4343400"/>
            <a:ext cx="54864" cy="1097280"/>
          </a:xfrm>
          <a:prstGeom prst="rect">
            <a:avLst/>
          </a:prstGeom>
          <a:solidFill>
            <a:srgbClr val="1B3F9E"/>
          </a:solidFill>
          <a:ln w="12700">
            <a:solidFill>
              <a:srgbClr val="1B3F9E"/>
            </a:solidFill>
            <a:prstDash val="solid"/>
          </a:ln>
        </p:spPr>
      </p:sp>
      <p:sp>
        <p:nvSpPr>
          <p:cNvPr id="15" name="cnt2"/>
          <p:cNvSpPr txBox="1"/>
          <p:nvPr/>
        </p:nvSpPr>
        <p:spPr>
          <a:xfrm>
            <a:off x="960120" y="4526280"/>
            <a:ext cx="548640" cy="731520"/>
          </a:xfrm>
          <a:prstGeom prst="rect">
            <a:avLst/>
          </a:prstGeom>
          <a:noFill/>
          <a:ln/>
        </p:spPr>
        <p:txBody>
          <a:bodyPr wrap="square" lIns="0" tIns="0" rIns="0" bIns="0" rtlCol="0" anchor="t"/>
          <a:lstStyle/>
          <a:p>
            <a:pPr indent="0" marL="0">
              <a:buNone/>
            </a:pPr>
            <a:r>
              <a:rPr lang="fr-FR" altLang="en-US" sz="3200" b="1" dirty="0">
                <a:solidFill>
                  <a:srgbClr val="1B3F9E"/>
                </a:solidFill>
                <a:latin typeface="Calibri" pitchFamily="34" charset="0"/>
                <a:ea typeface="Calibri" pitchFamily="34" charset="-122"/>
                <a:cs typeface="Calibri" pitchFamily="34" charset="-120"/>
              </a:rPr>
              <a:t>3</a:t>
            </a:r>
            <a:endParaRPr lang="fr-FR" sz="3200" dirty="0"/>
          </a:p>
        </p:txBody>
      </p:sp>
      <p:sp>
        <p:nvSpPr>
          <p:cNvPr id="16" name="ct2"/>
          <p:cNvSpPr txBox="1"/>
          <p:nvPr/>
        </p:nvSpPr>
        <p:spPr>
          <a:xfrm>
            <a:off x="1645920" y="4498848"/>
            <a:ext cx="5669280" cy="822960"/>
          </a:xfrm>
          <a:prstGeom prst="rect">
            <a:avLst/>
          </a:prstGeom>
          <a:noFill/>
          <a:ln/>
        </p:spPr>
        <p:txBody>
          <a:bodyPr wrap="square" lIns="0" tIns="0" rIns="0" bIns="0" rtlCol="0" anchor="t"/>
          <a:lstStyle/>
          <a:p>
            <a:pPr indent="0" marL="0">
              <a:buNone/>
            </a:pPr>
            <a:r>
              <a:rPr lang="fr-FR" altLang="en-US" sz="1900" b="1" dirty="0">
                <a:solidFill>
                  <a:srgbClr val="0E1C46"/>
                </a:solidFill>
                <a:latin typeface="Calibri" pitchFamily="34" charset="0"/>
                <a:ea typeface="Calibri" pitchFamily="34" charset="-122"/>
                <a:cs typeface="Calibri" pitchFamily="34" charset="-120"/>
              </a:rPr>
              <a:t>Une voie claire</a:t>
            </a:r>
            <a:endParaRPr lang="fr-FR" sz="1900" dirty="0"/>
          </a:p>
          <a:p>
            <a:pPr indent="0" marL="0">
              <a:buNone/>
            </a:pPr>
            <a:r>
              <a:rPr lang="fr-FR" altLang="en-US" sz="1400" dirty="0">
                <a:solidFill>
                  <a:srgbClr val="56617C"/>
                </a:solidFill>
                <a:latin typeface="Calibri" pitchFamily="34" charset="0"/>
                <a:ea typeface="Calibri" pitchFamily="34" charset="-122"/>
                <a:cs typeface="Calibri" pitchFamily="34" charset="-120"/>
              </a:rPr>
              <a:t>Moins dépendant de quelques personnes, mieux équipé, progressivement numérique.</a:t>
            </a:r>
            <a:endParaRPr lang="fr-FR" sz="1900" dirty="0"/>
          </a:p>
        </p:txBody>
      </p:sp>
      <p:sp>
        <p:nvSpPr>
          <p:cNvPr id="17" name="persp"/>
          <p:cNvSpPr/>
          <p:nvPr/>
        </p:nvSpPr>
        <p:spPr>
          <a:xfrm>
            <a:off x="7863840" y="1783080"/>
            <a:ext cx="3429000" cy="3657600"/>
          </a:xfrm>
          <a:prstGeom prst="rect">
            <a:avLst/>
          </a:prstGeom>
          <a:solidFill>
            <a:srgbClr val="EEF2FB"/>
          </a:solidFill>
          <a:ln w="9525">
            <a:solidFill>
              <a:srgbClr val="D9DFEA"/>
            </a:solidFill>
            <a:prstDash val="solid"/>
          </a:ln>
        </p:spPr>
      </p:sp>
      <p:sp>
        <p:nvSpPr>
          <p:cNvPr id="18" name="perspb"/>
          <p:cNvSpPr/>
          <p:nvPr/>
        </p:nvSpPr>
        <p:spPr>
          <a:xfrm>
            <a:off x="7863840" y="1783080"/>
            <a:ext cx="54864" cy="3657600"/>
          </a:xfrm>
          <a:prstGeom prst="rect">
            <a:avLst/>
          </a:prstGeom>
          <a:solidFill>
            <a:srgbClr val="1B3F9E"/>
          </a:solidFill>
          <a:ln w="12700">
            <a:solidFill>
              <a:srgbClr val="1B3F9E"/>
            </a:solidFill>
            <a:prstDash val="solid"/>
          </a:ln>
        </p:spPr>
      </p:sp>
      <p:sp>
        <p:nvSpPr>
          <p:cNvPr id="19" name="perspt"/>
          <p:cNvSpPr txBox="1"/>
          <p:nvPr/>
        </p:nvSpPr>
        <p:spPr>
          <a:xfrm>
            <a:off x="8183880" y="2011680"/>
            <a:ext cx="2926080" cy="3200400"/>
          </a:xfrm>
          <a:prstGeom prst="rect">
            <a:avLst/>
          </a:prstGeom>
          <a:noFill/>
          <a:ln/>
        </p:spPr>
        <p:txBody>
          <a:bodyPr wrap="square" lIns="0" tIns="0" rIns="0" bIns="0" rtlCol="0" anchor="t"/>
          <a:lstStyle/>
          <a:p>
            <a:pPr indent="0" marL="0">
              <a:buNone/>
            </a:pPr>
            <a:r>
              <a:rPr lang="fr-FR" altLang="en-US" sz="1800" b="1" dirty="0">
                <a:solidFill>
                  <a:srgbClr val="1B3F9E"/>
                </a:solidFill>
                <a:latin typeface="Calibri" pitchFamily="34" charset="0"/>
                <a:ea typeface="Calibri" pitchFamily="34" charset="-122"/>
                <a:cs typeface="Calibri" pitchFamily="34" charset="-120"/>
              </a:rPr>
              <a:t>Perspective</a:t>
            </a:r>
            <a:endParaRPr lang="fr-FR" sz="1800" dirty="0"/>
          </a:p>
          <a:p>
            <a:pPr indent="0" marL="0">
              <a:buNone/>
            </a:pPr>
            <a:r>
              <a:rPr lang="fr-FR" altLang="en-US" sz="600" dirty="0">
                <a:solidFill>
                  <a:srgbClr val="0E1C46"/>
                </a:solidFill>
                <a:latin typeface="Calibri" pitchFamily="34" charset="0"/>
                <a:ea typeface="Calibri" pitchFamily="34" charset="-122"/>
                <a:cs typeface="Calibri" pitchFamily="34" charset="-120"/>
              </a:rPr>
              <a:t> </a:t>
            </a:r>
            <a:endParaRPr lang="fr-FR" sz="1800" dirty="0"/>
          </a:p>
          <a:p>
            <a:pPr indent="0" marL="0">
              <a:buNone/>
            </a:pPr>
            <a:r>
              <a:rPr lang="fr-FR" altLang="en-US" sz="1600" dirty="0">
                <a:solidFill>
                  <a:srgbClr val="0E1C46"/>
                </a:solidFill>
                <a:latin typeface="Calibri" pitchFamily="34" charset="0"/>
                <a:ea typeface="Calibri" pitchFamily="34" charset="-122"/>
                <a:cs typeface="Calibri" pitchFamily="34" charset="-120"/>
              </a:rPr>
              <a:t>Mesurer de façon systématique les délais de traitement sur un échantillon de courriers.</a:t>
            </a:r>
            <a:endParaRPr lang="fr-FR" sz="1800" dirty="0"/>
          </a:p>
        </p:txBody>
      </p:sp>
      <p:pic>
        <p:nvPicPr>
          <p:cNvPr id="20"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21"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2"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20 / 21</a:t>
            </a:r>
            <a:endParaRPr lang="fr-FR" sz="1000" dirty="0"/>
          </a:p>
        </p:txBody>
      </p:sp>
      <p:sp>
        <p:nvSpPr>
          <p:cNvPr id="23" name="!!band1"/>
          <p:cNvSpPr/>
          <p:nvPr/>
        </p:nvSpPr>
        <p:spPr>
          <a:xfrm>
            <a:off x="0" y="0"/>
            <a:ext cx="4873752" cy="64008"/>
          </a:xfrm>
          <a:prstGeom prst="rect">
            <a:avLst/>
          </a:prstGeom>
          <a:solidFill>
            <a:srgbClr val="1B3F9E"/>
          </a:solidFill>
          <a:ln w="12700">
            <a:solidFill>
              <a:srgbClr val="1B3F9E"/>
            </a:solidFill>
            <a:prstDash val="solid"/>
          </a:ln>
        </p:spPr>
      </p:sp>
      <p:sp>
        <p:nvSpPr>
          <p:cNvPr id="24" name="!!band2"/>
          <p:cNvSpPr/>
          <p:nvPr/>
        </p:nvSpPr>
        <p:spPr>
          <a:xfrm>
            <a:off x="4873752" y="0"/>
            <a:ext cx="4270248" cy="64008"/>
          </a:xfrm>
          <a:prstGeom prst="rect">
            <a:avLst/>
          </a:prstGeom>
          <a:solidFill>
            <a:srgbClr val="00923A"/>
          </a:solidFill>
          <a:ln w="12700">
            <a:solidFill>
              <a:srgbClr val="00923A"/>
            </a:solidFill>
            <a:prstDash val="solid"/>
          </a:ln>
        </p:spPr>
      </p:sp>
      <p:sp>
        <p:nvSpPr>
          <p:cNvPr id="25" name="!!band3"/>
          <p:cNvSpPr/>
          <p:nvPr/>
        </p:nvSpPr>
        <p:spPr>
          <a:xfrm>
            <a:off x="9144000" y="0"/>
            <a:ext cx="3047695" cy="64008"/>
          </a:xfrm>
          <a:prstGeom prst="rect">
            <a:avLst/>
          </a:prstGeom>
          <a:solidFill>
            <a:srgbClr val="FCC600"/>
          </a:solidFill>
          <a:ln w="12700">
            <a:solidFill>
              <a:srgbClr val="FCC600"/>
            </a:solidFill>
            <a:prstDash val="solid"/>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
                                        <p:tgtEl>
                                          <p:spTgt spid="5"/>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53" presetClass="entr" presetSubtype="16"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 calcmode="lin" valueType="num">
                                      <p:cBhvr>
                                        <p:cTn id="19" dur="600" fill="hold"/>
                                        <p:tgtEl>
                                          <p:spTgt spid="7"/>
                                        </p:tgtEl>
                                        <p:attrNameLst>
                                          <p:attrName>ppt_w</p:attrName>
                                        </p:attrNameLst>
                                      </p:cBhvr>
                                      <p:tavLst>
                                        <p:tav tm="0">
                                          <p:val>
                                            <p:fltVal val="0"/>
                                          </p:val>
                                        </p:tav>
                                        <p:tav tm="100000">
                                          <p:val>
                                            <p:strVal val="#ppt_w"/>
                                          </p:val>
                                        </p:tav>
                                      </p:tavLst>
                                    </p:anim>
                                    <p:anim calcmode="lin" valueType="num">
                                      <p:cBhvr>
                                        <p:cTn id="20" dur="600" fill="hold"/>
                                        <p:tgtEl>
                                          <p:spTgt spid="7"/>
                                        </p:tgtEl>
                                        <p:attrNameLst>
                                          <p:attrName>ppt_h</p:attrName>
                                        </p:attrNameLst>
                                      </p:cBhvr>
                                      <p:tavLst>
                                        <p:tav tm="0">
                                          <p:val>
                                            <p:fltVal val="0"/>
                                          </p:val>
                                        </p:tav>
                                        <p:tav tm="100000">
                                          <p:val>
                                            <p:strVal val="#ppt_h"/>
                                          </p:val>
                                        </p:tav>
                                      </p:tavLst>
                                    </p:anim>
                                    <p:animEffect transition="in" filter="fade">
                                      <p:cBhvr>
                                        <p:cTn id="21" dur="600"/>
                                        <p:tgtEl>
                                          <p:spTgt spid="7"/>
                                        </p:tgtEl>
                                      </p:cBhvr>
                                    </p:animEffect>
                                  </p:childTnLst>
                                </p:cTn>
                              </p:par>
                              <p:par>
                                <p:cTn id="22" presetID="10" presetClass="entr" presetSubtype="0" fill="hold" grpId="0" nodeType="withEffect">
                                  <p:stCondLst>
                                    <p:cond delay="4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600"/>
                                        <p:tgtEl>
                                          <p:spTgt spid="8"/>
                                        </p:tgtEl>
                                      </p:cBhvr>
                                    </p:animEffect>
                                  </p:childTnLst>
                                </p:cTn>
                              </p:par>
                              <p:par>
                                <p:cTn id="25" presetID="22" presetClass="entr" presetSubtype="8" fill="hold" grpId="0" nodeType="withEffect">
                                  <p:stCondLst>
                                    <p:cond delay="80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600"/>
                                        <p:tgtEl>
                                          <p:spTgt spid="9"/>
                                        </p:tgtEl>
                                      </p:cBhvr>
                                    </p:animEffect>
                                  </p:childTnLst>
                                </p:cTn>
                              </p:par>
                              <p:par>
                                <p:cTn id="28" presetID="10" presetClass="entr" presetSubtype="0" fill="hold" grpId="0" nodeType="withEffect">
                                  <p:stCondLst>
                                    <p:cond delay="8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childTnLst>
                                </p:cTn>
                              </p:par>
                              <p:par>
                                <p:cTn id="31" presetID="53" presetClass="entr" presetSubtype="16" fill="hold" grpId="0" nodeType="withEffect">
                                  <p:stCondLst>
                                    <p:cond delay="850"/>
                                  </p:stCondLst>
                                  <p:childTnLst>
                                    <p:set>
                                      <p:cBhvr>
                                        <p:cTn id="32" dur="1" fill="hold">
                                          <p:stCondLst>
                                            <p:cond delay="0"/>
                                          </p:stCondLst>
                                        </p:cTn>
                                        <p:tgtEl>
                                          <p:spTgt spid="11"/>
                                        </p:tgtEl>
                                        <p:attrNameLst>
                                          <p:attrName>style.visibility</p:attrName>
                                        </p:attrNameLst>
                                      </p:cBhvr>
                                      <p:to>
                                        <p:strVal val="visible"/>
                                      </p:to>
                                    </p:set>
                                    <p:anim calcmode="lin" valueType="num">
                                      <p:cBhvr>
                                        <p:cTn id="33" dur="600" fill="hold"/>
                                        <p:tgtEl>
                                          <p:spTgt spid="11"/>
                                        </p:tgtEl>
                                        <p:attrNameLst>
                                          <p:attrName>ppt_w</p:attrName>
                                        </p:attrNameLst>
                                      </p:cBhvr>
                                      <p:tavLst>
                                        <p:tav tm="0">
                                          <p:val>
                                            <p:fltVal val="0"/>
                                          </p:val>
                                        </p:tav>
                                        <p:tav tm="100000">
                                          <p:val>
                                            <p:strVal val="#ppt_w"/>
                                          </p:val>
                                        </p:tav>
                                      </p:tavLst>
                                    </p:anim>
                                    <p:anim calcmode="lin" valueType="num">
                                      <p:cBhvr>
                                        <p:cTn id="34" dur="600" fill="hold"/>
                                        <p:tgtEl>
                                          <p:spTgt spid="11"/>
                                        </p:tgtEl>
                                        <p:attrNameLst>
                                          <p:attrName>ppt_h</p:attrName>
                                        </p:attrNameLst>
                                      </p:cBhvr>
                                      <p:tavLst>
                                        <p:tav tm="0">
                                          <p:val>
                                            <p:fltVal val="0"/>
                                          </p:val>
                                        </p:tav>
                                        <p:tav tm="100000">
                                          <p:val>
                                            <p:strVal val="#ppt_h"/>
                                          </p:val>
                                        </p:tav>
                                      </p:tavLst>
                                    </p:anim>
                                    <p:animEffect transition="in" filter="fade">
                                      <p:cBhvr>
                                        <p:cTn id="35" dur="600"/>
                                        <p:tgtEl>
                                          <p:spTgt spid="11"/>
                                        </p:tgtEl>
                                      </p:cBhvr>
                                    </p:animEffect>
                                  </p:childTnLst>
                                </p:cTn>
                              </p:par>
                              <p:par>
                                <p:cTn id="36" presetID="10" presetClass="entr" presetSubtype="0" fill="hold" grpId="0" nodeType="withEffect">
                                  <p:stCondLst>
                                    <p:cond delay="95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childTnLst>
                                </p:cTn>
                              </p:par>
                              <p:par>
                                <p:cTn id="39" presetID="22" presetClass="entr" presetSubtype="8" fill="hold" grpId="0" nodeType="withEffect">
                                  <p:stCondLst>
                                    <p:cond delay="135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600"/>
                                        <p:tgtEl>
                                          <p:spTgt spid="13"/>
                                        </p:tgtEl>
                                      </p:cBhvr>
                                    </p:animEffect>
                                  </p:childTnLst>
                                </p:cTn>
                              </p:par>
                              <p:par>
                                <p:cTn id="42" presetID="10" presetClass="entr" presetSubtype="0" fill="hold" grpId="0" nodeType="withEffect">
                                  <p:stCondLst>
                                    <p:cond delay="135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600"/>
                                        <p:tgtEl>
                                          <p:spTgt spid="14"/>
                                        </p:tgtEl>
                                      </p:cBhvr>
                                    </p:animEffect>
                                  </p:childTnLst>
                                </p:cTn>
                              </p:par>
                              <p:par>
                                <p:cTn id="45" presetID="53" presetClass="entr" presetSubtype="16" fill="hold" grpId="0" nodeType="withEffect">
                                  <p:stCondLst>
                                    <p:cond delay="1400"/>
                                  </p:stCondLst>
                                  <p:childTnLst>
                                    <p:set>
                                      <p:cBhvr>
                                        <p:cTn id="46" dur="1" fill="hold">
                                          <p:stCondLst>
                                            <p:cond delay="0"/>
                                          </p:stCondLst>
                                        </p:cTn>
                                        <p:tgtEl>
                                          <p:spTgt spid="15"/>
                                        </p:tgtEl>
                                        <p:attrNameLst>
                                          <p:attrName>style.visibility</p:attrName>
                                        </p:attrNameLst>
                                      </p:cBhvr>
                                      <p:to>
                                        <p:strVal val="visible"/>
                                      </p:to>
                                    </p:set>
                                    <p:anim calcmode="lin" valueType="num">
                                      <p:cBhvr>
                                        <p:cTn id="47" dur="600" fill="hold"/>
                                        <p:tgtEl>
                                          <p:spTgt spid="15"/>
                                        </p:tgtEl>
                                        <p:attrNameLst>
                                          <p:attrName>ppt_w</p:attrName>
                                        </p:attrNameLst>
                                      </p:cBhvr>
                                      <p:tavLst>
                                        <p:tav tm="0">
                                          <p:val>
                                            <p:fltVal val="0"/>
                                          </p:val>
                                        </p:tav>
                                        <p:tav tm="100000">
                                          <p:val>
                                            <p:strVal val="#ppt_w"/>
                                          </p:val>
                                        </p:tav>
                                      </p:tavLst>
                                    </p:anim>
                                    <p:anim calcmode="lin" valueType="num">
                                      <p:cBhvr>
                                        <p:cTn id="48" dur="600" fill="hold"/>
                                        <p:tgtEl>
                                          <p:spTgt spid="15"/>
                                        </p:tgtEl>
                                        <p:attrNameLst>
                                          <p:attrName>ppt_h</p:attrName>
                                        </p:attrNameLst>
                                      </p:cBhvr>
                                      <p:tavLst>
                                        <p:tav tm="0">
                                          <p:val>
                                            <p:fltVal val="0"/>
                                          </p:val>
                                        </p:tav>
                                        <p:tav tm="100000">
                                          <p:val>
                                            <p:strVal val="#ppt_h"/>
                                          </p:val>
                                        </p:tav>
                                      </p:tavLst>
                                    </p:anim>
                                    <p:animEffect transition="in" filter="fade">
                                      <p:cBhvr>
                                        <p:cTn id="49" dur="600"/>
                                        <p:tgtEl>
                                          <p:spTgt spid="15"/>
                                        </p:tgtEl>
                                      </p:cBhvr>
                                    </p:animEffect>
                                  </p:childTnLst>
                                </p:cTn>
                              </p:par>
                              <p:par>
                                <p:cTn id="50" presetID="10" presetClass="entr" presetSubtype="0" fill="hold" grpId="0" nodeType="withEffect">
                                  <p:stCondLst>
                                    <p:cond delay="150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600"/>
                                        <p:tgtEl>
                                          <p:spTgt spid="16"/>
                                        </p:tgtEl>
                                      </p:cBhvr>
                                    </p:animEffect>
                                  </p:childTnLst>
                                </p:cTn>
                              </p:par>
                              <p:par>
                                <p:cTn id="53" presetID="10" presetClass="entr" presetSubtype="0" fill="hold" grpId="0" nodeType="withEffect">
                                  <p:stCondLst>
                                    <p:cond delay="190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600"/>
                                        <p:tgtEl>
                                          <p:spTgt spid="17"/>
                                        </p:tgtEl>
                                      </p:cBhvr>
                                    </p:animEffect>
                                  </p:childTnLst>
                                </p:cTn>
                              </p:par>
                              <p:par>
                                <p:cTn id="56" presetID="22" presetClass="entr" presetSubtype="4" fill="hold" grpId="0" nodeType="withEffect">
                                  <p:stCondLst>
                                    <p:cond delay="1900"/>
                                  </p:stCondLst>
                                  <p:childTnLst>
                                    <p:set>
                                      <p:cBhvr>
                                        <p:cTn id="57" dur="1" fill="hold">
                                          <p:stCondLst>
                                            <p:cond delay="0"/>
                                          </p:stCondLst>
                                        </p:cTn>
                                        <p:tgtEl>
                                          <p:spTgt spid="18"/>
                                        </p:tgtEl>
                                        <p:attrNameLst>
                                          <p:attrName>style.visibility</p:attrName>
                                        </p:attrNameLst>
                                      </p:cBhvr>
                                      <p:to>
                                        <p:strVal val="visible"/>
                                      </p:to>
                                    </p:set>
                                    <p:animEffect transition="in" filter="wipe(up)">
                                      <p:cBhvr>
                                        <p:cTn id="58" dur="900"/>
                                        <p:tgtEl>
                                          <p:spTgt spid="18"/>
                                        </p:tgtEl>
                                      </p:cBhvr>
                                    </p:animEffect>
                                  </p:childTnLst>
                                </p:cTn>
                              </p:par>
                              <p:par>
                                <p:cTn id="59" presetID="10" presetClass="entr" presetSubtype="0" fill="hold" grpId="0" nodeType="withEffect">
                                  <p:stCondLst>
                                    <p:cond delay="195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11" grpId="0" animBg="1"/>
      <p:bldP spid="12" grpId="0" animBg="1"/>
      <p:bldP spid="15" grpId="0" animBg="1"/>
      <p:bldP spid="16" grpId="0" animBg="1"/>
      <p:bldP spid="1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panel"/>
          <p:cNvSpPr/>
          <p:nvPr/>
        </p:nvSpPr>
        <p:spPr>
          <a:xfrm>
            <a:off x="8366760" y="0"/>
            <a:ext cx="3824935" cy="6858000"/>
          </a:xfrm>
          <a:prstGeom prst="rect">
            <a:avLst/>
          </a:prstGeom>
          <a:solidFill>
            <a:srgbClr val="1B3F9E"/>
          </a:solidFill>
          <a:ln w="12700">
            <a:solidFill>
              <a:srgbClr val="1B3F9E"/>
            </a:solidFill>
            <a:prstDash val="solid"/>
          </a:ln>
        </p:spPr>
      </p:sp>
      <p:sp>
        <p:nvSpPr>
          <p:cNvPr id="3" name="!!panelg"/>
          <p:cNvSpPr/>
          <p:nvPr/>
        </p:nvSpPr>
        <p:spPr>
          <a:xfrm>
            <a:off x="8366760" y="0"/>
            <a:ext cx="82296" cy="6858000"/>
          </a:xfrm>
          <a:prstGeom prst="rect">
            <a:avLst/>
          </a:prstGeom>
          <a:solidFill>
            <a:srgbClr val="00923A"/>
          </a:solidFill>
          <a:ln w="12700">
            <a:solidFill>
              <a:srgbClr val="00923A"/>
            </a:solidFill>
            <a:prstDash val="solid"/>
          </a:ln>
        </p:spPr>
      </p:sp>
      <p:sp>
        <p:nvSpPr>
          <p:cNvPr id="4" name="!!panely"/>
          <p:cNvSpPr/>
          <p:nvPr/>
        </p:nvSpPr>
        <p:spPr>
          <a:xfrm>
            <a:off x="8449056" y="0"/>
            <a:ext cx="45720" cy="6858000"/>
          </a:xfrm>
          <a:prstGeom prst="rect">
            <a:avLst/>
          </a:prstGeom>
          <a:solidFill>
            <a:srgbClr val="FCC600"/>
          </a:solidFill>
          <a:ln w="12700">
            <a:solidFill>
              <a:srgbClr val="FCC600"/>
            </a:solidFill>
            <a:prstDash val="solid"/>
          </a:ln>
        </p:spPr>
      </p:sp>
      <p:pic>
        <p:nvPicPr>
          <p:cNvPr id="5" name="!!logo" descr="Université de Kara">    </p:cNvPr>
          <p:cNvPicPr>
            <a:picLocks noChangeAspect="1"/>
          </p:cNvPicPr>
          <p:nvPr/>
        </p:nvPicPr>
        <p:blipFill>
          <a:blip r:embed="rId1"/>
          <a:stretch>
            <a:fillRect/>
          </a:stretch>
        </p:blipFill>
        <p:spPr>
          <a:xfrm>
            <a:off x="685800" y="822960"/>
            <a:ext cx="749808" cy="621792"/>
          </a:xfrm>
          <a:prstGeom prst="rect">
            <a:avLst/>
          </a:prstGeom>
        </p:spPr>
      </p:pic>
      <p:sp>
        <p:nvSpPr>
          <p:cNvPr id="6" name="!!maintitle"/>
          <p:cNvSpPr txBox="1"/>
          <p:nvPr/>
        </p:nvSpPr>
        <p:spPr>
          <a:xfrm>
            <a:off x="685800" y="2377440"/>
            <a:ext cx="7315200" cy="914400"/>
          </a:xfrm>
          <a:prstGeom prst="rect">
            <a:avLst/>
          </a:prstGeom>
          <a:noFill/>
          <a:ln/>
        </p:spPr>
        <p:txBody>
          <a:bodyPr wrap="square" lIns="0" tIns="0" rIns="0" bIns="0" rtlCol="0" anchor="t"/>
          <a:lstStyle/>
          <a:p>
            <a:pPr indent="0" marL="0">
              <a:buNone/>
            </a:pPr>
            <a:r>
              <a:rPr lang="fr-FR" altLang="en-US" sz="4000" b="1" dirty="0">
                <a:solidFill>
                  <a:srgbClr val="0E1C46"/>
                </a:solidFill>
                <a:latin typeface="Calibri" pitchFamily="34" charset="0"/>
                <a:ea typeface="Calibri" pitchFamily="34" charset="-122"/>
                <a:cs typeface="Calibri" pitchFamily="34" charset="-120"/>
              </a:rPr>
              <a:t>Merci pour votre attention</a:t>
            </a:r>
            <a:endParaRPr lang="fr-FR" sz="4000" dirty="0"/>
          </a:p>
        </p:txBody>
      </p:sp>
      <p:sp>
        <p:nvSpPr>
          <p:cNvPr id="7" name="!!rule"/>
          <p:cNvSpPr/>
          <p:nvPr/>
        </p:nvSpPr>
        <p:spPr>
          <a:xfrm>
            <a:off x="685800" y="3429000"/>
            <a:ext cx="731520" cy="45720"/>
          </a:xfrm>
          <a:prstGeom prst="rect">
            <a:avLst/>
          </a:prstGeom>
          <a:solidFill>
            <a:srgbClr val="00923A"/>
          </a:solidFill>
          <a:ln w="12700">
            <a:solidFill>
              <a:srgbClr val="00923A"/>
            </a:solidFill>
            <a:prstDash val="solid"/>
          </a:ln>
        </p:spPr>
      </p:sp>
      <p:sp>
        <p:nvSpPr>
          <p:cNvPr id="8" name="thx"/>
          <p:cNvSpPr txBox="1"/>
          <p:nvPr/>
        </p:nvSpPr>
        <p:spPr>
          <a:xfrm>
            <a:off x="685800" y="3703320"/>
            <a:ext cx="7315200" cy="548640"/>
          </a:xfrm>
          <a:prstGeom prst="rect">
            <a:avLst/>
          </a:prstGeom>
          <a:noFill/>
          <a:ln/>
        </p:spPr>
        <p:txBody>
          <a:bodyPr wrap="square" lIns="0" tIns="0" rIns="0" bIns="0" rtlCol="0" anchor="t"/>
          <a:lstStyle/>
          <a:p>
            <a:pPr indent="0" marL="0">
              <a:buNone/>
            </a:pPr>
            <a:r>
              <a:rPr lang="fr-FR" altLang="en-US" sz="1900" dirty="0">
                <a:solidFill>
                  <a:srgbClr val="56617C"/>
                </a:solidFill>
                <a:latin typeface="Calibri" pitchFamily="34" charset="0"/>
                <a:ea typeface="Calibri" pitchFamily="34" charset="-122"/>
                <a:cs typeface="Calibri" pitchFamily="34" charset="-120"/>
              </a:rPr>
              <a:t>Nous restons à votre disposition pour vos questions et vos remarques.</a:t>
            </a:r>
            <a:endParaRPr lang="fr-FR" sz="1900" dirty="0"/>
          </a:p>
        </p:txBody>
      </p:sp>
      <p:sp>
        <p:nvSpPr>
          <p:cNvPr id="9" name="sig"/>
          <p:cNvSpPr txBox="1"/>
          <p:nvPr/>
        </p:nvSpPr>
        <p:spPr>
          <a:xfrm>
            <a:off x="685800" y="5212080"/>
            <a:ext cx="7315200" cy="731520"/>
          </a:xfrm>
          <a:prstGeom prst="rect">
            <a:avLst/>
          </a:prstGeom>
          <a:noFill/>
          <a:ln/>
        </p:spPr>
        <p:txBody>
          <a:bodyPr wrap="square" lIns="0" tIns="0" rIns="0" bIns="0" rtlCol="0" anchor="t"/>
          <a:lstStyle/>
          <a:p>
            <a:pPr indent="0" marL="0">
              <a:buNone/>
            </a:pPr>
            <a:r>
              <a:rPr lang="fr-FR" altLang="en-US" sz="1500" b="1" dirty="0">
                <a:solidFill>
                  <a:srgbClr val="0E1C46"/>
                </a:solidFill>
                <a:latin typeface="Calibri" pitchFamily="34" charset="0"/>
                <a:ea typeface="Calibri" pitchFamily="34" charset="-122"/>
                <a:cs typeface="Calibri" pitchFamily="34" charset="-120"/>
              </a:rPr>
              <a:t>TCHAKONDO Aïcha</a:t>
            </a:r>
            <a:endParaRPr lang="fr-FR" sz="1500" dirty="0"/>
          </a:p>
          <a:p>
            <a:pPr indent="0" marL="0">
              <a:buNone/>
            </a:pPr>
            <a:r>
              <a:rPr lang="fr-FR" altLang="en-US" sz="1500" dirty="0">
                <a:solidFill>
                  <a:srgbClr val="56617C"/>
                </a:solidFill>
                <a:latin typeface="Calibri" pitchFamily="34" charset="0"/>
                <a:ea typeface="Calibri" pitchFamily="34" charset="-122"/>
                <a:cs typeface="Calibri" pitchFamily="34" charset="-120"/>
              </a:rPr>
              <a:t>Université de Kara · 2025-2026</a:t>
            </a:r>
            <a:endParaRPr lang="fr-FR"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00"/>
                                        <p:tgtEl>
                                          <p:spTgt spid="8"/>
                                        </p:tgtEl>
                                      </p:cBhvr>
                                    </p:animEffect>
                                  </p:childTnLst>
                                </p:cTn>
                              </p:par>
                              <p:par>
                                <p:cTn id="8" presetID="10" presetClass="entr" presetSubtype="0" fill="hold" grpId="0" nodeType="withEffect">
                                  <p:stCondLst>
                                    <p:cond delay="80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914400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Annexe 1 — La gestion électronique des documents (GED)</a:t>
            </a:r>
            <a:endParaRPr lang="fr-FR" sz="1300" dirty="0"/>
          </a:p>
        </p:txBody>
      </p:sp>
      <p:sp>
        <p:nvSpPr>
          <p:cNvPr id="3" name="title"/>
          <p:cNvSpPr txBox="1"/>
          <p:nvPr/>
        </p:nvSpPr>
        <p:spPr>
          <a:xfrm>
            <a:off x="640080" y="676656"/>
            <a:ext cx="10058400"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Papier ou gestion électronique : ce qui change</a:t>
            </a:r>
            <a:endParaRPr lang="fr-FR" sz="3000" dirty="0"/>
          </a:p>
        </p:txBody>
      </p:sp>
      <p:sp>
        <p:nvSpPr>
          <p:cNvPr id="4" name="!!rule"/>
          <p:cNvSpPr/>
          <p:nvPr/>
        </p:nvSpPr>
        <p:spPr>
          <a:xfrm>
            <a:off x="640080" y="1417320"/>
            <a:ext cx="731520" cy="45720"/>
          </a:xfrm>
          <a:prstGeom prst="rect">
            <a:avLst/>
          </a:prstGeom>
          <a:solidFill>
            <a:srgbClr val="00923A"/>
          </a:solidFill>
          <a:ln w="12700">
            <a:solidFill>
              <a:srgbClr val="00923A"/>
            </a:solidFill>
            <a:prstDash val="solid"/>
          </a:ln>
        </p:spPr>
      </p:sp>
      <p:sp>
        <p:nvSpPr>
          <p:cNvPr id="5" name="th0"/>
          <p:cNvSpPr/>
          <p:nvPr/>
        </p:nvSpPr>
        <p:spPr>
          <a:xfrm>
            <a:off x="685800" y="1783080"/>
            <a:ext cx="2834640" cy="502920"/>
          </a:xfrm>
          <a:prstGeom prst="rect">
            <a:avLst/>
          </a:prstGeom>
          <a:solidFill>
            <a:srgbClr val="EEF2FB"/>
          </a:solidFill>
          <a:ln w="12700">
            <a:solidFill>
              <a:srgbClr val="EEF2FB"/>
            </a:solidFill>
            <a:prstDash val="solid"/>
          </a:ln>
        </p:spPr>
      </p:sp>
      <p:sp>
        <p:nvSpPr>
          <p:cNvPr id="6" name="tht0"/>
          <p:cNvSpPr txBox="1"/>
          <p:nvPr/>
        </p:nvSpPr>
        <p:spPr>
          <a:xfrm>
            <a:off x="868680" y="1783080"/>
            <a:ext cx="2560320" cy="502920"/>
          </a:xfrm>
          <a:prstGeom prst="rect">
            <a:avLst/>
          </a:prstGeom>
          <a:noFill/>
          <a:ln/>
        </p:spPr>
        <p:txBody>
          <a:bodyPr wrap="square" lIns="0" tIns="0" rIns="0" bIns="0" rtlCol="0" anchor="ctr"/>
          <a:lstStyle/>
          <a:p>
            <a:pPr indent="0" marL="0">
              <a:buNone/>
            </a:pPr>
            <a:r>
              <a:rPr lang="fr-FR" altLang="en-US" sz="1400" b="1" dirty="0">
                <a:solidFill>
                  <a:srgbClr val="0E1C46"/>
                </a:solidFill>
                <a:latin typeface="Calibri" pitchFamily="34" charset="0"/>
                <a:ea typeface="Calibri" pitchFamily="34" charset="-122"/>
                <a:cs typeface="Calibri" pitchFamily="34" charset="-120"/>
              </a:rPr>
              <a:t>Situation</a:t>
            </a:r>
            <a:endParaRPr lang="fr-FR" sz="1400" dirty="0"/>
          </a:p>
        </p:txBody>
      </p:sp>
      <p:sp>
        <p:nvSpPr>
          <p:cNvPr id="7" name="th1"/>
          <p:cNvSpPr/>
          <p:nvPr/>
        </p:nvSpPr>
        <p:spPr>
          <a:xfrm>
            <a:off x="3611880" y="1783080"/>
            <a:ext cx="3657600" cy="502920"/>
          </a:xfrm>
          <a:prstGeom prst="rect">
            <a:avLst/>
          </a:prstGeom>
          <a:solidFill>
            <a:srgbClr val="F1F2F5"/>
          </a:solidFill>
          <a:ln w="12700">
            <a:solidFill>
              <a:srgbClr val="F1F2F5"/>
            </a:solidFill>
            <a:prstDash val="solid"/>
          </a:ln>
        </p:spPr>
      </p:sp>
      <p:sp>
        <p:nvSpPr>
          <p:cNvPr id="8" name="tht1"/>
          <p:cNvSpPr txBox="1"/>
          <p:nvPr/>
        </p:nvSpPr>
        <p:spPr>
          <a:xfrm>
            <a:off x="3794760" y="1783080"/>
            <a:ext cx="3383280" cy="502920"/>
          </a:xfrm>
          <a:prstGeom prst="rect">
            <a:avLst/>
          </a:prstGeom>
          <a:noFill/>
          <a:ln/>
        </p:spPr>
        <p:txBody>
          <a:bodyPr wrap="square" lIns="0" tIns="0" rIns="0" bIns="0" rtlCol="0" anchor="ctr"/>
          <a:lstStyle/>
          <a:p>
            <a:pPr indent="0" marL="0">
              <a:buNone/>
            </a:pPr>
            <a:r>
              <a:rPr lang="fr-FR" altLang="en-US" sz="1400" b="1" dirty="0">
                <a:solidFill>
                  <a:srgbClr val="56617C"/>
                </a:solidFill>
                <a:latin typeface="Calibri" pitchFamily="34" charset="0"/>
                <a:ea typeface="Calibri" pitchFamily="34" charset="-122"/>
                <a:cs typeface="Calibri" pitchFamily="34" charset="-120"/>
              </a:rPr>
              <a:t>Aujourd’hui : registres papier</a:t>
            </a:r>
            <a:endParaRPr lang="fr-FR" sz="1400" dirty="0"/>
          </a:p>
        </p:txBody>
      </p:sp>
      <p:sp>
        <p:nvSpPr>
          <p:cNvPr id="9" name="th2"/>
          <p:cNvSpPr/>
          <p:nvPr/>
        </p:nvSpPr>
        <p:spPr>
          <a:xfrm>
            <a:off x="7360920" y="1783080"/>
            <a:ext cx="3931920" cy="502920"/>
          </a:xfrm>
          <a:prstGeom prst="rect">
            <a:avLst/>
          </a:prstGeom>
          <a:solidFill>
            <a:srgbClr val="00923A"/>
          </a:solidFill>
          <a:ln w="12700">
            <a:solidFill>
              <a:srgbClr val="00923A"/>
            </a:solidFill>
            <a:prstDash val="solid"/>
          </a:ln>
        </p:spPr>
      </p:sp>
      <p:sp>
        <p:nvSpPr>
          <p:cNvPr id="10" name="tht2"/>
          <p:cNvSpPr txBox="1"/>
          <p:nvPr/>
        </p:nvSpPr>
        <p:spPr>
          <a:xfrm>
            <a:off x="7543800" y="1783080"/>
            <a:ext cx="3657600" cy="502920"/>
          </a:xfrm>
          <a:prstGeom prst="rect">
            <a:avLst/>
          </a:prstGeom>
          <a:noFill/>
          <a:ln/>
        </p:spPr>
        <p:txBody>
          <a:bodyPr wrap="square" lIns="0" tIns="0" rIns="0" bIns="0" rtlCol="0" anchor="ctr"/>
          <a:lstStyle/>
          <a:p>
            <a:pPr indent="0" marL="0">
              <a:buNone/>
            </a:pPr>
            <a:r>
              <a:rPr lang="fr-FR" altLang="en-US" sz="1400" b="1" dirty="0">
                <a:solidFill>
                  <a:srgbClr val="FFFFFF"/>
                </a:solidFill>
                <a:latin typeface="Calibri" pitchFamily="34" charset="0"/>
                <a:ea typeface="Calibri" pitchFamily="34" charset="-122"/>
                <a:cs typeface="Calibri" pitchFamily="34" charset="-120"/>
              </a:rPr>
              <a:t>Avec la GED</a:t>
            </a:r>
            <a:endParaRPr lang="fr-FR" sz="1400" dirty="0"/>
          </a:p>
        </p:txBody>
      </p:sp>
      <p:sp>
        <p:nvSpPr>
          <p:cNvPr id="11" name="tr0c0"/>
          <p:cNvSpPr/>
          <p:nvPr/>
        </p:nvSpPr>
        <p:spPr>
          <a:xfrm>
            <a:off x="685800" y="2377440"/>
            <a:ext cx="2834640" cy="548640"/>
          </a:xfrm>
          <a:prstGeom prst="rect">
            <a:avLst/>
          </a:prstGeom>
          <a:solidFill>
            <a:srgbClr val="FFFFFF"/>
          </a:solidFill>
          <a:ln w="9525">
            <a:solidFill>
              <a:srgbClr val="E6EAF2"/>
            </a:solidFill>
            <a:prstDash val="solid"/>
          </a:ln>
        </p:spPr>
      </p:sp>
      <p:sp>
        <p:nvSpPr>
          <p:cNvPr id="12" name="tt0c0"/>
          <p:cNvSpPr txBox="1"/>
          <p:nvPr/>
        </p:nvSpPr>
        <p:spPr>
          <a:xfrm>
            <a:off x="868680" y="2377440"/>
            <a:ext cx="2560320" cy="548640"/>
          </a:xfrm>
          <a:prstGeom prst="rect">
            <a:avLst/>
          </a:prstGeom>
          <a:noFill/>
          <a:ln/>
        </p:spPr>
        <p:txBody>
          <a:bodyPr wrap="square" lIns="0" tIns="0" rIns="0" bIns="0" rtlCol="0" anchor="ctr"/>
          <a:lstStyle/>
          <a:p>
            <a:pPr indent="0" marL="0">
              <a:buNone/>
            </a:pPr>
            <a:r>
              <a:rPr lang="fr-FR" altLang="en-US" sz="1300" b="1" dirty="0">
                <a:solidFill>
                  <a:srgbClr val="0E1C46"/>
                </a:solidFill>
                <a:latin typeface="Calibri" pitchFamily="34" charset="0"/>
                <a:ea typeface="Calibri" pitchFamily="34" charset="-122"/>
                <a:cs typeface="Calibri" pitchFamily="34" charset="-120"/>
              </a:rPr>
              <a:t>Retrouver un ancien courrier</a:t>
            </a:r>
            <a:endParaRPr lang="fr-FR" sz="1300" dirty="0"/>
          </a:p>
        </p:txBody>
      </p:sp>
      <p:sp>
        <p:nvSpPr>
          <p:cNvPr id="13" name="tr0c1"/>
          <p:cNvSpPr/>
          <p:nvPr/>
        </p:nvSpPr>
        <p:spPr>
          <a:xfrm>
            <a:off x="3611880" y="2377440"/>
            <a:ext cx="3657600" cy="548640"/>
          </a:xfrm>
          <a:prstGeom prst="rect">
            <a:avLst/>
          </a:prstGeom>
          <a:solidFill>
            <a:srgbClr val="FFFFFF"/>
          </a:solidFill>
          <a:ln w="9525">
            <a:solidFill>
              <a:srgbClr val="E6EAF2"/>
            </a:solidFill>
            <a:prstDash val="solid"/>
          </a:ln>
        </p:spPr>
      </p:sp>
      <p:sp>
        <p:nvSpPr>
          <p:cNvPr id="14" name="tt0c1"/>
          <p:cNvSpPr txBox="1"/>
          <p:nvPr/>
        </p:nvSpPr>
        <p:spPr>
          <a:xfrm>
            <a:off x="3794760" y="2377440"/>
            <a:ext cx="3383280" cy="548640"/>
          </a:xfrm>
          <a:prstGeom prst="rect">
            <a:avLst/>
          </a:prstGeom>
          <a:noFill/>
          <a:ln/>
        </p:spPr>
        <p:txBody>
          <a:bodyPr wrap="square" lIns="0" tIns="0" rIns="0" bIns="0" rtlCol="0" anchor="ctr"/>
          <a:lstStyle/>
          <a:p>
            <a:pPr indent="0" marL="0">
              <a:buNone/>
            </a:pPr>
            <a:r>
              <a:rPr lang="fr-FR" altLang="en-US" sz="1300" dirty="0">
                <a:solidFill>
                  <a:srgbClr val="56617C"/>
                </a:solidFill>
                <a:latin typeface="Calibri" pitchFamily="34" charset="0"/>
                <a:ea typeface="Calibri" pitchFamily="34" charset="-122"/>
                <a:cs typeface="Calibri" pitchFamily="34" charset="-120"/>
              </a:rPr>
              <a:t>Feuilleter les registres page par page</a:t>
            </a:r>
            <a:endParaRPr lang="fr-FR" sz="1300" dirty="0"/>
          </a:p>
        </p:txBody>
      </p:sp>
      <p:sp>
        <p:nvSpPr>
          <p:cNvPr id="15" name="tr0c2"/>
          <p:cNvSpPr/>
          <p:nvPr/>
        </p:nvSpPr>
        <p:spPr>
          <a:xfrm>
            <a:off x="7360920" y="2377440"/>
            <a:ext cx="3931920" cy="548640"/>
          </a:xfrm>
          <a:prstGeom prst="rect">
            <a:avLst/>
          </a:prstGeom>
          <a:solidFill>
            <a:srgbClr val="EEF7F1"/>
          </a:solidFill>
          <a:ln w="9525">
            <a:solidFill>
              <a:srgbClr val="E6EAF2"/>
            </a:solidFill>
            <a:prstDash val="solid"/>
          </a:ln>
        </p:spPr>
      </p:sp>
      <p:sp>
        <p:nvSpPr>
          <p:cNvPr id="16" name="tt0c2"/>
          <p:cNvSpPr txBox="1"/>
          <p:nvPr/>
        </p:nvSpPr>
        <p:spPr>
          <a:xfrm>
            <a:off x="7543800" y="2377440"/>
            <a:ext cx="3657600" cy="548640"/>
          </a:xfrm>
          <a:prstGeom prst="rect">
            <a:avLst/>
          </a:prstGeom>
          <a:noFill/>
          <a:ln/>
        </p:spPr>
        <p:txBody>
          <a:bodyPr wrap="square" lIns="0" tIns="0" rIns="0" bIns="0" rtlCol="0" anchor="ctr"/>
          <a:lstStyle/>
          <a:p>
            <a:pPr indent="0" marL="0">
              <a:buNone/>
            </a:pPr>
            <a:r>
              <a:rPr lang="fr-FR" altLang="en-US" sz="1300" dirty="0">
                <a:solidFill>
                  <a:srgbClr val="0E1C46"/>
                </a:solidFill>
                <a:latin typeface="Calibri" pitchFamily="34" charset="0"/>
                <a:ea typeface="Calibri" pitchFamily="34" charset="-122"/>
                <a:cs typeface="Calibri" pitchFamily="34" charset="-120"/>
              </a:rPr>
              <a:t>Recherche par numéro, nom ou mot-clé</a:t>
            </a:r>
            <a:endParaRPr lang="fr-FR" sz="1300" dirty="0"/>
          </a:p>
        </p:txBody>
      </p:sp>
      <p:sp>
        <p:nvSpPr>
          <p:cNvPr id="17" name="tr1c0"/>
          <p:cNvSpPr/>
          <p:nvPr/>
        </p:nvSpPr>
        <p:spPr>
          <a:xfrm>
            <a:off x="685800" y="2980944"/>
            <a:ext cx="2834640" cy="548640"/>
          </a:xfrm>
          <a:prstGeom prst="rect">
            <a:avLst/>
          </a:prstGeom>
          <a:solidFill>
            <a:srgbClr val="F7F9FD"/>
          </a:solidFill>
          <a:ln w="9525">
            <a:solidFill>
              <a:srgbClr val="E6EAF2"/>
            </a:solidFill>
            <a:prstDash val="solid"/>
          </a:ln>
        </p:spPr>
      </p:sp>
      <p:sp>
        <p:nvSpPr>
          <p:cNvPr id="18" name="tt1c0"/>
          <p:cNvSpPr txBox="1"/>
          <p:nvPr/>
        </p:nvSpPr>
        <p:spPr>
          <a:xfrm>
            <a:off x="868680" y="2980944"/>
            <a:ext cx="2560320" cy="548640"/>
          </a:xfrm>
          <a:prstGeom prst="rect">
            <a:avLst/>
          </a:prstGeom>
          <a:noFill/>
          <a:ln/>
        </p:spPr>
        <p:txBody>
          <a:bodyPr wrap="square" lIns="0" tIns="0" rIns="0" bIns="0" rtlCol="0" anchor="ctr"/>
          <a:lstStyle/>
          <a:p>
            <a:pPr indent="0" marL="0">
              <a:buNone/>
            </a:pPr>
            <a:r>
              <a:rPr lang="fr-FR" altLang="en-US" sz="1300" b="1" dirty="0">
                <a:solidFill>
                  <a:srgbClr val="0E1C46"/>
                </a:solidFill>
                <a:latin typeface="Calibri" pitchFamily="34" charset="0"/>
                <a:ea typeface="Calibri" pitchFamily="34" charset="-122"/>
                <a:cs typeface="Calibri" pitchFamily="34" charset="-120"/>
              </a:rPr>
              <a:t>Savoir où en est un dossier</a:t>
            </a:r>
            <a:endParaRPr lang="fr-FR" sz="1300" dirty="0"/>
          </a:p>
        </p:txBody>
      </p:sp>
      <p:sp>
        <p:nvSpPr>
          <p:cNvPr id="19" name="tr1c1"/>
          <p:cNvSpPr/>
          <p:nvPr/>
        </p:nvSpPr>
        <p:spPr>
          <a:xfrm>
            <a:off x="3611880" y="2980944"/>
            <a:ext cx="3657600" cy="548640"/>
          </a:xfrm>
          <a:prstGeom prst="rect">
            <a:avLst/>
          </a:prstGeom>
          <a:solidFill>
            <a:srgbClr val="F7F9FD"/>
          </a:solidFill>
          <a:ln w="9525">
            <a:solidFill>
              <a:srgbClr val="E6EAF2"/>
            </a:solidFill>
            <a:prstDash val="solid"/>
          </a:ln>
        </p:spPr>
      </p:sp>
      <p:sp>
        <p:nvSpPr>
          <p:cNvPr id="20" name="tt1c1"/>
          <p:cNvSpPr txBox="1"/>
          <p:nvPr/>
        </p:nvSpPr>
        <p:spPr>
          <a:xfrm>
            <a:off x="3794760" y="2980944"/>
            <a:ext cx="3383280" cy="548640"/>
          </a:xfrm>
          <a:prstGeom prst="rect">
            <a:avLst/>
          </a:prstGeom>
          <a:noFill/>
          <a:ln/>
        </p:spPr>
        <p:txBody>
          <a:bodyPr wrap="square" lIns="0" tIns="0" rIns="0" bIns="0" rtlCol="0" anchor="ctr"/>
          <a:lstStyle/>
          <a:p>
            <a:pPr indent="0" marL="0">
              <a:buNone/>
            </a:pPr>
            <a:r>
              <a:rPr lang="fr-FR" altLang="en-US" sz="1300" dirty="0">
                <a:solidFill>
                  <a:srgbClr val="56617C"/>
                </a:solidFill>
                <a:latin typeface="Calibri" pitchFamily="34" charset="0"/>
                <a:ea typeface="Calibri" pitchFamily="34" charset="-122"/>
                <a:cs typeface="Calibri" pitchFamily="34" charset="-120"/>
              </a:rPr>
              <a:t>Demander de bureau en bureau</a:t>
            </a:r>
            <a:endParaRPr lang="fr-FR" sz="1300" dirty="0"/>
          </a:p>
        </p:txBody>
      </p:sp>
      <p:sp>
        <p:nvSpPr>
          <p:cNvPr id="21" name="tr1c2"/>
          <p:cNvSpPr/>
          <p:nvPr/>
        </p:nvSpPr>
        <p:spPr>
          <a:xfrm>
            <a:off x="7360920" y="2980944"/>
            <a:ext cx="3931920" cy="548640"/>
          </a:xfrm>
          <a:prstGeom prst="rect">
            <a:avLst/>
          </a:prstGeom>
          <a:solidFill>
            <a:srgbClr val="EEF7F1"/>
          </a:solidFill>
          <a:ln w="9525">
            <a:solidFill>
              <a:srgbClr val="E6EAF2"/>
            </a:solidFill>
            <a:prstDash val="solid"/>
          </a:ln>
        </p:spPr>
      </p:sp>
      <p:sp>
        <p:nvSpPr>
          <p:cNvPr id="22" name="tt1c2"/>
          <p:cNvSpPr txBox="1"/>
          <p:nvPr/>
        </p:nvSpPr>
        <p:spPr>
          <a:xfrm>
            <a:off x="7543800" y="2980944"/>
            <a:ext cx="3657600" cy="548640"/>
          </a:xfrm>
          <a:prstGeom prst="rect">
            <a:avLst/>
          </a:prstGeom>
          <a:noFill/>
          <a:ln/>
        </p:spPr>
        <p:txBody>
          <a:bodyPr wrap="square" lIns="0" tIns="0" rIns="0" bIns="0" rtlCol="0" anchor="ctr"/>
          <a:lstStyle/>
          <a:p>
            <a:pPr indent="0" marL="0">
              <a:buNone/>
            </a:pPr>
            <a:r>
              <a:rPr lang="fr-FR" altLang="en-US" sz="1300" dirty="0">
                <a:solidFill>
                  <a:srgbClr val="0E1C46"/>
                </a:solidFill>
                <a:latin typeface="Calibri" pitchFamily="34" charset="0"/>
                <a:ea typeface="Calibri" pitchFamily="34" charset="-122"/>
                <a:cs typeface="Calibri" pitchFamily="34" charset="-120"/>
              </a:rPr>
              <a:t>L’étape et la date s’affichent à l’écran</a:t>
            </a:r>
            <a:endParaRPr lang="fr-FR" sz="1300" dirty="0"/>
          </a:p>
        </p:txBody>
      </p:sp>
      <p:sp>
        <p:nvSpPr>
          <p:cNvPr id="23" name="tr2c0"/>
          <p:cNvSpPr/>
          <p:nvPr/>
        </p:nvSpPr>
        <p:spPr>
          <a:xfrm>
            <a:off x="685800" y="3584448"/>
            <a:ext cx="2834640" cy="548640"/>
          </a:xfrm>
          <a:prstGeom prst="rect">
            <a:avLst/>
          </a:prstGeom>
          <a:solidFill>
            <a:srgbClr val="FFFFFF"/>
          </a:solidFill>
          <a:ln w="9525">
            <a:solidFill>
              <a:srgbClr val="E6EAF2"/>
            </a:solidFill>
            <a:prstDash val="solid"/>
          </a:ln>
        </p:spPr>
      </p:sp>
      <p:sp>
        <p:nvSpPr>
          <p:cNvPr id="24" name="tt2c0"/>
          <p:cNvSpPr txBox="1"/>
          <p:nvPr/>
        </p:nvSpPr>
        <p:spPr>
          <a:xfrm>
            <a:off x="868680" y="3584448"/>
            <a:ext cx="2560320" cy="548640"/>
          </a:xfrm>
          <a:prstGeom prst="rect">
            <a:avLst/>
          </a:prstGeom>
          <a:noFill/>
          <a:ln/>
        </p:spPr>
        <p:txBody>
          <a:bodyPr wrap="square" lIns="0" tIns="0" rIns="0" bIns="0" rtlCol="0" anchor="ctr"/>
          <a:lstStyle/>
          <a:p>
            <a:pPr indent="0" marL="0">
              <a:buNone/>
            </a:pPr>
            <a:r>
              <a:rPr lang="fr-FR" altLang="en-US" sz="1300" b="1" dirty="0">
                <a:solidFill>
                  <a:srgbClr val="0E1C46"/>
                </a:solidFill>
                <a:latin typeface="Calibri" pitchFamily="34" charset="0"/>
                <a:ea typeface="Calibri" pitchFamily="34" charset="-122"/>
                <a:cs typeface="Calibri" pitchFamily="34" charset="-120"/>
              </a:rPr>
              <a:t>Transmettre à une direction</a:t>
            </a:r>
            <a:endParaRPr lang="fr-FR" sz="1300" dirty="0"/>
          </a:p>
        </p:txBody>
      </p:sp>
      <p:sp>
        <p:nvSpPr>
          <p:cNvPr id="25" name="tr2c1"/>
          <p:cNvSpPr/>
          <p:nvPr/>
        </p:nvSpPr>
        <p:spPr>
          <a:xfrm>
            <a:off x="3611880" y="3584448"/>
            <a:ext cx="3657600" cy="548640"/>
          </a:xfrm>
          <a:prstGeom prst="rect">
            <a:avLst/>
          </a:prstGeom>
          <a:solidFill>
            <a:srgbClr val="FFFFFF"/>
          </a:solidFill>
          <a:ln w="9525">
            <a:solidFill>
              <a:srgbClr val="E6EAF2"/>
            </a:solidFill>
            <a:prstDash val="solid"/>
          </a:ln>
        </p:spPr>
      </p:sp>
      <p:sp>
        <p:nvSpPr>
          <p:cNvPr id="26" name="tt2c1"/>
          <p:cNvSpPr txBox="1"/>
          <p:nvPr/>
        </p:nvSpPr>
        <p:spPr>
          <a:xfrm>
            <a:off x="3794760" y="3584448"/>
            <a:ext cx="3383280" cy="548640"/>
          </a:xfrm>
          <a:prstGeom prst="rect">
            <a:avLst/>
          </a:prstGeom>
          <a:noFill/>
          <a:ln/>
        </p:spPr>
        <p:txBody>
          <a:bodyPr wrap="square" lIns="0" tIns="0" rIns="0" bIns="0" rtlCol="0" anchor="ctr"/>
          <a:lstStyle/>
          <a:p>
            <a:pPr indent="0" marL="0">
              <a:buNone/>
            </a:pPr>
            <a:r>
              <a:rPr lang="fr-FR" altLang="en-US" sz="1300" dirty="0">
                <a:solidFill>
                  <a:srgbClr val="56617C"/>
                </a:solidFill>
                <a:latin typeface="Calibri" pitchFamily="34" charset="0"/>
                <a:ea typeface="Calibri" pitchFamily="34" charset="-122"/>
                <a:cs typeface="Calibri" pitchFamily="34" charset="-120"/>
              </a:rPr>
              <a:t>Déplacement physique et registre de transmission</a:t>
            </a:r>
            <a:endParaRPr lang="fr-FR" sz="1300" dirty="0"/>
          </a:p>
        </p:txBody>
      </p:sp>
      <p:sp>
        <p:nvSpPr>
          <p:cNvPr id="27" name="tr2c2"/>
          <p:cNvSpPr/>
          <p:nvPr/>
        </p:nvSpPr>
        <p:spPr>
          <a:xfrm>
            <a:off x="7360920" y="3584448"/>
            <a:ext cx="3931920" cy="548640"/>
          </a:xfrm>
          <a:prstGeom prst="rect">
            <a:avLst/>
          </a:prstGeom>
          <a:solidFill>
            <a:srgbClr val="EEF7F1"/>
          </a:solidFill>
          <a:ln w="9525">
            <a:solidFill>
              <a:srgbClr val="E6EAF2"/>
            </a:solidFill>
            <a:prstDash val="solid"/>
          </a:ln>
        </p:spPr>
      </p:sp>
      <p:sp>
        <p:nvSpPr>
          <p:cNvPr id="28" name="tt2c2"/>
          <p:cNvSpPr txBox="1"/>
          <p:nvPr/>
        </p:nvSpPr>
        <p:spPr>
          <a:xfrm>
            <a:off x="7543800" y="3584448"/>
            <a:ext cx="3657600" cy="548640"/>
          </a:xfrm>
          <a:prstGeom prst="rect">
            <a:avLst/>
          </a:prstGeom>
          <a:noFill/>
          <a:ln/>
        </p:spPr>
        <p:txBody>
          <a:bodyPr wrap="square" lIns="0" tIns="0" rIns="0" bIns="0" rtlCol="0" anchor="ctr"/>
          <a:lstStyle/>
          <a:p>
            <a:pPr indent="0" marL="0">
              <a:buNone/>
            </a:pPr>
            <a:r>
              <a:rPr lang="fr-FR" altLang="en-US" sz="1300" dirty="0">
                <a:solidFill>
                  <a:srgbClr val="0E1C46"/>
                </a:solidFill>
                <a:latin typeface="Calibri" pitchFamily="34" charset="0"/>
                <a:ea typeface="Calibri" pitchFamily="34" charset="-122"/>
                <a:cs typeface="Calibri" pitchFamily="34" charset="-120"/>
              </a:rPr>
              <a:t>Envoi immédiat et accusé de réception</a:t>
            </a:r>
            <a:endParaRPr lang="fr-FR" sz="1300" dirty="0"/>
          </a:p>
        </p:txBody>
      </p:sp>
      <p:sp>
        <p:nvSpPr>
          <p:cNvPr id="29" name="tr3c0"/>
          <p:cNvSpPr/>
          <p:nvPr/>
        </p:nvSpPr>
        <p:spPr>
          <a:xfrm>
            <a:off x="685800" y="4187952"/>
            <a:ext cx="2834640" cy="548640"/>
          </a:xfrm>
          <a:prstGeom prst="rect">
            <a:avLst/>
          </a:prstGeom>
          <a:solidFill>
            <a:srgbClr val="F7F9FD"/>
          </a:solidFill>
          <a:ln w="9525">
            <a:solidFill>
              <a:srgbClr val="E6EAF2"/>
            </a:solidFill>
            <a:prstDash val="solid"/>
          </a:ln>
        </p:spPr>
      </p:sp>
      <p:sp>
        <p:nvSpPr>
          <p:cNvPr id="30" name="tt3c0"/>
          <p:cNvSpPr txBox="1"/>
          <p:nvPr/>
        </p:nvSpPr>
        <p:spPr>
          <a:xfrm>
            <a:off x="868680" y="4187952"/>
            <a:ext cx="2560320" cy="548640"/>
          </a:xfrm>
          <a:prstGeom prst="rect">
            <a:avLst/>
          </a:prstGeom>
          <a:noFill/>
          <a:ln/>
        </p:spPr>
        <p:txBody>
          <a:bodyPr wrap="square" lIns="0" tIns="0" rIns="0" bIns="0" rtlCol="0" anchor="ctr"/>
          <a:lstStyle/>
          <a:p>
            <a:pPr indent="0" marL="0">
              <a:buNone/>
            </a:pPr>
            <a:r>
              <a:rPr lang="fr-FR" altLang="en-US" sz="1300" b="1" dirty="0">
                <a:solidFill>
                  <a:srgbClr val="0E1C46"/>
                </a:solidFill>
                <a:latin typeface="Calibri" pitchFamily="34" charset="0"/>
                <a:ea typeface="Calibri" pitchFamily="34" charset="-122"/>
                <a:cs typeface="Calibri" pitchFamily="34" charset="-120"/>
              </a:rPr>
              <a:t>Signataire absent</a:t>
            </a:r>
            <a:endParaRPr lang="fr-FR" sz="1300" dirty="0"/>
          </a:p>
        </p:txBody>
      </p:sp>
      <p:sp>
        <p:nvSpPr>
          <p:cNvPr id="31" name="tr3c1"/>
          <p:cNvSpPr/>
          <p:nvPr/>
        </p:nvSpPr>
        <p:spPr>
          <a:xfrm>
            <a:off x="3611880" y="4187952"/>
            <a:ext cx="3657600" cy="548640"/>
          </a:xfrm>
          <a:prstGeom prst="rect">
            <a:avLst/>
          </a:prstGeom>
          <a:solidFill>
            <a:srgbClr val="F7F9FD"/>
          </a:solidFill>
          <a:ln w="9525">
            <a:solidFill>
              <a:srgbClr val="E6EAF2"/>
            </a:solidFill>
            <a:prstDash val="solid"/>
          </a:ln>
        </p:spPr>
      </p:sp>
      <p:sp>
        <p:nvSpPr>
          <p:cNvPr id="32" name="tt3c1"/>
          <p:cNvSpPr txBox="1"/>
          <p:nvPr/>
        </p:nvSpPr>
        <p:spPr>
          <a:xfrm>
            <a:off x="3794760" y="4187952"/>
            <a:ext cx="3383280" cy="548640"/>
          </a:xfrm>
          <a:prstGeom prst="rect">
            <a:avLst/>
          </a:prstGeom>
          <a:noFill/>
          <a:ln/>
        </p:spPr>
        <p:txBody>
          <a:bodyPr wrap="square" lIns="0" tIns="0" rIns="0" bIns="0" rtlCol="0" anchor="ctr"/>
          <a:lstStyle/>
          <a:p>
            <a:pPr indent="0" marL="0">
              <a:buNone/>
            </a:pPr>
            <a:r>
              <a:rPr lang="fr-FR" altLang="en-US" sz="1300" dirty="0">
                <a:solidFill>
                  <a:srgbClr val="56617C"/>
                </a:solidFill>
                <a:latin typeface="Calibri" pitchFamily="34" charset="0"/>
                <a:ea typeface="Calibri" pitchFamily="34" charset="-122"/>
                <a:cs typeface="Calibri" pitchFamily="34" charset="-120"/>
              </a:rPr>
              <a:t>Le parapheur attend son retour (1 à 3 jours)</a:t>
            </a:r>
            <a:endParaRPr lang="fr-FR" sz="1300" dirty="0"/>
          </a:p>
        </p:txBody>
      </p:sp>
      <p:sp>
        <p:nvSpPr>
          <p:cNvPr id="33" name="tr3c2"/>
          <p:cNvSpPr/>
          <p:nvPr/>
        </p:nvSpPr>
        <p:spPr>
          <a:xfrm>
            <a:off x="7360920" y="4187952"/>
            <a:ext cx="3931920" cy="548640"/>
          </a:xfrm>
          <a:prstGeom prst="rect">
            <a:avLst/>
          </a:prstGeom>
          <a:solidFill>
            <a:srgbClr val="EEF7F1"/>
          </a:solidFill>
          <a:ln w="9525">
            <a:solidFill>
              <a:srgbClr val="E6EAF2"/>
            </a:solidFill>
            <a:prstDash val="solid"/>
          </a:ln>
        </p:spPr>
      </p:sp>
      <p:sp>
        <p:nvSpPr>
          <p:cNvPr id="34" name="tt3c2"/>
          <p:cNvSpPr txBox="1"/>
          <p:nvPr/>
        </p:nvSpPr>
        <p:spPr>
          <a:xfrm>
            <a:off x="7543800" y="4187952"/>
            <a:ext cx="3657600" cy="548640"/>
          </a:xfrm>
          <a:prstGeom prst="rect">
            <a:avLst/>
          </a:prstGeom>
          <a:noFill/>
          <a:ln/>
        </p:spPr>
        <p:txBody>
          <a:bodyPr wrap="square" lIns="0" tIns="0" rIns="0" bIns="0" rtlCol="0" anchor="ctr"/>
          <a:lstStyle/>
          <a:p>
            <a:pPr indent="0" marL="0">
              <a:buNone/>
            </a:pPr>
            <a:r>
              <a:rPr lang="fr-FR" altLang="en-US" sz="1300" dirty="0">
                <a:solidFill>
                  <a:srgbClr val="0E1C46"/>
                </a:solidFill>
                <a:latin typeface="Calibri" pitchFamily="34" charset="0"/>
                <a:ea typeface="Calibri" pitchFamily="34" charset="-122"/>
                <a:cs typeface="Calibri" pitchFamily="34" charset="-120"/>
              </a:rPr>
              <a:t>Visa à distance ou suppléant désigné</a:t>
            </a:r>
            <a:endParaRPr lang="fr-FR" sz="1300" dirty="0"/>
          </a:p>
        </p:txBody>
      </p:sp>
      <p:sp>
        <p:nvSpPr>
          <p:cNvPr id="35" name="tr4c0"/>
          <p:cNvSpPr/>
          <p:nvPr/>
        </p:nvSpPr>
        <p:spPr>
          <a:xfrm>
            <a:off x="685800" y="4791456"/>
            <a:ext cx="2834640" cy="548640"/>
          </a:xfrm>
          <a:prstGeom prst="rect">
            <a:avLst/>
          </a:prstGeom>
          <a:solidFill>
            <a:srgbClr val="FFFFFF"/>
          </a:solidFill>
          <a:ln w="9525">
            <a:solidFill>
              <a:srgbClr val="E6EAF2"/>
            </a:solidFill>
            <a:prstDash val="solid"/>
          </a:ln>
        </p:spPr>
      </p:sp>
      <p:sp>
        <p:nvSpPr>
          <p:cNvPr id="36" name="tt4c0"/>
          <p:cNvSpPr txBox="1"/>
          <p:nvPr/>
        </p:nvSpPr>
        <p:spPr>
          <a:xfrm>
            <a:off x="868680" y="4791456"/>
            <a:ext cx="2560320" cy="548640"/>
          </a:xfrm>
          <a:prstGeom prst="rect">
            <a:avLst/>
          </a:prstGeom>
          <a:noFill/>
          <a:ln/>
        </p:spPr>
        <p:txBody>
          <a:bodyPr wrap="square" lIns="0" tIns="0" rIns="0" bIns="0" rtlCol="0" anchor="ctr"/>
          <a:lstStyle/>
          <a:p>
            <a:pPr indent="0" marL="0">
              <a:buNone/>
            </a:pPr>
            <a:r>
              <a:rPr lang="fr-FR" altLang="en-US" sz="1300" b="1" dirty="0">
                <a:solidFill>
                  <a:srgbClr val="0E1C46"/>
                </a:solidFill>
                <a:latin typeface="Calibri" pitchFamily="34" charset="0"/>
                <a:ea typeface="Calibri" pitchFamily="34" charset="-122"/>
                <a:cs typeface="Calibri" pitchFamily="34" charset="-120"/>
              </a:rPr>
              <a:t>Échanges urgents</a:t>
            </a:r>
            <a:endParaRPr lang="fr-FR" sz="1300" dirty="0"/>
          </a:p>
        </p:txBody>
      </p:sp>
      <p:sp>
        <p:nvSpPr>
          <p:cNvPr id="37" name="tr4c1"/>
          <p:cNvSpPr/>
          <p:nvPr/>
        </p:nvSpPr>
        <p:spPr>
          <a:xfrm>
            <a:off x="3611880" y="4791456"/>
            <a:ext cx="3657600" cy="548640"/>
          </a:xfrm>
          <a:prstGeom prst="rect">
            <a:avLst/>
          </a:prstGeom>
          <a:solidFill>
            <a:srgbClr val="FFFFFF"/>
          </a:solidFill>
          <a:ln w="9525">
            <a:solidFill>
              <a:srgbClr val="E6EAF2"/>
            </a:solidFill>
            <a:prstDash val="solid"/>
          </a:ln>
        </p:spPr>
      </p:sp>
      <p:sp>
        <p:nvSpPr>
          <p:cNvPr id="38" name="tt4c1"/>
          <p:cNvSpPr txBox="1"/>
          <p:nvPr/>
        </p:nvSpPr>
        <p:spPr>
          <a:xfrm>
            <a:off x="3794760" y="4791456"/>
            <a:ext cx="3383280" cy="548640"/>
          </a:xfrm>
          <a:prstGeom prst="rect">
            <a:avLst/>
          </a:prstGeom>
          <a:noFill/>
          <a:ln/>
        </p:spPr>
        <p:txBody>
          <a:bodyPr wrap="square" lIns="0" tIns="0" rIns="0" bIns="0" rtlCol="0" anchor="ctr"/>
          <a:lstStyle/>
          <a:p>
            <a:pPr indent="0" marL="0">
              <a:buNone/>
            </a:pPr>
            <a:r>
              <a:rPr lang="fr-FR" altLang="en-US" sz="1300" dirty="0">
                <a:solidFill>
                  <a:srgbClr val="56617C"/>
                </a:solidFill>
                <a:latin typeface="Calibri" pitchFamily="34" charset="0"/>
                <a:ea typeface="Calibri" pitchFamily="34" charset="-122"/>
                <a:cs typeface="Calibri" pitchFamily="34" charset="-120"/>
              </a:rPr>
              <a:t>WhatsApp sans trace, puis envoi papier en double</a:t>
            </a:r>
            <a:endParaRPr lang="fr-FR" sz="1300" dirty="0"/>
          </a:p>
        </p:txBody>
      </p:sp>
      <p:sp>
        <p:nvSpPr>
          <p:cNvPr id="39" name="tr4c2"/>
          <p:cNvSpPr/>
          <p:nvPr/>
        </p:nvSpPr>
        <p:spPr>
          <a:xfrm>
            <a:off x="7360920" y="4791456"/>
            <a:ext cx="3931920" cy="548640"/>
          </a:xfrm>
          <a:prstGeom prst="rect">
            <a:avLst/>
          </a:prstGeom>
          <a:solidFill>
            <a:srgbClr val="EEF7F1"/>
          </a:solidFill>
          <a:ln w="9525">
            <a:solidFill>
              <a:srgbClr val="E6EAF2"/>
            </a:solidFill>
            <a:prstDash val="solid"/>
          </a:ln>
        </p:spPr>
      </p:sp>
      <p:sp>
        <p:nvSpPr>
          <p:cNvPr id="40" name="tt4c2"/>
          <p:cNvSpPr txBox="1"/>
          <p:nvPr/>
        </p:nvSpPr>
        <p:spPr>
          <a:xfrm>
            <a:off x="7543800" y="4791456"/>
            <a:ext cx="3657600" cy="548640"/>
          </a:xfrm>
          <a:prstGeom prst="rect">
            <a:avLst/>
          </a:prstGeom>
          <a:noFill/>
          <a:ln/>
        </p:spPr>
        <p:txBody>
          <a:bodyPr wrap="square" lIns="0" tIns="0" rIns="0" bIns="0" rtlCol="0" anchor="ctr"/>
          <a:lstStyle/>
          <a:p>
            <a:pPr indent="0" marL="0">
              <a:buNone/>
            </a:pPr>
            <a:r>
              <a:rPr lang="fr-FR" altLang="en-US" sz="1300" dirty="0">
                <a:solidFill>
                  <a:srgbClr val="0E1C46"/>
                </a:solidFill>
                <a:latin typeface="Calibri" pitchFamily="34" charset="0"/>
                <a:ea typeface="Calibri" pitchFamily="34" charset="-122"/>
                <a:cs typeface="Calibri" pitchFamily="34" charset="-120"/>
              </a:rPr>
              <a:t>Un seul canal officiel et tracé</a:t>
            </a:r>
            <a:endParaRPr lang="fr-FR" sz="1300" dirty="0"/>
          </a:p>
        </p:txBody>
      </p:sp>
      <p:sp>
        <p:nvSpPr>
          <p:cNvPr id="41" name="tr5c0"/>
          <p:cNvSpPr/>
          <p:nvPr/>
        </p:nvSpPr>
        <p:spPr>
          <a:xfrm>
            <a:off x="685800" y="5394960"/>
            <a:ext cx="2834640" cy="548640"/>
          </a:xfrm>
          <a:prstGeom prst="rect">
            <a:avLst/>
          </a:prstGeom>
          <a:solidFill>
            <a:srgbClr val="F7F9FD"/>
          </a:solidFill>
          <a:ln w="9525">
            <a:solidFill>
              <a:srgbClr val="E6EAF2"/>
            </a:solidFill>
            <a:prstDash val="solid"/>
          </a:ln>
        </p:spPr>
      </p:sp>
      <p:sp>
        <p:nvSpPr>
          <p:cNvPr id="42" name="tt5c0"/>
          <p:cNvSpPr txBox="1"/>
          <p:nvPr/>
        </p:nvSpPr>
        <p:spPr>
          <a:xfrm>
            <a:off x="868680" y="5394960"/>
            <a:ext cx="2560320" cy="548640"/>
          </a:xfrm>
          <a:prstGeom prst="rect">
            <a:avLst/>
          </a:prstGeom>
          <a:noFill/>
          <a:ln/>
        </p:spPr>
        <p:txBody>
          <a:bodyPr wrap="square" lIns="0" tIns="0" rIns="0" bIns="0" rtlCol="0" anchor="ctr"/>
          <a:lstStyle/>
          <a:p>
            <a:pPr indent="0" marL="0">
              <a:buNone/>
            </a:pPr>
            <a:r>
              <a:rPr lang="fr-FR" altLang="en-US" sz="1300" b="1" dirty="0">
                <a:solidFill>
                  <a:srgbClr val="0E1C46"/>
                </a:solidFill>
                <a:latin typeface="Calibri" pitchFamily="34" charset="0"/>
                <a:ea typeface="Calibri" pitchFamily="34" charset="-122"/>
                <a:cs typeface="Calibri" pitchFamily="34" charset="-120"/>
              </a:rPr>
              <a:t>Conservation et pilotage</a:t>
            </a:r>
            <a:endParaRPr lang="fr-FR" sz="1300" dirty="0"/>
          </a:p>
        </p:txBody>
      </p:sp>
      <p:sp>
        <p:nvSpPr>
          <p:cNvPr id="43" name="tr5c1"/>
          <p:cNvSpPr/>
          <p:nvPr/>
        </p:nvSpPr>
        <p:spPr>
          <a:xfrm>
            <a:off x="3611880" y="5394960"/>
            <a:ext cx="3657600" cy="548640"/>
          </a:xfrm>
          <a:prstGeom prst="rect">
            <a:avLst/>
          </a:prstGeom>
          <a:solidFill>
            <a:srgbClr val="F7F9FD"/>
          </a:solidFill>
          <a:ln w="9525">
            <a:solidFill>
              <a:srgbClr val="E6EAF2"/>
            </a:solidFill>
            <a:prstDash val="solid"/>
          </a:ln>
        </p:spPr>
      </p:sp>
      <p:sp>
        <p:nvSpPr>
          <p:cNvPr id="44" name="tt5c1"/>
          <p:cNvSpPr txBox="1"/>
          <p:nvPr/>
        </p:nvSpPr>
        <p:spPr>
          <a:xfrm>
            <a:off x="3794760" y="5394960"/>
            <a:ext cx="3383280" cy="548640"/>
          </a:xfrm>
          <a:prstGeom prst="rect">
            <a:avLst/>
          </a:prstGeom>
          <a:noFill/>
          <a:ln/>
        </p:spPr>
        <p:txBody>
          <a:bodyPr wrap="square" lIns="0" tIns="0" rIns="0" bIns="0" rtlCol="0" anchor="ctr"/>
          <a:lstStyle/>
          <a:p>
            <a:pPr indent="0" marL="0">
              <a:buNone/>
            </a:pPr>
            <a:r>
              <a:rPr lang="fr-FR" altLang="en-US" sz="1300" dirty="0">
                <a:solidFill>
                  <a:srgbClr val="56617C"/>
                </a:solidFill>
                <a:latin typeface="Calibri" pitchFamily="34" charset="0"/>
                <a:ea typeface="Calibri" pitchFamily="34" charset="-122"/>
                <a:cs typeface="Calibri" pitchFamily="34" charset="-120"/>
              </a:rPr>
              <a:t>Classeurs encombrants, aucune vue d’ensemble</a:t>
            </a:r>
            <a:endParaRPr lang="fr-FR" sz="1300" dirty="0"/>
          </a:p>
        </p:txBody>
      </p:sp>
      <p:sp>
        <p:nvSpPr>
          <p:cNvPr id="45" name="tr5c2"/>
          <p:cNvSpPr/>
          <p:nvPr/>
        </p:nvSpPr>
        <p:spPr>
          <a:xfrm>
            <a:off x="7360920" y="5394960"/>
            <a:ext cx="3931920" cy="548640"/>
          </a:xfrm>
          <a:prstGeom prst="rect">
            <a:avLst/>
          </a:prstGeom>
          <a:solidFill>
            <a:srgbClr val="EEF7F1"/>
          </a:solidFill>
          <a:ln w="9525">
            <a:solidFill>
              <a:srgbClr val="E6EAF2"/>
            </a:solidFill>
            <a:prstDash val="solid"/>
          </a:ln>
        </p:spPr>
      </p:sp>
      <p:sp>
        <p:nvSpPr>
          <p:cNvPr id="46" name="tt5c2"/>
          <p:cNvSpPr txBox="1"/>
          <p:nvPr/>
        </p:nvSpPr>
        <p:spPr>
          <a:xfrm>
            <a:off x="7543800" y="5394960"/>
            <a:ext cx="3657600" cy="548640"/>
          </a:xfrm>
          <a:prstGeom prst="rect">
            <a:avLst/>
          </a:prstGeom>
          <a:noFill/>
          <a:ln/>
        </p:spPr>
        <p:txBody>
          <a:bodyPr wrap="square" lIns="0" tIns="0" rIns="0" bIns="0" rtlCol="0" anchor="ctr"/>
          <a:lstStyle/>
          <a:p>
            <a:pPr indent="0" marL="0">
              <a:buNone/>
            </a:pPr>
            <a:r>
              <a:rPr lang="fr-FR" altLang="en-US" sz="1300" dirty="0">
                <a:solidFill>
                  <a:srgbClr val="0E1C46"/>
                </a:solidFill>
                <a:latin typeface="Calibri" pitchFamily="34" charset="0"/>
                <a:ea typeface="Calibri" pitchFamily="34" charset="-122"/>
                <a:cs typeface="Calibri" pitchFamily="34" charset="-120"/>
              </a:rPr>
              <a:t>Archives sauvegardées et suivi des délais</a:t>
            </a:r>
            <a:endParaRPr lang="fr-FR" sz="1300" dirty="0"/>
          </a:p>
        </p:txBody>
      </p:sp>
      <p:pic>
        <p:nvPicPr>
          <p:cNvPr id="47"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48"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49"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Annexe 1</a:t>
            </a:r>
            <a:endParaRPr lang="fr-FR" sz="1000" dirty="0"/>
          </a:p>
        </p:txBody>
      </p:sp>
      <p:sp>
        <p:nvSpPr>
          <p:cNvPr id="50" name="!!band1"/>
          <p:cNvSpPr/>
          <p:nvPr/>
        </p:nvSpPr>
        <p:spPr>
          <a:xfrm>
            <a:off x="0" y="0"/>
            <a:ext cx="4873752" cy="64008"/>
          </a:xfrm>
          <a:prstGeom prst="rect">
            <a:avLst/>
          </a:prstGeom>
          <a:solidFill>
            <a:srgbClr val="1B3F9E"/>
          </a:solidFill>
          <a:ln w="12700">
            <a:solidFill>
              <a:srgbClr val="1B3F9E"/>
            </a:solidFill>
            <a:prstDash val="solid"/>
          </a:ln>
        </p:spPr>
      </p:sp>
      <p:sp>
        <p:nvSpPr>
          <p:cNvPr id="51" name="!!band2"/>
          <p:cNvSpPr/>
          <p:nvPr/>
        </p:nvSpPr>
        <p:spPr>
          <a:xfrm>
            <a:off x="4873752" y="0"/>
            <a:ext cx="4270248" cy="64008"/>
          </a:xfrm>
          <a:prstGeom prst="rect">
            <a:avLst/>
          </a:prstGeom>
          <a:solidFill>
            <a:srgbClr val="00923A"/>
          </a:solidFill>
          <a:ln w="12700">
            <a:solidFill>
              <a:srgbClr val="00923A"/>
            </a:solidFill>
            <a:prstDash val="solid"/>
          </a:ln>
        </p:spPr>
      </p:sp>
      <p:sp>
        <p:nvSpPr>
          <p:cNvPr id="52" name="!!band3"/>
          <p:cNvSpPr/>
          <p:nvPr/>
        </p:nvSpPr>
        <p:spPr>
          <a:xfrm>
            <a:off x="9144000" y="0"/>
            <a:ext cx="3047695" cy="64008"/>
          </a:xfrm>
          <a:prstGeom prst="rect">
            <a:avLst/>
          </a:prstGeom>
          <a:solidFill>
            <a:srgbClr val="FCC600"/>
          </a:solidFill>
          <a:ln w="12700">
            <a:solidFill>
              <a:srgbClr val="FCC600"/>
            </a:solidFill>
            <a:prstDash val="solid"/>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22" presetClass="entr" presetSubtype="8" fill="hold" grpId="0" nodeType="withEffect">
                                  <p:stCondLst>
                                    <p:cond delay="15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22" presetClass="entr" presetSubtype="8" fill="hold" grpId="0" nodeType="withEffect">
                                  <p:stCondLst>
                                    <p:cond delay="27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600"/>
                                        <p:tgtEl>
                                          <p:spTgt spid="7"/>
                                        </p:tgtEl>
                                      </p:cBhvr>
                                    </p:animEffect>
                                  </p:childTnLst>
                                </p:cTn>
                              </p:par>
                              <p:par>
                                <p:cTn id="20" presetID="10" presetClass="entr" presetSubtype="0" fill="hold" grpId="0" nodeType="withEffect">
                                  <p:stCondLst>
                                    <p:cond delay="27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22" presetClass="entr" presetSubtype="8" fill="hold" grpId="0" nodeType="withEffect">
                                  <p:stCondLst>
                                    <p:cond delay="39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600"/>
                                        <p:tgtEl>
                                          <p:spTgt spid="9"/>
                                        </p:tgtEl>
                                      </p:cBhvr>
                                    </p:animEffect>
                                  </p:childTnLst>
                                </p:cTn>
                              </p:par>
                              <p:par>
                                <p:cTn id="26" presetID="10" presetClass="entr" presetSubtype="0" fill="hold" grpId="0" nodeType="withEffect">
                                  <p:stCondLst>
                                    <p:cond delay="39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00"/>
                                        <p:tgtEl>
                                          <p:spTgt spid="10"/>
                                        </p:tgtEl>
                                      </p:cBhvr>
                                    </p:animEffect>
                                  </p:childTnLst>
                                </p:cTn>
                              </p:par>
                              <p:par>
                                <p:cTn id="29" presetID="22" presetClass="entr" presetSubtype="8" fill="hold" grpId="0" nodeType="withEffect">
                                  <p:stCondLst>
                                    <p:cond delay="60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600"/>
                                        <p:tgtEl>
                                          <p:spTgt spid="11"/>
                                        </p:tgtEl>
                                      </p:cBhvr>
                                    </p:animEffect>
                                  </p:childTnLst>
                                </p:cTn>
                              </p:par>
                              <p:par>
                                <p:cTn id="32" presetID="10" presetClass="entr" presetSubtype="0" fill="hold" grpId="0" nodeType="withEffect">
                                  <p:stCondLst>
                                    <p:cond delay="6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600"/>
                                        <p:tgtEl>
                                          <p:spTgt spid="12"/>
                                        </p:tgtEl>
                                      </p:cBhvr>
                                    </p:animEffect>
                                  </p:childTnLst>
                                </p:cTn>
                              </p:par>
                              <p:par>
                                <p:cTn id="35" presetID="22" presetClass="entr" presetSubtype="8" fill="hold" grpId="0" nodeType="withEffect">
                                  <p:stCondLst>
                                    <p:cond delay="69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600"/>
                                        <p:tgtEl>
                                          <p:spTgt spid="13"/>
                                        </p:tgtEl>
                                      </p:cBhvr>
                                    </p:animEffect>
                                  </p:childTnLst>
                                </p:cTn>
                              </p:par>
                              <p:par>
                                <p:cTn id="38" presetID="10" presetClass="entr" presetSubtype="0" fill="hold" grpId="0" nodeType="withEffect">
                                  <p:stCondLst>
                                    <p:cond delay="74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600"/>
                                        <p:tgtEl>
                                          <p:spTgt spid="14"/>
                                        </p:tgtEl>
                                      </p:cBhvr>
                                    </p:animEffect>
                                  </p:childTnLst>
                                </p:cTn>
                              </p:par>
                              <p:par>
                                <p:cTn id="41" presetID="22" presetClass="entr" presetSubtype="8" fill="hold" grpId="0" nodeType="withEffect">
                                  <p:stCondLst>
                                    <p:cond delay="78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600"/>
                                        <p:tgtEl>
                                          <p:spTgt spid="15"/>
                                        </p:tgtEl>
                                      </p:cBhvr>
                                    </p:animEffect>
                                  </p:childTnLst>
                                </p:cTn>
                              </p:par>
                              <p:par>
                                <p:cTn id="44" presetID="10" presetClass="entr" presetSubtype="0" fill="hold" grpId="0" nodeType="withEffect">
                                  <p:stCondLst>
                                    <p:cond delay="83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childTnLst>
                                </p:cTn>
                              </p:par>
                              <p:par>
                                <p:cTn id="47" presetID="22" presetClass="entr" presetSubtype="8" fill="hold" grpId="0" nodeType="withEffect">
                                  <p:stCondLst>
                                    <p:cond delay="930"/>
                                  </p:stCondLst>
                                  <p:childTnLst>
                                    <p:set>
                                      <p:cBhvr>
                                        <p:cTn id="48" dur="1" fill="hold">
                                          <p:stCondLst>
                                            <p:cond delay="0"/>
                                          </p:stCondLst>
                                        </p:cTn>
                                        <p:tgtEl>
                                          <p:spTgt spid="17"/>
                                        </p:tgtEl>
                                        <p:attrNameLst>
                                          <p:attrName>style.visibility</p:attrName>
                                        </p:attrNameLst>
                                      </p:cBhvr>
                                      <p:to>
                                        <p:strVal val="visible"/>
                                      </p:to>
                                    </p:set>
                                    <p:animEffect transition="in" filter="wipe(left)">
                                      <p:cBhvr>
                                        <p:cTn id="49" dur="600"/>
                                        <p:tgtEl>
                                          <p:spTgt spid="17"/>
                                        </p:tgtEl>
                                      </p:cBhvr>
                                    </p:animEffect>
                                  </p:childTnLst>
                                </p:cTn>
                              </p:par>
                              <p:par>
                                <p:cTn id="50" presetID="10" presetClass="entr" presetSubtype="0" fill="hold" grpId="0" nodeType="withEffect">
                                  <p:stCondLst>
                                    <p:cond delay="98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600"/>
                                        <p:tgtEl>
                                          <p:spTgt spid="18"/>
                                        </p:tgtEl>
                                      </p:cBhvr>
                                    </p:animEffect>
                                  </p:childTnLst>
                                </p:cTn>
                              </p:par>
                              <p:par>
                                <p:cTn id="53" presetID="22" presetClass="entr" presetSubtype="8" fill="hold" grpId="0" nodeType="withEffect">
                                  <p:stCondLst>
                                    <p:cond delay="1020"/>
                                  </p:stCondLst>
                                  <p:childTnLst>
                                    <p:set>
                                      <p:cBhvr>
                                        <p:cTn id="54" dur="1" fill="hold">
                                          <p:stCondLst>
                                            <p:cond delay="0"/>
                                          </p:stCondLst>
                                        </p:cTn>
                                        <p:tgtEl>
                                          <p:spTgt spid="19"/>
                                        </p:tgtEl>
                                        <p:attrNameLst>
                                          <p:attrName>style.visibility</p:attrName>
                                        </p:attrNameLst>
                                      </p:cBhvr>
                                      <p:to>
                                        <p:strVal val="visible"/>
                                      </p:to>
                                    </p:set>
                                    <p:animEffect transition="in" filter="wipe(left)">
                                      <p:cBhvr>
                                        <p:cTn id="55" dur="600"/>
                                        <p:tgtEl>
                                          <p:spTgt spid="19"/>
                                        </p:tgtEl>
                                      </p:cBhvr>
                                    </p:animEffect>
                                  </p:childTnLst>
                                </p:cTn>
                              </p:par>
                              <p:par>
                                <p:cTn id="56" presetID="10" presetClass="entr" presetSubtype="0" fill="hold" grpId="0" nodeType="withEffect">
                                  <p:stCondLst>
                                    <p:cond delay="107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600"/>
                                        <p:tgtEl>
                                          <p:spTgt spid="20"/>
                                        </p:tgtEl>
                                      </p:cBhvr>
                                    </p:animEffect>
                                  </p:childTnLst>
                                </p:cTn>
                              </p:par>
                              <p:par>
                                <p:cTn id="59" presetID="22" presetClass="entr" presetSubtype="8" fill="hold" grpId="0" nodeType="withEffect">
                                  <p:stCondLst>
                                    <p:cond delay="1110"/>
                                  </p:stCondLst>
                                  <p:childTnLst>
                                    <p:set>
                                      <p:cBhvr>
                                        <p:cTn id="60" dur="1" fill="hold">
                                          <p:stCondLst>
                                            <p:cond delay="0"/>
                                          </p:stCondLst>
                                        </p:cTn>
                                        <p:tgtEl>
                                          <p:spTgt spid="21"/>
                                        </p:tgtEl>
                                        <p:attrNameLst>
                                          <p:attrName>style.visibility</p:attrName>
                                        </p:attrNameLst>
                                      </p:cBhvr>
                                      <p:to>
                                        <p:strVal val="visible"/>
                                      </p:to>
                                    </p:set>
                                    <p:animEffect transition="in" filter="wipe(left)">
                                      <p:cBhvr>
                                        <p:cTn id="61" dur="600"/>
                                        <p:tgtEl>
                                          <p:spTgt spid="21"/>
                                        </p:tgtEl>
                                      </p:cBhvr>
                                    </p:animEffect>
                                  </p:childTnLst>
                                </p:cTn>
                              </p:par>
                              <p:par>
                                <p:cTn id="62" presetID="10" presetClass="entr" presetSubtype="0" fill="hold" grpId="0" nodeType="withEffect">
                                  <p:stCondLst>
                                    <p:cond delay="116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600"/>
                                        <p:tgtEl>
                                          <p:spTgt spid="22"/>
                                        </p:tgtEl>
                                      </p:cBhvr>
                                    </p:animEffect>
                                  </p:childTnLst>
                                </p:cTn>
                              </p:par>
                              <p:par>
                                <p:cTn id="65" presetID="22" presetClass="entr" presetSubtype="8" fill="hold" grpId="0" nodeType="withEffect">
                                  <p:stCondLst>
                                    <p:cond delay="1260"/>
                                  </p:stCondLst>
                                  <p:childTnLst>
                                    <p:set>
                                      <p:cBhvr>
                                        <p:cTn id="66" dur="1" fill="hold">
                                          <p:stCondLst>
                                            <p:cond delay="0"/>
                                          </p:stCondLst>
                                        </p:cTn>
                                        <p:tgtEl>
                                          <p:spTgt spid="23"/>
                                        </p:tgtEl>
                                        <p:attrNameLst>
                                          <p:attrName>style.visibility</p:attrName>
                                        </p:attrNameLst>
                                      </p:cBhvr>
                                      <p:to>
                                        <p:strVal val="visible"/>
                                      </p:to>
                                    </p:set>
                                    <p:animEffect transition="in" filter="wipe(left)">
                                      <p:cBhvr>
                                        <p:cTn id="67" dur="600"/>
                                        <p:tgtEl>
                                          <p:spTgt spid="23"/>
                                        </p:tgtEl>
                                      </p:cBhvr>
                                    </p:animEffect>
                                  </p:childTnLst>
                                </p:cTn>
                              </p:par>
                              <p:par>
                                <p:cTn id="68" presetID="10" presetClass="entr" presetSubtype="0" fill="hold" grpId="0" nodeType="withEffect">
                                  <p:stCondLst>
                                    <p:cond delay="131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600"/>
                                        <p:tgtEl>
                                          <p:spTgt spid="24"/>
                                        </p:tgtEl>
                                      </p:cBhvr>
                                    </p:animEffect>
                                  </p:childTnLst>
                                </p:cTn>
                              </p:par>
                              <p:par>
                                <p:cTn id="71" presetID="22" presetClass="entr" presetSubtype="8" fill="hold" grpId="0" nodeType="withEffect">
                                  <p:stCondLst>
                                    <p:cond delay="1350"/>
                                  </p:stCondLst>
                                  <p:childTnLst>
                                    <p:set>
                                      <p:cBhvr>
                                        <p:cTn id="72" dur="1" fill="hold">
                                          <p:stCondLst>
                                            <p:cond delay="0"/>
                                          </p:stCondLst>
                                        </p:cTn>
                                        <p:tgtEl>
                                          <p:spTgt spid="25"/>
                                        </p:tgtEl>
                                        <p:attrNameLst>
                                          <p:attrName>style.visibility</p:attrName>
                                        </p:attrNameLst>
                                      </p:cBhvr>
                                      <p:to>
                                        <p:strVal val="visible"/>
                                      </p:to>
                                    </p:set>
                                    <p:animEffect transition="in" filter="wipe(left)">
                                      <p:cBhvr>
                                        <p:cTn id="73" dur="600"/>
                                        <p:tgtEl>
                                          <p:spTgt spid="25"/>
                                        </p:tgtEl>
                                      </p:cBhvr>
                                    </p:animEffect>
                                  </p:childTnLst>
                                </p:cTn>
                              </p:par>
                              <p:par>
                                <p:cTn id="74" presetID="10" presetClass="entr" presetSubtype="0" fill="hold" grpId="0" nodeType="withEffect">
                                  <p:stCondLst>
                                    <p:cond delay="140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600"/>
                                        <p:tgtEl>
                                          <p:spTgt spid="26"/>
                                        </p:tgtEl>
                                      </p:cBhvr>
                                    </p:animEffect>
                                  </p:childTnLst>
                                </p:cTn>
                              </p:par>
                              <p:par>
                                <p:cTn id="77" presetID="22" presetClass="entr" presetSubtype="8" fill="hold" grpId="0" nodeType="withEffect">
                                  <p:stCondLst>
                                    <p:cond delay="1440"/>
                                  </p:stCondLst>
                                  <p:childTnLst>
                                    <p:set>
                                      <p:cBhvr>
                                        <p:cTn id="78" dur="1" fill="hold">
                                          <p:stCondLst>
                                            <p:cond delay="0"/>
                                          </p:stCondLst>
                                        </p:cTn>
                                        <p:tgtEl>
                                          <p:spTgt spid="27"/>
                                        </p:tgtEl>
                                        <p:attrNameLst>
                                          <p:attrName>style.visibility</p:attrName>
                                        </p:attrNameLst>
                                      </p:cBhvr>
                                      <p:to>
                                        <p:strVal val="visible"/>
                                      </p:to>
                                    </p:set>
                                    <p:animEffect transition="in" filter="wipe(left)">
                                      <p:cBhvr>
                                        <p:cTn id="79" dur="600"/>
                                        <p:tgtEl>
                                          <p:spTgt spid="27"/>
                                        </p:tgtEl>
                                      </p:cBhvr>
                                    </p:animEffect>
                                  </p:childTnLst>
                                </p:cTn>
                              </p:par>
                              <p:par>
                                <p:cTn id="80" presetID="10" presetClass="entr" presetSubtype="0" fill="hold" grpId="0" nodeType="withEffect">
                                  <p:stCondLst>
                                    <p:cond delay="149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600"/>
                                        <p:tgtEl>
                                          <p:spTgt spid="28"/>
                                        </p:tgtEl>
                                      </p:cBhvr>
                                    </p:animEffect>
                                  </p:childTnLst>
                                </p:cTn>
                              </p:par>
                              <p:par>
                                <p:cTn id="83" presetID="22" presetClass="entr" presetSubtype="8" fill="hold" grpId="0" nodeType="withEffect">
                                  <p:stCondLst>
                                    <p:cond delay="1590"/>
                                  </p:stCondLst>
                                  <p:childTnLst>
                                    <p:set>
                                      <p:cBhvr>
                                        <p:cTn id="84" dur="1" fill="hold">
                                          <p:stCondLst>
                                            <p:cond delay="0"/>
                                          </p:stCondLst>
                                        </p:cTn>
                                        <p:tgtEl>
                                          <p:spTgt spid="29"/>
                                        </p:tgtEl>
                                        <p:attrNameLst>
                                          <p:attrName>style.visibility</p:attrName>
                                        </p:attrNameLst>
                                      </p:cBhvr>
                                      <p:to>
                                        <p:strVal val="visible"/>
                                      </p:to>
                                    </p:set>
                                    <p:animEffect transition="in" filter="wipe(left)">
                                      <p:cBhvr>
                                        <p:cTn id="85" dur="600"/>
                                        <p:tgtEl>
                                          <p:spTgt spid="29"/>
                                        </p:tgtEl>
                                      </p:cBhvr>
                                    </p:animEffect>
                                  </p:childTnLst>
                                </p:cTn>
                              </p:par>
                              <p:par>
                                <p:cTn id="86" presetID="10" presetClass="entr" presetSubtype="0" fill="hold" grpId="0" nodeType="withEffect">
                                  <p:stCondLst>
                                    <p:cond delay="164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600"/>
                                        <p:tgtEl>
                                          <p:spTgt spid="30"/>
                                        </p:tgtEl>
                                      </p:cBhvr>
                                    </p:animEffect>
                                  </p:childTnLst>
                                </p:cTn>
                              </p:par>
                              <p:par>
                                <p:cTn id="89" presetID="22" presetClass="entr" presetSubtype="8" fill="hold" grpId="0" nodeType="withEffect">
                                  <p:stCondLst>
                                    <p:cond delay="1680"/>
                                  </p:stCondLst>
                                  <p:childTnLst>
                                    <p:set>
                                      <p:cBhvr>
                                        <p:cTn id="90" dur="1" fill="hold">
                                          <p:stCondLst>
                                            <p:cond delay="0"/>
                                          </p:stCondLst>
                                        </p:cTn>
                                        <p:tgtEl>
                                          <p:spTgt spid="31"/>
                                        </p:tgtEl>
                                        <p:attrNameLst>
                                          <p:attrName>style.visibility</p:attrName>
                                        </p:attrNameLst>
                                      </p:cBhvr>
                                      <p:to>
                                        <p:strVal val="visible"/>
                                      </p:to>
                                    </p:set>
                                    <p:animEffect transition="in" filter="wipe(left)">
                                      <p:cBhvr>
                                        <p:cTn id="91" dur="600"/>
                                        <p:tgtEl>
                                          <p:spTgt spid="31"/>
                                        </p:tgtEl>
                                      </p:cBhvr>
                                    </p:animEffect>
                                  </p:childTnLst>
                                </p:cTn>
                              </p:par>
                              <p:par>
                                <p:cTn id="92" presetID="10" presetClass="entr" presetSubtype="0" fill="hold" grpId="0" nodeType="withEffect">
                                  <p:stCondLst>
                                    <p:cond delay="173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600"/>
                                        <p:tgtEl>
                                          <p:spTgt spid="32"/>
                                        </p:tgtEl>
                                      </p:cBhvr>
                                    </p:animEffect>
                                  </p:childTnLst>
                                </p:cTn>
                              </p:par>
                              <p:par>
                                <p:cTn id="95" presetID="22" presetClass="entr" presetSubtype="8" fill="hold" grpId="0" nodeType="withEffect">
                                  <p:stCondLst>
                                    <p:cond delay="1770"/>
                                  </p:stCondLst>
                                  <p:childTnLst>
                                    <p:set>
                                      <p:cBhvr>
                                        <p:cTn id="96" dur="1" fill="hold">
                                          <p:stCondLst>
                                            <p:cond delay="0"/>
                                          </p:stCondLst>
                                        </p:cTn>
                                        <p:tgtEl>
                                          <p:spTgt spid="33"/>
                                        </p:tgtEl>
                                        <p:attrNameLst>
                                          <p:attrName>style.visibility</p:attrName>
                                        </p:attrNameLst>
                                      </p:cBhvr>
                                      <p:to>
                                        <p:strVal val="visible"/>
                                      </p:to>
                                    </p:set>
                                    <p:animEffect transition="in" filter="wipe(left)">
                                      <p:cBhvr>
                                        <p:cTn id="97" dur="600"/>
                                        <p:tgtEl>
                                          <p:spTgt spid="33"/>
                                        </p:tgtEl>
                                      </p:cBhvr>
                                    </p:animEffect>
                                  </p:childTnLst>
                                </p:cTn>
                              </p:par>
                              <p:par>
                                <p:cTn id="98" presetID="10" presetClass="entr" presetSubtype="0" fill="hold" grpId="0" nodeType="withEffect">
                                  <p:stCondLst>
                                    <p:cond delay="182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600"/>
                                        <p:tgtEl>
                                          <p:spTgt spid="34"/>
                                        </p:tgtEl>
                                      </p:cBhvr>
                                    </p:animEffect>
                                  </p:childTnLst>
                                </p:cTn>
                              </p:par>
                              <p:par>
                                <p:cTn id="101" presetID="22" presetClass="entr" presetSubtype="8" fill="hold" grpId="0" nodeType="withEffect">
                                  <p:stCondLst>
                                    <p:cond delay="1920"/>
                                  </p:stCondLst>
                                  <p:childTnLst>
                                    <p:set>
                                      <p:cBhvr>
                                        <p:cTn id="102" dur="1" fill="hold">
                                          <p:stCondLst>
                                            <p:cond delay="0"/>
                                          </p:stCondLst>
                                        </p:cTn>
                                        <p:tgtEl>
                                          <p:spTgt spid="35"/>
                                        </p:tgtEl>
                                        <p:attrNameLst>
                                          <p:attrName>style.visibility</p:attrName>
                                        </p:attrNameLst>
                                      </p:cBhvr>
                                      <p:to>
                                        <p:strVal val="visible"/>
                                      </p:to>
                                    </p:set>
                                    <p:animEffect transition="in" filter="wipe(left)">
                                      <p:cBhvr>
                                        <p:cTn id="103" dur="600"/>
                                        <p:tgtEl>
                                          <p:spTgt spid="35"/>
                                        </p:tgtEl>
                                      </p:cBhvr>
                                    </p:animEffect>
                                  </p:childTnLst>
                                </p:cTn>
                              </p:par>
                              <p:par>
                                <p:cTn id="104" presetID="10" presetClass="entr" presetSubtype="0" fill="hold" grpId="0" nodeType="withEffect">
                                  <p:stCondLst>
                                    <p:cond delay="197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600"/>
                                        <p:tgtEl>
                                          <p:spTgt spid="36"/>
                                        </p:tgtEl>
                                      </p:cBhvr>
                                    </p:animEffect>
                                  </p:childTnLst>
                                </p:cTn>
                              </p:par>
                              <p:par>
                                <p:cTn id="107" presetID="22" presetClass="entr" presetSubtype="8" fill="hold" grpId="0" nodeType="withEffect">
                                  <p:stCondLst>
                                    <p:cond delay="2010"/>
                                  </p:stCondLst>
                                  <p:childTnLst>
                                    <p:set>
                                      <p:cBhvr>
                                        <p:cTn id="108" dur="1" fill="hold">
                                          <p:stCondLst>
                                            <p:cond delay="0"/>
                                          </p:stCondLst>
                                        </p:cTn>
                                        <p:tgtEl>
                                          <p:spTgt spid="37"/>
                                        </p:tgtEl>
                                        <p:attrNameLst>
                                          <p:attrName>style.visibility</p:attrName>
                                        </p:attrNameLst>
                                      </p:cBhvr>
                                      <p:to>
                                        <p:strVal val="visible"/>
                                      </p:to>
                                    </p:set>
                                    <p:animEffect transition="in" filter="wipe(left)">
                                      <p:cBhvr>
                                        <p:cTn id="109" dur="600"/>
                                        <p:tgtEl>
                                          <p:spTgt spid="37"/>
                                        </p:tgtEl>
                                      </p:cBhvr>
                                    </p:animEffect>
                                  </p:childTnLst>
                                </p:cTn>
                              </p:par>
                              <p:par>
                                <p:cTn id="110" presetID="10" presetClass="entr" presetSubtype="0" fill="hold" grpId="0" nodeType="withEffect">
                                  <p:stCondLst>
                                    <p:cond delay="206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600"/>
                                        <p:tgtEl>
                                          <p:spTgt spid="38"/>
                                        </p:tgtEl>
                                      </p:cBhvr>
                                    </p:animEffect>
                                  </p:childTnLst>
                                </p:cTn>
                              </p:par>
                              <p:par>
                                <p:cTn id="113" presetID="22" presetClass="entr" presetSubtype="8" fill="hold" grpId="0" nodeType="withEffect">
                                  <p:stCondLst>
                                    <p:cond delay="2100"/>
                                  </p:stCondLst>
                                  <p:childTnLst>
                                    <p:set>
                                      <p:cBhvr>
                                        <p:cTn id="114" dur="1" fill="hold">
                                          <p:stCondLst>
                                            <p:cond delay="0"/>
                                          </p:stCondLst>
                                        </p:cTn>
                                        <p:tgtEl>
                                          <p:spTgt spid="39"/>
                                        </p:tgtEl>
                                        <p:attrNameLst>
                                          <p:attrName>style.visibility</p:attrName>
                                        </p:attrNameLst>
                                      </p:cBhvr>
                                      <p:to>
                                        <p:strVal val="visible"/>
                                      </p:to>
                                    </p:set>
                                    <p:animEffect transition="in" filter="wipe(left)">
                                      <p:cBhvr>
                                        <p:cTn id="115" dur="600"/>
                                        <p:tgtEl>
                                          <p:spTgt spid="39"/>
                                        </p:tgtEl>
                                      </p:cBhvr>
                                    </p:animEffect>
                                  </p:childTnLst>
                                </p:cTn>
                              </p:par>
                              <p:par>
                                <p:cTn id="116" presetID="10" presetClass="entr" presetSubtype="0" fill="hold" grpId="0" nodeType="withEffect">
                                  <p:stCondLst>
                                    <p:cond delay="2150"/>
                                  </p:stCondLst>
                                  <p:childTnLst>
                                    <p:set>
                                      <p:cBhvr>
                                        <p:cTn id="117" dur="1" fill="hold">
                                          <p:stCondLst>
                                            <p:cond delay="0"/>
                                          </p:stCondLst>
                                        </p:cTn>
                                        <p:tgtEl>
                                          <p:spTgt spid="40"/>
                                        </p:tgtEl>
                                        <p:attrNameLst>
                                          <p:attrName>style.visibility</p:attrName>
                                        </p:attrNameLst>
                                      </p:cBhvr>
                                      <p:to>
                                        <p:strVal val="visible"/>
                                      </p:to>
                                    </p:set>
                                    <p:animEffect transition="in" filter="fade">
                                      <p:cBhvr>
                                        <p:cTn id="118" dur="600"/>
                                        <p:tgtEl>
                                          <p:spTgt spid="40"/>
                                        </p:tgtEl>
                                      </p:cBhvr>
                                    </p:animEffect>
                                  </p:childTnLst>
                                </p:cTn>
                              </p:par>
                              <p:par>
                                <p:cTn id="119" presetID="22" presetClass="entr" presetSubtype="8" fill="hold" grpId="0" nodeType="withEffect">
                                  <p:stCondLst>
                                    <p:cond delay="2250"/>
                                  </p:stCondLst>
                                  <p:childTnLst>
                                    <p:set>
                                      <p:cBhvr>
                                        <p:cTn id="120" dur="1" fill="hold">
                                          <p:stCondLst>
                                            <p:cond delay="0"/>
                                          </p:stCondLst>
                                        </p:cTn>
                                        <p:tgtEl>
                                          <p:spTgt spid="41"/>
                                        </p:tgtEl>
                                        <p:attrNameLst>
                                          <p:attrName>style.visibility</p:attrName>
                                        </p:attrNameLst>
                                      </p:cBhvr>
                                      <p:to>
                                        <p:strVal val="visible"/>
                                      </p:to>
                                    </p:set>
                                    <p:animEffect transition="in" filter="wipe(left)">
                                      <p:cBhvr>
                                        <p:cTn id="121" dur="600"/>
                                        <p:tgtEl>
                                          <p:spTgt spid="41"/>
                                        </p:tgtEl>
                                      </p:cBhvr>
                                    </p:animEffect>
                                  </p:childTnLst>
                                </p:cTn>
                              </p:par>
                              <p:par>
                                <p:cTn id="122" presetID="10" presetClass="entr" presetSubtype="0" fill="hold" grpId="0" nodeType="withEffect">
                                  <p:stCondLst>
                                    <p:cond delay="2300"/>
                                  </p:stCondLst>
                                  <p:childTnLst>
                                    <p:set>
                                      <p:cBhvr>
                                        <p:cTn id="123" dur="1" fill="hold">
                                          <p:stCondLst>
                                            <p:cond delay="0"/>
                                          </p:stCondLst>
                                        </p:cTn>
                                        <p:tgtEl>
                                          <p:spTgt spid="42"/>
                                        </p:tgtEl>
                                        <p:attrNameLst>
                                          <p:attrName>style.visibility</p:attrName>
                                        </p:attrNameLst>
                                      </p:cBhvr>
                                      <p:to>
                                        <p:strVal val="visible"/>
                                      </p:to>
                                    </p:set>
                                    <p:animEffect transition="in" filter="fade">
                                      <p:cBhvr>
                                        <p:cTn id="124" dur="600"/>
                                        <p:tgtEl>
                                          <p:spTgt spid="42"/>
                                        </p:tgtEl>
                                      </p:cBhvr>
                                    </p:animEffect>
                                  </p:childTnLst>
                                </p:cTn>
                              </p:par>
                              <p:par>
                                <p:cTn id="125" presetID="22" presetClass="entr" presetSubtype="8" fill="hold" grpId="0" nodeType="withEffect">
                                  <p:stCondLst>
                                    <p:cond delay="2340"/>
                                  </p:stCondLst>
                                  <p:childTnLst>
                                    <p:set>
                                      <p:cBhvr>
                                        <p:cTn id="126" dur="1" fill="hold">
                                          <p:stCondLst>
                                            <p:cond delay="0"/>
                                          </p:stCondLst>
                                        </p:cTn>
                                        <p:tgtEl>
                                          <p:spTgt spid="43"/>
                                        </p:tgtEl>
                                        <p:attrNameLst>
                                          <p:attrName>style.visibility</p:attrName>
                                        </p:attrNameLst>
                                      </p:cBhvr>
                                      <p:to>
                                        <p:strVal val="visible"/>
                                      </p:to>
                                    </p:set>
                                    <p:animEffect transition="in" filter="wipe(left)">
                                      <p:cBhvr>
                                        <p:cTn id="127" dur="600"/>
                                        <p:tgtEl>
                                          <p:spTgt spid="43"/>
                                        </p:tgtEl>
                                      </p:cBhvr>
                                    </p:animEffect>
                                  </p:childTnLst>
                                </p:cTn>
                              </p:par>
                              <p:par>
                                <p:cTn id="128" presetID="10" presetClass="entr" presetSubtype="0" fill="hold" grpId="0" nodeType="withEffect">
                                  <p:stCondLst>
                                    <p:cond delay="2390"/>
                                  </p:stCondLst>
                                  <p:childTnLst>
                                    <p:set>
                                      <p:cBhvr>
                                        <p:cTn id="129" dur="1" fill="hold">
                                          <p:stCondLst>
                                            <p:cond delay="0"/>
                                          </p:stCondLst>
                                        </p:cTn>
                                        <p:tgtEl>
                                          <p:spTgt spid="44"/>
                                        </p:tgtEl>
                                        <p:attrNameLst>
                                          <p:attrName>style.visibility</p:attrName>
                                        </p:attrNameLst>
                                      </p:cBhvr>
                                      <p:to>
                                        <p:strVal val="visible"/>
                                      </p:to>
                                    </p:set>
                                    <p:animEffect transition="in" filter="fade">
                                      <p:cBhvr>
                                        <p:cTn id="130" dur="600"/>
                                        <p:tgtEl>
                                          <p:spTgt spid="44"/>
                                        </p:tgtEl>
                                      </p:cBhvr>
                                    </p:animEffect>
                                  </p:childTnLst>
                                </p:cTn>
                              </p:par>
                              <p:par>
                                <p:cTn id="131" presetID="22" presetClass="entr" presetSubtype="8" fill="hold" grpId="0" nodeType="withEffect">
                                  <p:stCondLst>
                                    <p:cond delay="2430"/>
                                  </p:stCondLst>
                                  <p:childTnLst>
                                    <p:set>
                                      <p:cBhvr>
                                        <p:cTn id="132" dur="1" fill="hold">
                                          <p:stCondLst>
                                            <p:cond delay="0"/>
                                          </p:stCondLst>
                                        </p:cTn>
                                        <p:tgtEl>
                                          <p:spTgt spid="45"/>
                                        </p:tgtEl>
                                        <p:attrNameLst>
                                          <p:attrName>style.visibility</p:attrName>
                                        </p:attrNameLst>
                                      </p:cBhvr>
                                      <p:to>
                                        <p:strVal val="visible"/>
                                      </p:to>
                                    </p:set>
                                    <p:animEffect transition="in" filter="wipe(left)">
                                      <p:cBhvr>
                                        <p:cTn id="133" dur="600"/>
                                        <p:tgtEl>
                                          <p:spTgt spid="45"/>
                                        </p:tgtEl>
                                      </p:cBhvr>
                                    </p:animEffect>
                                  </p:childTnLst>
                                </p:cTn>
                              </p:par>
                              <p:par>
                                <p:cTn id="134" presetID="10" presetClass="entr" presetSubtype="0" fill="hold" grpId="0" nodeType="withEffect">
                                  <p:stCondLst>
                                    <p:cond delay="2480"/>
                                  </p:stCondLst>
                                  <p:childTnLst>
                                    <p:set>
                                      <p:cBhvr>
                                        <p:cTn id="135" dur="1" fill="hold">
                                          <p:stCondLst>
                                            <p:cond delay="0"/>
                                          </p:stCondLst>
                                        </p:cTn>
                                        <p:tgtEl>
                                          <p:spTgt spid="46"/>
                                        </p:tgtEl>
                                        <p:attrNameLst>
                                          <p:attrName>style.visibility</p:attrName>
                                        </p:attrNameLst>
                                      </p:cBhvr>
                                      <p:to>
                                        <p:strVal val="visible"/>
                                      </p:to>
                                    </p:set>
                                    <p:animEffect transition="in" filter="fade">
                                      <p:cBhvr>
                                        <p:cTn id="136" dur="6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8" grpId="0" animBg="1"/>
      <p:bldP spid="10" grpId="0" animBg="1"/>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P spid="32" grpId="0" animBg="1"/>
      <p:bldP spid="34" grpId="0" animBg="1"/>
      <p:bldP spid="36" grpId="0" animBg="1"/>
      <p:bldP spid="38" grpId="0" animBg="1"/>
      <p:bldP spid="40" grpId="0" animBg="1"/>
      <p:bldP spid="42" grpId="0" animBg="1"/>
      <p:bldP spid="44" grpId="0" animBg="1"/>
      <p:bldP spid="4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914400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Annexe 2 — Bénéfices pour la population</a:t>
            </a:r>
            <a:endParaRPr lang="fr-FR" sz="1300" dirty="0"/>
          </a:p>
        </p:txBody>
      </p:sp>
      <p:sp>
        <p:nvSpPr>
          <p:cNvPr id="3" name="title"/>
          <p:cNvSpPr txBox="1"/>
          <p:nvPr/>
        </p:nvSpPr>
        <p:spPr>
          <a:xfrm>
            <a:off x="640080" y="676656"/>
            <a:ext cx="10058400"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Ce que les habitants y gagnent</a:t>
            </a:r>
            <a:endParaRPr lang="fr-FR" sz="3000" dirty="0"/>
          </a:p>
        </p:txBody>
      </p:sp>
      <p:sp>
        <p:nvSpPr>
          <p:cNvPr id="4" name="!!rule"/>
          <p:cNvSpPr/>
          <p:nvPr/>
        </p:nvSpPr>
        <p:spPr>
          <a:xfrm>
            <a:off x="640080" y="1417320"/>
            <a:ext cx="731520" cy="45720"/>
          </a:xfrm>
          <a:prstGeom prst="rect">
            <a:avLst/>
          </a:prstGeom>
          <a:solidFill>
            <a:srgbClr val="00923A"/>
          </a:solidFill>
          <a:ln w="12700">
            <a:solidFill>
              <a:srgbClr val="00923A"/>
            </a:solidFill>
            <a:prstDash val="solid"/>
          </a:ln>
        </p:spPr>
      </p:sp>
      <p:sp>
        <p:nvSpPr>
          <p:cNvPr id="5" name="b0"/>
          <p:cNvSpPr/>
          <p:nvPr/>
        </p:nvSpPr>
        <p:spPr>
          <a:xfrm>
            <a:off x="685800" y="1783080"/>
            <a:ext cx="3383280" cy="1874520"/>
          </a:xfrm>
          <a:prstGeom prst="rect">
            <a:avLst/>
          </a:prstGeom>
          <a:solidFill>
            <a:srgbClr val="FFFFFF"/>
          </a:solidFill>
          <a:ln w="9525">
            <a:solidFill>
              <a:srgbClr val="D9DFEA"/>
            </a:solidFill>
            <a:prstDash val="solid"/>
          </a:ln>
        </p:spPr>
      </p:sp>
      <p:sp>
        <p:nvSpPr>
          <p:cNvPr id="6" name="b0b"/>
          <p:cNvSpPr/>
          <p:nvPr/>
        </p:nvSpPr>
        <p:spPr>
          <a:xfrm>
            <a:off x="685800" y="1783080"/>
            <a:ext cx="54864" cy="1874520"/>
          </a:xfrm>
          <a:prstGeom prst="rect">
            <a:avLst/>
          </a:prstGeom>
          <a:solidFill>
            <a:srgbClr val="1B3F9E"/>
          </a:solidFill>
          <a:ln w="12700">
            <a:solidFill>
              <a:srgbClr val="1B3F9E"/>
            </a:solidFill>
            <a:prstDash val="solid"/>
          </a:ln>
        </p:spPr>
      </p:sp>
      <p:sp>
        <p:nvSpPr>
          <p:cNvPr id="7" name="bn0"/>
          <p:cNvSpPr txBox="1"/>
          <p:nvPr/>
        </p:nvSpPr>
        <p:spPr>
          <a:xfrm>
            <a:off x="960120" y="1920240"/>
            <a:ext cx="548640" cy="640080"/>
          </a:xfrm>
          <a:prstGeom prst="rect">
            <a:avLst/>
          </a:prstGeom>
          <a:noFill/>
          <a:ln/>
        </p:spPr>
        <p:txBody>
          <a:bodyPr wrap="square" lIns="0" tIns="0" rIns="0" bIns="0" rtlCol="0" anchor="t"/>
          <a:lstStyle/>
          <a:p>
            <a:pPr indent="0" marL="0">
              <a:buNone/>
            </a:pPr>
            <a:r>
              <a:rPr lang="fr-FR" altLang="en-US" sz="2800" b="1" dirty="0">
                <a:solidFill>
                  <a:srgbClr val="1B3F9E"/>
                </a:solidFill>
                <a:latin typeface="Calibri" pitchFamily="34" charset="0"/>
                <a:ea typeface="Calibri" pitchFamily="34" charset="-122"/>
                <a:cs typeface="Calibri" pitchFamily="34" charset="-120"/>
              </a:rPr>
              <a:t>1</a:t>
            </a:r>
            <a:endParaRPr lang="fr-FR" sz="2800" dirty="0"/>
          </a:p>
        </p:txBody>
      </p:sp>
      <p:sp>
        <p:nvSpPr>
          <p:cNvPr id="8" name="bt0"/>
          <p:cNvSpPr txBox="1"/>
          <p:nvPr/>
        </p:nvSpPr>
        <p:spPr>
          <a:xfrm>
            <a:off x="960120" y="2606040"/>
            <a:ext cx="2926080" cy="9144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Savoir où en est son dossier</a:t>
            </a:r>
            <a:endParaRPr lang="fr-FR" sz="1700" dirty="0"/>
          </a:p>
          <a:p>
            <a:pPr indent="0" marL="0">
              <a:buNone/>
            </a:pPr>
            <a:r>
              <a:rPr lang="fr-FR" altLang="en-US" sz="1400" dirty="0">
                <a:solidFill>
                  <a:srgbClr val="56617C"/>
                </a:solidFill>
                <a:latin typeface="Calibri" pitchFamily="34" charset="0"/>
                <a:ea typeface="Calibri" pitchFamily="34" charset="-122"/>
                <a:cs typeface="Calibri" pitchFamily="34" charset="-120"/>
              </a:rPr>
              <a:t>Grâce au numéro remis au dépôt.</a:t>
            </a:r>
            <a:endParaRPr lang="fr-FR" sz="1700" dirty="0"/>
          </a:p>
        </p:txBody>
      </p:sp>
      <p:sp>
        <p:nvSpPr>
          <p:cNvPr id="9" name="b1"/>
          <p:cNvSpPr/>
          <p:nvPr/>
        </p:nvSpPr>
        <p:spPr>
          <a:xfrm>
            <a:off x="4315968" y="1783080"/>
            <a:ext cx="3383280" cy="1874520"/>
          </a:xfrm>
          <a:prstGeom prst="rect">
            <a:avLst/>
          </a:prstGeom>
          <a:solidFill>
            <a:srgbClr val="FFFFFF"/>
          </a:solidFill>
          <a:ln w="9525">
            <a:solidFill>
              <a:srgbClr val="D9DFEA"/>
            </a:solidFill>
            <a:prstDash val="solid"/>
          </a:ln>
        </p:spPr>
      </p:sp>
      <p:sp>
        <p:nvSpPr>
          <p:cNvPr id="10" name="b1b"/>
          <p:cNvSpPr/>
          <p:nvPr/>
        </p:nvSpPr>
        <p:spPr>
          <a:xfrm>
            <a:off x="4315968" y="1783080"/>
            <a:ext cx="54864" cy="1874520"/>
          </a:xfrm>
          <a:prstGeom prst="rect">
            <a:avLst/>
          </a:prstGeom>
          <a:solidFill>
            <a:srgbClr val="00923A"/>
          </a:solidFill>
          <a:ln w="12700">
            <a:solidFill>
              <a:srgbClr val="00923A"/>
            </a:solidFill>
            <a:prstDash val="solid"/>
          </a:ln>
        </p:spPr>
      </p:sp>
      <p:sp>
        <p:nvSpPr>
          <p:cNvPr id="11" name="bn1"/>
          <p:cNvSpPr txBox="1"/>
          <p:nvPr/>
        </p:nvSpPr>
        <p:spPr>
          <a:xfrm>
            <a:off x="4590288" y="1920240"/>
            <a:ext cx="548640" cy="640080"/>
          </a:xfrm>
          <a:prstGeom prst="rect">
            <a:avLst/>
          </a:prstGeom>
          <a:noFill/>
          <a:ln/>
        </p:spPr>
        <p:txBody>
          <a:bodyPr wrap="square" lIns="0" tIns="0" rIns="0" bIns="0" rtlCol="0" anchor="t"/>
          <a:lstStyle/>
          <a:p>
            <a:pPr indent="0" marL="0">
              <a:buNone/>
            </a:pPr>
            <a:r>
              <a:rPr lang="fr-FR" altLang="en-US" sz="2800" b="1" dirty="0">
                <a:solidFill>
                  <a:srgbClr val="00923A"/>
                </a:solidFill>
                <a:latin typeface="Calibri" pitchFamily="34" charset="0"/>
                <a:ea typeface="Calibri" pitchFamily="34" charset="-122"/>
                <a:cs typeface="Calibri" pitchFamily="34" charset="-120"/>
              </a:rPr>
              <a:t>2</a:t>
            </a:r>
            <a:endParaRPr lang="fr-FR" sz="2800" dirty="0"/>
          </a:p>
        </p:txBody>
      </p:sp>
      <p:sp>
        <p:nvSpPr>
          <p:cNvPr id="12" name="bt1"/>
          <p:cNvSpPr txBox="1"/>
          <p:nvPr/>
        </p:nvSpPr>
        <p:spPr>
          <a:xfrm>
            <a:off x="4590288" y="2606040"/>
            <a:ext cx="2926080" cy="9144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Moins d’allers-retours</a:t>
            </a:r>
            <a:endParaRPr lang="fr-FR" sz="1700" dirty="0"/>
          </a:p>
          <a:p>
            <a:pPr indent="0" marL="0">
              <a:buNone/>
            </a:pPr>
            <a:r>
              <a:rPr lang="fr-FR" altLang="en-US" sz="1400" dirty="0">
                <a:solidFill>
                  <a:srgbClr val="56617C"/>
                </a:solidFill>
                <a:latin typeface="Calibri" pitchFamily="34" charset="0"/>
                <a:ea typeface="Calibri" pitchFamily="34" charset="-122"/>
                <a:cs typeface="Calibri" pitchFamily="34" charset="-120"/>
              </a:rPr>
              <a:t>Plus besoin de revenir pour des nouvelles.</a:t>
            </a:r>
            <a:endParaRPr lang="fr-FR" sz="1700" dirty="0"/>
          </a:p>
        </p:txBody>
      </p:sp>
      <p:sp>
        <p:nvSpPr>
          <p:cNvPr id="13" name="b2"/>
          <p:cNvSpPr/>
          <p:nvPr/>
        </p:nvSpPr>
        <p:spPr>
          <a:xfrm>
            <a:off x="7946136" y="1783080"/>
            <a:ext cx="3383280" cy="1874520"/>
          </a:xfrm>
          <a:prstGeom prst="rect">
            <a:avLst/>
          </a:prstGeom>
          <a:solidFill>
            <a:srgbClr val="FFFFFF"/>
          </a:solidFill>
          <a:ln w="9525">
            <a:solidFill>
              <a:srgbClr val="D9DFEA"/>
            </a:solidFill>
            <a:prstDash val="solid"/>
          </a:ln>
        </p:spPr>
      </p:sp>
      <p:sp>
        <p:nvSpPr>
          <p:cNvPr id="14" name="b2b"/>
          <p:cNvSpPr/>
          <p:nvPr/>
        </p:nvSpPr>
        <p:spPr>
          <a:xfrm>
            <a:off x="7946136" y="1783080"/>
            <a:ext cx="54864" cy="1874520"/>
          </a:xfrm>
          <a:prstGeom prst="rect">
            <a:avLst/>
          </a:prstGeom>
          <a:solidFill>
            <a:srgbClr val="9A6A00"/>
          </a:solidFill>
          <a:ln w="12700">
            <a:solidFill>
              <a:srgbClr val="9A6A00"/>
            </a:solidFill>
            <a:prstDash val="solid"/>
          </a:ln>
        </p:spPr>
      </p:sp>
      <p:sp>
        <p:nvSpPr>
          <p:cNvPr id="15" name="bn2"/>
          <p:cNvSpPr txBox="1"/>
          <p:nvPr/>
        </p:nvSpPr>
        <p:spPr>
          <a:xfrm>
            <a:off x="8220456" y="1920240"/>
            <a:ext cx="548640" cy="640080"/>
          </a:xfrm>
          <a:prstGeom prst="rect">
            <a:avLst/>
          </a:prstGeom>
          <a:noFill/>
          <a:ln/>
        </p:spPr>
        <p:txBody>
          <a:bodyPr wrap="square" lIns="0" tIns="0" rIns="0" bIns="0" rtlCol="0" anchor="t"/>
          <a:lstStyle/>
          <a:p>
            <a:pPr indent="0" marL="0">
              <a:buNone/>
            </a:pPr>
            <a:r>
              <a:rPr lang="fr-FR" altLang="en-US" sz="2800" b="1" dirty="0">
                <a:solidFill>
                  <a:srgbClr val="9A6A00"/>
                </a:solidFill>
                <a:latin typeface="Calibri" pitchFamily="34" charset="0"/>
                <a:ea typeface="Calibri" pitchFamily="34" charset="-122"/>
                <a:cs typeface="Calibri" pitchFamily="34" charset="-120"/>
              </a:rPr>
              <a:t>3</a:t>
            </a:r>
            <a:endParaRPr lang="fr-FR" sz="2800" dirty="0"/>
          </a:p>
        </p:txBody>
      </p:sp>
      <p:sp>
        <p:nvSpPr>
          <p:cNvPr id="16" name="bt2"/>
          <p:cNvSpPr txBox="1"/>
          <p:nvPr/>
        </p:nvSpPr>
        <p:spPr>
          <a:xfrm>
            <a:off x="8220456" y="2606040"/>
            <a:ext cx="2926080" cy="9144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Des réponses plus rapides</a:t>
            </a:r>
            <a:endParaRPr lang="fr-FR" sz="1700" dirty="0"/>
          </a:p>
          <a:p>
            <a:pPr indent="0" marL="0">
              <a:buNone/>
            </a:pPr>
            <a:r>
              <a:rPr lang="fr-FR" altLang="en-US" sz="1400" dirty="0">
                <a:solidFill>
                  <a:srgbClr val="56617C"/>
                </a:solidFill>
                <a:latin typeface="Calibri" pitchFamily="34" charset="0"/>
                <a:ea typeface="Calibri" pitchFamily="34" charset="-122"/>
                <a:cs typeface="Calibri" pitchFamily="34" charset="-120"/>
              </a:rPr>
              <a:t>Transmissions immédiates, retards repérés.</a:t>
            </a:r>
            <a:endParaRPr lang="fr-FR" sz="1700" dirty="0"/>
          </a:p>
        </p:txBody>
      </p:sp>
      <p:sp>
        <p:nvSpPr>
          <p:cNvPr id="17" name="b3"/>
          <p:cNvSpPr/>
          <p:nvPr/>
        </p:nvSpPr>
        <p:spPr>
          <a:xfrm>
            <a:off x="685800" y="3886200"/>
            <a:ext cx="3383280" cy="1874520"/>
          </a:xfrm>
          <a:prstGeom prst="rect">
            <a:avLst/>
          </a:prstGeom>
          <a:solidFill>
            <a:srgbClr val="FFFFFF"/>
          </a:solidFill>
          <a:ln w="9525">
            <a:solidFill>
              <a:srgbClr val="D9DFEA"/>
            </a:solidFill>
            <a:prstDash val="solid"/>
          </a:ln>
        </p:spPr>
      </p:sp>
      <p:sp>
        <p:nvSpPr>
          <p:cNvPr id="18" name="b3b"/>
          <p:cNvSpPr/>
          <p:nvPr/>
        </p:nvSpPr>
        <p:spPr>
          <a:xfrm>
            <a:off x="685800" y="3886200"/>
            <a:ext cx="54864" cy="1874520"/>
          </a:xfrm>
          <a:prstGeom prst="rect">
            <a:avLst/>
          </a:prstGeom>
          <a:solidFill>
            <a:srgbClr val="1B3F9E"/>
          </a:solidFill>
          <a:ln w="12700">
            <a:solidFill>
              <a:srgbClr val="1B3F9E"/>
            </a:solidFill>
            <a:prstDash val="solid"/>
          </a:ln>
        </p:spPr>
      </p:sp>
      <p:sp>
        <p:nvSpPr>
          <p:cNvPr id="19" name="bn3"/>
          <p:cNvSpPr txBox="1"/>
          <p:nvPr/>
        </p:nvSpPr>
        <p:spPr>
          <a:xfrm>
            <a:off x="960120" y="4023360"/>
            <a:ext cx="548640" cy="640080"/>
          </a:xfrm>
          <a:prstGeom prst="rect">
            <a:avLst/>
          </a:prstGeom>
          <a:noFill/>
          <a:ln/>
        </p:spPr>
        <p:txBody>
          <a:bodyPr wrap="square" lIns="0" tIns="0" rIns="0" bIns="0" rtlCol="0" anchor="t"/>
          <a:lstStyle/>
          <a:p>
            <a:pPr indent="0" marL="0">
              <a:buNone/>
            </a:pPr>
            <a:r>
              <a:rPr lang="fr-FR" altLang="en-US" sz="2800" b="1" dirty="0">
                <a:solidFill>
                  <a:srgbClr val="1B3F9E"/>
                </a:solidFill>
                <a:latin typeface="Calibri" pitchFamily="34" charset="0"/>
                <a:ea typeface="Calibri" pitchFamily="34" charset="-122"/>
                <a:cs typeface="Calibri" pitchFamily="34" charset="-120"/>
              </a:rPr>
              <a:t>4</a:t>
            </a:r>
            <a:endParaRPr lang="fr-FR" sz="2800" dirty="0"/>
          </a:p>
        </p:txBody>
      </p:sp>
      <p:sp>
        <p:nvSpPr>
          <p:cNvPr id="20" name="bt3"/>
          <p:cNvSpPr txBox="1"/>
          <p:nvPr/>
        </p:nvSpPr>
        <p:spPr>
          <a:xfrm>
            <a:off x="960120" y="4709160"/>
            <a:ext cx="2926080" cy="9144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Aucun dossier oublié</a:t>
            </a:r>
            <a:endParaRPr lang="fr-FR" sz="1700" dirty="0"/>
          </a:p>
          <a:p>
            <a:pPr indent="0" marL="0">
              <a:buNone/>
            </a:pPr>
            <a:r>
              <a:rPr lang="fr-FR" altLang="en-US" sz="1400" dirty="0">
                <a:solidFill>
                  <a:srgbClr val="56617C"/>
                </a:solidFill>
                <a:latin typeface="Calibri" pitchFamily="34" charset="0"/>
                <a:ea typeface="Calibri" pitchFamily="34" charset="-122"/>
                <a:cs typeface="Calibri" pitchFamily="34" charset="-120"/>
              </a:rPr>
              <a:t>Chaque demande est enregistrée et suivie.</a:t>
            </a:r>
            <a:endParaRPr lang="fr-FR" sz="1700" dirty="0"/>
          </a:p>
        </p:txBody>
      </p:sp>
      <p:sp>
        <p:nvSpPr>
          <p:cNvPr id="21" name="b4"/>
          <p:cNvSpPr/>
          <p:nvPr/>
        </p:nvSpPr>
        <p:spPr>
          <a:xfrm>
            <a:off x="4315968" y="3886200"/>
            <a:ext cx="3383280" cy="1874520"/>
          </a:xfrm>
          <a:prstGeom prst="rect">
            <a:avLst/>
          </a:prstGeom>
          <a:solidFill>
            <a:srgbClr val="FFFFFF"/>
          </a:solidFill>
          <a:ln w="9525">
            <a:solidFill>
              <a:srgbClr val="D9DFEA"/>
            </a:solidFill>
            <a:prstDash val="solid"/>
          </a:ln>
        </p:spPr>
      </p:sp>
      <p:sp>
        <p:nvSpPr>
          <p:cNvPr id="22" name="b4b"/>
          <p:cNvSpPr/>
          <p:nvPr/>
        </p:nvSpPr>
        <p:spPr>
          <a:xfrm>
            <a:off x="4315968" y="3886200"/>
            <a:ext cx="54864" cy="1874520"/>
          </a:xfrm>
          <a:prstGeom prst="rect">
            <a:avLst/>
          </a:prstGeom>
          <a:solidFill>
            <a:srgbClr val="00923A"/>
          </a:solidFill>
          <a:ln w="12700">
            <a:solidFill>
              <a:srgbClr val="00923A"/>
            </a:solidFill>
            <a:prstDash val="solid"/>
          </a:ln>
        </p:spPr>
      </p:sp>
      <p:sp>
        <p:nvSpPr>
          <p:cNvPr id="23" name="bn4"/>
          <p:cNvSpPr txBox="1"/>
          <p:nvPr/>
        </p:nvSpPr>
        <p:spPr>
          <a:xfrm>
            <a:off x="4590288" y="4023360"/>
            <a:ext cx="548640" cy="640080"/>
          </a:xfrm>
          <a:prstGeom prst="rect">
            <a:avLst/>
          </a:prstGeom>
          <a:noFill/>
          <a:ln/>
        </p:spPr>
        <p:txBody>
          <a:bodyPr wrap="square" lIns="0" tIns="0" rIns="0" bIns="0" rtlCol="0" anchor="t"/>
          <a:lstStyle/>
          <a:p>
            <a:pPr indent="0" marL="0">
              <a:buNone/>
            </a:pPr>
            <a:r>
              <a:rPr lang="fr-FR" altLang="en-US" sz="2800" b="1" dirty="0">
                <a:solidFill>
                  <a:srgbClr val="00923A"/>
                </a:solidFill>
                <a:latin typeface="Calibri" pitchFamily="34" charset="0"/>
                <a:ea typeface="Calibri" pitchFamily="34" charset="-122"/>
                <a:cs typeface="Calibri" pitchFamily="34" charset="-120"/>
              </a:rPr>
              <a:t>5</a:t>
            </a:r>
            <a:endParaRPr lang="fr-FR" sz="2800" dirty="0"/>
          </a:p>
        </p:txBody>
      </p:sp>
      <p:sp>
        <p:nvSpPr>
          <p:cNvPr id="24" name="bt4"/>
          <p:cNvSpPr txBox="1"/>
          <p:nvPr/>
        </p:nvSpPr>
        <p:spPr>
          <a:xfrm>
            <a:off x="4590288" y="4709160"/>
            <a:ext cx="2926080" cy="9144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Une mairie plus transparente</a:t>
            </a:r>
            <a:endParaRPr lang="fr-FR" sz="1700" dirty="0"/>
          </a:p>
          <a:p>
            <a:pPr indent="0" marL="0">
              <a:buNone/>
            </a:pPr>
            <a:r>
              <a:rPr lang="fr-FR" altLang="en-US" sz="1400" dirty="0">
                <a:solidFill>
                  <a:srgbClr val="56617C"/>
                </a:solidFill>
                <a:latin typeface="Calibri" pitchFamily="34" charset="0"/>
                <a:ea typeface="Calibri" pitchFamily="34" charset="-122"/>
                <a:cs typeface="Calibri" pitchFamily="34" charset="-120"/>
              </a:rPr>
              <a:t>Des délais mesurés et suivis.</a:t>
            </a:r>
            <a:endParaRPr lang="fr-FR" sz="1700" dirty="0"/>
          </a:p>
        </p:txBody>
      </p:sp>
      <p:sp>
        <p:nvSpPr>
          <p:cNvPr id="25" name="b5"/>
          <p:cNvSpPr/>
          <p:nvPr/>
        </p:nvSpPr>
        <p:spPr>
          <a:xfrm>
            <a:off x="7946136" y="3886200"/>
            <a:ext cx="3383280" cy="1874520"/>
          </a:xfrm>
          <a:prstGeom prst="rect">
            <a:avLst/>
          </a:prstGeom>
          <a:solidFill>
            <a:srgbClr val="FFFFFF"/>
          </a:solidFill>
          <a:ln w="9525">
            <a:solidFill>
              <a:srgbClr val="D9DFEA"/>
            </a:solidFill>
            <a:prstDash val="solid"/>
          </a:ln>
        </p:spPr>
      </p:sp>
      <p:sp>
        <p:nvSpPr>
          <p:cNvPr id="26" name="b5b"/>
          <p:cNvSpPr/>
          <p:nvPr/>
        </p:nvSpPr>
        <p:spPr>
          <a:xfrm>
            <a:off x="7946136" y="3886200"/>
            <a:ext cx="54864" cy="1874520"/>
          </a:xfrm>
          <a:prstGeom prst="rect">
            <a:avLst/>
          </a:prstGeom>
          <a:solidFill>
            <a:srgbClr val="9A6A00"/>
          </a:solidFill>
          <a:ln w="12700">
            <a:solidFill>
              <a:srgbClr val="9A6A00"/>
            </a:solidFill>
            <a:prstDash val="solid"/>
          </a:ln>
        </p:spPr>
      </p:sp>
      <p:sp>
        <p:nvSpPr>
          <p:cNvPr id="27" name="bn5"/>
          <p:cNvSpPr txBox="1"/>
          <p:nvPr/>
        </p:nvSpPr>
        <p:spPr>
          <a:xfrm>
            <a:off x="8220456" y="4023360"/>
            <a:ext cx="548640" cy="640080"/>
          </a:xfrm>
          <a:prstGeom prst="rect">
            <a:avLst/>
          </a:prstGeom>
          <a:noFill/>
          <a:ln/>
        </p:spPr>
        <p:txBody>
          <a:bodyPr wrap="square" lIns="0" tIns="0" rIns="0" bIns="0" rtlCol="0" anchor="t"/>
          <a:lstStyle/>
          <a:p>
            <a:pPr indent="0" marL="0">
              <a:buNone/>
            </a:pPr>
            <a:r>
              <a:rPr lang="fr-FR" altLang="en-US" sz="2800" b="1" dirty="0">
                <a:solidFill>
                  <a:srgbClr val="9A6A00"/>
                </a:solidFill>
                <a:latin typeface="Calibri" pitchFamily="34" charset="0"/>
                <a:ea typeface="Calibri" pitchFamily="34" charset="-122"/>
                <a:cs typeface="Calibri" pitchFamily="34" charset="-120"/>
              </a:rPr>
              <a:t>6</a:t>
            </a:r>
            <a:endParaRPr lang="fr-FR" sz="2800" dirty="0"/>
          </a:p>
        </p:txBody>
      </p:sp>
      <p:sp>
        <p:nvSpPr>
          <p:cNvPr id="28" name="bt5"/>
          <p:cNvSpPr txBox="1"/>
          <p:nvPr/>
        </p:nvSpPr>
        <p:spPr>
          <a:xfrm>
            <a:off x="8220456" y="4709160"/>
            <a:ext cx="2926080" cy="9144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Des documents protégés</a:t>
            </a:r>
            <a:endParaRPr lang="fr-FR" sz="1700" dirty="0"/>
          </a:p>
          <a:p>
            <a:pPr indent="0" marL="0">
              <a:buNone/>
            </a:pPr>
            <a:r>
              <a:rPr lang="fr-FR" altLang="en-US" sz="1400" dirty="0">
                <a:solidFill>
                  <a:srgbClr val="56617C"/>
                </a:solidFill>
                <a:latin typeface="Calibri" pitchFamily="34" charset="0"/>
                <a:ea typeface="Calibri" pitchFamily="34" charset="-122"/>
                <a:cs typeface="Calibri" pitchFamily="34" charset="-120"/>
              </a:rPr>
              <a:t>Archives numérisées et sauvegardées.</a:t>
            </a:r>
            <a:endParaRPr lang="fr-FR" sz="1700" dirty="0"/>
          </a:p>
        </p:txBody>
      </p:sp>
      <p:pic>
        <p:nvPicPr>
          <p:cNvPr id="29"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30"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31"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Annexe 2</a:t>
            </a:r>
            <a:endParaRPr lang="fr-FR" sz="1000" dirty="0"/>
          </a:p>
        </p:txBody>
      </p:sp>
      <p:sp>
        <p:nvSpPr>
          <p:cNvPr id="32" name="!!band1"/>
          <p:cNvSpPr/>
          <p:nvPr/>
        </p:nvSpPr>
        <p:spPr>
          <a:xfrm>
            <a:off x="0" y="0"/>
            <a:ext cx="4873752" cy="64008"/>
          </a:xfrm>
          <a:prstGeom prst="rect">
            <a:avLst/>
          </a:prstGeom>
          <a:solidFill>
            <a:srgbClr val="1B3F9E"/>
          </a:solidFill>
          <a:ln w="12700">
            <a:solidFill>
              <a:srgbClr val="1B3F9E"/>
            </a:solidFill>
            <a:prstDash val="solid"/>
          </a:ln>
        </p:spPr>
      </p:sp>
      <p:sp>
        <p:nvSpPr>
          <p:cNvPr id="33" name="!!band2"/>
          <p:cNvSpPr/>
          <p:nvPr/>
        </p:nvSpPr>
        <p:spPr>
          <a:xfrm>
            <a:off x="4873752" y="0"/>
            <a:ext cx="4270248" cy="64008"/>
          </a:xfrm>
          <a:prstGeom prst="rect">
            <a:avLst/>
          </a:prstGeom>
          <a:solidFill>
            <a:srgbClr val="00923A"/>
          </a:solidFill>
          <a:ln w="12700">
            <a:solidFill>
              <a:srgbClr val="00923A"/>
            </a:solidFill>
            <a:prstDash val="solid"/>
          </a:ln>
        </p:spPr>
      </p:sp>
      <p:sp>
        <p:nvSpPr>
          <p:cNvPr id="34" name="!!band3"/>
          <p:cNvSpPr/>
          <p:nvPr/>
        </p:nvSpPr>
        <p:spPr>
          <a:xfrm>
            <a:off x="9144000" y="0"/>
            <a:ext cx="3047695" cy="64008"/>
          </a:xfrm>
          <a:prstGeom prst="rect">
            <a:avLst/>
          </a:prstGeom>
          <a:solidFill>
            <a:srgbClr val="FCC600"/>
          </a:solidFill>
          <a:ln w="12700">
            <a:solidFill>
              <a:srgbClr val="FCC600"/>
            </a:solidFill>
            <a:prstDash val="solid"/>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22" presetClass="entr" presetSubtype="4" fill="hold" grpId="0" nodeType="withEffect">
                                  <p:stCondLst>
                                    <p:cond delay="20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900"/>
                                        <p:tgtEl>
                                          <p:spTgt spid="6"/>
                                        </p:tgtEl>
                                      </p:cBhvr>
                                    </p:animEffect>
                                  </p:childTnLst>
                                </p:cTn>
                              </p:par>
                              <p:par>
                                <p:cTn id="17" presetID="53" presetClass="entr" presetSubtype="16"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 calcmode="lin" valueType="num">
                                      <p:cBhvr>
                                        <p:cTn id="19" dur="600" fill="hold"/>
                                        <p:tgtEl>
                                          <p:spTgt spid="7"/>
                                        </p:tgtEl>
                                        <p:attrNameLst>
                                          <p:attrName>ppt_w</p:attrName>
                                        </p:attrNameLst>
                                      </p:cBhvr>
                                      <p:tavLst>
                                        <p:tav tm="0">
                                          <p:val>
                                            <p:fltVal val="0"/>
                                          </p:val>
                                        </p:tav>
                                        <p:tav tm="100000">
                                          <p:val>
                                            <p:strVal val="#ppt_w"/>
                                          </p:val>
                                        </p:tav>
                                      </p:tavLst>
                                    </p:anim>
                                    <p:anim calcmode="lin" valueType="num">
                                      <p:cBhvr>
                                        <p:cTn id="20" dur="600" fill="hold"/>
                                        <p:tgtEl>
                                          <p:spTgt spid="7"/>
                                        </p:tgtEl>
                                        <p:attrNameLst>
                                          <p:attrName>ppt_h</p:attrName>
                                        </p:attrNameLst>
                                      </p:cBhvr>
                                      <p:tavLst>
                                        <p:tav tm="0">
                                          <p:val>
                                            <p:fltVal val="0"/>
                                          </p:val>
                                        </p:tav>
                                        <p:tav tm="100000">
                                          <p:val>
                                            <p:strVal val="#ppt_h"/>
                                          </p:val>
                                        </p:tav>
                                      </p:tavLst>
                                    </p:anim>
                                    <p:animEffect transition="in" filter="fade">
                                      <p:cBhvr>
                                        <p:cTn id="21" dur="600"/>
                                        <p:tgtEl>
                                          <p:spTgt spid="7"/>
                                        </p:tgtEl>
                                      </p:cBhvr>
                                    </p:animEffect>
                                  </p:childTnLst>
                                </p:cTn>
                              </p:par>
                              <p:par>
                                <p:cTn id="22" presetID="10" presetClass="entr" presetSubtype="0" fill="hold" grpId="0" nodeType="withEffect">
                                  <p:stCondLst>
                                    <p:cond delay="25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600"/>
                                        <p:tgtEl>
                                          <p:spTgt spid="8"/>
                                        </p:tgtEl>
                                      </p:cBhvr>
                                    </p:animEffect>
                                  </p:childTnLst>
                                </p:cTn>
                              </p:par>
                              <p:par>
                                <p:cTn id="25" presetID="10" presetClass="entr" presetSubtype="0" fill="hold" grpId="0" nodeType="withEffect">
                                  <p:stCondLst>
                                    <p:cond delay="4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600"/>
                                        <p:tgtEl>
                                          <p:spTgt spid="9"/>
                                        </p:tgtEl>
                                      </p:cBhvr>
                                    </p:animEffect>
                                  </p:childTnLst>
                                </p:cTn>
                              </p:par>
                              <p:par>
                                <p:cTn id="28" presetID="22" presetClass="entr" presetSubtype="4" fill="hold" grpId="0" nodeType="withEffect">
                                  <p:stCondLst>
                                    <p:cond delay="400"/>
                                  </p:stCondLst>
                                  <p:childTnLst>
                                    <p:set>
                                      <p:cBhvr>
                                        <p:cTn id="29" dur="1" fill="hold">
                                          <p:stCondLst>
                                            <p:cond delay="0"/>
                                          </p:stCondLst>
                                        </p:cTn>
                                        <p:tgtEl>
                                          <p:spTgt spid="10"/>
                                        </p:tgtEl>
                                        <p:attrNameLst>
                                          <p:attrName>style.visibility</p:attrName>
                                        </p:attrNameLst>
                                      </p:cBhvr>
                                      <p:to>
                                        <p:strVal val="visible"/>
                                      </p:to>
                                    </p:set>
                                    <p:animEffect transition="in" filter="wipe(up)">
                                      <p:cBhvr>
                                        <p:cTn id="30" dur="900"/>
                                        <p:tgtEl>
                                          <p:spTgt spid="10"/>
                                        </p:tgtEl>
                                      </p:cBhvr>
                                    </p:animEffect>
                                  </p:childTnLst>
                                </p:cTn>
                              </p:par>
                              <p:par>
                                <p:cTn id="31" presetID="53" presetClass="entr" presetSubtype="16" fill="hold" grpId="0" nodeType="withEffect">
                                  <p:stCondLst>
                                    <p:cond delay="400"/>
                                  </p:stCondLst>
                                  <p:childTnLst>
                                    <p:set>
                                      <p:cBhvr>
                                        <p:cTn id="32" dur="1" fill="hold">
                                          <p:stCondLst>
                                            <p:cond delay="0"/>
                                          </p:stCondLst>
                                        </p:cTn>
                                        <p:tgtEl>
                                          <p:spTgt spid="11"/>
                                        </p:tgtEl>
                                        <p:attrNameLst>
                                          <p:attrName>style.visibility</p:attrName>
                                        </p:attrNameLst>
                                      </p:cBhvr>
                                      <p:to>
                                        <p:strVal val="visible"/>
                                      </p:to>
                                    </p:set>
                                    <p:anim calcmode="lin" valueType="num">
                                      <p:cBhvr>
                                        <p:cTn id="33" dur="600" fill="hold"/>
                                        <p:tgtEl>
                                          <p:spTgt spid="11"/>
                                        </p:tgtEl>
                                        <p:attrNameLst>
                                          <p:attrName>ppt_w</p:attrName>
                                        </p:attrNameLst>
                                      </p:cBhvr>
                                      <p:tavLst>
                                        <p:tav tm="0">
                                          <p:val>
                                            <p:fltVal val="0"/>
                                          </p:val>
                                        </p:tav>
                                        <p:tav tm="100000">
                                          <p:val>
                                            <p:strVal val="#ppt_w"/>
                                          </p:val>
                                        </p:tav>
                                      </p:tavLst>
                                    </p:anim>
                                    <p:anim calcmode="lin" valueType="num">
                                      <p:cBhvr>
                                        <p:cTn id="34" dur="600" fill="hold"/>
                                        <p:tgtEl>
                                          <p:spTgt spid="11"/>
                                        </p:tgtEl>
                                        <p:attrNameLst>
                                          <p:attrName>ppt_h</p:attrName>
                                        </p:attrNameLst>
                                      </p:cBhvr>
                                      <p:tavLst>
                                        <p:tav tm="0">
                                          <p:val>
                                            <p:fltVal val="0"/>
                                          </p:val>
                                        </p:tav>
                                        <p:tav tm="100000">
                                          <p:val>
                                            <p:strVal val="#ppt_h"/>
                                          </p:val>
                                        </p:tav>
                                      </p:tavLst>
                                    </p:anim>
                                    <p:animEffect transition="in" filter="fade">
                                      <p:cBhvr>
                                        <p:cTn id="35" dur="600"/>
                                        <p:tgtEl>
                                          <p:spTgt spid="11"/>
                                        </p:tgtEl>
                                      </p:cBhvr>
                                    </p:animEffect>
                                  </p:childTnLst>
                                </p:cTn>
                              </p:par>
                              <p:par>
                                <p:cTn id="36" presetID="10" presetClass="entr" presetSubtype="0" fill="hold" grpId="0" nodeType="withEffect">
                                  <p:stCondLst>
                                    <p:cond delay="45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childTnLst>
                                </p:cTn>
                              </p:par>
                              <p:par>
                                <p:cTn id="39" presetID="10" presetClass="entr" presetSubtype="0" fill="hold" grpId="0" nodeType="withEffect">
                                  <p:stCondLst>
                                    <p:cond delay="60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600"/>
                                        <p:tgtEl>
                                          <p:spTgt spid="13"/>
                                        </p:tgtEl>
                                      </p:cBhvr>
                                    </p:animEffect>
                                  </p:childTnLst>
                                </p:cTn>
                              </p:par>
                              <p:par>
                                <p:cTn id="42" presetID="22" presetClass="entr" presetSubtype="4" fill="hold" grpId="0" nodeType="withEffect">
                                  <p:stCondLst>
                                    <p:cond delay="600"/>
                                  </p:stCondLst>
                                  <p:childTnLst>
                                    <p:set>
                                      <p:cBhvr>
                                        <p:cTn id="43" dur="1" fill="hold">
                                          <p:stCondLst>
                                            <p:cond delay="0"/>
                                          </p:stCondLst>
                                        </p:cTn>
                                        <p:tgtEl>
                                          <p:spTgt spid="14"/>
                                        </p:tgtEl>
                                        <p:attrNameLst>
                                          <p:attrName>style.visibility</p:attrName>
                                        </p:attrNameLst>
                                      </p:cBhvr>
                                      <p:to>
                                        <p:strVal val="visible"/>
                                      </p:to>
                                    </p:set>
                                    <p:animEffect transition="in" filter="wipe(up)">
                                      <p:cBhvr>
                                        <p:cTn id="44" dur="900"/>
                                        <p:tgtEl>
                                          <p:spTgt spid="14"/>
                                        </p:tgtEl>
                                      </p:cBhvr>
                                    </p:animEffect>
                                  </p:childTnLst>
                                </p:cTn>
                              </p:par>
                              <p:par>
                                <p:cTn id="45" presetID="53" presetClass="entr" presetSubtype="16" fill="hold" grpId="0" nodeType="withEffect">
                                  <p:stCondLst>
                                    <p:cond delay="600"/>
                                  </p:stCondLst>
                                  <p:childTnLst>
                                    <p:set>
                                      <p:cBhvr>
                                        <p:cTn id="46" dur="1" fill="hold">
                                          <p:stCondLst>
                                            <p:cond delay="0"/>
                                          </p:stCondLst>
                                        </p:cTn>
                                        <p:tgtEl>
                                          <p:spTgt spid="15"/>
                                        </p:tgtEl>
                                        <p:attrNameLst>
                                          <p:attrName>style.visibility</p:attrName>
                                        </p:attrNameLst>
                                      </p:cBhvr>
                                      <p:to>
                                        <p:strVal val="visible"/>
                                      </p:to>
                                    </p:set>
                                    <p:anim calcmode="lin" valueType="num">
                                      <p:cBhvr>
                                        <p:cTn id="47" dur="600" fill="hold"/>
                                        <p:tgtEl>
                                          <p:spTgt spid="15"/>
                                        </p:tgtEl>
                                        <p:attrNameLst>
                                          <p:attrName>ppt_w</p:attrName>
                                        </p:attrNameLst>
                                      </p:cBhvr>
                                      <p:tavLst>
                                        <p:tav tm="0">
                                          <p:val>
                                            <p:fltVal val="0"/>
                                          </p:val>
                                        </p:tav>
                                        <p:tav tm="100000">
                                          <p:val>
                                            <p:strVal val="#ppt_w"/>
                                          </p:val>
                                        </p:tav>
                                      </p:tavLst>
                                    </p:anim>
                                    <p:anim calcmode="lin" valueType="num">
                                      <p:cBhvr>
                                        <p:cTn id="48" dur="600" fill="hold"/>
                                        <p:tgtEl>
                                          <p:spTgt spid="15"/>
                                        </p:tgtEl>
                                        <p:attrNameLst>
                                          <p:attrName>ppt_h</p:attrName>
                                        </p:attrNameLst>
                                      </p:cBhvr>
                                      <p:tavLst>
                                        <p:tav tm="0">
                                          <p:val>
                                            <p:fltVal val="0"/>
                                          </p:val>
                                        </p:tav>
                                        <p:tav tm="100000">
                                          <p:val>
                                            <p:strVal val="#ppt_h"/>
                                          </p:val>
                                        </p:tav>
                                      </p:tavLst>
                                    </p:anim>
                                    <p:animEffect transition="in" filter="fade">
                                      <p:cBhvr>
                                        <p:cTn id="49" dur="600"/>
                                        <p:tgtEl>
                                          <p:spTgt spid="15"/>
                                        </p:tgtEl>
                                      </p:cBhvr>
                                    </p:animEffect>
                                  </p:childTnLst>
                                </p:cTn>
                              </p:par>
                              <p:par>
                                <p:cTn id="50" presetID="10" presetClass="entr" presetSubtype="0" fill="hold" grpId="0" nodeType="withEffect">
                                  <p:stCondLst>
                                    <p:cond delay="65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600"/>
                                        <p:tgtEl>
                                          <p:spTgt spid="16"/>
                                        </p:tgtEl>
                                      </p:cBhvr>
                                    </p:animEffect>
                                  </p:childTnLst>
                                </p:cTn>
                              </p:par>
                              <p:par>
                                <p:cTn id="53" presetID="10" presetClass="entr" presetSubtype="0" fill="hold" grpId="0" nodeType="withEffect">
                                  <p:stCondLst>
                                    <p:cond delay="80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600"/>
                                        <p:tgtEl>
                                          <p:spTgt spid="17"/>
                                        </p:tgtEl>
                                      </p:cBhvr>
                                    </p:animEffect>
                                  </p:childTnLst>
                                </p:cTn>
                              </p:par>
                              <p:par>
                                <p:cTn id="56" presetID="22" presetClass="entr" presetSubtype="4" fill="hold" grpId="0" nodeType="withEffect">
                                  <p:stCondLst>
                                    <p:cond delay="800"/>
                                  </p:stCondLst>
                                  <p:childTnLst>
                                    <p:set>
                                      <p:cBhvr>
                                        <p:cTn id="57" dur="1" fill="hold">
                                          <p:stCondLst>
                                            <p:cond delay="0"/>
                                          </p:stCondLst>
                                        </p:cTn>
                                        <p:tgtEl>
                                          <p:spTgt spid="18"/>
                                        </p:tgtEl>
                                        <p:attrNameLst>
                                          <p:attrName>style.visibility</p:attrName>
                                        </p:attrNameLst>
                                      </p:cBhvr>
                                      <p:to>
                                        <p:strVal val="visible"/>
                                      </p:to>
                                    </p:set>
                                    <p:animEffect transition="in" filter="wipe(up)">
                                      <p:cBhvr>
                                        <p:cTn id="58" dur="900"/>
                                        <p:tgtEl>
                                          <p:spTgt spid="18"/>
                                        </p:tgtEl>
                                      </p:cBhvr>
                                    </p:animEffect>
                                  </p:childTnLst>
                                </p:cTn>
                              </p:par>
                              <p:par>
                                <p:cTn id="59" presetID="53" presetClass="entr" presetSubtype="16" fill="hold" grpId="0" nodeType="withEffect">
                                  <p:stCondLst>
                                    <p:cond delay="800"/>
                                  </p:stCondLst>
                                  <p:childTnLst>
                                    <p:set>
                                      <p:cBhvr>
                                        <p:cTn id="60" dur="1" fill="hold">
                                          <p:stCondLst>
                                            <p:cond delay="0"/>
                                          </p:stCondLst>
                                        </p:cTn>
                                        <p:tgtEl>
                                          <p:spTgt spid="19"/>
                                        </p:tgtEl>
                                        <p:attrNameLst>
                                          <p:attrName>style.visibility</p:attrName>
                                        </p:attrNameLst>
                                      </p:cBhvr>
                                      <p:to>
                                        <p:strVal val="visible"/>
                                      </p:to>
                                    </p:set>
                                    <p:anim calcmode="lin" valueType="num">
                                      <p:cBhvr>
                                        <p:cTn id="61" dur="600" fill="hold"/>
                                        <p:tgtEl>
                                          <p:spTgt spid="19"/>
                                        </p:tgtEl>
                                        <p:attrNameLst>
                                          <p:attrName>ppt_w</p:attrName>
                                        </p:attrNameLst>
                                      </p:cBhvr>
                                      <p:tavLst>
                                        <p:tav tm="0">
                                          <p:val>
                                            <p:fltVal val="0"/>
                                          </p:val>
                                        </p:tav>
                                        <p:tav tm="100000">
                                          <p:val>
                                            <p:strVal val="#ppt_w"/>
                                          </p:val>
                                        </p:tav>
                                      </p:tavLst>
                                    </p:anim>
                                    <p:anim calcmode="lin" valueType="num">
                                      <p:cBhvr>
                                        <p:cTn id="62" dur="600" fill="hold"/>
                                        <p:tgtEl>
                                          <p:spTgt spid="19"/>
                                        </p:tgtEl>
                                        <p:attrNameLst>
                                          <p:attrName>ppt_h</p:attrName>
                                        </p:attrNameLst>
                                      </p:cBhvr>
                                      <p:tavLst>
                                        <p:tav tm="0">
                                          <p:val>
                                            <p:fltVal val="0"/>
                                          </p:val>
                                        </p:tav>
                                        <p:tav tm="100000">
                                          <p:val>
                                            <p:strVal val="#ppt_h"/>
                                          </p:val>
                                        </p:tav>
                                      </p:tavLst>
                                    </p:anim>
                                    <p:animEffect transition="in" filter="fade">
                                      <p:cBhvr>
                                        <p:cTn id="63" dur="600"/>
                                        <p:tgtEl>
                                          <p:spTgt spid="19"/>
                                        </p:tgtEl>
                                      </p:cBhvr>
                                    </p:animEffect>
                                  </p:childTnLst>
                                </p:cTn>
                              </p:par>
                              <p:par>
                                <p:cTn id="64" presetID="10" presetClass="entr" presetSubtype="0" fill="hold" grpId="0" nodeType="withEffect">
                                  <p:stCondLst>
                                    <p:cond delay="85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600"/>
                                        <p:tgtEl>
                                          <p:spTgt spid="20"/>
                                        </p:tgtEl>
                                      </p:cBhvr>
                                    </p:animEffect>
                                  </p:childTnLst>
                                </p:cTn>
                              </p:par>
                              <p:par>
                                <p:cTn id="67" presetID="10" presetClass="entr" presetSubtype="0" fill="hold" grpId="0" nodeType="withEffect">
                                  <p:stCondLst>
                                    <p:cond delay="100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600"/>
                                        <p:tgtEl>
                                          <p:spTgt spid="21"/>
                                        </p:tgtEl>
                                      </p:cBhvr>
                                    </p:animEffect>
                                  </p:childTnLst>
                                </p:cTn>
                              </p:par>
                              <p:par>
                                <p:cTn id="70" presetID="22" presetClass="entr" presetSubtype="4" fill="hold" grpId="0" nodeType="withEffect">
                                  <p:stCondLst>
                                    <p:cond delay="1000"/>
                                  </p:stCondLst>
                                  <p:childTnLst>
                                    <p:set>
                                      <p:cBhvr>
                                        <p:cTn id="71" dur="1" fill="hold">
                                          <p:stCondLst>
                                            <p:cond delay="0"/>
                                          </p:stCondLst>
                                        </p:cTn>
                                        <p:tgtEl>
                                          <p:spTgt spid="22"/>
                                        </p:tgtEl>
                                        <p:attrNameLst>
                                          <p:attrName>style.visibility</p:attrName>
                                        </p:attrNameLst>
                                      </p:cBhvr>
                                      <p:to>
                                        <p:strVal val="visible"/>
                                      </p:to>
                                    </p:set>
                                    <p:animEffect transition="in" filter="wipe(up)">
                                      <p:cBhvr>
                                        <p:cTn id="72" dur="900"/>
                                        <p:tgtEl>
                                          <p:spTgt spid="22"/>
                                        </p:tgtEl>
                                      </p:cBhvr>
                                    </p:animEffect>
                                  </p:childTnLst>
                                </p:cTn>
                              </p:par>
                              <p:par>
                                <p:cTn id="73" presetID="53" presetClass="entr" presetSubtype="16" fill="hold" grpId="0" nodeType="withEffect">
                                  <p:stCondLst>
                                    <p:cond delay="1000"/>
                                  </p:stCondLst>
                                  <p:childTnLst>
                                    <p:set>
                                      <p:cBhvr>
                                        <p:cTn id="74" dur="1" fill="hold">
                                          <p:stCondLst>
                                            <p:cond delay="0"/>
                                          </p:stCondLst>
                                        </p:cTn>
                                        <p:tgtEl>
                                          <p:spTgt spid="23"/>
                                        </p:tgtEl>
                                        <p:attrNameLst>
                                          <p:attrName>style.visibility</p:attrName>
                                        </p:attrNameLst>
                                      </p:cBhvr>
                                      <p:to>
                                        <p:strVal val="visible"/>
                                      </p:to>
                                    </p:set>
                                    <p:anim calcmode="lin" valueType="num">
                                      <p:cBhvr>
                                        <p:cTn id="75" dur="600" fill="hold"/>
                                        <p:tgtEl>
                                          <p:spTgt spid="23"/>
                                        </p:tgtEl>
                                        <p:attrNameLst>
                                          <p:attrName>ppt_w</p:attrName>
                                        </p:attrNameLst>
                                      </p:cBhvr>
                                      <p:tavLst>
                                        <p:tav tm="0">
                                          <p:val>
                                            <p:fltVal val="0"/>
                                          </p:val>
                                        </p:tav>
                                        <p:tav tm="100000">
                                          <p:val>
                                            <p:strVal val="#ppt_w"/>
                                          </p:val>
                                        </p:tav>
                                      </p:tavLst>
                                    </p:anim>
                                    <p:anim calcmode="lin" valueType="num">
                                      <p:cBhvr>
                                        <p:cTn id="76" dur="600" fill="hold"/>
                                        <p:tgtEl>
                                          <p:spTgt spid="23"/>
                                        </p:tgtEl>
                                        <p:attrNameLst>
                                          <p:attrName>ppt_h</p:attrName>
                                        </p:attrNameLst>
                                      </p:cBhvr>
                                      <p:tavLst>
                                        <p:tav tm="0">
                                          <p:val>
                                            <p:fltVal val="0"/>
                                          </p:val>
                                        </p:tav>
                                        <p:tav tm="100000">
                                          <p:val>
                                            <p:strVal val="#ppt_h"/>
                                          </p:val>
                                        </p:tav>
                                      </p:tavLst>
                                    </p:anim>
                                    <p:animEffect transition="in" filter="fade">
                                      <p:cBhvr>
                                        <p:cTn id="77" dur="600"/>
                                        <p:tgtEl>
                                          <p:spTgt spid="23"/>
                                        </p:tgtEl>
                                      </p:cBhvr>
                                    </p:animEffect>
                                  </p:childTnLst>
                                </p:cTn>
                              </p:par>
                              <p:par>
                                <p:cTn id="78" presetID="10" presetClass="entr" presetSubtype="0" fill="hold" grpId="0" nodeType="withEffect">
                                  <p:stCondLst>
                                    <p:cond delay="105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600"/>
                                        <p:tgtEl>
                                          <p:spTgt spid="24"/>
                                        </p:tgtEl>
                                      </p:cBhvr>
                                    </p:animEffect>
                                  </p:childTnLst>
                                </p:cTn>
                              </p:par>
                              <p:par>
                                <p:cTn id="81" presetID="10" presetClass="entr" presetSubtype="0" fill="hold" grpId="0" nodeType="withEffect">
                                  <p:stCondLst>
                                    <p:cond delay="120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600"/>
                                        <p:tgtEl>
                                          <p:spTgt spid="25"/>
                                        </p:tgtEl>
                                      </p:cBhvr>
                                    </p:animEffect>
                                  </p:childTnLst>
                                </p:cTn>
                              </p:par>
                              <p:par>
                                <p:cTn id="84" presetID="22" presetClass="entr" presetSubtype="4" fill="hold" grpId="0" nodeType="withEffect">
                                  <p:stCondLst>
                                    <p:cond delay="1200"/>
                                  </p:stCondLst>
                                  <p:childTnLst>
                                    <p:set>
                                      <p:cBhvr>
                                        <p:cTn id="85" dur="1" fill="hold">
                                          <p:stCondLst>
                                            <p:cond delay="0"/>
                                          </p:stCondLst>
                                        </p:cTn>
                                        <p:tgtEl>
                                          <p:spTgt spid="26"/>
                                        </p:tgtEl>
                                        <p:attrNameLst>
                                          <p:attrName>style.visibility</p:attrName>
                                        </p:attrNameLst>
                                      </p:cBhvr>
                                      <p:to>
                                        <p:strVal val="visible"/>
                                      </p:to>
                                    </p:set>
                                    <p:animEffect transition="in" filter="wipe(up)">
                                      <p:cBhvr>
                                        <p:cTn id="86" dur="900"/>
                                        <p:tgtEl>
                                          <p:spTgt spid="26"/>
                                        </p:tgtEl>
                                      </p:cBhvr>
                                    </p:animEffect>
                                  </p:childTnLst>
                                </p:cTn>
                              </p:par>
                              <p:par>
                                <p:cTn id="87" presetID="53" presetClass="entr" presetSubtype="16" fill="hold" grpId="0" nodeType="withEffect">
                                  <p:stCondLst>
                                    <p:cond delay="1200"/>
                                  </p:stCondLst>
                                  <p:childTnLst>
                                    <p:set>
                                      <p:cBhvr>
                                        <p:cTn id="88" dur="1" fill="hold">
                                          <p:stCondLst>
                                            <p:cond delay="0"/>
                                          </p:stCondLst>
                                        </p:cTn>
                                        <p:tgtEl>
                                          <p:spTgt spid="27"/>
                                        </p:tgtEl>
                                        <p:attrNameLst>
                                          <p:attrName>style.visibility</p:attrName>
                                        </p:attrNameLst>
                                      </p:cBhvr>
                                      <p:to>
                                        <p:strVal val="visible"/>
                                      </p:to>
                                    </p:set>
                                    <p:anim calcmode="lin" valueType="num">
                                      <p:cBhvr>
                                        <p:cTn id="89" dur="600" fill="hold"/>
                                        <p:tgtEl>
                                          <p:spTgt spid="27"/>
                                        </p:tgtEl>
                                        <p:attrNameLst>
                                          <p:attrName>ppt_w</p:attrName>
                                        </p:attrNameLst>
                                      </p:cBhvr>
                                      <p:tavLst>
                                        <p:tav tm="0">
                                          <p:val>
                                            <p:fltVal val="0"/>
                                          </p:val>
                                        </p:tav>
                                        <p:tav tm="100000">
                                          <p:val>
                                            <p:strVal val="#ppt_w"/>
                                          </p:val>
                                        </p:tav>
                                      </p:tavLst>
                                    </p:anim>
                                    <p:anim calcmode="lin" valueType="num">
                                      <p:cBhvr>
                                        <p:cTn id="90" dur="600" fill="hold"/>
                                        <p:tgtEl>
                                          <p:spTgt spid="27"/>
                                        </p:tgtEl>
                                        <p:attrNameLst>
                                          <p:attrName>ppt_h</p:attrName>
                                        </p:attrNameLst>
                                      </p:cBhvr>
                                      <p:tavLst>
                                        <p:tav tm="0">
                                          <p:val>
                                            <p:fltVal val="0"/>
                                          </p:val>
                                        </p:tav>
                                        <p:tav tm="100000">
                                          <p:val>
                                            <p:strVal val="#ppt_h"/>
                                          </p:val>
                                        </p:tav>
                                      </p:tavLst>
                                    </p:anim>
                                    <p:animEffect transition="in" filter="fade">
                                      <p:cBhvr>
                                        <p:cTn id="91" dur="600"/>
                                        <p:tgtEl>
                                          <p:spTgt spid="27"/>
                                        </p:tgtEl>
                                      </p:cBhvr>
                                    </p:animEffect>
                                  </p:childTnLst>
                                </p:cTn>
                              </p:par>
                              <p:par>
                                <p:cTn id="92" presetID="10" presetClass="entr" presetSubtype="0" fill="hold" grpId="0" nodeType="withEffect">
                                  <p:stCondLst>
                                    <p:cond delay="1250"/>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6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11" grpId="0" animBg="1"/>
      <p:bldP spid="12" grpId="0" animBg="1"/>
      <p:bldP spid="15" grpId="0" animBg="1"/>
      <p:bldP spid="16" grpId="0" animBg="1"/>
      <p:bldP spid="19" grpId="0" animBg="1"/>
      <p:bldP spid="20" grpId="0" animBg="1"/>
      <p:bldP spid="23" grpId="0" animBg="1"/>
      <p:bldP spid="24" grpId="0" animBg="1"/>
      <p:bldP spid="27" grpId="0" animBg="1"/>
      <p:bldP spid="2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Université de Kara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du système de gestion du courrier administratif – Mairie de Doumassessé</dc:title>
  <dc:subject>Soutenance de fin de formation – Licence professionnelle en Assistance administrative</dc:subject>
  <dc:creator>TCHAKONDO Aïcha</dc:creator>
  <cp:lastModifiedBy>TCHAKONDO Aïcha</cp:lastModifiedBy>
  <cp:revision>7</cp:revision>
  <dcterms:created xsi:type="dcterms:W3CDTF">2026-10-06T10:28:49Z</dcterms:created>
  <dcterms:modified xsi:type="dcterms:W3CDTF">2026-10-06T10:28:49Z</dcterms:modified>
</cp:coreProperties>
</file>