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23a442c-1e05-773c-8fe4-cf6f729b4ca9}">
          <p14:sldIdLst>
            <p14:sldId id="256"/>
            <p14:sldId id="257"/>
          </p14:sldIdLst>
        </p14:section>
        <p14:section name="Introduction" id="{906f9d13-e082-bec2-388e-9fe23ae879df}">
          <p14:sldIdLst>
            <p14:sldId id="258"/>
          </p14:sldIdLst>
        </p14:section>
        <p14:section name="La structure d’accueil" id="{3cf1bc53-0b8d-6a85-9184-336e038db634}">
          <p14:sldIdLst>
            <p14:sldId id="259"/>
            <p14:sldId id="260"/>
            <p14:sldId id="261"/>
            <p14:sldId id="262"/>
            <p14:sldId id="263"/>
            <p14:sldId id="264"/>
          </p14:sldIdLst>
        </p14:section>
        <p14:section name="Les travaux effectués" id="{3b32a475-71c1-11ff-e59d-7ecb8c1ef052}">
          <p14:sldIdLst>
            <p14:sldId id="265"/>
          </p14:sldIdLst>
        </p14:section>
        <p14:section name="L’objet d’étude" id="{6e2c9ed7-9e1b-a478-82af-0c9465b28b16}">
          <p14:sldIdLst>
            <p14:sldId id="266"/>
            <p14:sldId id="267"/>
            <p14:sldId id="268"/>
          </p14:sldIdLst>
        </p14:section>
        <p14:section name="Les résultats" id="{2e4d3fcb-a5a4-7e81-bca8-f04f6d1814bf}">
          <p14:sldIdLst>
            <p14:sldId id="269"/>
            <p14:sldId id="270"/>
            <p14:sldId id="271"/>
          </p14:sldIdLst>
        </p14:section>
        <p14:section name="Les recommandations" id="{ba8e0699-7b8b-6fba-2753-fd4fc9d7693a}">
          <p14:sldIdLst>
            <p14:sldId id="272"/>
            <p14:sldId id="273"/>
            <p14:sldId id="274"/>
            <p14:sldId id="275"/>
          </p14:sldIdLst>
        </p14:section>
        <p14:section name="Conclusion" id="{94c6bd55-21ef-cd04-f93e-da6094bea86d}">
          <p14:sldIdLst>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Courriers traités par jour</c:v>
                </c:pt>
              </c:strCache>
            </c:strRef>
          </c:tx>
          <c:spPr>
            <a:solidFill>
              <a:srgbClr val="1B3F9E"/>
            </a:solidFill>
            <a:effectLst/>
          </c:spPr>
          <c:invertIfNegative val="0"/>
          <c:dLbls>
            <c:numFmt formatCode="General" sourceLinked="0"/>
            <c:txPr>
              <a:bodyPr/>
              <a:lstStyle/>
              <a:p>
                <a:pPr>
                  <a:defRPr b="1" i="0" strike="noStrike" sz="1200" u="none">
                    <a:solidFill>
                      <a:srgbClr val="0E1C46"/>
                    </a:solidFill>
                    <a:latin typeface="+mn-lt"/>
                  </a:defRPr>
                </a:pPr>
              </a:p>
            </c:txPr>
            <c:showLegendKey val="0"/>
            <c:showVal val="1"/>
            <c:showCatName val="0"/>
            <c:showSerName val="0"/>
            <c:showPercent val="0"/>
            <c:showBubbleSize val="0"/>
            <c:showLeaderLines val="0"/>
          </c:dLbls>
          <c:cat>
            <c:multiLvlStrRef>
              <c:f>Sheet1!$A$2:$A$4</c:f>
              <c:multiLvlStrCache>
                <c:ptCount val="3"/>
                <c:lvl>
                  <c:pt idx="0">
                    <c:v>Secrétariat général</c:v>
                  </c:pt>
                  <c:pt idx="1">
                    <c:v>DST</c:v>
                  </c:pt>
                  <c:pt idx="2">
                    <c:v>DPDPS</c:v>
                  </c:pt>
                </c:lvl>
              </c:multiLvlStrCache>
            </c:multiLvlStrRef>
          </c:cat>
          <c:val>
            <c:numRef>
              <c:f>Sheet1!$B$2:$B$4</c:f>
              <c:numCache>
                <c:formatCode>General</c:formatCode>
                <c:ptCount val="3"/>
                <c:pt idx="0">
                  <c:v>12.5</c:v>
                </c:pt>
                <c:pt idx="1">
                  <c:v>8</c:v>
                </c:pt>
                <c:pt idx="2">
                  <c:v>4</c:v>
                </c:pt>
              </c:numCache>
            </c:numRef>
          </c:val>
        </c:ser>
        <c:ser>
          <c:idx val="1"/>
          <c:order val="1"/>
          <c:tx>
            <c:strRef>
              <c:f>Sheet1!$C$1</c:f>
              <c:strCache>
                <c:ptCount val="1"/>
                <c:pt idx="0">
                  <c:v>Ancienneté (années)</c:v>
                </c:pt>
              </c:strCache>
            </c:strRef>
          </c:tx>
          <c:spPr>
            <a:solidFill>
              <a:srgbClr val="00923A"/>
            </a:solidFill>
            <a:effectLst/>
          </c:spPr>
          <c:invertIfNegative val="0"/>
          <c:dLbls>
            <c:numFmt formatCode="General" sourceLinked="0"/>
            <c:txPr>
              <a:bodyPr/>
              <a:lstStyle/>
              <a:p>
                <a:pPr>
                  <a:defRPr b="1" i="0" strike="noStrike" sz="1200" u="none">
                    <a:solidFill>
                      <a:srgbClr val="0E1C46"/>
                    </a:solidFill>
                    <a:latin typeface="+mn-lt"/>
                  </a:defRPr>
                </a:pPr>
              </a:p>
            </c:txPr>
            <c:showLegendKey val="0"/>
            <c:showVal val="1"/>
            <c:showCatName val="0"/>
            <c:showSerName val="0"/>
            <c:showPercent val="0"/>
            <c:showBubbleSize val="0"/>
            <c:showLeaderLines val="0"/>
          </c:dLbls>
          <c:cat>
            <c:multiLvlStrRef>
              <c:f>Sheet1!$A$2:$A$4</c:f>
              <c:multiLvlStrCache>
                <c:ptCount val="3"/>
                <c:lvl>
                  <c:pt idx="0">
                    <c:v>Secrétariat général</c:v>
                  </c:pt>
                  <c:pt idx="1">
                    <c:v>DST</c:v>
                  </c:pt>
                  <c:pt idx="2">
                    <c:v>DPDPS</c:v>
                  </c:pt>
                </c:lvl>
              </c:multiLvlStrCache>
            </c:multiLvlStrRef>
          </c:cat>
          <c:val>
            <c:numRef>
              <c:f>Sheet1!$C$2:$C$4</c:f>
              <c:numCache>
                <c:formatCode>General</c:formatCode>
                <c:ptCount val="3"/>
                <c:pt idx="0">
                  <c:v>10</c:v>
                </c:pt>
                <c:pt idx="1">
                  <c:v>7</c:v>
                </c:pt>
                <c:pt idx="2">
                  <c:v>2</c:v>
                </c:pt>
              </c:numCache>
            </c:numRef>
          </c:val>
        </c:ser>
        <c:dLbls>
          <c:numFmt formatCode="General" sourceLinked="0"/>
          <c:txPr>
            <a:bodyPr/>
            <a:lstStyle/>
            <a:p>
              <a:pPr>
                <a:defRPr b="1" i="0" strike="noStrike" sz="1200" u="none">
                  <a:solidFill>
                    <a:srgbClr val="0E1C46"/>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C"/>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6EA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617C"/>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Monsieur le Président du jury, Mesdames et Messieurs les membres du jury, chers enseignants, chers camarades, Mesdames et Messieurs, bonjour.
Je voudrais d’abord remercier les membres du jury d’avoir accepté d’évaluer mon travail. Mes remerciements vont aussi à mon encadreur, le Docteur BANTE Nakpakpere, et à mon co-encadreur, Monsieur ALI Passimzouwé, pour leur accompagnement, ainsi qu’à Madame FUDJI Abla Kafui, mon maître de stage, et à tout le personnel de la Mairie de Doumassessé pour leur accueil.
J’ai l’honneur de vous présenter mon rapport de fin de formation, intitulé : « Analyse du système de gestion du courrier administratif dans une collectivité locale : cas de la Mairie de Doumassessé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 exposé suivra le plan de mon rapport : je présenterai d’abord la structure d’accueil et les travaux effectués, puis la démarche de recherche, les résultats obtenus et mes recommandations.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toute administration, l’information circule d’abord par le courrier. Une demande d’un citoyen, une invitation d’un partenaire, une décision du Maire : tout passe par un circuit de réception, d’enregistrement, de transmission et d’archivage. Quand ce circuit fonctionne bien, les dossiers sont traités rapidement. Quand il fonctionne mal, les documents se perdent, les retards s’accumulent et l’usager perd confiance.
Dans le cadre de la Licence professionnelle en Assistance administrative, j’ai effectué un stage de treize semaines, du 11 mai au 12 août 2026, à la Commune du Golfe 3, à la Mairie de Doumassessé. J’ai été affectée au secrétariat général, le service par lequel passe la quasi-totalité du courrier de la commune. C’est ce qui m’a donné l’idée d’étudier ce circuit de l’intérieur.
Ce sujet présente un triple intérêt : personnel, parce qu’il est au cœur de mon métier d’assistante ; académique, parce qu’il m’a permis d’appliquer une méthode de recherche à une situation réelle ; et social, parce que la qualité du circuit du courrier touche directement les usagers de la mairie.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situer la structure d’accueil, partons du Togo et zoomons jusqu’à la mairie.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Commune du Golfe 3, dont le siège est la Mairie de Doumassessé, est l’une des 117 communes du Togo créées par la loi n° 2017-008 du 29 juin 2017. Elle fait partie des treize communes du District autonome du Grand Lomé. Elle couvre environ 17 kilomètres carrés, compte huit quartiers et environ 52 679 habitants selon le dernier recensement.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Grand Lomé compte treize communes, dont la Commune du Golfe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Commune du Golfe 3, dont le siège est la Mairie de Doumassessé, est l’une des 117 communes du Togo créées par la loi n° 2017-008 du 29 juin 2017. Elle fait partie des treize communes du District autonome du Grand Lomé. Elle couvre environ 17 kilomètres carrés, compte huit quartiers et environ 52 679 habitants selon le dernier recensement.
La commune compte huit quartiers et environ 52 679 habitants.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Mairie de Doumassessé est le siège de la commune ; c’est là, au secrétariat général, que s’est déroulé le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le plan de l’organisation, la commune est dirigée par un conseil municipal de dix-neuf membres, dont le Maire et trois adjoints. Le secrétariat général coordonne quatre directions : la Direction administrative et financière, la Direction de la planification du développement et de la promotion sociale, la Direction des services techniques, et la Direction de l’état civil et de la transition numérique.
La commune a pour mission d’assurer l’administration et le développement de son territoire. Elle intervient notamment dans l’état civil, l’assainissement, l’urbanisme, l’action sociale et la gestion des infrastructures communautaires. Le secrétariat général, où j’ai été affectée, est le service central : il reçoit, enregistre, oriente et suit les courriers, et prépare les dossiers soumis au Secrétaire Général et au Maire.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secrétariat général, mes tâches principales ont été les suivantes :
l’accueil et l’orientation des usagers ; la réception du courrier arrivé, avec la vérification, la décharge et l’apposition des cachets ; l’enregistrement dans le registre et sur la fiche d’affectation ; la transmission du courrier vers le Secrétaire Général, le Maire, puis les directions ; et le traitement du courrier départ, de la rédaction jusqu’à l’expédition contre décharge.
Concrètement, lorsqu’un courrier arrive, l’agent vérifie qu’il est bien adressé à la mairie, établit une décharge, appose le cachet de la mairie puis le cachet « Arrivée », qui porte le numéro d’enregistrement. Le courrier est inscrit au registre, résumé sur une fiche d’affectation, puis placé dans un parapheur. La Cheffe du secrétariat propose une orientation, le Secrétaire Général porte ses observations et son paraphe, et le Maire donne ses instructions. Le courrier revient enfin au secrétariat, qui le transmet à la direction compétente contre signature dans le registre de transmission.
J’ai aussi réalisé des tâches périphériques : rédaction de documents administratifs, reproduction, impression, numérisation, classement et archivage.
Ensuite, j’ai effectué une rotation dans les autres services : le service des marchés publics, la DPDPS, l’état civil, les services techniques et la direction administrative et financière. Cette rotation m’a permis de constater que le circuit du courrier se prolonge de la même façon dans chaque direction.
Ce stage m’a beaucoup apporté : sur le plan professionnel, la rigueur et la maîtrise des outils du secrétariat ; sur le plan relationnel, le travail en équipe ; et sur le plan académique, la confirmation de l’utilité de ma formation, mais aussi la nécessité de me former davantage aux outils numériques.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premier regard, le circuit du courrier de la mairie est bien organisé. Mais j’ai observé certaines difficultés : le temps parfois nécessaire pour qu’un courrier arrive à son destinataire, les limites d’un suivi entièrement manuel, et la dépendance du circuit envers quelques responsables.
D’où ma question principale : dans quelle mesure le système de gestion des courriers de la Mairie de Doumassessé permet-il un traitement rapide, fiable et traçable de l’information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y répondre, j’ai formulé trois hypothèses spécifiques :
Première hypothèse : le circuit est formellement structuré, mais son application dépend de la disponibilité des responsables habilités à signer.
Deuxième hypothèse : l’insuffisance des moyens matériels et logistiques ralentit le traitement et le suivi des courriers.
Troisième hypothèse : l’absence d’un outil numérique formalisé et de procédures écrites limite la traçabilité et l’harmonisation du traitement.
Mon objectif général était d’analyser le fonctionnement de ce système, d’en identifier les forces et les faiblesses, et de proposer des pistes d’amélioration.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adopté une approche qualitative, avec trois techniques de collecte.
D’abord, l’observation participante, pendant les trois mois de stage au secrétariat général, consignée dans un journal de bord. Ensuite, des entretiens semi-directifs auprès d’un échantillon raisonné de six personnes : trois agents qui traitent le courrier, au secrétariat général, à la DST et à la DPDPS, et trois usagers venus déposer un courrier. Enfin, l’analyse documentaire des registres et des fiches utilisés.
Les données ont été analysées par analyse de contenu, puis croisées entre elles pour valider les constats. Je précise que cet échantillon réduit est une limite de mon étude, que j’ai signalée dans le rapport.
Les entretiens avec les agents portaient sur leur ancienneté, le volume de courrier traité, les délais avant signature, l’usage des canaux numériques, leurs difficultés et leur avis sur un outil numérique. Avec les usagers, j’ai abordé l’accueil, l’orientation, la remise d’un justificatif et la clarté du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principaux résultats.
Premièrement, le circuit fonctionne et la traçabilité est assurée. Les étapes sont claires et respectées, chaque courrier fait l’objet d’une décharge, et pendant toute ma période d’observation, aucun courrier n’a été perdu ni mal classé. Les trois usagers interrogés ont été reçus rapidement, orientés sans difficulté et ont tous reçu un justificatif de dépôt.
Deuxièmement, le circuit dépend de quelques personnes. Les délais avant signature varient d’un à trois jours selon la disponibilité des signataires, et l’agent du secrétariat général cite l’absence des responsables comme sa principale difficulté. Le secrétariat ne compte que deux agents titulaires ; pendant mon stage, c’est en pratique moi, la stagiaire, qui assurais l’essentiel de la distribution du courrier entre les bureaux.
Troisièmement, les moyens sont limités. Le suivi repose entièrement sur des registres papier, le secrétariat ne dispose que de deux ordinateurs et d’un photocopieur, les fournitures manquent souvent, et l’agent de la DPDPS signale l’indisponibilité du véhicule de transmission.
Les bureaux sont également exigus : au secrétariat général, deux armoires, un photocopieur et deux tables occupent presque tout l’espace, et à la DPDPS, plus de six agents partagent un même bureau. Ces conditions rendent le travail moins confortable et moins efficace.
Quatrièmement, un usage numérique informel existe déjà. Les trois agents utilisent WhatsApp ou le courriel pour les urgences, mais sans trace officielle, et le courrier papier est quand même envoyé en parallèle. Tous les trois sont favorables à un outil numérique plus formel.
Enfin, j’ai relevé l’absence de procédures écrites communes : l’agent de la DST regrette l’absence de modèle standard de réponse, et les pratiques d’enregistrement varient d’une direction à l’autre. Les volumes traités sont aussi très différents : de dix à quinze courriers par jour au secrétariat général, contre huit à la DST et quatre à la DPDPS.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partir de ces résultats : la première hypothèse est confirmée, puisque les délais dépendent bien de la disponibilité des signataires. La troisième hypothèse est aussi confirmée : les échanges numériques échappent aux registres et il n’existe pas de procédures écrites communes.
En revanche, la deuxième hypothèse n’est que partiellement confirmée : les moyens limités ralentissent le travail, mais ils n’ont pas empêché une bonne traçabilité, puisqu’aucune perte n’a été constatée.
Mon hypothèse principale est donc partiellement confirmée : le système est bien organisé et fiable, mais son efficacité reste limitée par la dépendance envers quelques responsables, par des moyens insuffisants et par l’absence d’outils numériques formalisés.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résultats révèlent trois limites principales : la gestion entièrement manuelle et la transmission physique des courriers, l’insuffisance des moyens matériels et une organisation reposant sur peu de personnes, et enfin l’exiguïté des bureaux.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améliorer ce système, je formule sept recommandations, dont voici les principales :
Un : mettre en place un registre numérique partagé, par exemple un simple tableur commun, avec un numéro unique pour chaque courrier, avec l’appui de la Direction de la transition numérique.
Deux : formaliser les échanges numériques, avec une adresse électronique institutionnelle par direction.
Trois : assurer la continuité, en désignant des suppléants, en élargissant les délégations de signature pour les courriers courants et en rédigeant un guide de procédures.
Quatre : désigner un agent de liaison pour la distribution interne, et améliorer l’approvisionnement en fournitures.
Je propose également d’établir un état périodique des besoins en fournitures avec un stock de sécurité, de réaménager les bureaux à court terme puis de prévoir leur extension, et de former le personnel à la gestion documentaire et aux outils numériques. Pour chaque mesure, j’ai indiqué dans le rapport le responsable, l’échéance et le niveau de coût.
La plupart de ces mesures sont peu coûteuses et peuvent être mises en œuvre rapidement.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gestion électronique des documents enregistre chaque courrier dès son arrivée, le fait circuler entre les services sans qu’il quitte le secrétariat et permet de savoir à tout moment où il se trouve. Ce tableau compare la situation actuelle et ce que la GED permettrait.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mesures peuvent être déployées en quatre étapes : démarrer avec les outils existants, organiser le travail, dématérialiser le circuit, puis étendre la démarche à toutes les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Derrière chaque courrier, il y a un habitant qui attend une réponse. Un circuit plus rapide et traçable lui permet de suivre son dossier, d’éviter des déplacements et de faire davantage confiance à sa mairie.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cette étude montre que la Mairie de Doumassessé dispose d’un circuit du courrier sérieux et fiable, grâce à l’engagement de son personnel. Mais pour répondre aux exigences d’une administration moderne, ce circuit doit devenir moins dépendant de quelques personnes, mieux équipé et progressivement numérique.
À titre personnel, ce stage a confirmé mon intérêt pour le métier d’assistante de direction et m’a montré l’importance de la rigueur, de la discrétion et des outils numériques dans la gestion administrative.
Il serait intéressant, dans une prochaine étude, de mesurer de façon systématique les délais de traitement sur un échantillon de courriers.
Je vous remercie pour votre aimable attention, et je reste à votre disposition pour vos questions et vos remarques.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pour votre aimable attention, et je reste à votre disposition pour vos questions et vos remarques.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3" Type="http://schemas.openxmlformats.org/officeDocument/2006/relationships/slide" Target="slide4.xml"/><Relationship Id="rId5" Type="http://schemas.openxmlformats.org/officeDocument/2006/relationships/slide" Target="slide10.xml"/><Relationship Id="rId7" Type="http://schemas.openxmlformats.org/officeDocument/2006/relationships/slide" Target="slide11.xml"/><Relationship Id="rId9" Type="http://schemas.openxmlformats.org/officeDocument/2006/relationships/slide" Target="slide14.xml"/><Relationship Id="rId11" Type="http://schemas.openxmlformats.org/officeDocument/2006/relationships/slide" Target="slide17.xml"/><Relationship Id="rId2"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2-3.png"/><Relationship Id="rId8" Type="http://schemas.openxmlformats.org/officeDocument/2006/relationships/image" Target="../media/image-2-4.png"/><Relationship Id="rId10" Type="http://schemas.openxmlformats.org/officeDocument/2006/relationships/image" Target="../media/image-2-5.png"/><Relationship Id="rId12" Type="http://schemas.openxmlformats.org/officeDocument/2006/relationships/image" Target="../media/image-2-6.png"/><Relationship Id="rId13" Type="http://schemas.openxmlformats.org/officeDocument/2006/relationships/image" Target="../media/image-2-7.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5" Type="http://schemas.openxmlformats.org/officeDocument/2006/relationships/slide" Target="slide4.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4.xml"/><Relationship Id="rId9" Type="http://schemas.openxmlformats.org/officeDocument/2006/relationships/slide" Target="slide17.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 Target="slide5.xml"/><Relationship Id="rId4" Type="http://schemas.openxmlformats.org/officeDocument/2006/relationships/slide" Target="slide3.xml"/><Relationship Id="rId5" Type="http://schemas.openxmlformats.org/officeDocument/2006/relationships/slide" Target="slide10.xml"/><Relationship Id="rId6" Type="http://schemas.openxmlformats.org/officeDocument/2006/relationships/slide" Target="slide11.xml"/><Relationship Id="rId7" Type="http://schemas.openxmlformats.org/officeDocument/2006/relationships/slide" Target="slide14.xml"/><Relationship Id="rId8" Type="http://schemas.openxmlformats.org/officeDocument/2006/relationships/slide" Target="slide17.xml"/><Relationship Id="rId1" Type="http://schemas.openxmlformats.org/officeDocument/2006/relationships/image" Target="../media/image-4-1.png"/><Relationship Id="rId2" Type="http://schemas.openxmlformats.org/officeDocument/2006/relationships/image" Target="../media/image-4-2.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slide" Target="slide6.xml"/><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10.xml"/><Relationship Id="rId8" Type="http://schemas.openxmlformats.org/officeDocument/2006/relationships/slide" Target="slide11.xml"/><Relationship Id="rId9" Type="http://schemas.openxmlformats.org/officeDocument/2006/relationships/slide" Target="slide14.xml"/><Relationship Id="rId10" Type="http://schemas.openxmlformats.org/officeDocument/2006/relationships/slide" Target="slide17.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slide" Target="slide7.xml"/><Relationship Id="rId6" Type="http://schemas.openxmlformats.org/officeDocument/2006/relationships/slide" Target="slide3.xml"/><Relationship Id="rId7" Type="http://schemas.openxmlformats.org/officeDocument/2006/relationships/slide" Target="slide4.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4.xml"/><Relationship Id="rId11" Type="http://schemas.openxmlformats.org/officeDocument/2006/relationships/slide" Target="slide17.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slide" Target="slide8.xml"/><Relationship Id="rId6" Type="http://schemas.openxmlformats.org/officeDocument/2006/relationships/slide" Target="slide3.xml"/><Relationship Id="rId7" Type="http://schemas.openxmlformats.org/officeDocument/2006/relationships/slide" Target="slide4.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4.xml"/><Relationship Id="rId11" Type="http://schemas.openxmlformats.org/officeDocument/2006/relationships/slide" Target="slide17.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eg"/><Relationship Id="rId4" Type="http://schemas.openxmlformats.org/officeDocument/2006/relationships/image" Target="../media/image-7-4.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4.xml"/><Relationship Id="rId9" Type="http://schemas.openxmlformats.org/officeDocument/2006/relationships/slide" Target="slide17.xml"/><Relationship Id="rId1" Type="http://schemas.openxmlformats.org/officeDocument/2006/relationships/image" Target="../media/image-8-1.png"/><Relationship Id="rId2" Type="http://schemas.openxmlformats.org/officeDocument/2006/relationships/image" Target="../media/image-8-2.jpeg"/><Relationship Id="rId3" Type="http://schemas.openxmlformats.org/officeDocument/2006/relationships/image" Target="../media/image-8-3.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4.xml"/><Relationship Id="rId7" Type="http://schemas.openxmlformats.org/officeDocument/2006/relationships/slide" Target="slide17.xml"/><Relationship Id="rId1" Type="http://schemas.openxmlformats.org/officeDocument/2006/relationships/image" Target="../media/image-9-1.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0" Type="http://schemas.openxmlformats.org/officeDocument/2006/relationships/slide" Target="slide3.xml"/><Relationship Id="rId11" Type="http://schemas.openxmlformats.org/officeDocument/2006/relationships/slide" Target="slide4.xml"/><Relationship Id="rId12" Type="http://schemas.openxmlformats.org/officeDocument/2006/relationships/slide" Target="slide11.xml"/><Relationship Id="rId13" Type="http://schemas.openxmlformats.org/officeDocument/2006/relationships/slide" Target="slide14.xml"/><Relationship Id="rId14" Type="http://schemas.openxmlformats.org/officeDocument/2006/relationships/slide" Target="slide17.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5" Type="http://schemas.openxmlformats.org/officeDocument/2006/relationships/slideLayout" Target="../slideLayouts/slideLayout1.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10.xml"/><Relationship Id="rId8" Type="http://schemas.openxmlformats.org/officeDocument/2006/relationships/slide" Target="slide14.xml"/><Relationship Id="rId9" Type="http://schemas.openxmlformats.org/officeDocument/2006/relationships/slide" Target="slide17.xml"/><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10.xml"/><Relationship Id="rId8" Type="http://schemas.openxmlformats.org/officeDocument/2006/relationships/slide" Target="slide11.xml"/><Relationship Id="rId9" Type="http://schemas.openxmlformats.org/officeDocument/2006/relationships/slide" Target="slide14.xml"/><Relationship Id="rId10" Type="http://schemas.openxmlformats.org/officeDocument/2006/relationships/slide" Target="slide17.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10.xml"/><Relationship Id="rId8" Type="http://schemas.openxmlformats.org/officeDocument/2006/relationships/slide" Target="slide11.xml"/><Relationship Id="rId9" Type="http://schemas.openxmlformats.org/officeDocument/2006/relationships/slide" Target="slide14.xml"/><Relationship Id="rId10" Type="http://schemas.openxmlformats.org/officeDocument/2006/relationships/slide" Target="slide17.xml"/><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10.xml"/><Relationship Id="rId6" Type="http://schemas.openxmlformats.org/officeDocument/2006/relationships/slide" Target="slide11.xml"/><Relationship Id="rId7" Type="http://schemas.openxmlformats.org/officeDocument/2006/relationships/slide" Target="slide17.xml"/><Relationship Id="rId1" Type="http://schemas.openxmlformats.org/officeDocument/2006/relationships/chart" Target="/ppt/charts/chart1.xml"/><Relationship Id="rId2" Type="http://schemas.openxmlformats.org/officeDocument/2006/relationships/image" Target="../media/image-14-1.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4.xml"/><Relationship Id="rId7" Type="http://schemas.openxmlformats.org/officeDocument/2006/relationships/slide" Target="slide17.xml"/><Relationship Id="rId1"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10.xml"/><Relationship Id="rId8" Type="http://schemas.openxmlformats.org/officeDocument/2006/relationships/slide" Target="slide11.xml"/><Relationship Id="rId9" Type="http://schemas.openxmlformats.org/officeDocument/2006/relationships/slide" Target="slide14.xml"/><Relationship Id="rId10" Type="http://schemas.openxmlformats.org/officeDocument/2006/relationships/slide" Target="slide17.xml"/><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9" Type="http://schemas.openxmlformats.org/officeDocument/2006/relationships/slide" Target="slide3.xml"/><Relationship Id="rId10" Type="http://schemas.openxmlformats.org/officeDocument/2006/relationships/slide" Target="slide4.xml"/><Relationship Id="rId11" Type="http://schemas.openxmlformats.org/officeDocument/2006/relationships/slide" Target="slide10.xml"/><Relationship Id="rId12" Type="http://schemas.openxmlformats.org/officeDocument/2006/relationships/slide" Target="slide11.xml"/><Relationship Id="rId13" Type="http://schemas.openxmlformats.org/officeDocument/2006/relationships/slide" Target="slide14.xml"/><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4.xml"/><Relationship Id="rId7" Type="http://schemas.openxmlformats.org/officeDocument/2006/relationships/slide" Target="slide17.xml"/><Relationship Id="rId1" Type="http://schemas.openxmlformats.org/officeDocument/2006/relationships/image" Target="../media/image-18-1.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4.xml"/><Relationship Id="rId7" Type="http://schemas.openxmlformats.org/officeDocument/2006/relationships/slide" Target="slide17.xml"/><Relationship Id="rId1" Type="http://schemas.openxmlformats.org/officeDocument/2006/relationships/image" Target="../media/image-19-1.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8" Type="http://schemas.openxmlformats.org/officeDocument/2006/relationships/slide" Target="slide3.xml"/><Relationship Id="rId9" Type="http://schemas.openxmlformats.org/officeDocument/2006/relationships/slide" Target="slide4.xml"/><Relationship Id="rId10" Type="http://schemas.openxmlformats.org/officeDocument/2006/relationships/slide" Target="slide10.xml"/><Relationship Id="rId11" Type="http://schemas.openxmlformats.org/officeDocument/2006/relationships/slide" Target="slide11.xml"/><Relationship Id="rId12" Type="http://schemas.openxmlformats.org/officeDocument/2006/relationships/slide" Target="slide14.xml"/><Relationship Id="rId13" Type="http://schemas.openxmlformats.org/officeDocument/2006/relationships/slide" Target="slide17.xml"/><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10.xml"/><Relationship Id="rId6" Type="http://schemas.openxmlformats.org/officeDocument/2006/relationships/slide" Target="slide11.xml"/><Relationship Id="rId7" Type="http://schemas.openxmlformats.org/officeDocument/2006/relationships/slide" Target="slide14.xml"/><Relationship Id="rId8" Type="http://schemas.openxmlformats.org/officeDocument/2006/relationships/slide" Target="slide17.xml"/><Relationship Id="rId1" Type="http://schemas.openxmlformats.org/officeDocument/2006/relationships/image" Target="../media/image-21-1.png"/><Relationship Id="rId2" Type="http://schemas.openxmlformats.org/officeDocument/2006/relationships/image" Target="../media/image-21-2.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7635240" y="-1188720"/>
            <a:ext cx="5120640" cy="5120640"/>
          </a:xfrm>
          <a:prstGeom prst="ellipse">
            <a:avLst/>
          </a:prstGeom>
          <a:solidFill>
            <a:srgbClr val="1B3F9E"/>
          </a:solidFill>
          <a:ln w="12700">
            <a:solidFill>
              <a:srgbClr val="1B3F9E"/>
            </a:solidFill>
            <a:prstDash val="solid"/>
          </a:ln>
        </p:spPr>
      </p:sp>
      <p:sp>
        <p:nvSpPr>
          <p:cNvPr id="3" name="!!orbG"/>
          <p:cNvSpPr/>
          <p:nvPr/>
        </p:nvSpPr>
        <p:spPr>
          <a:xfrm>
            <a:off x="10378440" y="4343400"/>
            <a:ext cx="2651760" cy="2651760"/>
          </a:xfrm>
          <a:prstGeom prst="ellipse">
            <a:avLst/>
          </a:prstGeom>
          <a:solidFill>
            <a:srgbClr val="00923A"/>
          </a:solidFill>
          <a:ln w="12700">
            <a:solidFill>
              <a:srgbClr val="00923A"/>
            </a:solidFill>
            <a:prstDash val="solid"/>
          </a:ln>
        </p:spPr>
      </p:sp>
      <p:sp>
        <p:nvSpPr>
          <p:cNvPr id="4" name="!!orbY"/>
          <p:cNvSpPr/>
          <p:nvPr/>
        </p:nvSpPr>
        <p:spPr>
          <a:xfrm>
            <a:off x="7269480" y="4160520"/>
            <a:ext cx="1417320" cy="1417320"/>
          </a:xfrm>
          <a:prstGeom prst="ellipse">
            <a:avLst/>
          </a:prstGeom>
          <a:solidFill>
            <a:srgbClr val="FFFFFF">
              <a:alpha val="0"/>
            </a:srgbClr>
          </a:solidFill>
          <a:ln w="118110">
            <a:solidFill>
              <a:srgbClr val="FCC600"/>
            </a:solidFill>
            <a:prstDash val="solid"/>
          </a:ln>
        </p:spPr>
      </p:sp>
      <p:sp>
        <p:nvSpPr>
          <p:cNvPr id="5" name="!!photo"/>
          <p:cNvSpPr/>
          <p:nvPr/>
        </p:nvSpPr>
        <p:spPr>
          <a:xfrm>
            <a:off x="8183880" y="685800"/>
            <a:ext cx="4023360" cy="4023360"/>
          </a:xfrm>
          <a:prstGeom prst="ellipse">
            <a:avLst/>
          </a:prstGeom>
          <a:solidFill>
            <a:srgbClr val="FFFFFF"/>
          </a:solidFill>
          <a:ln w="12700">
            <a:solidFill>
              <a:srgbClr val="FFFFFF"/>
            </a:solidFill>
            <a:prstDash val="solid"/>
          </a:ln>
          <a:effectLst>
            <a:outerShdw sx="100000" sy="100000" kx="0" ky="0" algn="bl" rotWithShape="0" blurRad="228600" dist="50800" dir="5400000">
              <a:srgbClr val="0E1C46">
                <a:alpha val="22000"/>
              </a:srgbClr>
            </a:outerShdw>
          </a:effectLst>
        </p:spPr>
      </p:sp>
      <p:sp>
        <p:nvSpPr>
          <p:cNvPr id="6" name="!!photoring"/>
          <p:cNvSpPr/>
          <p:nvPr/>
        </p:nvSpPr>
        <p:spPr>
          <a:xfrm>
            <a:off x="8505749" y="1007669"/>
            <a:ext cx="3379622" cy="3379622"/>
          </a:xfrm>
          <a:prstGeom prst="ellipse">
            <a:avLst/>
          </a:prstGeom>
          <a:solidFill>
            <a:srgbClr val="FFFFFF">
              <a:alpha val="0"/>
            </a:srgbClr>
          </a:solidFill>
          <a:ln w="38100">
            <a:solidFill>
              <a:srgbClr val="00923A"/>
            </a:solidFill>
            <a:prstDash val="solid"/>
          </a:ln>
        </p:spPr>
      </p:sp>
      <p:pic>
        <p:nvPicPr>
          <p:cNvPr id="7" name="!!photoi" descr="preencoded.png">    </p:cNvPr>
          <p:cNvPicPr>
            <a:picLocks noChangeAspect="1"/>
          </p:cNvPicPr>
          <p:nvPr/>
        </p:nvPicPr>
        <p:blipFill>
          <a:blip r:embed="rId1"/>
          <a:stretch>
            <a:fillRect/>
          </a:stretch>
        </p:blipFill>
        <p:spPr>
          <a:xfrm>
            <a:off x="9350654" y="1852574"/>
            <a:ext cx="1689811" cy="1689811"/>
          </a:xfrm>
          <a:prstGeom prst="rect">
            <a:avLst/>
          </a:prstGeom>
        </p:spPr>
      </p:pic>
      <p:pic>
        <p:nvPicPr>
          <p:cNvPr id="8" name="!!logo" descr="preencoded.png">    </p:cNvPr>
          <p:cNvPicPr>
            <a:picLocks noChangeAspect="1"/>
          </p:cNvPicPr>
          <p:nvPr/>
        </p:nvPicPr>
        <p:blipFill>
          <a:blip r:embed="rId2"/>
          <a:stretch>
            <a:fillRect/>
          </a:stretch>
        </p:blipFill>
        <p:spPr>
          <a:xfrm>
            <a:off x="640080" y="548640"/>
            <a:ext cx="685800" cy="566928"/>
          </a:xfrm>
          <a:prstGeom prst="rect">
            <a:avLst/>
          </a:prstGeom>
        </p:spPr>
      </p:pic>
      <p:sp>
        <p:nvSpPr>
          <p:cNvPr id="9" name="univ"/>
          <p:cNvSpPr txBox="1"/>
          <p:nvPr/>
        </p:nvSpPr>
        <p:spPr>
          <a:xfrm>
            <a:off x="1463040" y="566928"/>
            <a:ext cx="5486400" cy="594360"/>
          </a:xfrm>
          <a:prstGeom prst="rect">
            <a:avLst/>
          </a:prstGeom>
          <a:noFill/>
          <a:ln/>
        </p:spPr>
        <p:txBody>
          <a:bodyPr wrap="square" lIns="0" tIns="0" rIns="0" bIns="0" rtlCol="0" anchor="t"/>
          <a:lstStyle/>
          <a:p>
            <a:pPr indent="0" marL="0">
              <a:buNone/>
            </a:pPr>
            <a:r>
              <a:rPr lang="fr-FR" altLang="en-US" sz="1400" b="1" dirty="0">
                <a:solidFill>
                  <a:srgbClr val="1B3F9E"/>
                </a:solidFill>
                <a:latin typeface="Calibri" pitchFamily="34" charset="0"/>
                <a:ea typeface="Calibri" pitchFamily="34" charset="-122"/>
                <a:cs typeface="Calibri" pitchFamily="34" charset="-120"/>
              </a:rPr>
              <a:t>UNIVERSITÉ DE KARA</a:t>
            </a:r>
            <a:endParaRPr lang="fr-FR" sz="1400" dirty="0"/>
          </a:p>
          <a:p>
            <a:pPr indent="0" marL="0">
              <a:buNone/>
            </a:pPr>
            <a:r>
              <a:rPr lang="fr-FR" altLang="en-US" sz="1200" dirty="0">
                <a:solidFill>
                  <a:srgbClr val="56617C"/>
                </a:solidFill>
                <a:latin typeface="Calibri" pitchFamily="34" charset="0"/>
                <a:ea typeface="Calibri" pitchFamily="34" charset="-122"/>
                <a:cs typeface="Calibri" pitchFamily="34" charset="-120"/>
              </a:rPr>
              <a:t>Faculté de droit et des sciences politiques</a:t>
            </a:r>
            <a:endParaRPr lang="fr-FR" sz="1400" dirty="0"/>
          </a:p>
        </p:txBody>
      </p:sp>
      <p:sp>
        <p:nvSpPr>
          <p:cNvPr id="10" name="kick"/>
          <p:cNvSpPr txBox="1"/>
          <p:nvPr/>
        </p:nvSpPr>
        <p:spPr>
          <a:xfrm>
            <a:off x="640080" y="1600200"/>
            <a:ext cx="6766560" cy="274320"/>
          </a:xfrm>
          <a:prstGeom prst="rect">
            <a:avLst/>
          </a:prstGeom>
          <a:noFill/>
          <a:ln/>
        </p:spPr>
        <p:txBody>
          <a:bodyPr wrap="square" lIns="0" tIns="0" rIns="0" bIns="0" rtlCol="0" anchor="t"/>
          <a:lstStyle/>
          <a:p>
            <a:pPr indent="0" marL="0">
              <a:buNone/>
            </a:pPr>
            <a:r>
              <a:rPr lang="fr-FR" altLang="en-US" sz="1100" b="1" spc="200" kern="0" dirty="0">
                <a:solidFill>
                  <a:srgbClr val="00923A"/>
                </a:solidFill>
                <a:latin typeface="Calibri" pitchFamily="34" charset="0"/>
                <a:ea typeface="Calibri" pitchFamily="34" charset="-122"/>
                <a:cs typeface="Calibri" pitchFamily="34" charset="-120"/>
              </a:rPr>
              <a:t>RAPPORT DE FIN DE FORMATION · ASSISTANCE ADMINISTRATIVE</a:t>
            </a:r>
            <a:endParaRPr lang="fr-FR" sz="1100" dirty="0"/>
          </a:p>
        </p:txBody>
      </p:sp>
      <p:sp>
        <p:nvSpPr>
          <p:cNvPr id="11" name="!!maintitle"/>
          <p:cNvSpPr txBox="1"/>
          <p:nvPr/>
        </p:nvSpPr>
        <p:spPr>
          <a:xfrm>
            <a:off x="640080" y="1920240"/>
            <a:ext cx="6766560" cy="1737360"/>
          </a:xfrm>
          <a:prstGeom prst="rect">
            <a:avLst/>
          </a:prstGeom>
          <a:noFill/>
          <a:ln/>
        </p:spPr>
        <p:txBody>
          <a:bodyPr wrap="square" lIns="0" tIns="0" rIns="0" bIns="0" rtlCol="0" anchor="t"/>
          <a:lstStyle/>
          <a:p>
            <a:pPr indent="0" marL="0">
              <a:buNone/>
            </a:pPr>
            <a:r>
              <a:rPr lang="fr-FR" altLang="en-US" sz="3600" b="1" dirty="0">
                <a:solidFill>
                  <a:srgbClr val="0E1C46"/>
                </a:solidFill>
                <a:latin typeface="Calibri" pitchFamily="34" charset="0"/>
                <a:ea typeface="Calibri" pitchFamily="34" charset="-122"/>
                <a:cs typeface="Calibri" pitchFamily="34" charset="-120"/>
              </a:rPr>
              <a:t>Analyse du système de gestion du courrier administratif dans une collectivité locale</a:t>
            </a:r>
            <a:endParaRPr lang="fr-FR" sz="3600" dirty="0"/>
          </a:p>
        </p:txBody>
      </p:sp>
      <p:sp>
        <p:nvSpPr>
          <p:cNvPr id="12" name="sub"/>
          <p:cNvSpPr txBox="1"/>
          <p:nvPr/>
        </p:nvSpPr>
        <p:spPr>
          <a:xfrm>
            <a:off x="640080" y="3703320"/>
            <a:ext cx="6766560" cy="457200"/>
          </a:xfrm>
          <a:prstGeom prst="rect">
            <a:avLst/>
          </a:prstGeom>
          <a:noFill/>
          <a:ln/>
        </p:spPr>
        <p:txBody>
          <a:bodyPr wrap="square" lIns="0" tIns="0" rIns="0" bIns="0" rtlCol="0" anchor="t"/>
          <a:lstStyle/>
          <a:p>
            <a:pPr indent="0" marL="0">
              <a:buNone/>
            </a:pPr>
            <a:r>
              <a:rPr lang="fr-FR" altLang="en-US" sz="2200" b="1" dirty="0">
                <a:solidFill>
                  <a:srgbClr val="1B3F9E"/>
                </a:solidFill>
                <a:latin typeface="Calibri" pitchFamily="34" charset="0"/>
                <a:ea typeface="Calibri" pitchFamily="34" charset="-122"/>
                <a:cs typeface="Calibri" pitchFamily="34" charset="-120"/>
              </a:rPr>
              <a:t>Cas de la Mairie de Doumassessé (Commune du Golfe 3)</a:t>
            </a:r>
            <a:endParaRPr lang="fr-FR" sz="2200" dirty="0"/>
          </a:p>
        </p:txBody>
      </p:sp>
      <p:sp>
        <p:nvSpPr>
          <p:cNvPr id="13" name="names"/>
          <p:cNvSpPr txBox="1"/>
          <p:nvPr/>
        </p:nvSpPr>
        <p:spPr>
          <a:xfrm>
            <a:off x="640080" y="4389120"/>
            <a:ext cx="5943600" cy="1325880"/>
          </a:xfrm>
          <a:prstGeom prst="rect">
            <a:avLst/>
          </a:prstGeom>
          <a:noFill/>
          <a:ln/>
        </p:spPr>
        <p:txBody>
          <a:bodyPr wrap="square" lIns="0" tIns="0" rIns="0" bIns="0" rtlCol="0" anchor="t"/>
          <a:lstStyle/>
          <a:p>
            <a:pPr indent="0" marL="0">
              <a:lnSpc>
                <a:spcPct val="115000"/>
              </a:lnSpc>
              <a:buNone/>
            </a:pPr>
            <a:r>
              <a:rPr lang="fr-FR" altLang="en-US" sz="1500" dirty="0">
                <a:solidFill>
                  <a:srgbClr val="56617C"/>
                </a:solidFill>
                <a:latin typeface="Calibri" pitchFamily="34" charset="0"/>
                <a:ea typeface="Calibri" pitchFamily="34" charset="-122"/>
                <a:cs typeface="Calibri" pitchFamily="34" charset="-120"/>
              </a:rPr>
              <a:t>Présenté par  </a:t>
            </a:r>
            <a:pPr indent="0" marL="0">
              <a:lnSpc>
                <a:spcPct val="115000"/>
              </a:lnSpc>
              <a:buNone/>
            </a:pPr>
            <a:r>
              <a:rPr lang="fr-FR" altLang="en-US" sz="1500" b="1" dirty="0">
                <a:solidFill>
                  <a:srgbClr val="0E1C46"/>
                </a:solidFill>
                <a:latin typeface="Calibri" pitchFamily="34" charset="0"/>
                <a:ea typeface="Calibri" pitchFamily="34" charset="-122"/>
                <a:cs typeface="Calibri" pitchFamily="34" charset="-120"/>
              </a:rPr>
              <a:t>TCHAKONDO Aïcha</a:t>
            </a:r>
            <a:endParaRPr lang="fr-FR" sz="1500" dirty="0"/>
          </a:p>
          <a:p>
            <a:pPr indent="0" marL="0">
              <a:lnSpc>
                <a:spcPct val="115000"/>
              </a:lnSpc>
              <a:buNone/>
            </a:pPr>
            <a:r>
              <a:rPr lang="fr-FR" altLang="en-US" sz="1500" dirty="0">
                <a:solidFill>
                  <a:srgbClr val="56617C"/>
                </a:solidFill>
                <a:latin typeface="Calibri" pitchFamily="34" charset="0"/>
                <a:ea typeface="Calibri" pitchFamily="34" charset="-122"/>
                <a:cs typeface="Calibri" pitchFamily="34" charset="-120"/>
              </a:rPr>
              <a:t>Encadreur  </a:t>
            </a:r>
            <a:pPr indent="0" marL="0">
              <a:lnSpc>
                <a:spcPct val="115000"/>
              </a:lnSpc>
              <a:buNone/>
            </a:pPr>
            <a:r>
              <a:rPr lang="fr-FR" altLang="en-US" sz="1500" b="1" dirty="0">
                <a:solidFill>
                  <a:srgbClr val="0E1C46"/>
                </a:solidFill>
                <a:latin typeface="Calibri" pitchFamily="34" charset="0"/>
                <a:ea typeface="Calibri" pitchFamily="34" charset="-122"/>
                <a:cs typeface="Calibri" pitchFamily="34" charset="-120"/>
              </a:rPr>
              <a:t>Dr BANTE Nakpakpere</a:t>
            </a:r>
            <a:endParaRPr lang="fr-FR" sz="1500" dirty="0"/>
          </a:p>
          <a:p>
            <a:pPr indent="0" marL="0">
              <a:lnSpc>
                <a:spcPct val="115000"/>
              </a:lnSpc>
              <a:buNone/>
            </a:pPr>
            <a:r>
              <a:rPr lang="fr-FR" altLang="en-US" sz="1500" dirty="0">
                <a:solidFill>
                  <a:srgbClr val="56617C"/>
                </a:solidFill>
                <a:latin typeface="Calibri" pitchFamily="34" charset="0"/>
                <a:ea typeface="Calibri" pitchFamily="34" charset="-122"/>
                <a:cs typeface="Calibri" pitchFamily="34" charset="-120"/>
              </a:rPr>
              <a:t>Co-encadreur  </a:t>
            </a:r>
            <a:pPr indent="0" marL="0">
              <a:lnSpc>
                <a:spcPct val="115000"/>
              </a:lnSpc>
              <a:buNone/>
            </a:pPr>
            <a:r>
              <a:rPr lang="fr-FR" altLang="en-US" sz="1500" b="1" dirty="0">
                <a:solidFill>
                  <a:srgbClr val="0E1C46"/>
                </a:solidFill>
                <a:latin typeface="Calibri" pitchFamily="34" charset="0"/>
                <a:ea typeface="Calibri" pitchFamily="34" charset="-122"/>
                <a:cs typeface="Calibri" pitchFamily="34" charset="-120"/>
              </a:rPr>
              <a:t>M. ALI Passimzouwé</a:t>
            </a:r>
            <a:endParaRPr lang="fr-FR" sz="1500" dirty="0"/>
          </a:p>
          <a:p>
            <a:pPr indent="0" marL="0">
              <a:lnSpc>
                <a:spcPct val="115000"/>
              </a:lnSpc>
              <a:buNone/>
            </a:pPr>
            <a:r>
              <a:rPr lang="fr-FR" altLang="en-US" sz="1500" dirty="0">
                <a:solidFill>
                  <a:srgbClr val="56617C"/>
                </a:solidFill>
                <a:latin typeface="Calibri" pitchFamily="34" charset="0"/>
                <a:ea typeface="Calibri" pitchFamily="34" charset="-122"/>
                <a:cs typeface="Calibri" pitchFamily="34" charset="-120"/>
              </a:rPr>
              <a:t>Maître de stage  </a:t>
            </a:r>
            <a:pPr indent="0" marL="0">
              <a:lnSpc>
                <a:spcPct val="115000"/>
              </a:lnSpc>
              <a:buNone/>
            </a:pPr>
            <a:r>
              <a:rPr lang="fr-FR" altLang="en-US" sz="1500" b="1" dirty="0">
                <a:solidFill>
                  <a:srgbClr val="0E1C46"/>
                </a:solidFill>
                <a:latin typeface="Calibri" pitchFamily="34" charset="0"/>
                <a:ea typeface="Calibri" pitchFamily="34" charset="-122"/>
                <a:cs typeface="Calibri" pitchFamily="34" charset="-120"/>
              </a:rPr>
              <a:t>Mme FUDJI Abla Kafui</a:t>
            </a:r>
            <a:endParaRPr lang="fr-FR" sz="1500" dirty="0"/>
          </a:p>
        </p:txBody>
      </p:sp>
      <p:sp>
        <p:nvSpPr>
          <p:cNvPr id="14" name="year"/>
          <p:cNvSpPr txBox="1"/>
          <p:nvPr/>
        </p:nvSpPr>
        <p:spPr>
          <a:xfrm>
            <a:off x="640080" y="5989320"/>
            <a:ext cx="4572000" cy="32004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Année académique 2025-2026</a:t>
            </a:r>
            <a:endParaRPr lang="fr-FR"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childTnLst>
                                </p:cTn>
                              </p:par>
                              <p:par>
                                <p:cTn id="11" presetID="53" presetClass="entr" presetSubtype="16" fill="hold" grpId="0" nodeType="withEffect">
                                  <p:stCondLst>
                                    <p:cond delay="300"/>
                                  </p:stCondLst>
                                  <p:childTnLst>
                                    <p:set>
                                      <p:cBhvr>
                                        <p:cTn id="12" dur="1" fill="hold">
                                          <p:stCondLst>
                                            <p:cond delay="0"/>
                                          </p:stCondLst>
                                        </p:cTn>
                                        <p:tgtEl>
                                          <p:spTgt spid="11"/>
                                        </p:tgtEl>
                                        <p:attrNameLst>
                                          <p:attrName>style.visibility</p:attrName>
                                        </p:attrNameLst>
                                      </p:cBhvr>
                                      <p:to>
                                        <p:strVal val="visible"/>
                                      </p:to>
                                    </p:set>
                                    <p:anim calcmode="lin" valueType="num">
                                      <p:cBhvr>
                                        <p:cTn id="13" dur="600" fill="hold"/>
                                        <p:tgtEl>
                                          <p:spTgt spid="11"/>
                                        </p:tgtEl>
                                        <p:attrNameLst>
                                          <p:attrName>ppt_w</p:attrName>
                                        </p:attrNameLst>
                                      </p:cBhvr>
                                      <p:tavLst>
                                        <p:tav tm="0">
                                          <p:val>
                                            <p:fltVal val="0"/>
                                          </p:val>
                                        </p:tav>
                                        <p:tav tm="100000">
                                          <p:val>
                                            <p:strVal val="#ppt_w"/>
                                          </p:val>
                                        </p:tav>
                                      </p:tavLst>
                                    </p:anim>
                                    <p:anim calcmode="lin" valueType="num">
                                      <p:cBhvr>
                                        <p:cTn id="14" dur="600" fill="hold"/>
                                        <p:tgtEl>
                                          <p:spTgt spid="11"/>
                                        </p:tgtEl>
                                        <p:attrNameLst>
                                          <p:attrName>ppt_h</p:attrName>
                                        </p:attrNameLst>
                                      </p:cBhvr>
                                      <p:tavLst>
                                        <p:tav tm="0">
                                          <p:val>
                                            <p:fltVal val="0"/>
                                          </p:val>
                                        </p:tav>
                                        <p:tav tm="100000">
                                          <p:val>
                                            <p:strVal val="#ppt_h"/>
                                          </p:val>
                                        </p:tav>
                                      </p:tavLst>
                                    </p:anim>
                                    <p:animEffect transition="in" filter="fade">
                                      <p:cBhvr>
                                        <p:cTn id="15" dur="600"/>
                                        <p:tgtEl>
                                          <p:spTgt spid="11"/>
                                        </p:tgtEl>
                                      </p:cBhvr>
                                    </p:animEffect>
                                  </p:childTnLst>
                                </p:cTn>
                              </p:par>
                              <p:par>
                                <p:cTn id="16" presetID="10" presetClass="entr" presetSubtype="0" fill="hold" grpId="0" nodeType="withEffect">
                                  <p:stCondLst>
                                    <p:cond delay="70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600"/>
                                        <p:tgtEl>
                                          <p:spTgt spid="12"/>
                                        </p:tgtEl>
                                      </p:cBhvr>
                                    </p:animEffect>
                                  </p:childTnLst>
                                </p:cTn>
                              </p:par>
                              <p:par>
                                <p:cTn id="19" presetID="10" presetClass="entr" presetSubtype="0" fill="hold" grpId="0" nodeType="withEffect">
                                  <p:stCondLst>
                                    <p:cond delay="100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600"/>
                                        <p:tgtEl>
                                          <p:spTgt spid="13"/>
                                        </p:tgtEl>
                                      </p:cBhvr>
                                    </p:animEffect>
                                  </p:childTnLst>
                                </p:cTn>
                              </p:par>
                              <p:par>
                                <p:cTn id="22" presetID="10" presetClass="entr" presetSubtype="0" fill="hold" grpId="0" nodeType="withEffect">
                                  <p:stCondLst>
                                    <p:cond delay="130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0881360" y="-1097280"/>
            <a:ext cx="2103120" cy="2103120"/>
          </a:xfrm>
          <a:prstGeom prst="ellipse">
            <a:avLst/>
          </a:prstGeom>
          <a:solidFill>
            <a:srgbClr val="1B3F9E"/>
          </a:solidFill>
          <a:ln w="12700">
            <a:solidFill>
              <a:srgbClr val="1B3F9E"/>
            </a:solidFill>
            <a:prstDash val="solid"/>
          </a:ln>
        </p:spPr>
      </p:sp>
      <p:sp>
        <p:nvSpPr>
          <p:cNvPr id="3" name="!!orbG"/>
          <p:cNvSpPr/>
          <p:nvPr/>
        </p:nvSpPr>
        <p:spPr>
          <a:xfrm>
            <a:off x="-1005840" y="5852160"/>
            <a:ext cx="1645920" cy="1645920"/>
          </a:xfrm>
          <a:prstGeom prst="ellipse">
            <a:avLst/>
          </a:prstGeom>
          <a:solidFill>
            <a:srgbClr val="00923A"/>
          </a:solidFill>
          <a:ln w="12700">
            <a:solidFill>
              <a:srgbClr val="00923A"/>
            </a:solidFill>
            <a:prstDash val="solid"/>
          </a:ln>
        </p:spPr>
      </p:sp>
      <p:sp>
        <p:nvSpPr>
          <p:cNvPr id="4" name="!!orbY"/>
          <p:cNvSpPr/>
          <p:nvPr/>
        </p:nvSpPr>
        <p:spPr>
          <a:xfrm>
            <a:off x="11841480" y="6035040"/>
            <a:ext cx="731520" cy="731520"/>
          </a:xfrm>
          <a:prstGeom prst="ellipse">
            <a:avLst/>
          </a:prstGeom>
          <a:solidFill>
            <a:srgbClr val="FFFFFF">
              <a:alpha val="0"/>
            </a:srgbClr>
          </a:solidFill>
          <a:ln w="60960">
            <a:solidFill>
              <a:srgbClr val="FCC600"/>
            </a:solidFill>
            <a:prstDash val="solid"/>
          </a:ln>
        </p:spPr>
      </p:sp>
      <p:sp>
        <p:nvSpPr>
          <p:cNvPr id="5" name="kicker"/>
          <p:cNvSpPr txBox="1"/>
          <p:nvPr/>
        </p:nvSpPr>
        <p:spPr>
          <a:xfrm>
            <a:off x="640080" y="502920"/>
            <a:ext cx="8229600"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SOMMAIRE</a:t>
            </a:r>
            <a:endParaRPr lang="fr-FR" sz="1200" dirty="0"/>
          </a:p>
        </p:txBody>
      </p:sp>
      <p:sp>
        <p:nvSpPr>
          <p:cNvPr id="6" name="title"/>
          <p:cNvSpPr txBox="1"/>
          <p:nvPr/>
        </p:nvSpPr>
        <p:spPr>
          <a:xfrm>
            <a:off x="640080" y="777240"/>
            <a:ext cx="9601200"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Six étapes, du terrain aux solutions</a:t>
            </a:r>
            <a:endParaRPr lang="fr-FR" sz="3200" dirty="0"/>
          </a:p>
        </p:txBody>
      </p:sp>
      <p:sp>
        <p:nvSpPr>
          <p:cNvPr id="7" name="sc0"/>
          <p:cNvSpPr/>
          <p:nvPr/>
        </p:nvSpPr>
        <p:spPr>
          <a:xfrm>
            <a:off x="640080" y="1828800"/>
            <a:ext cx="3474720" cy="2011680"/>
          </a:xfrm>
          <a:prstGeom prst="roundRect">
            <a:avLst>
              <a:gd name="adj" fmla="val 545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sn0">
            <a:hlinkClick r:id="rId1" tooltip="Introduction" action="ppaction://hlinksldjump"/>
          </p:cNvPr>
          <p:cNvSpPr txBox="1"/>
          <p:nvPr/>
        </p:nvSpPr>
        <p:spPr>
          <a:xfrm>
            <a:off x="868680" y="1938528"/>
            <a:ext cx="1737360" cy="1051560"/>
          </a:xfrm>
          <a:prstGeom prst="rect">
            <a:avLst/>
          </a:prstGeom>
          <a:noFill/>
          <a:ln/>
        </p:spPr>
        <p:txBody>
          <a:bodyPr wrap="square" lIns="0" tIns="0" rIns="0" bIns="0" rtlCol="0" anchor="t"/>
          <a:lstStyle/>
          <a:p>
            <a:pPr indent="0" marL="0">
              <a:buNone/>
            </a:pPr>
            <a:r>
              <a:rPr lang="fr-FR" altLang="en-US" sz="6600" b="1" u="sng" dirty="0">
                <a:solidFill>
                  <a:srgbClr val="1B3F9E"/>
                </a:solidFill>
                <a:latin typeface="Calibri" pitchFamily="34" charset="0"/>
                <a:ea typeface="Calibri" pitchFamily="34" charset="-122"/>
                <a:cs typeface="Calibri" pitchFamily="34" charset="-120"/>
                <a:hlinkClick r:id="rId1" action="ppaction://hlinksldjump" tooltip="Introduction">
                  <a:extLst>
                    <a:ext uri="{A12FA001-AC4F-418D-AE19-62706E023703}">
                      <ahyp:hlinkClr xmlns:ahyp="http://schemas.microsoft.com/office/drawing/2018/hyperlinkcolor" val="tx"/>
                    </a:ext>
                  </a:extLst>
                </a:hlinkClick>
              </a:rPr>
              <a:t>01</a:t>
            </a:r>
            <a:endParaRPr lang="fr-FR" sz="6600" dirty="0"/>
          </a:p>
        </p:txBody>
      </p:sp>
      <p:sp>
        <p:nvSpPr>
          <p:cNvPr id="9" name="si0c"/>
          <p:cNvSpPr/>
          <p:nvPr/>
        </p:nvSpPr>
        <p:spPr>
          <a:xfrm>
            <a:off x="3246120" y="2103120"/>
            <a:ext cx="640080" cy="640080"/>
          </a:xfrm>
          <a:prstGeom prst="ellipse">
            <a:avLst/>
          </a:prstGeom>
          <a:solidFill>
            <a:srgbClr val="1B3F9E"/>
          </a:solidFill>
          <a:ln w="12700">
            <a:solidFill>
              <a:srgbClr val="1B3F9E"/>
            </a:solidFill>
            <a:prstDash val="solid"/>
          </a:ln>
        </p:spPr>
      </p:sp>
      <p:pic>
        <p:nvPicPr>
          <p:cNvPr id="10" name="si0i" descr="preencoded.png">    </p:cNvPr>
          <p:cNvPicPr>
            <a:picLocks noChangeAspect="1"/>
          </p:cNvPicPr>
          <p:nvPr/>
        </p:nvPicPr>
        <p:blipFill>
          <a:blip r:embed="rId2"/>
          <a:stretch>
            <a:fillRect/>
          </a:stretch>
        </p:blipFill>
        <p:spPr>
          <a:xfrm>
            <a:off x="3412541" y="2269541"/>
            <a:ext cx="307238" cy="307238"/>
          </a:xfrm>
          <a:prstGeom prst="rect">
            <a:avLst/>
          </a:prstGeom>
        </p:spPr>
      </p:pic>
      <p:sp>
        <p:nvSpPr>
          <p:cNvPr id="11" name="st0"/>
          <p:cNvSpPr txBox="1"/>
          <p:nvPr/>
        </p:nvSpPr>
        <p:spPr>
          <a:xfrm>
            <a:off x="914400" y="3035808"/>
            <a:ext cx="3017520" cy="73152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Introduction</a:t>
            </a:r>
            <a:endParaRPr lang="fr-FR" sz="1900" dirty="0"/>
          </a:p>
          <a:p>
            <a:pPr indent="0" marL="0">
              <a:buNone/>
            </a:pPr>
            <a:r>
              <a:rPr lang="fr-FR" altLang="en-US" sz="1300" dirty="0">
                <a:solidFill>
                  <a:srgbClr val="56617C"/>
                </a:solidFill>
                <a:latin typeface="Calibri" pitchFamily="34" charset="0"/>
                <a:ea typeface="Calibri" pitchFamily="34" charset="-122"/>
                <a:cs typeface="Calibri" pitchFamily="34" charset="-120"/>
              </a:rPr>
              <a:t>Contexte, stage, intérêt du sujet</a:t>
            </a:r>
            <a:endParaRPr lang="fr-FR" sz="1900" dirty="0"/>
          </a:p>
        </p:txBody>
      </p:sp>
      <p:sp>
        <p:nvSpPr>
          <p:cNvPr id="12" name="sc1"/>
          <p:cNvSpPr/>
          <p:nvPr/>
        </p:nvSpPr>
        <p:spPr>
          <a:xfrm>
            <a:off x="4343400" y="1828800"/>
            <a:ext cx="3474720" cy="2011680"/>
          </a:xfrm>
          <a:prstGeom prst="roundRect">
            <a:avLst>
              <a:gd name="adj" fmla="val 545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3" name="sn1">
            <a:hlinkClick r:id="rId3" tooltip="Structure d’accueil" action="ppaction://hlinksldjump"/>
          </p:cNvPr>
          <p:cNvSpPr txBox="1"/>
          <p:nvPr/>
        </p:nvSpPr>
        <p:spPr>
          <a:xfrm>
            <a:off x="4572000" y="1938528"/>
            <a:ext cx="1737360" cy="1051560"/>
          </a:xfrm>
          <a:prstGeom prst="rect">
            <a:avLst/>
          </a:prstGeom>
          <a:noFill/>
          <a:ln/>
        </p:spPr>
        <p:txBody>
          <a:bodyPr wrap="square" lIns="0" tIns="0" rIns="0" bIns="0" rtlCol="0" anchor="t"/>
          <a:lstStyle/>
          <a:p>
            <a:pPr indent="0" marL="0">
              <a:buNone/>
            </a:pPr>
            <a:r>
              <a:rPr lang="fr-FR" altLang="en-US" sz="6600" b="1" u="sng" dirty="0">
                <a:solidFill>
                  <a:srgbClr val="00923A"/>
                </a:solidFill>
                <a:latin typeface="Calibri" pitchFamily="34" charset="0"/>
                <a:ea typeface="Calibri" pitchFamily="34" charset="-122"/>
                <a:cs typeface="Calibri" pitchFamily="34" charset="-120"/>
                <a:hlinkClick r:id="rId3" action="ppaction://hlinksldjump" tooltip="Structure d’accueil">
                  <a:extLst>
                    <a:ext uri="{A12FA001-AC4F-418D-AE19-62706E023703}">
                      <ahyp:hlinkClr xmlns:ahyp="http://schemas.microsoft.com/office/drawing/2018/hyperlinkcolor" val="tx"/>
                    </a:ext>
                  </a:extLst>
                </a:hlinkClick>
              </a:rPr>
              <a:t>02</a:t>
            </a:r>
            <a:endParaRPr lang="fr-FR" sz="6600" dirty="0"/>
          </a:p>
        </p:txBody>
      </p:sp>
      <p:sp>
        <p:nvSpPr>
          <p:cNvPr id="14" name="si1c"/>
          <p:cNvSpPr/>
          <p:nvPr/>
        </p:nvSpPr>
        <p:spPr>
          <a:xfrm>
            <a:off x="6949440" y="2103120"/>
            <a:ext cx="640080" cy="640080"/>
          </a:xfrm>
          <a:prstGeom prst="ellipse">
            <a:avLst/>
          </a:prstGeom>
          <a:solidFill>
            <a:srgbClr val="00923A"/>
          </a:solidFill>
          <a:ln w="12700">
            <a:solidFill>
              <a:srgbClr val="00923A"/>
            </a:solidFill>
            <a:prstDash val="solid"/>
          </a:ln>
        </p:spPr>
      </p:sp>
      <p:pic>
        <p:nvPicPr>
          <p:cNvPr id="15" name="si1i" descr="preencoded.png">    </p:cNvPr>
          <p:cNvPicPr>
            <a:picLocks noChangeAspect="1"/>
          </p:cNvPicPr>
          <p:nvPr/>
        </p:nvPicPr>
        <p:blipFill>
          <a:blip r:embed="rId4"/>
          <a:stretch>
            <a:fillRect/>
          </a:stretch>
        </p:blipFill>
        <p:spPr>
          <a:xfrm>
            <a:off x="7115861" y="2269541"/>
            <a:ext cx="307238" cy="307238"/>
          </a:xfrm>
          <a:prstGeom prst="rect">
            <a:avLst/>
          </a:prstGeom>
        </p:spPr>
      </p:pic>
      <p:sp>
        <p:nvSpPr>
          <p:cNvPr id="16" name="st1"/>
          <p:cNvSpPr txBox="1"/>
          <p:nvPr/>
        </p:nvSpPr>
        <p:spPr>
          <a:xfrm>
            <a:off x="4617720" y="3035808"/>
            <a:ext cx="3017520" cy="73152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Structure d’accueil</a:t>
            </a:r>
            <a:endParaRPr lang="fr-FR" sz="1900" dirty="0"/>
          </a:p>
          <a:p>
            <a:pPr indent="0" marL="0">
              <a:buNone/>
            </a:pPr>
            <a:r>
              <a:rPr lang="fr-FR" altLang="en-US" sz="1300" dirty="0">
                <a:solidFill>
                  <a:srgbClr val="56617C"/>
                </a:solidFill>
                <a:latin typeface="Calibri" pitchFamily="34" charset="0"/>
                <a:ea typeface="Calibri" pitchFamily="34" charset="-122"/>
                <a:cs typeface="Calibri" pitchFamily="34" charset="-120"/>
              </a:rPr>
              <a:t>Du Togo à la Mairie de Doumassessé</a:t>
            </a:r>
            <a:endParaRPr lang="fr-FR" sz="1900" dirty="0"/>
          </a:p>
        </p:txBody>
      </p:sp>
      <p:sp>
        <p:nvSpPr>
          <p:cNvPr id="17" name="sc2"/>
          <p:cNvSpPr/>
          <p:nvPr/>
        </p:nvSpPr>
        <p:spPr>
          <a:xfrm>
            <a:off x="8046720" y="1828800"/>
            <a:ext cx="3474720" cy="2011680"/>
          </a:xfrm>
          <a:prstGeom prst="roundRect">
            <a:avLst>
              <a:gd name="adj" fmla="val 545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8" name="sn2">
            <a:hlinkClick r:id="rId5" tooltip="Travaux effectués" action="ppaction://hlinksldjump"/>
          </p:cNvPr>
          <p:cNvSpPr txBox="1"/>
          <p:nvPr/>
        </p:nvSpPr>
        <p:spPr>
          <a:xfrm>
            <a:off x="8275320" y="1938528"/>
            <a:ext cx="1737360" cy="1051560"/>
          </a:xfrm>
          <a:prstGeom prst="rect">
            <a:avLst/>
          </a:prstGeom>
          <a:noFill/>
          <a:ln/>
        </p:spPr>
        <p:txBody>
          <a:bodyPr wrap="square" lIns="0" tIns="0" rIns="0" bIns="0" rtlCol="0" anchor="t"/>
          <a:lstStyle/>
          <a:p>
            <a:pPr indent="0" marL="0">
              <a:buNone/>
            </a:pPr>
            <a:r>
              <a:rPr lang="fr-FR" altLang="en-US" sz="6600" b="1" u="sng" dirty="0">
                <a:solidFill>
                  <a:srgbClr val="D99A00"/>
                </a:solidFill>
                <a:latin typeface="Calibri" pitchFamily="34" charset="0"/>
                <a:ea typeface="Calibri" pitchFamily="34" charset="-122"/>
                <a:cs typeface="Calibri" pitchFamily="34" charset="-120"/>
                <a:hlinkClick r:id="rId5" action="ppaction://hlinksldjump" tooltip="Travaux effectués">
                  <a:extLst>
                    <a:ext uri="{A12FA001-AC4F-418D-AE19-62706E023703}">
                      <ahyp:hlinkClr xmlns:ahyp="http://schemas.microsoft.com/office/drawing/2018/hyperlinkcolor" val="tx"/>
                    </a:ext>
                  </a:extLst>
                </a:hlinkClick>
              </a:rPr>
              <a:t>03</a:t>
            </a:r>
            <a:endParaRPr lang="fr-FR" sz="6600" dirty="0"/>
          </a:p>
        </p:txBody>
      </p:sp>
      <p:sp>
        <p:nvSpPr>
          <p:cNvPr id="19" name="si2c"/>
          <p:cNvSpPr/>
          <p:nvPr/>
        </p:nvSpPr>
        <p:spPr>
          <a:xfrm>
            <a:off x="10652760" y="2103120"/>
            <a:ext cx="640080" cy="640080"/>
          </a:xfrm>
          <a:prstGeom prst="ellipse">
            <a:avLst/>
          </a:prstGeom>
          <a:solidFill>
            <a:srgbClr val="E2A400"/>
          </a:solidFill>
          <a:ln w="12700">
            <a:solidFill>
              <a:srgbClr val="E2A400"/>
            </a:solidFill>
            <a:prstDash val="solid"/>
          </a:ln>
        </p:spPr>
      </p:sp>
      <p:pic>
        <p:nvPicPr>
          <p:cNvPr id="20" name="si2i" descr="preencoded.png">    </p:cNvPr>
          <p:cNvPicPr>
            <a:picLocks noChangeAspect="1"/>
          </p:cNvPicPr>
          <p:nvPr/>
        </p:nvPicPr>
        <p:blipFill>
          <a:blip r:embed="rId6"/>
          <a:stretch>
            <a:fillRect/>
          </a:stretch>
        </p:blipFill>
        <p:spPr>
          <a:xfrm>
            <a:off x="10819181" y="2269541"/>
            <a:ext cx="307238" cy="307238"/>
          </a:xfrm>
          <a:prstGeom prst="rect">
            <a:avLst/>
          </a:prstGeom>
        </p:spPr>
      </p:pic>
      <p:sp>
        <p:nvSpPr>
          <p:cNvPr id="21" name="st2"/>
          <p:cNvSpPr txBox="1"/>
          <p:nvPr/>
        </p:nvSpPr>
        <p:spPr>
          <a:xfrm>
            <a:off x="8321040" y="3035808"/>
            <a:ext cx="3017520" cy="73152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Travaux effectués</a:t>
            </a:r>
            <a:endParaRPr lang="fr-FR" sz="1900" dirty="0"/>
          </a:p>
          <a:p>
            <a:pPr indent="0" marL="0">
              <a:buNone/>
            </a:pPr>
            <a:r>
              <a:rPr lang="fr-FR" altLang="en-US" sz="1300" dirty="0">
                <a:solidFill>
                  <a:srgbClr val="56617C"/>
                </a:solidFill>
                <a:latin typeface="Calibri" pitchFamily="34" charset="0"/>
                <a:ea typeface="Calibri" pitchFamily="34" charset="-122"/>
                <a:cs typeface="Calibri" pitchFamily="34" charset="-120"/>
              </a:rPr>
              <a:t>Le circuit du courrier</a:t>
            </a:r>
            <a:endParaRPr lang="fr-FR" sz="1900" dirty="0"/>
          </a:p>
        </p:txBody>
      </p:sp>
      <p:sp>
        <p:nvSpPr>
          <p:cNvPr id="22" name="sc3"/>
          <p:cNvSpPr/>
          <p:nvPr/>
        </p:nvSpPr>
        <p:spPr>
          <a:xfrm>
            <a:off x="640080" y="4069080"/>
            <a:ext cx="3474720" cy="2011680"/>
          </a:xfrm>
          <a:prstGeom prst="roundRect">
            <a:avLst>
              <a:gd name="adj" fmla="val 545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3" name="sn3">
            <a:hlinkClick r:id="rId7" tooltip="Objet d’étude" action="ppaction://hlinksldjump"/>
          </p:cNvPr>
          <p:cNvSpPr txBox="1"/>
          <p:nvPr/>
        </p:nvSpPr>
        <p:spPr>
          <a:xfrm>
            <a:off x="868680" y="4178808"/>
            <a:ext cx="1737360" cy="1051560"/>
          </a:xfrm>
          <a:prstGeom prst="rect">
            <a:avLst/>
          </a:prstGeom>
          <a:noFill/>
          <a:ln/>
        </p:spPr>
        <p:txBody>
          <a:bodyPr wrap="square" lIns="0" tIns="0" rIns="0" bIns="0" rtlCol="0" anchor="t"/>
          <a:lstStyle/>
          <a:p>
            <a:pPr indent="0" marL="0">
              <a:buNone/>
            </a:pPr>
            <a:r>
              <a:rPr lang="fr-FR" altLang="en-US" sz="6600" b="1" u="sng" dirty="0">
                <a:solidFill>
                  <a:srgbClr val="1B3F9E"/>
                </a:solidFill>
                <a:latin typeface="Calibri" pitchFamily="34" charset="0"/>
                <a:ea typeface="Calibri" pitchFamily="34" charset="-122"/>
                <a:cs typeface="Calibri" pitchFamily="34" charset="-120"/>
                <a:hlinkClick r:id="rId7" action="ppaction://hlinksldjump" tooltip="Objet d’étude">
                  <a:extLst>
                    <a:ext uri="{A12FA001-AC4F-418D-AE19-62706E023703}">
                      <ahyp:hlinkClr xmlns:ahyp="http://schemas.microsoft.com/office/drawing/2018/hyperlinkcolor" val="tx"/>
                    </a:ext>
                  </a:extLst>
                </a:hlinkClick>
              </a:rPr>
              <a:t>04</a:t>
            </a:r>
            <a:endParaRPr lang="fr-FR" sz="6600" dirty="0"/>
          </a:p>
        </p:txBody>
      </p:sp>
      <p:sp>
        <p:nvSpPr>
          <p:cNvPr id="24" name="si3c"/>
          <p:cNvSpPr/>
          <p:nvPr/>
        </p:nvSpPr>
        <p:spPr>
          <a:xfrm>
            <a:off x="3246120" y="4343400"/>
            <a:ext cx="640080" cy="640080"/>
          </a:xfrm>
          <a:prstGeom prst="ellipse">
            <a:avLst/>
          </a:prstGeom>
          <a:solidFill>
            <a:srgbClr val="1B3F9E"/>
          </a:solidFill>
          <a:ln w="12700">
            <a:solidFill>
              <a:srgbClr val="1B3F9E"/>
            </a:solidFill>
            <a:prstDash val="solid"/>
          </a:ln>
        </p:spPr>
      </p:sp>
      <p:pic>
        <p:nvPicPr>
          <p:cNvPr id="25" name="si3i" descr="preencoded.png">    </p:cNvPr>
          <p:cNvPicPr>
            <a:picLocks noChangeAspect="1"/>
          </p:cNvPicPr>
          <p:nvPr/>
        </p:nvPicPr>
        <p:blipFill>
          <a:blip r:embed="rId8"/>
          <a:stretch>
            <a:fillRect/>
          </a:stretch>
        </p:blipFill>
        <p:spPr>
          <a:xfrm>
            <a:off x="3412541" y="4509821"/>
            <a:ext cx="307238" cy="307238"/>
          </a:xfrm>
          <a:prstGeom prst="rect">
            <a:avLst/>
          </a:prstGeom>
        </p:spPr>
      </p:pic>
      <p:sp>
        <p:nvSpPr>
          <p:cNvPr id="26" name="st3"/>
          <p:cNvSpPr txBox="1"/>
          <p:nvPr/>
        </p:nvSpPr>
        <p:spPr>
          <a:xfrm>
            <a:off x="914400" y="5276088"/>
            <a:ext cx="3017520" cy="73152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Objet d’étude</a:t>
            </a:r>
            <a:endParaRPr lang="fr-FR" sz="1900" dirty="0"/>
          </a:p>
          <a:p>
            <a:pPr indent="0" marL="0">
              <a:buNone/>
            </a:pPr>
            <a:r>
              <a:rPr lang="fr-FR" altLang="en-US" sz="1300" dirty="0">
                <a:solidFill>
                  <a:srgbClr val="56617C"/>
                </a:solidFill>
                <a:latin typeface="Calibri" pitchFamily="34" charset="0"/>
                <a:ea typeface="Calibri" pitchFamily="34" charset="-122"/>
                <a:cs typeface="Calibri" pitchFamily="34" charset="-120"/>
              </a:rPr>
              <a:t>Problématique, hypothèses, méthode</a:t>
            </a:r>
            <a:endParaRPr lang="fr-FR" sz="1900" dirty="0"/>
          </a:p>
        </p:txBody>
      </p:sp>
      <p:sp>
        <p:nvSpPr>
          <p:cNvPr id="27" name="sc4"/>
          <p:cNvSpPr/>
          <p:nvPr/>
        </p:nvSpPr>
        <p:spPr>
          <a:xfrm>
            <a:off x="4343400" y="4069080"/>
            <a:ext cx="3474720" cy="2011680"/>
          </a:xfrm>
          <a:prstGeom prst="roundRect">
            <a:avLst>
              <a:gd name="adj" fmla="val 545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8" name="sn4">
            <a:hlinkClick r:id="rId9" tooltip="Résultats" action="ppaction://hlinksldjump"/>
          </p:cNvPr>
          <p:cNvSpPr txBox="1"/>
          <p:nvPr/>
        </p:nvSpPr>
        <p:spPr>
          <a:xfrm>
            <a:off x="4572000" y="4178808"/>
            <a:ext cx="1737360" cy="1051560"/>
          </a:xfrm>
          <a:prstGeom prst="rect">
            <a:avLst/>
          </a:prstGeom>
          <a:noFill/>
          <a:ln/>
        </p:spPr>
        <p:txBody>
          <a:bodyPr wrap="square" lIns="0" tIns="0" rIns="0" bIns="0" rtlCol="0" anchor="t"/>
          <a:lstStyle/>
          <a:p>
            <a:pPr indent="0" marL="0">
              <a:buNone/>
            </a:pPr>
            <a:r>
              <a:rPr lang="fr-FR" altLang="en-US" sz="6600" b="1" u="sng" dirty="0">
                <a:solidFill>
                  <a:srgbClr val="00923A"/>
                </a:solidFill>
                <a:latin typeface="Calibri" pitchFamily="34" charset="0"/>
                <a:ea typeface="Calibri" pitchFamily="34" charset="-122"/>
                <a:cs typeface="Calibri" pitchFamily="34" charset="-120"/>
                <a:hlinkClick r:id="rId9" action="ppaction://hlinksldjump" tooltip="Résultats">
                  <a:extLst>
                    <a:ext uri="{A12FA001-AC4F-418D-AE19-62706E023703}">
                      <ahyp:hlinkClr xmlns:ahyp="http://schemas.microsoft.com/office/drawing/2018/hyperlinkcolor" val="tx"/>
                    </a:ext>
                  </a:extLst>
                </a:hlinkClick>
              </a:rPr>
              <a:t>05</a:t>
            </a:r>
            <a:endParaRPr lang="fr-FR" sz="6600" dirty="0"/>
          </a:p>
        </p:txBody>
      </p:sp>
      <p:sp>
        <p:nvSpPr>
          <p:cNvPr id="29" name="si4c"/>
          <p:cNvSpPr/>
          <p:nvPr/>
        </p:nvSpPr>
        <p:spPr>
          <a:xfrm>
            <a:off x="6949440" y="4343400"/>
            <a:ext cx="640080" cy="640080"/>
          </a:xfrm>
          <a:prstGeom prst="ellipse">
            <a:avLst/>
          </a:prstGeom>
          <a:solidFill>
            <a:srgbClr val="00923A"/>
          </a:solidFill>
          <a:ln w="12700">
            <a:solidFill>
              <a:srgbClr val="00923A"/>
            </a:solidFill>
            <a:prstDash val="solid"/>
          </a:ln>
        </p:spPr>
      </p:sp>
      <p:pic>
        <p:nvPicPr>
          <p:cNvPr id="30" name="si4i" descr="preencoded.png">    </p:cNvPr>
          <p:cNvPicPr>
            <a:picLocks noChangeAspect="1"/>
          </p:cNvPicPr>
          <p:nvPr/>
        </p:nvPicPr>
        <p:blipFill>
          <a:blip r:embed="rId10"/>
          <a:stretch>
            <a:fillRect/>
          </a:stretch>
        </p:blipFill>
        <p:spPr>
          <a:xfrm>
            <a:off x="7115861" y="4509821"/>
            <a:ext cx="307238" cy="307238"/>
          </a:xfrm>
          <a:prstGeom prst="rect">
            <a:avLst/>
          </a:prstGeom>
        </p:spPr>
      </p:pic>
      <p:sp>
        <p:nvSpPr>
          <p:cNvPr id="31" name="st4"/>
          <p:cNvSpPr txBox="1"/>
          <p:nvPr/>
        </p:nvSpPr>
        <p:spPr>
          <a:xfrm>
            <a:off x="4617720" y="5276088"/>
            <a:ext cx="3017520" cy="73152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Résultats</a:t>
            </a:r>
            <a:endParaRPr lang="fr-FR" sz="1900" dirty="0"/>
          </a:p>
          <a:p>
            <a:pPr indent="0" marL="0">
              <a:buNone/>
            </a:pPr>
            <a:r>
              <a:rPr lang="fr-FR" altLang="en-US" sz="1300" dirty="0">
                <a:solidFill>
                  <a:srgbClr val="56617C"/>
                </a:solidFill>
                <a:latin typeface="Calibri" pitchFamily="34" charset="0"/>
                <a:ea typeface="Calibri" pitchFamily="34" charset="-122"/>
                <a:cs typeface="Calibri" pitchFamily="34" charset="-120"/>
              </a:rPr>
              <a:t>Analyse et vérification</a:t>
            </a:r>
            <a:endParaRPr lang="fr-FR" sz="1900" dirty="0"/>
          </a:p>
        </p:txBody>
      </p:sp>
      <p:sp>
        <p:nvSpPr>
          <p:cNvPr id="32" name="sc5"/>
          <p:cNvSpPr/>
          <p:nvPr/>
        </p:nvSpPr>
        <p:spPr>
          <a:xfrm>
            <a:off x="8046720" y="4069080"/>
            <a:ext cx="3474720" cy="2011680"/>
          </a:xfrm>
          <a:prstGeom prst="roundRect">
            <a:avLst>
              <a:gd name="adj" fmla="val 545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33" name="sn5">
            <a:hlinkClick r:id="rId11" tooltip="Solutions et conclusion" action="ppaction://hlinksldjump"/>
          </p:cNvPr>
          <p:cNvSpPr txBox="1"/>
          <p:nvPr/>
        </p:nvSpPr>
        <p:spPr>
          <a:xfrm>
            <a:off x="8275320" y="4178808"/>
            <a:ext cx="1737360" cy="1051560"/>
          </a:xfrm>
          <a:prstGeom prst="rect">
            <a:avLst/>
          </a:prstGeom>
          <a:noFill/>
          <a:ln/>
        </p:spPr>
        <p:txBody>
          <a:bodyPr wrap="square" lIns="0" tIns="0" rIns="0" bIns="0" rtlCol="0" anchor="t"/>
          <a:lstStyle/>
          <a:p>
            <a:pPr indent="0" marL="0">
              <a:buNone/>
            </a:pPr>
            <a:r>
              <a:rPr lang="fr-FR" altLang="en-US" sz="6600" b="1" u="sng" dirty="0">
                <a:solidFill>
                  <a:srgbClr val="D99A00"/>
                </a:solidFill>
                <a:latin typeface="Calibri" pitchFamily="34" charset="0"/>
                <a:ea typeface="Calibri" pitchFamily="34" charset="-122"/>
                <a:cs typeface="Calibri" pitchFamily="34" charset="-120"/>
                <a:hlinkClick r:id="rId11" action="ppaction://hlinksldjump" tooltip="Solutions et conclusion">
                  <a:extLst>
                    <a:ext uri="{A12FA001-AC4F-418D-AE19-62706E023703}">
                      <ahyp:hlinkClr xmlns:ahyp="http://schemas.microsoft.com/office/drawing/2018/hyperlinkcolor" val="tx"/>
                    </a:ext>
                  </a:extLst>
                </a:hlinkClick>
              </a:rPr>
              <a:t>06</a:t>
            </a:r>
            <a:endParaRPr lang="fr-FR" sz="6600" dirty="0"/>
          </a:p>
        </p:txBody>
      </p:sp>
      <p:sp>
        <p:nvSpPr>
          <p:cNvPr id="34" name="si5c"/>
          <p:cNvSpPr/>
          <p:nvPr/>
        </p:nvSpPr>
        <p:spPr>
          <a:xfrm>
            <a:off x="10652760" y="4343400"/>
            <a:ext cx="640080" cy="640080"/>
          </a:xfrm>
          <a:prstGeom prst="ellipse">
            <a:avLst/>
          </a:prstGeom>
          <a:solidFill>
            <a:srgbClr val="E2A400"/>
          </a:solidFill>
          <a:ln w="12700">
            <a:solidFill>
              <a:srgbClr val="E2A400"/>
            </a:solidFill>
            <a:prstDash val="solid"/>
          </a:ln>
        </p:spPr>
      </p:sp>
      <p:pic>
        <p:nvPicPr>
          <p:cNvPr id="35" name="si5i" descr="preencoded.png">    </p:cNvPr>
          <p:cNvPicPr>
            <a:picLocks noChangeAspect="1"/>
          </p:cNvPicPr>
          <p:nvPr/>
        </p:nvPicPr>
        <p:blipFill>
          <a:blip r:embed="rId12"/>
          <a:stretch>
            <a:fillRect/>
          </a:stretch>
        </p:blipFill>
        <p:spPr>
          <a:xfrm>
            <a:off x="10819181" y="4509821"/>
            <a:ext cx="307238" cy="307238"/>
          </a:xfrm>
          <a:prstGeom prst="rect">
            <a:avLst/>
          </a:prstGeom>
        </p:spPr>
      </p:pic>
      <p:sp>
        <p:nvSpPr>
          <p:cNvPr id="36" name="st5"/>
          <p:cNvSpPr txBox="1"/>
          <p:nvPr/>
        </p:nvSpPr>
        <p:spPr>
          <a:xfrm>
            <a:off x="8321040" y="5276088"/>
            <a:ext cx="3017520" cy="73152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Solutions et conclusion</a:t>
            </a:r>
            <a:endParaRPr lang="fr-FR" sz="1900" dirty="0"/>
          </a:p>
          <a:p>
            <a:pPr indent="0" marL="0">
              <a:buNone/>
            </a:pPr>
            <a:r>
              <a:rPr lang="fr-FR" altLang="en-US" sz="1300" dirty="0">
                <a:solidFill>
                  <a:srgbClr val="56617C"/>
                </a:solidFill>
                <a:latin typeface="Calibri" pitchFamily="34" charset="0"/>
                <a:ea typeface="Calibri" pitchFamily="34" charset="-122"/>
                <a:cs typeface="Calibri" pitchFamily="34" charset="-120"/>
              </a:rPr>
              <a:t>GED, plan d’action, population</a:t>
            </a:r>
            <a:endParaRPr lang="fr-FR" sz="1900" dirty="0"/>
          </a:p>
        </p:txBody>
      </p:sp>
      <p:pic>
        <p:nvPicPr>
          <p:cNvPr id="37" name="!!flogo" descr="preencoded.png">    </p:cNvPr>
          <p:cNvPicPr>
            <a:picLocks noChangeAspect="1"/>
          </p:cNvPicPr>
          <p:nvPr/>
        </p:nvPicPr>
        <p:blipFill>
          <a:blip r:embed="rId13"/>
          <a:stretch>
            <a:fillRect/>
          </a:stretch>
        </p:blipFill>
        <p:spPr>
          <a:xfrm>
            <a:off x="640080" y="6382512"/>
            <a:ext cx="329184" cy="274320"/>
          </a:xfrm>
          <a:prstGeom prst="rect">
            <a:avLst/>
          </a:prstGeom>
        </p:spPr>
      </p:pic>
      <p:sp>
        <p:nvSpPr>
          <p:cNvPr id="38"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39"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2 / 22</a:t>
            </a:r>
            <a:endParaRPr lang="fr-FR"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53" presetClass="entr" presetSubtype="16" fill="hold" grpId="0" nodeType="withEffect">
                                  <p:stCondLst>
                                    <p:cond delay="250"/>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p:tgtEl>
                                          <p:spTgt spid="8"/>
                                        </p:tgtEl>
                                        <p:attrNameLst>
                                          <p:attrName>ppt_w</p:attrName>
                                        </p:attrNameLst>
                                      </p:cBhvr>
                                      <p:tavLst>
                                        <p:tav tm="0">
                                          <p:val>
                                            <p:fltVal val="0"/>
                                          </p:val>
                                        </p:tav>
                                        <p:tav tm="100000">
                                          <p:val>
                                            <p:strVal val="#ppt_w"/>
                                          </p:val>
                                        </p:tav>
                                      </p:tavLst>
                                    </p:anim>
                                    <p:anim calcmode="lin" valueType="num">
                                      <p:cBhvr>
                                        <p:cTn id="17" dur="600" fill="hold"/>
                                        <p:tgtEl>
                                          <p:spTgt spid="8"/>
                                        </p:tgtEl>
                                        <p:attrNameLst>
                                          <p:attrName>ppt_h</p:attrName>
                                        </p:attrNameLst>
                                      </p:cBhvr>
                                      <p:tavLst>
                                        <p:tav tm="0">
                                          <p:val>
                                            <p:fltVal val="0"/>
                                          </p:val>
                                        </p:tav>
                                        <p:tav tm="100000">
                                          <p:val>
                                            <p:strVal val="#ppt_h"/>
                                          </p:val>
                                        </p:tav>
                                      </p:tavLst>
                                    </p:anim>
                                    <p:animEffect transition="in" filter="fade">
                                      <p:cBhvr>
                                        <p:cTn id="18" dur="600"/>
                                        <p:tgtEl>
                                          <p:spTgt spid="8"/>
                                        </p:tgtEl>
                                      </p:cBhvr>
                                    </p:animEffect>
                                  </p:childTnLst>
                                </p:cTn>
                              </p:par>
                              <p:par>
                                <p:cTn id="19" presetID="53" presetClass="entr" presetSubtype="16" fill="hold" grpId="0" nodeType="withEffect">
                                  <p:stCondLst>
                                    <p:cond delay="400"/>
                                  </p:stCondLst>
                                  <p:childTnLst>
                                    <p:set>
                                      <p:cBhvr>
                                        <p:cTn id="20" dur="1" fill="hold">
                                          <p:stCondLst>
                                            <p:cond delay="0"/>
                                          </p:stCondLst>
                                        </p:cTn>
                                        <p:tgtEl>
                                          <p:spTgt spid="9"/>
                                        </p:tgtEl>
                                        <p:attrNameLst>
                                          <p:attrName>style.visibility</p:attrName>
                                        </p:attrNameLst>
                                      </p:cBhvr>
                                      <p:to>
                                        <p:strVal val="visible"/>
                                      </p:to>
                                    </p:set>
                                    <p:anim calcmode="lin" valueType="num">
                                      <p:cBhvr>
                                        <p:cTn id="21" dur="600" fill="hold"/>
                                        <p:tgtEl>
                                          <p:spTgt spid="9"/>
                                        </p:tgtEl>
                                        <p:attrNameLst>
                                          <p:attrName>ppt_w</p:attrName>
                                        </p:attrNameLst>
                                      </p:cBhvr>
                                      <p:tavLst>
                                        <p:tav tm="0">
                                          <p:val>
                                            <p:fltVal val="0"/>
                                          </p:val>
                                        </p:tav>
                                        <p:tav tm="100000">
                                          <p:val>
                                            <p:strVal val="#ppt_w"/>
                                          </p:val>
                                        </p:tav>
                                      </p:tavLst>
                                    </p:anim>
                                    <p:anim calcmode="lin" valueType="num">
                                      <p:cBhvr>
                                        <p:cTn id="22" dur="600" fill="hold"/>
                                        <p:tgtEl>
                                          <p:spTgt spid="9"/>
                                        </p:tgtEl>
                                        <p:attrNameLst>
                                          <p:attrName>ppt_h</p:attrName>
                                        </p:attrNameLst>
                                      </p:cBhvr>
                                      <p:tavLst>
                                        <p:tav tm="0">
                                          <p:val>
                                            <p:fltVal val="0"/>
                                          </p:val>
                                        </p:tav>
                                        <p:tav tm="100000">
                                          <p:val>
                                            <p:strVal val="#ppt_h"/>
                                          </p:val>
                                        </p:tav>
                                      </p:tavLst>
                                    </p:anim>
                                    <p:animEffect transition="in" filter="fade">
                                      <p:cBhvr>
                                        <p:cTn id="23" dur="600"/>
                                        <p:tgtEl>
                                          <p:spTgt spid="9"/>
                                        </p:tgtEl>
                                      </p:cBhvr>
                                    </p:animEffect>
                                  </p:childTnLst>
                                </p:cTn>
                              </p:par>
                              <p:par>
                                <p:cTn id="24" presetID="53" presetClass="entr" presetSubtype="16" fill="hold" grpId="0" nodeType="withEffect">
                                  <p:stCondLst>
                                    <p:cond delay="400"/>
                                  </p:stCondLst>
                                  <p:childTnLst>
                                    <p:set>
                                      <p:cBhvr>
                                        <p:cTn id="25" dur="1" fill="hold">
                                          <p:stCondLst>
                                            <p:cond delay="0"/>
                                          </p:stCondLst>
                                        </p:cTn>
                                        <p:tgtEl>
                                          <p:spTgt spid="10"/>
                                        </p:tgtEl>
                                        <p:attrNameLst>
                                          <p:attrName>style.visibility</p:attrName>
                                        </p:attrNameLst>
                                      </p:cBhvr>
                                      <p:to>
                                        <p:strVal val="visible"/>
                                      </p:to>
                                    </p:set>
                                    <p:anim calcmode="lin" valueType="num">
                                      <p:cBhvr>
                                        <p:cTn id="26" dur="600" fill="hold"/>
                                        <p:tgtEl>
                                          <p:spTgt spid="10"/>
                                        </p:tgtEl>
                                        <p:attrNameLst>
                                          <p:attrName>ppt_w</p:attrName>
                                        </p:attrNameLst>
                                      </p:cBhvr>
                                      <p:tavLst>
                                        <p:tav tm="0">
                                          <p:val>
                                            <p:fltVal val="0"/>
                                          </p:val>
                                        </p:tav>
                                        <p:tav tm="100000">
                                          <p:val>
                                            <p:strVal val="#ppt_w"/>
                                          </p:val>
                                        </p:tav>
                                      </p:tavLst>
                                    </p:anim>
                                    <p:anim calcmode="lin" valueType="num">
                                      <p:cBhvr>
                                        <p:cTn id="27" dur="600" fill="hold"/>
                                        <p:tgtEl>
                                          <p:spTgt spid="10"/>
                                        </p:tgtEl>
                                        <p:attrNameLst>
                                          <p:attrName>ppt_h</p:attrName>
                                        </p:attrNameLst>
                                      </p:cBhvr>
                                      <p:tavLst>
                                        <p:tav tm="0">
                                          <p:val>
                                            <p:fltVal val="0"/>
                                          </p:val>
                                        </p:tav>
                                        <p:tav tm="100000">
                                          <p:val>
                                            <p:strVal val="#ppt_h"/>
                                          </p:val>
                                        </p:tav>
                                      </p:tavLst>
                                    </p:anim>
                                    <p:animEffect transition="in" filter="fade">
                                      <p:cBhvr>
                                        <p:cTn id="28" dur="600"/>
                                        <p:tgtEl>
                                          <p:spTgt spid="10"/>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600"/>
                                        <p:tgtEl>
                                          <p:spTgt spid="11"/>
                                        </p:tgtEl>
                                      </p:cBhvr>
                                    </p:animEffect>
                                  </p:childTnLst>
                                </p:cTn>
                              </p:par>
                              <p:par>
                                <p:cTn id="32" presetID="10" presetClass="entr" presetSubtype="0" fill="hold" grpId="0" nodeType="withEffect">
                                  <p:stCondLst>
                                    <p:cond delay="5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00"/>
                                        <p:tgtEl>
                                          <p:spTgt spid="12"/>
                                        </p:tgtEl>
                                      </p:cBhvr>
                                    </p:animEffect>
                                  </p:childTnLst>
                                </p:cTn>
                              </p:par>
                              <p:par>
                                <p:cTn id="35" presetID="53" presetClass="entr" presetSubtype="16" fill="hold" grpId="0" nodeType="withEffect">
                                  <p:stCondLst>
                                    <p:cond delay="510"/>
                                  </p:stCondLst>
                                  <p:childTnLst>
                                    <p:set>
                                      <p:cBhvr>
                                        <p:cTn id="36" dur="1" fill="hold">
                                          <p:stCondLst>
                                            <p:cond delay="0"/>
                                          </p:stCondLst>
                                        </p:cTn>
                                        <p:tgtEl>
                                          <p:spTgt spid="13"/>
                                        </p:tgtEl>
                                        <p:attrNameLst>
                                          <p:attrName>style.visibility</p:attrName>
                                        </p:attrNameLst>
                                      </p:cBhvr>
                                      <p:to>
                                        <p:strVal val="visible"/>
                                      </p:to>
                                    </p:set>
                                    <p:anim calcmode="lin" valueType="num">
                                      <p:cBhvr>
                                        <p:cTn id="37" dur="600" fill="hold"/>
                                        <p:tgtEl>
                                          <p:spTgt spid="13"/>
                                        </p:tgtEl>
                                        <p:attrNameLst>
                                          <p:attrName>ppt_w</p:attrName>
                                        </p:attrNameLst>
                                      </p:cBhvr>
                                      <p:tavLst>
                                        <p:tav tm="0">
                                          <p:val>
                                            <p:fltVal val="0"/>
                                          </p:val>
                                        </p:tav>
                                        <p:tav tm="100000">
                                          <p:val>
                                            <p:strVal val="#ppt_w"/>
                                          </p:val>
                                        </p:tav>
                                      </p:tavLst>
                                    </p:anim>
                                    <p:anim calcmode="lin" valueType="num">
                                      <p:cBhvr>
                                        <p:cTn id="38" dur="600" fill="hold"/>
                                        <p:tgtEl>
                                          <p:spTgt spid="13"/>
                                        </p:tgtEl>
                                        <p:attrNameLst>
                                          <p:attrName>ppt_h</p:attrName>
                                        </p:attrNameLst>
                                      </p:cBhvr>
                                      <p:tavLst>
                                        <p:tav tm="0">
                                          <p:val>
                                            <p:fltVal val="0"/>
                                          </p:val>
                                        </p:tav>
                                        <p:tav tm="100000">
                                          <p:val>
                                            <p:strVal val="#ppt_h"/>
                                          </p:val>
                                        </p:tav>
                                      </p:tavLst>
                                    </p:anim>
                                    <p:animEffect transition="in" filter="fade">
                                      <p:cBhvr>
                                        <p:cTn id="39" dur="600"/>
                                        <p:tgtEl>
                                          <p:spTgt spid="13"/>
                                        </p:tgtEl>
                                      </p:cBhvr>
                                    </p:animEffect>
                                  </p:childTnLst>
                                </p:cTn>
                              </p:par>
                              <p:par>
                                <p:cTn id="40" presetID="53" presetClass="entr" presetSubtype="16" fill="hold" grpId="0" nodeType="withEffect">
                                  <p:stCondLst>
                                    <p:cond delay="660"/>
                                  </p:stCondLst>
                                  <p:childTnLst>
                                    <p:set>
                                      <p:cBhvr>
                                        <p:cTn id="41" dur="1" fill="hold">
                                          <p:stCondLst>
                                            <p:cond delay="0"/>
                                          </p:stCondLst>
                                        </p:cTn>
                                        <p:tgtEl>
                                          <p:spTgt spid="14"/>
                                        </p:tgtEl>
                                        <p:attrNameLst>
                                          <p:attrName>style.visibility</p:attrName>
                                        </p:attrNameLst>
                                      </p:cBhvr>
                                      <p:to>
                                        <p:strVal val="visible"/>
                                      </p:to>
                                    </p:set>
                                    <p:anim calcmode="lin" valueType="num">
                                      <p:cBhvr>
                                        <p:cTn id="42" dur="600" fill="hold"/>
                                        <p:tgtEl>
                                          <p:spTgt spid="14"/>
                                        </p:tgtEl>
                                        <p:attrNameLst>
                                          <p:attrName>ppt_w</p:attrName>
                                        </p:attrNameLst>
                                      </p:cBhvr>
                                      <p:tavLst>
                                        <p:tav tm="0">
                                          <p:val>
                                            <p:fltVal val="0"/>
                                          </p:val>
                                        </p:tav>
                                        <p:tav tm="100000">
                                          <p:val>
                                            <p:strVal val="#ppt_w"/>
                                          </p:val>
                                        </p:tav>
                                      </p:tavLst>
                                    </p:anim>
                                    <p:anim calcmode="lin" valueType="num">
                                      <p:cBhvr>
                                        <p:cTn id="43" dur="600" fill="hold"/>
                                        <p:tgtEl>
                                          <p:spTgt spid="14"/>
                                        </p:tgtEl>
                                        <p:attrNameLst>
                                          <p:attrName>ppt_h</p:attrName>
                                        </p:attrNameLst>
                                      </p:cBhvr>
                                      <p:tavLst>
                                        <p:tav tm="0">
                                          <p:val>
                                            <p:fltVal val="0"/>
                                          </p:val>
                                        </p:tav>
                                        <p:tav tm="100000">
                                          <p:val>
                                            <p:strVal val="#ppt_h"/>
                                          </p:val>
                                        </p:tav>
                                      </p:tavLst>
                                    </p:anim>
                                    <p:animEffect transition="in" filter="fade">
                                      <p:cBhvr>
                                        <p:cTn id="44" dur="600"/>
                                        <p:tgtEl>
                                          <p:spTgt spid="14"/>
                                        </p:tgtEl>
                                      </p:cBhvr>
                                    </p:animEffect>
                                  </p:childTnLst>
                                </p:cTn>
                              </p:par>
                              <p:par>
                                <p:cTn id="45" presetID="53" presetClass="entr" presetSubtype="16" fill="hold" grpId="0" nodeType="withEffect">
                                  <p:stCondLst>
                                    <p:cond delay="660"/>
                                  </p:stCondLst>
                                  <p:childTnLst>
                                    <p:set>
                                      <p:cBhvr>
                                        <p:cTn id="46" dur="1" fill="hold">
                                          <p:stCondLst>
                                            <p:cond delay="0"/>
                                          </p:stCondLst>
                                        </p:cTn>
                                        <p:tgtEl>
                                          <p:spTgt spid="15"/>
                                        </p:tgtEl>
                                        <p:attrNameLst>
                                          <p:attrName>style.visibility</p:attrName>
                                        </p:attrNameLst>
                                      </p:cBhvr>
                                      <p:to>
                                        <p:strVal val="visible"/>
                                      </p:to>
                                    </p:set>
                                    <p:anim calcmode="lin" valueType="num">
                                      <p:cBhvr>
                                        <p:cTn id="47" dur="600" fill="hold"/>
                                        <p:tgtEl>
                                          <p:spTgt spid="15"/>
                                        </p:tgtEl>
                                        <p:attrNameLst>
                                          <p:attrName>ppt_w</p:attrName>
                                        </p:attrNameLst>
                                      </p:cBhvr>
                                      <p:tavLst>
                                        <p:tav tm="0">
                                          <p:val>
                                            <p:fltVal val="0"/>
                                          </p:val>
                                        </p:tav>
                                        <p:tav tm="100000">
                                          <p:val>
                                            <p:strVal val="#ppt_w"/>
                                          </p:val>
                                        </p:tav>
                                      </p:tavLst>
                                    </p:anim>
                                    <p:anim calcmode="lin" valueType="num">
                                      <p:cBhvr>
                                        <p:cTn id="48" dur="600" fill="hold"/>
                                        <p:tgtEl>
                                          <p:spTgt spid="15"/>
                                        </p:tgtEl>
                                        <p:attrNameLst>
                                          <p:attrName>ppt_h</p:attrName>
                                        </p:attrNameLst>
                                      </p:cBhvr>
                                      <p:tavLst>
                                        <p:tav tm="0">
                                          <p:val>
                                            <p:fltVal val="0"/>
                                          </p:val>
                                        </p:tav>
                                        <p:tav tm="100000">
                                          <p:val>
                                            <p:strVal val="#ppt_h"/>
                                          </p:val>
                                        </p:tav>
                                      </p:tavLst>
                                    </p:anim>
                                    <p:animEffect transition="in" filter="fade">
                                      <p:cBhvr>
                                        <p:cTn id="49" dur="600"/>
                                        <p:tgtEl>
                                          <p:spTgt spid="15"/>
                                        </p:tgtEl>
                                      </p:cBhvr>
                                    </p:animEffect>
                                  </p:childTnLst>
                                </p:cTn>
                              </p:par>
                              <p:par>
                                <p:cTn id="50" presetID="10" presetClass="entr" presetSubtype="0" fill="hold" grpId="0" nodeType="withEffect">
                                  <p:stCondLst>
                                    <p:cond delay="7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3" presetID="10" presetClass="entr" presetSubtype="0" fill="hold" grpId="0" nodeType="withEffect">
                                  <p:stCondLst>
                                    <p:cond delay="77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6" presetID="53" presetClass="entr" presetSubtype="16" fill="hold" grpId="0" nodeType="withEffect">
                                  <p:stCondLst>
                                    <p:cond delay="770"/>
                                  </p:stCondLst>
                                  <p:childTnLst>
                                    <p:set>
                                      <p:cBhvr>
                                        <p:cTn id="57" dur="1" fill="hold">
                                          <p:stCondLst>
                                            <p:cond delay="0"/>
                                          </p:stCondLst>
                                        </p:cTn>
                                        <p:tgtEl>
                                          <p:spTgt spid="18"/>
                                        </p:tgtEl>
                                        <p:attrNameLst>
                                          <p:attrName>style.visibility</p:attrName>
                                        </p:attrNameLst>
                                      </p:cBhvr>
                                      <p:to>
                                        <p:strVal val="visible"/>
                                      </p:to>
                                    </p:set>
                                    <p:anim calcmode="lin" valueType="num">
                                      <p:cBhvr>
                                        <p:cTn id="58" dur="600" fill="hold"/>
                                        <p:tgtEl>
                                          <p:spTgt spid="18"/>
                                        </p:tgtEl>
                                        <p:attrNameLst>
                                          <p:attrName>ppt_w</p:attrName>
                                        </p:attrNameLst>
                                      </p:cBhvr>
                                      <p:tavLst>
                                        <p:tav tm="0">
                                          <p:val>
                                            <p:fltVal val="0"/>
                                          </p:val>
                                        </p:tav>
                                        <p:tav tm="100000">
                                          <p:val>
                                            <p:strVal val="#ppt_w"/>
                                          </p:val>
                                        </p:tav>
                                      </p:tavLst>
                                    </p:anim>
                                    <p:anim calcmode="lin" valueType="num">
                                      <p:cBhvr>
                                        <p:cTn id="59" dur="600" fill="hold"/>
                                        <p:tgtEl>
                                          <p:spTgt spid="18"/>
                                        </p:tgtEl>
                                        <p:attrNameLst>
                                          <p:attrName>ppt_h</p:attrName>
                                        </p:attrNameLst>
                                      </p:cBhvr>
                                      <p:tavLst>
                                        <p:tav tm="0">
                                          <p:val>
                                            <p:fltVal val="0"/>
                                          </p:val>
                                        </p:tav>
                                        <p:tav tm="100000">
                                          <p:val>
                                            <p:strVal val="#ppt_h"/>
                                          </p:val>
                                        </p:tav>
                                      </p:tavLst>
                                    </p:anim>
                                    <p:animEffect transition="in" filter="fade">
                                      <p:cBhvr>
                                        <p:cTn id="60" dur="600"/>
                                        <p:tgtEl>
                                          <p:spTgt spid="18"/>
                                        </p:tgtEl>
                                      </p:cBhvr>
                                    </p:animEffect>
                                  </p:childTnLst>
                                </p:cTn>
                              </p:par>
                              <p:par>
                                <p:cTn id="61" presetID="53" presetClass="entr" presetSubtype="16" fill="hold" grpId="0" nodeType="withEffect">
                                  <p:stCondLst>
                                    <p:cond delay="920"/>
                                  </p:stCondLst>
                                  <p:childTnLst>
                                    <p:set>
                                      <p:cBhvr>
                                        <p:cTn id="62" dur="1" fill="hold">
                                          <p:stCondLst>
                                            <p:cond delay="0"/>
                                          </p:stCondLst>
                                        </p:cTn>
                                        <p:tgtEl>
                                          <p:spTgt spid="19"/>
                                        </p:tgtEl>
                                        <p:attrNameLst>
                                          <p:attrName>style.visibility</p:attrName>
                                        </p:attrNameLst>
                                      </p:cBhvr>
                                      <p:to>
                                        <p:strVal val="visible"/>
                                      </p:to>
                                    </p:set>
                                    <p:anim calcmode="lin" valueType="num">
                                      <p:cBhvr>
                                        <p:cTn id="63" dur="600" fill="hold"/>
                                        <p:tgtEl>
                                          <p:spTgt spid="19"/>
                                        </p:tgtEl>
                                        <p:attrNameLst>
                                          <p:attrName>ppt_w</p:attrName>
                                        </p:attrNameLst>
                                      </p:cBhvr>
                                      <p:tavLst>
                                        <p:tav tm="0">
                                          <p:val>
                                            <p:fltVal val="0"/>
                                          </p:val>
                                        </p:tav>
                                        <p:tav tm="100000">
                                          <p:val>
                                            <p:strVal val="#ppt_w"/>
                                          </p:val>
                                        </p:tav>
                                      </p:tavLst>
                                    </p:anim>
                                    <p:anim calcmode="lin" valueType="num">
                                      <p:cBhvr>
                                        <p:cTn id="64" dur="600" fill="hold"/>
                                        <p:tgtEl>
                                          <p:spTgt spid="19"/>
                                        </p:tgtEl>
                                        <p:attrNameLst>
                                          <p:attrName>ppt_h</p:attrName>
                                        </p:attrNameLst>
                                      </p:cBhvr>
                                      <p:tavLst>
                                        <p:tav tm="0">
                                          <p:val>
                                            <p:fltVal val="0"/>
                                          </p:val>
                                        </p:tav>
                                        <p:tav tm="100000">
                                          <p:val>
                                            <p:strVal val="#ppt_h"/>
                                          </p:val>
                                        </p:tav>
                                      </p:tavLst>
                                    </p:anim>
                                    <p:animEffect transition="in" filter="fade">
                                      <p:cBhvr>
                                        <p:cTn id="65" dur="600"/>
                                        <p:tgtEl>
                                          <p:spTgt spid="19"/>
                                        </p:tgtEl>
                                      </p:cBhvr>
                                    </p:animEffect>
                                  </p:childTnLst>
                                </p:cTn>
                              </p:par>
                              <p:par>
                                <p:cTn id="66" presetID="53" presetClass="entr" presetSubtype="16" fill="hold" grpId="0" nodeType="withEffect">
                                  <p:stCondLst>
                                    <p:cond delay="920"/>
                                  </p:stCondLst>
                                  <p:childTnLst>
                                    <p:set>
                                      <p:cBhvr>
                                        <p:cTn id="67" dur="1" fill="hold">
                                          <p:stCondLst>
                                            <p:cond delay="0"/>
                                          </p:stCondLst>
                                        </p:cTn>
                                        <p:tgtEl>
                                          <p:spTgt spid="20"/>
                                        </p:tgtEl>
                                        <p:attrNameLst>
                                          <p:attrName>style.visibility</p:attrName>
                                        </p:attrNameLst>
                                      </p:cBhvr>
                                      <p:to>
                                        <p:strVal val="visible"/>
                                      </p:to>
                                    </p:set>
                                    <p:anim calcmode="lin" valueType="num">
                                      <p:cBhvr>
                                        <p:cTn id="68" dur="600" fill="hold"/>
                                        <p:tgtEl>
                                          <p:spTgt spid="20"/>
                                        </p:tgtEl>
                                        <p:attrNameLst>
                                          <p:attrName>ppt_w</p:attrName>
                                        </p:attrNameLst>
                                      </p:cBhvr>
                                      <p:tavLst>
                                        <p:tav tm="0">
                                          <p:val>
                                            <p:fltVal val="0"/>
                                          </p:val>
                                        </p:tav>
                                        <p:tav tm="100000">
                                          <p:val>
                                            <p:strVal val="#ppt_w"/>
                                          </p:val>
                                        </p:tav>
                                      </p:tavLst>
                                    </p:anim>
                                    <p:anim calcmode="lin" valueType="num">
                                      <p:cBhvr>
                                        <p:cTn id="69" dur="600" fill="hold"/>
                                        <p:tgtEl>
                                          <p:spTgt spid="20"/>
                                        </p:tgtEl>
                                        <p:attrNameLst>
                                          <p:attrName>ppt_h</p:attrName>
                                        </p:attrNameLst>
                                      </p:cBhvr>
                                      <p:tavLst>
                                        <p:tav tm="0">
                                          <p:val>
                                            <p:fltVal val="0"/>
                                          </p:val>
                                        </p:tav>
                                        <p:tav tm="100000">
                                          <p:val>
                                            <p:strVal val="#ppt_h"/>
                                          </p:val>
                                        </p:tav>
                                      </p:tavLst>
                                    </p:anim>
                                    <p:animEffect transition="in" filter="fade">
                                      <p:cBhvr>
                                        <p:cTn id="70" dur="600"/>
                                        <p:tgtEl>
                                          <p:spTgt spid="20"/>
                                        </p:tgtEl>
                                      </p:cBhvr>
                                    </p:animEffect>
                                  </p:childTnLst>
                                </p:cTn>
                              </p:par>
                              <p:par>
                                <p:cTn id="71" presetID="10" presetClass="entr" presetSubtype="0" fill="hold" grpId="0" nodeType="withEffect">
                                  <p:stCondLst>
                                    <p:cond delay="97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600"/>
                                        <p:tgtEl>
                                          <p:spTgt spid="21"/>
                                        </p:tgtEl>
                                      </p:cBhvr>
                                    </p:animEffect>
                                  </p:childTnLst>
                                </p:cTn>
                              </p:par>
                              <p:par>
                                <p:cTn id="74" presetID="10" presetClass="entr" presetSubtype="0" fill="hold" grpId="0" nodeType="withEffect">
                                  <p:stCondLst>
                                    <p:cond delay="10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600"/>
                                        <p:tgtEl>
                                          <p:spTgt spid="22"/>
                                        </p:tgtEl>
                                      </p:cBhvr>
                                    </p:animEffect>
                                  </p:childTnLst>
                                </p:cTn>
                              </p:par>
                              <p:par>
                                <p:cTn id="77" presetID="53" presetClass="entr" presetSubtype="16" fill="hold" grpId="0" nodeType="withEffect">
                                  <p:stCondLst>
                                    <p:cond delay="1030"/>
                                  </p:stCondLst>
                                  <p:childTnLst>
                                    <p:set>
                                      <p:cBhvr>
                                        <p:cTn id="78" dur="1" fill="hold">
                                          <p:stCondLst>
                                            <p:cond delay="0"/>
                                          </p:stCondLst>
                                        </p:cTn>
                                        <p:tgtEl>
                                          <p:spTgt spid="23"/>
                                        </p:tgtEl>
                                        <p:attrNameLst>
                                          <p:attrName>style.visibility</p:attrName>
                                        </p:attrNameLst>
                                      </p:cBhvr>
                                      <p:to>
                                        <p:strVal val="visible"/>
                                      </p:to>
                                    </p:set>
                                    <p:anim calcmode="lin" valueType="num">
                                      <p:cBhvr>
                                        <p:cTn id="79" dur="600" fill="hold"/>
                                        <p:tgtEl>
                                          <p:spTgt spid="23"/>
                                        </p:tgtEl>
                                        <p:attrNameLst>
                                          <p:attrName>ppt_w</p:attrName>
                                        </p:attrNameLst>
                                      </p:cBhvr>
                                      <p:tavLst>
                                        <p:tav tm="0">
                                          <p:val>
                                            <p:fltVal val="0"/>
                                          </p:val>
                                        </p:tav>
                                        <p:tav tm="100000">
                                          <p:val>
                                            <p:strVal val="#ppt_w"/>
                                          </p:val>
                                        </p:tav>
                                      </p:tavLst>
                                    </p:anim>
                                    <p:anim calcmode="lin" valueType="num">
                                      <p:cBhvr>
                                        <p:cTn id="80" dur="600" fill="hold"/>
                                        <p:tgtEl>
                                          <p:spTgt spid="23"/>
                                        </p:tgtEl>
                                        <p:attrNameLst>
                                          <p:attrName>ppt_h</p:attrName>
                                        </p:attrNameLst>
                                      </p:cBhvr>
                                      <p:tavLst>
                                        <p:tav tm="0">
                                          <p:val>
                                            <p:fltVal val="0"/>
                                          </p:val>
                                        </p:tav>
                                        <p:tav tm="100000">
                                          <p:val>
                                            <p:strVal val="#ppt_h"/>
                                          </p:val>
                                        </p:tav>
                                      </p:tavLst>
                                    </p:anim>
                                    <p:animEffect transition="in" filter="fade">
                                      <p:cBhvr>
                                        <p:cTn id="81" dur="600"/>
                                        <p:tgtEl>
                                          <p:spTgt spid="23"/>
                                        </p:tgtEl>
                                      </p:cBhvr>
                                    </p:animEffect>
                                  </p:childTnLst>
                                </p:cTn>
                              </p:par>
                              <p:par>
                                <p:cTn id="82" presetID="53" presetClass="entr" presetSubtype="16" fill="hold" grpId="0" nodeType="withEffect">
                                  <p:stCondLst>
                                    <p:cond delay="1180"/>
                                  </p:stCondLst>
                                  <p:childTnLst>
                                    <p:set>
                                      <p:cBhvr>
                                        <p:cTn id="83" dur="1" fill="hold">
                                          <p:stCondLst>
                                            <p:cond delay="0"/>
                                          </p:stCondLst>
                                        </p:cTn>
                                        <p:tgtEl>
                                          <p:spTgt spid="24"/>
                                        </p:tgtEl>
                                        <p:attrNameLst>
                                          <p:attrName>style.visibility</p:attrName>
                                        </p:attrNameLst>
                                      </p:cBhvr>
                                      <p:to>
                                        <p:strVal val="visible"/>
                                      </p:to>
                                    </p:set>
                                    <p:anim calcmode="lin" valueType="num">
                                      <p:cBhvr>
                                        <p:cTn id="84" dur="600" fill="hold"/>
                                        <p:tgtEl>
                                          <p:spTgt spid="24"/>
                                        </p:tgtEl>
                                        <p:attrNameLst>
                                          <p:attrName>ppt_w</p:attrName>
                                        </p:attrNameLst>
                                      </p:cBhvr>
                                      <p:tavLst>
                                        <p:tav tm="0">
                                          <p:val>
                                            <p:fltVal val="0"/>
                                          </p:val>
                                        </p:tav>
                                        <p:tav tm="100000">
                                          <p:val>
                                            <p:strVal val="#ppt_w"/>
                                          </p:val>
                                        </p:tav>
                                      </p:tavLst>
                                    </p:anim>
                                    <p:anim calcmode="lin" valueType="num">
                                      <p:cBhvr>
                                        <p:cTn id="85" dur="600" fill="hold"/>
                                        <p:tgtEl>
                                          <p:spTgt spid="24"/>
                                        </p:tgtEl>
                                        <p:attrNameLst>
                                          <p:attrName>ppt_h</p:attrName>
                                        </p:attrNameLst>
                                      </p:cBhvr>
                                      <p:tavLst>
                                        <p:tav tm="0">
                                          <p:val>
                                            <p:fltVal val="0"/>
                                          </p:val>
                                        </p:tav>
                                        <p:tav tm="100000">
                                          <p:val>
                                            <p:strVal val="#ppt_h"/>
                                          </p:val>
                                        </p:tav>
                                      </p:tavLst>
                                    </p:anim>
                                    <p:animEffect transition="in" filter="fade">
                                      <p:cBhvr>
                                        <p:cTn id="86" dur="600"/>
                                        <p:tgtEl>
                                          <p:spTgt spid="24"/>
                                        </p:tgtEl>
                                      </p:cBhvr>
                                    </p:animEffect>
                                  </p:childTnLst>
                                </p:cTn>
                              </p:par>
                              <p:par>
                                <p:cTn id="87" presetID="53" presetClass="entr" presetSubtype="16" fill="hold" grpId="0" nodeType="withEffect">
                                  <p:stCondLst>
                                    <p:cond delay="1180"/>
                                  </p:stCondLst>
                                  <p:childTnLst>
                                    <p:set>
                                      <p:cBhvr>
                                        <p:cTn id="88" dur="1" fill="hold">
                                          <p:stCondLst>
                                            <p:cond delay="0"/>
                                          </p:stCondLst>
                                        </p:cTn>
                                        <p:tgtEl>
                                          <p:spTgt spid="25"/>
                                        </p:tgtEl>
                                        <p:attrNameLst>
                                          <p:attrName>style.visibility</p:attrName>
                                        </p:attrNameLst>
                                      </p:cBhvr>
                                      <p:to>
                                        <p:strVal val="visible"/>
                                      </p:to>
                                    </p:set>
                                    <p:anim calcmode="lin" valueType="num">
                                      <p:cBhvr>
                                        <p:cTn id="89" dur="600" fill="hold"/>
                                        <p:tgtEl>
                                          <p:spTgt spid="25"/>
                                        </p:tgtEl>
                                        <p:attrNameLst>
                                          <p:attrName>ppt_w</p:attrName>
                                        </p:attrNameLst>
                                      </p:cBhvr>
                                      <p:tavLst>
                                        <p:tav tm="0">
                                          <p:val>
                                            <p:fltVal val="0"/>
                                          </p:val>
                                        </p:tav>
                                        <p:tav tm="100000">
                                          <p:val>
                                            <p:strVal val="#ppt_w"/>
                                          </p:val>
                                        </p:tav>
                                      </p:tavLst>
                                    </p:anim>
                                    <p:anim calcmode="lin" valueType="num">
                                      <p:cBhvr>
                                        <p:cTn id="90" dur="600" fill="hold"/>
                                        <p:tgtEl>
                                          <p:spTgt spid="25"/>
                                        </p:tgtEl>
                                        <p:attrNameLst>
                                          <p:attrName>ppt_h</p:attrName>
                                        </p:attrNameLst>
                                      </p:cBhvr>
                                      <p:tavLst>
                                        <p:tav tm="0">
                                          <p:val>
                                            <p:fltVal val="0"/>
                                          </p:val>
                                        </p:tav>
                                        <p:tav tm="100000">
                                          <p:val>
                                            <p:strVal val="#ppt_h"/>
                                          </p:val>
                                        </p:tav>
                                      </p:tavLst>
                                    </p:anim>
                                    <p:animEffect transition="in" filter="fade">
                                      <p:cBhvr>
                                        <p:cTn id="91" dur="600"/>
                                        <p:tgtEl>
                                          <p:spTgt spid="25"/>
                                        </p:tgtEl>
                                      </p:cBhvr>
                                    </p:animEffect>
                                  </p:childTnLst>
                                </p:cTn>
                              </p:par>
                              <p:par>
                                <p:cTn id="92" presetID="10" presetClass="entr" presetSubtype="0" fill="hold" grpId="0" nodeType="withEffect">
                                  <p:stCondLst>
                                    <p:cond delay="123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childTnLst>
                                </p:cTn>
                              </p:par>
                              <p:par>
                                <p:cTn id="95" presetID="10" presetClass="entr" presetSubtype="0" fill="hold" grpId="0" nodeType="withEffect">
                                  <p:stCondLst>
                                    <p:cond delay="129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600"/>
                                        <p:tgtEl>
                                          <p:spTgt spid="27"/>
                                        </p:tgtEl>
                                      </p:cBhvr>
                                    </p:animEffect>
                                  </p:childTnLst>
                                </p:cTn>
                              </p:par>
                              <p:par>
                                <p:cTn id="98" presetID="53" presetClass="entr" presetSubtype="16" fill="hold" grpId="0" nodeType="withEffect">
                                  <p:stCondLst>
                                    <p:cond delay="1290"/>
                                  </p:stCondLst>
                                  <p:childTnLst>
                                    <p:set>
                                      <p:cBhvr>
                                        <p:cTn id="99" dur="1" fill="hold">
                                          <p:stCondLst>
                                            <p:cond delay="0"/>
                                          </p:stCondLst>
                                        </p:cTn>
                                        <p:tgtEl>
                                          <p:spTgt spid="28"/>
                                        </p:tgtEl>
                                        <p:attrNameLst>
                                          <p:attrName>style.visibility</p:attrName>
                                        </p:attrNameLst>
                                      </p:cBhvr>
                                      <p:to>
                                        <p:strVal val="visible"/>
                                      </p:to>
                                    </p:set>
                                    <p:anim calcmode="lin" valueType="num">
                                      <p:cBhvr>
                                        <p:cTn id="100" dur="600" fill="hold"/>
                                        <p:tgtEl>
                                          <p:spTgt spid="28"/>
                                        </p:tgtEl>
                                        <p:attrNameLst>
                                          <p:attrName>ppt_w</p:attrName>
                                        </p:attrNameLst>
                                      </p:cBhvr>
                                      <p:tavLst>
                                        <p:tav tm="0">
                                          <p:val>
                                            <p:fltVal val="0"/>
                                          </p:val>
                                        </p:tav>
                                        <p:tav tm="100000">
                                          <p:val>
                                            <p:strVal val="#ppt_w"/>
                                          </p:val>
                                        </p:tav>
                                      </p:tavLst>
                                    </p:anim>
                                    <p:anim calcmode="lin" valueType="num">
                                      <p:cBhvr>
                                        <p:cTn id="101" dur="600" fill="hold"/>
                                        <p:tgtEl>
                                          <p:spTgt spid="28"/>
                                        </p:tgtEl>
                                        <p:attrNameLst>
                                          <p:attrName>ppt_h</p:attrName>
                                        </p:attrNameLst>
                                      </p:cBhvr>
                                      <p:tavLst>
                                        <p:tav tm="0">
                                          <p:val>
                                            <p:fltVal val="0"/>
                                          </p:val>
                                        </p:tav>
                                        <p:tav tm="100000">
                                          <p:val>
                                            <p:strVal val="#ppt_h"/>
                                          </p:val>
                                        </p:tav>
                                      </p:tavLst>
                                    </p:anim>
                                    <p:animEffect transition="in" filter="fade">
                                      <p:cBhvr>
                                        <p:cTn id="102" dur="600"/>
                                        <p:tgtEl>
                                          <p:spTgt spid="28"/>
                                        </p:tgtEl>
                                      </p:cBhvr>
                                    </p:animEffect>
                                  </p:childTnLst>
                                </p:cTn>
                              </p:par>
                              <p:par>
                                <p:cTn id="103" presetID="53" presetClass="entr" presetSubtype="16" fill="hold" grpId="0" nodeType="withEffect">
                                  <p:stCondLst>
                                    <p:cond delay="1440"/>
                                  </p:stCondLst>
                                  <p:childTnLst>
                                    <p:set>
                                      <p:cBhvr>
                                        <p:cTn id="104" dur="1" fill="hold">
                                          <p:stCondLst>
                                            <p:cond delay="0"/>
                                          </p:stCondLst>
                                        </p:cTn>
                                        <p:tgtEl>
                                          <p:spTgt spid="29"/>
                                        </p:tgtEl>
                                        <p:attrNameLst>
                                          <p:attrName>style.visibility</p:attrName>
                                        </p:attrNameLst>
                                      </p:cBhvr>
                                      <p:to>
                                        <p:strVal val="visible"/>
                                      </p:to>
                                    </p:set>
                                    <p:anim calcmode="lin" valueType="num">
                                      <p:cBhvr>
                                        <p:cTn id="105" dur="600" fill="hold"/>
                                        <p:tgtEl>
                                          <p:spTgt spid="29"/>
                                        </p:tgtEl>
                                        <p:attrNameLst>
                                          <p:attrName>ppt_w</p:attrName>
                                        </p:attrNameLst>
                                      </p:cBhvr>
                                      <p:tavLst>
                                        <p:tav tm="0">
                                          <p:val>
                                            <p:fltVal val="0"/>
                                          </p:val>
                                        </p:tav>
                                        <p:tav tm="100000">
                                          <p:val>
                                            <p:strVal val="#ppt_w"/>
                                          </p:val>
                                        </p:tav>
                                      </p:tavLst>
                                    </p:anim>
                                    <p:anim calcmode="lin" valueType="num">
                                      <p:cBhvr>
                                        <p:cTn id="106" dur="600" fill="hold"/>
                                        <p:tgtEl>
                                          <p:spTgt spid="29"/>
                                        </p:tgtEl>
                                        <p:attrNameLst>
                                          <p:attrName>ppt_h</p:attrName>
                                        </p:attrNameLst>
                                      </p:cBhvr>
                                      <p:tavLst>
                                        <p:tav tm="0">
                                          <p:val>
                                            <p:fltVal val="0"/>
                                          </p:val>
                                        </p:tav>
                                        <p:tav tm="100000">
                                          <p:val>
                                            <p:strVal val="#ppt_h"/>
                                          </p:val>
                                        </p:tav>
                                      </p:tavLst>
                                    </p:anim>
                                    <p:animEffect transition="in" filter="fade">
                                      <p:cBhvr>
                                        <p:cTn id="107" dur="600"/>
                                        <p:tgtEl>
                                          <p:spTgt spid="29"/>
                                        </p:tgtEl>
                                      </p:cBhvr>
                                    </p:animEffect>
                                  </p:childTnLst>
                                </p:cTn>
                              </p:par>
                              <p:par>
                                <p:cTn id="108" presetID="53" presetClass="entr" presetSubtype="16" fill="hold" grpId="0" nodeType="withEffect">
                                  <p:stCondLst>
                                    <p:cond delay="1440"/>
                                  </p:stCondLst>
                                  <p:childTnLst>
                                    <p:set>
                                      <p:cBhvr>
                                        <p:cTn id="109" dur="1" fill="hold">
                                          <p:stCondLst>
                                            <p:cond delay="0"/>
                                          </p:stCondLst>
                                        </p:cTn>
                                        <p:tgtEl>
                                          <p:spTgt spid="30"/>
                                        </p:tgtEl>
                                        <p:attrNameLst>
                                          <p:attrName>style.visibility</p:attrName>
                                        </p:attrNameLst>
                                      </p:cBhvr>
                                      <p:to>
                                        <p:strVal val="visible"/>
                                      </p:to>
                                    </p:set>
                                    <p:anim calcmode="lin" valueType="num">
                                      <p:cBhvr>
                                        <p:cTn id="110" dur="600" fill="hold"/>
                                        <p:tgtEl>
                                          <p:spTgt spid="30"/>
                                        </p:tgtEl>
                                        <p:attrNameLst>
                                          <p:attrName>ppt_w</p:attrName>
                                        </p:attrNameLst>
                                      </p:cBhvr>
                                      <p:tavLst>
                                        <p:tav tm="0">
                                          <p:val>
                                            <p:fltVal val="0"/>
                                          </p:val>
                                        </p:tav>
                                        <p:tav tm="100000">
                                          <p:val>
                                            <p:strVal val="#ppt_w"/>
                                          </p:val>
                                        </p:tav>
                                      </p:tavLst>
                                    </p:anim>
                                    <p:anim calcmode="lin" valueType="num">
                                      <p:cBhvr>
                                        <p:cTn id="111" dur="600" fill="hold"/>
                                        <p:tgtEl>
                                          <p:spTgt spid="30"/>
                                        </p:tgtEl>
                                        <p:attrNameLst>
                                          <p:attrName>ppt_h</p:attrName>
                                        </p:attrNameLst>
                                      </p:cBhvr>
                                      <p:tavLst>
                                        <p:tav tm="0">
                                          <p:val>
                                            <p:fltVal val="0"/>
                                          </p:val>
                                        </p:tav>
                                        <p:tav tm="100000">
                                          <p:val>
                                            <p:strVal val="#ppt_h"/>
                                          </p:val>
                                        </p:tav>
                                      </p:tavLst>
                                    </p:anim>
                                    <p:animEffect transition="in" filter="fade">
                                      <p:cBhvr>
                                        <p:cTn id="112" dur="600"/>
                                        <p:tgtEl>
                                          <p:spTgt spid="30"/>
                                        </p:tgtEl>
                                      </p:cBhvr>
                                    </p:animEffect>
                                  </p:childTnLst>
                                </p:cTn>
                              </p:par>
                              <p:par>
                                <p:cTn id="113" presetID="10" presetClass="entr" presetSubtype="0" fill="hold" grpId="0" nodeType="withEffect">
                                  <p:stCondLst>
                                    <p:cond delay="1490"/>
                                  </p:stCondLst>
                                  <p:childTnLst>
                                    <p:set>
                                      <p:cBhvr>
                                        <p:cTn id="114" dur="1" fill="hold">
                                          <p:stCondLst>
                                            <p:cond delay="0"/>
                                          </p:stCondLst>
                                        </p:cTn>
                                        <p:tgtEl>
                                          <p:spTgt spid="31"/>
                                        </p:tgtEl>
                                        <p:attrNameLst>
                                          <p:attrName>style.visibility</p:attrName>
                                        </p:attrNameLst>
                                      </p:cBhvr>
                                      <p:to>
                                        <p:strVal val="visible"/>
                                      </p:to>
                                    </p:set>
                                    <p:animEffect transition="in" filter="fade">
                                      <p:cBhvr>
                                        <p:cTn id="115" dur="600"/>
                                        <p:tgtEl>
                                          <p:spTgt spid="31"/>
                                        </p:tgtEl>
                                      </p:cBhvr>
                                    </p:animEffect>
                                  </p:childTnLst>
                                </p:cTn>
                              </p:par>
                              <p:par>
                                <p:cTn id="116" presetID="10" presetClass="entr" presetSubtype="0" fill="hold" grpId="0" nodeType="withEffect">
                                  <p:stCondLst>
                                    <p:cond delay="155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childTnLst>
                                </p:cTn>
                              </p:par>
                              <p:par>
                                <p:cTn id="119" presetID="53" presetClass="entr" presetSubtype="16" fill="hold" grpId="0" nodeType="withEffect">
                                  <p:stCondLst>
                                    <p:cond delay="1550"/>
                                  </p:stCondLst>
                                  <p:childTnLst>
                                    <p:set>
                                      <p:cBhvr>
                                        <p:cTn id="120" dur="1" fill="hold">
                                          <p:stCondLst>
                                            <p:cond delay="0"/>
                                          </p:stCondLst>
                                        </p:cTn>
                                        <p:tgtEl>
                                          <p:spTgt spid="33"/>
                                        </p:tgtEl>
                                        <p:attrNameLst>
                                          <p:attrName>style.visibility</p:attrName>
                                        </p:attrNameLst>
                                      </p:cBhvr>
                                      <p:to>
                                        <p:strVal val="visible"/>
                                      </p:to>
                                    </p:set>
                                    <p:anim calcmode="lin" valueType="num">
                                      <p:cBhvr>
                                        <p:cTn id="121" dur="600" fill="hold"/>
                                        <p:tgtEl>
                                          <p:spTgt spid="33"/>
                                        </p:tgtEl>
                                        <p:attrNameLst>
                                          <p:attrName>ppt_w</p:attrName>
                                        </p:attrNameLst>
                                      </p:cBhvr>
                                      <p:tavLst>
                                        <p:tav tm="0">
                                          <p:val>
                                            <p:fltVal val="0"/>
                                          </p:val>
                                        </p:tav>
                                        <p:tav tm="100000">
                                          <p:val>
                                            <p:strVal val="#ppt_w"/>
                                          </p:val>
                                        </p:tav>
                                      </p:tavLst>
                                    </p:anim>
                                    <p:anim calcmode="lin" valueType="num">
                                      <p:cBhvr>
                                        <p:cTn id="122" dur="600" fill="hold"/>
                                        <p:tgtEl>
                                          <p:spTgt spid="33"/>
                                        </p:tgtEl>
                                        <p:attrNameLst>
                                          <p:attrName>ppt_h</p:attrName>
                                        </p:attrNameLst>
                                      </p:cBhvr>
                                      <p:tavLst>
                                        <p:tav tm="0">
                                          <p:val>
                                            <p:fltVal val="0"/>
                                          </p:val>
                                        </p:tav>
                                        <p:tav tm="100000">
                                          <p:val>
                                            <p:strVal val="#ppt_h"/>
                                          </p:val>
                                        </p:tav>
                                      </p:tavLst>
                                    </p:anim>
                                    <p:animEffect transition="in" filter="fade">
                                      <p:cBhvr>
                                        <p:cTn id="123" dur="600"/>
                                        <p:tgtEl>
                                          <p:spTgt spid="33"/>
                                        </p:tgtEl>
                                      </p:cBhvr>
                                    </p:animEffect>
                                  </p:childTnLst>
                                </p:cTn>
                              </p:par>
                              <p:par>
                                <p:cTn id="124" presetID="53" presetClass="entr" presetSubtype="16" fill="hold" grpId="0" nodeType="withEffect">
                                  <p:stCondLst>
                                    <p:cond delay="1700"/>
                                  </p:stCondLst>
                                  <p:childTnLst>
                                    <p:set>
                                      <p:cBhvr>
                                        <p:cTn id="125" dur="1" fill="hold">
                                          <p:stCondLst>
                                            <p:cond delay="0"/>
                                          </p:stCondLst>
                                        </p:cTn>
                                        <p:tgtEl>
                                          <p:spTgt spid="34"/>
                                        </p:tgtEl>
                                        <p:attrNameLst>
                                          <p:attrName>style.visibility</p:attrName>
                                        </p:attrNameLst>
                                      </p:cBhvr>
                                      <p:to>
                                        <p:strVal val="visible"/>
                                      </p:to>
                                    </p:set>
                                    <p:anim calcmode="lin" valueType="num">
                                      <p:cBhvr>
                                        <p:cTn id="126" dur="600" fill="hold"/>
                                        <p:tgtEl>
                                          <p:spTgt spid="34"/>
                                        </p:tgtEl>
                                        <p:attrNameLst>
                                          <p:attrName>ppt_w</p:attrName>
                                        </p:attrNameLst>
                                      </p:cBhvr>
                                      <p:tavLst>
                                        <p:tav tm="0">
                                          <p:val>
                                            <p:fltVal val="0"/>
                                          </p:val>
                                        </p:tav>
                                        <p:tav tm="100000">
                                          <p:val>
                                            <p:strVal val="#ppt_w"/>
                                          </p:val>
                                        </p:tav>
                                      </p:tavLst>
                                    </p:anim>
                                    <p:anim calcmode="lin" valueType="num">
                                      <p:cBhvr>
                                        <p:cTn id="127" dur="600" fill="hold"/>
                                        <p:tgtEl>
                                          <p:spTgt spid="34"/>
                                        </p:tgtEl>
                                        <p:attrNameLst>
                                          <p:attrName>ppt_h</p:attrName>
                                        </p:attrNameLst>
                                      </p:cBhvr>
                                      <p:tavLst>
                                        <p:tav tm="0">
                                          <p:val>
                                            <p:fltVal val="0"/>
                                          </p:val>
                                        </p:tav>
                                        <p:tav tm="100000">
                                          <p:val>
                                            <p:strVal val="#ppt_h"/>
                                          </p:val>
                                        </p:tav>
                                      </p:tavLst>
                                    </p:anim>
                                    <p:animEffect transition="in" filter="fade">
                                      <p:cBhvr>
                                        <p:cTn id="128" dur="600"/>
                                        <p:tgtEl>
                                          <p:spTgt spid="34"/>
                                        </p:tgtEl>
                                      </p:cBhvr>
                                    </p:animEffect>
                                  </p:childTnLst>
                                </p:cTn>
                              </p:par>
                              <p:par>
                                <p:cTn id="129" presetID="53" presetClass="entr" presetSubtype="16" fill="hold" grpId="0" nodeType="withEffect">
                                  <p:stCondLst>
                                    <p:cond delay="1700"/>
                                  </p:stCondLst>
                                  <p:childTnLst>
                                    <p:set>
                                      <p:cBhvr>
                                        <p:cTn id="130" dur="1" fill="hold">
                                          <p:stCondLst>
                                            <p:cond delay="0"/>
                                          </p:stCondLst>
                                        </p:cTn>
                                        <p:tgtEl>
                                          <p:spTgt spid="35"/>
                                        </p:tgtEl>
                                        <p:attrNameLst>
                                          <p:attrName>style.visibility</p:attrName>
                                        </p:attrNameLst>
                                      </p:cBhvr>
                                      <p:to>
                                        <p:strVal val="visible"/>
                                      </p:to>
                                    </p:set>
                                    <p:anim calcmode="lin" valueType="num">
                                      <p:cBhvr>
                                        <p:cTn id="131" dur="600" fill="hold"/>
                                        <p:tgtEl>
                                          <p:spTgt spid="35"/>
                                        </p:tgtEl>
                                        <p:attrNameLst>
                                          <p:attrName>ppt_w</p:attrName>
                                        </p:attrNameLst>
                                      </p:cBhvr>
                                      <p:tavLst>
                                        <p:tav tm="0">
                                          <p:val>
                                            <p:fltVal val="0"/>
                                          </p:val>
                                        </p:tav>
                                        <p:tav tm="100000">
                                          <p:val>
                                            <p:strVal val="#ppt_w"/>
                                          </p:val>
                                        </p:tav>
                                      </p:tavLst>
                                    </p:anim>
                                    <p:anim calcmode="lin" valueType="num">
                                      <p:cBhvr>
                                        <p:cTn id="132" dur="600" fill="hold"/>
                                        <p:tgtEl>
                                          <p:spTgt spid="35"/>
                                        </p:tgtEl>
                                        <p:attrNameLst>
                                          <p:attrName>ppt_h</p:attrName>
                                        </p:attrNameLst>
                                      </p:cBhvr>
                                      <p:tavLst>
                                        <p:tav tm="0">
                                          <p:val>
                                            <p:fltVal val="0"/>
                                          </p:val>
                                        </p:tav>
                                        <p:tav tm="100000">
                                          <p:val>
                                            <p:strVal val="#ppt_h"/>
                                          </p:val>
                                        </p:tav>
                                      </p:tavLst>
                                    </p:anim>
                                    <p:animEffect transition="in" filter="fade">
                                      <p:cBhvr>
                                        <p:cTn id="133" dur="600"/>
                                        <p:tgtEl>
                                          <p:spTgt spid="35"/>
                                        </p:tgtEl>
                                      </p:cBhvr>
                                    </p:animEffect>
                                  </p:childTnLst>
                                </p:cTn>
                              </p:par>
                              <p:par>
                                <p:cTn id="134" presetID="10" presetClass="entr" presetSubtype="0" fill="hold" grpId="0" nodeType="withEffect">
                                  <p:stCondLst>
                                    <p:cond delay="1750"/>
                                  </p:stCondLst>
                                  <p:childTnLst>
                                    <p:set>
                                      <p:cBhvr>
                                        <p:cTn id="135" dur="1" fill="hold">
                                          <p:stCondLst>
                                            <p:cond delay="0"/>
                                          </p:stCondLst>
                                        </p:cTn>
                                        <p:tgtEl>
                                          <p:spTgt spid="36"/>
                                        </p:tgtEl>
                                        <p:attrNameLst>
                                          <p:attrName>style.visibility</p:attrName>
                                        </p:attrNameLst>
                                      </p:cBhvr>
                                      <p:to>
                                        <p:strVal val="visible"/>
                                      </p:to>
                                    </p:set>
                                    <p:animEffect transition="in" filter="fade">
                                      <p:cBhvr>
                                        <p:cTn id="136" dur="6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1" grpId="0" animBg="1"/>
      <p:bldP spid="13" grpId="0" animBg="1"/>
      <p:bldP spid="16" grpId="0" animBg="1"/>
      <p:bldP spid="18" grpId="0" animBg="1"/>
      <p:bldP spid="21" grpId="0" animBg="1"/>
      <p:bldP spid="23" grpId="0" animBg="1"/>
      <p:bldP spid="26" grpId="0" animBg="1"/>
      <p:bldP spid="28" grpId="0" animBg="1"/>
      <p:bldP spid="31" grpId="0" animBg="1"/>
      <p:bldP spid="33" grpId="0" animBg="1"/>
      <p:bldP spid="3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155680" y="-1188720"/>
            <a:ext cx="1828800" cy="1828800"/>
          </a:xfrm>
          <a:prstGeom prst="ellipse">
            <a:avLst/>
          </a:prstGeom>
          <a:solidFill>
            <a:srgbClr val="1B3F9E"/>
          </a:solidFill>
          <a:ln w="12700">
            <a:solidFill>
              <a:srgbClr val="1B3F9E"/>
            </a:solidFill>
            <a:prstDash val="solid"/>
          </a:ln>
        </p:spPr>
      </p:sp>
      <p:sp>
        <p:nvSpPr>
          <p:cNvPr id="3" name="!!orbG"/>
          <p:cNvSpPr/>
          <p:nvPr/>
        </p:nvSpPr>
        <p:spPr>
          <a:xfrm>
            <a:off x="-822960" y="5943600"/>
            <a:ext cx="1463040" cy="1463040"/>
          </a:xfrm>
          <a:prstGeom prst="ellipse">
            <a:avLst/>
          </a:prstGeom>
          <a:solidFill>
            <a:srgbClr val="00923A"/>
          </a:solidFill>
          <a:ln w="12700">
            <a:solidFill>
              <a:srgbClr val="00923A"/>
            </a:solidFill>
            <a:prstDash val="solid"/>
          </a:ln>
        </p:spPr>
      </p:sp>
      <p:sp>
        <p:nvSpPr>
          <p:cNvPr id="4" name="!!orbY"/>
          <p:cNvSpPr/>
          <p:nvPr/>
        </p:nvSpPr>
        <p:spPr>
          <a:xfrm>
            <a:off x="8778240" y="6569964"/>
            <a:ext cx="640080" cy="640080"/>
          </a:xfrm>
          <a:prstGeom prst="ellipse">
            <a:avLst/>
          </a:prstGeom>
          <a:solidFill>
            <a:srgbClr val="FFFFFF">
              <a:alpha val="0"/>
            </a:srgbClr>
          </a:solidFill>
          <a:ln w="5334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INTRODUCTION</a:t>
            </a:r>
            <a:endParaRPr lang="fr-FR" sz="1200" dirty="0"/>
          </a:p>
        </p:txBody>
      </p:sp>
      <p:sp>
        <p:nvSpPr>
          <p:cNvPr id="6" name="title"/>
          <p:cNvSpPr txBox="1"/>
          <p:nvPr/>
        </p:nvSpPr>
        <p:spPr>
          <a:xfrm>
            <a:off x="640080" y="777240"/>
            <a:ext cx="8732520"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Le courrier, premier circuit de l’information</a:t>
            </a:r>
            <a:endParaRPr lang="fr-FR" sz="3200" dirty="0"/>
          </a:p>
        </p:txBody>
      </p:sp>
      <p:sp>
        <p:nvSpPr>
          <p:cNvPr id="7" name="lede"/>
          <p:cNvSpPr txBox="1"/>
          <p:nvPr/>
        </p:nvSpPr>
        <p:spPr>
          <a:xfrm>
            <a:off x="640080" y="1783080"/>
            <a:ext cx="6287414" cy="1097280"/>
          </a:xfrm>
          <a:prstGeom prst="rect">
            <a:avLst/>
          </a:prstGeom>
          <a:noFill/>
          <a:ln/>
        </p:spPr>
        <p:txBody>
          <a:bodyPr wrap="square" lIns="0" tIns="0" rIns="0" bIns="0" rtlCol="0" anchor="t"/>
          <a:lstStyle/>
          <a:p>
            <a:pPr indent="0" marL="0">
              <a:buNone/>
            </a:pPr>
            <a:r>
              <a:rPr lang="fr-FR" altLang="en-US" sz="1600" dirty="0">
                <a:solidFill>
                  <a:srgbClr val="56617C"/>
                </a:solidFill>
                <a:latin typeface="Calibri" pitchFamily="34" charset="0"/>
                <a:ea typeface="Calibri" pitchFamily="34" charset="-122"/>
                <a:cs typeface="Calibri" pitchFamily="34" charset="-120"/>
              </a:rPr>
              <a:t>Demandes des citoyens, invitations, décisions du Maire : tout passe par la réception, l’enregistrement, la transmission et l’archivage. Un circuit lent ou mal suivi retarde les dossiers et fragilise la confiance des usagers.</a:t>
            </a:r>
            <a:endParaRPr lang="fr-FR" sz="1600" dirty="0"/>
          </a:p>
        </p:txBody>
      </p:sp>
      <p:sp>
        <p:nvSpPr>
          <p:cNvPr id="8" name="stagecard"/>
          <p:cNvSpPr/>
          <p:nvPr/>
        </p:nvSpPr>
        <p:spPr>
          <a:xfrm>
            <a:off x="7364120" y="1783080"/>
            <a:ext cx="3711321" cy="1417320"/>
          </a:xfrm>
          <a:prstGeom prst="roundRect">
            <a:avLst>
              <a:gd name="adj" fmla="val 7742"/>
            </a:avLst>
          </a:prstGeom>
          <a:solidFill>
            <a:srgbClr val="EEF2FB"/>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9" name="stagetxt"/>
          <p:cNvSpPr txBox="1"/>
          <p:nvPr/>
        </p:nvSpPr>
        <p:spPr>
          <a:xfrm>
            <a:off x="7582433" y="1920240"/>
            <a:ext cx="3362020" cy="1188720"/>
          </a:xfrm>
          <a:prstGeom prst="rect">
            <a:avLst/>
          </a:prstGeom>
          <a:noFill/>
          <a:ln/>
        </p:spPr>
        <p:txBody>
          <a:bodyPr wrap="square" lIns="0" tIns="0" rIns="0" bIns="0" rtlCol="0" anchor="t"/>
          <a:lstStyle/>
          <a:p>
            <a:pPr indent="0" marL="0">
              <a:buNone/>
            </a:pPr>
            <a:r>
              <a:rPr lang="fr-FR" altLang="en-US" sz="1200" b="1" spc="200" kern="0" dirty="0">
                <a:solidFill>
                  <a:srgbClr val="1B3F9E"/>
                </a:solidFill>
                <a:latin typeface="Calibri" pitchFamily="34" charset="0"/>
                <a:ea typeface="Calibri" pitchFamily="34" charset="-122"/>
                <a:cs typeface="Calibri" pitchFamily="34" charset="-120"/>
              </a:rPr>
              <a:t>LE STAGE</a:t>
            </a:r>
            <a:endParaRPr lang="fr-FR" sz="1200" dirty="0"/>
          </a:p>
          <a:p>
            <a:pPr indent="0" marL="0">
              <a:buNone/>
            </a:pPr>
            <a:r>
              <a:rPr lang="fr-FR" altLang="en-US" sz="2000" b="1" dirty="0">
                <a:solidFill>
                  <a:srgbClr val="0E1C46"/>
                </a:solidFill>
                <a:latin typeface="Calibri" pitchFamily="34" charset="0"/>
                <a:ea typeface="Calibri" pitchFamily="34" charset="-122"/>
                <a:cs typeface="Calibri" pitchFamily="34" charset="-120"/>
              </a:rPr>
              <a:t>11 mai – 12 août 2026</a:t>
            </a:r>
            <a:endParaRPr lang="fr-FR" sz="1200" dirty="0"/>
          </a:p>
          <a:p>
            <a:pPr indent="0" marL="0">
              <a:buNone/>
            </a:pPr>
            <a:r>
              <a:rPr lang="fr-FR" altLang="en-US" sz="1300" dirty="0">
                <a:solidFill>
                  <a:srgbClr val="56617C"/>
                </a:solidFill>
                <a:latin typeface="Calibri" pitchFamily="34" charset="0"/>
                <a:ea typeface="Calibri" pitchFamily="34" charset="-122"/>
                <a:cs typeface="Calibri" pitchFamily="34" charset="-120"/>
              </a:rPr>
              <a:t>13 semaines · Secrétariat général · Commune du Golfe 3</a:t>
            </a:r>
            <a:endParaRPr lang="fr-FR" sz="1200" dirty="0"/>
          </a:p>
        </p:txBody>
      </p:sp>
      <p:sp>
        <p:nvSpPr>
          <p:cNvPr id="10" name="ic0"/>
          <p:cNvSpPr/>
          <p:nvPr/>
        </p:nvSpPr>
        <p:spPr>
          <a:xfrm>
            <a:off x="640080" y="3611880"/>
            <a:ext cx="3274695" cy="2331720"/>
          </a:xfrm>
          <a:prstGeom prst="roundRect">
            <a:avLst>
              <a:gd name="adj" fmla="val 4706"/>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1" name="ici0c"/>
          <p:cNvSpPr/>
          <p:nvPr/>
        </p:nvSpPr>
        <p:spPr>
          <a:xfrm>
            <a:off x="945718" y="3886200"/>
            <a:ext cx="742264" cy="777240"/>
          </a:xfrm>
          <a:prstGeom prst="ellipse">
            <a:avLst/>
          </a:prstGeom>
          <a:solidFill>
            <a:srgbClr val="1B3F9E"/>
          </a:solidFill>
          <a:ln w="12700">
            <a:solidFill>
              <a:srgbClr val="1B3F9E"/>
            </a:solidFill>
            <a:prstDash val="solid"/>
          </a:ln>
        </p:spPr>
      </p:sp>
      <p:pic>
        <p:nvPicPr>
          <p:cNvPr id="12" name="ici0i" descr="preencoded.png">    </p:cNvPr>
          <p:cNvPicPr>
            <a:picLocks noChangeAspect="1"/>
          </p:cNvPicPr>
          <p:nvPr/>
        </p:nvPicPr>
        <p:blipFill>
          <a:blip r:embed="rId1"/>
          <a:stretch>
            <a:fillRect/>
          </a:stretch>
        </p:blipFill>
        <p:spPr>
          <a:xfrm>
            <a:off x="1138707" y="4088282"/>
            <a:ext cx="356287" cy="373075"/>
          </a:xfrm>
          <a:prstGeom prst="rect">
            <a:avLst/>
          </a:prstGeom>
        </p:spPr>
      </p:pic>
      <p:sp>
        <p:nvSpPr>
          <p:cNvPr id="13" name="ict0"/>
          <p:cNvSpPr txBox="1"/>
          <p:nvPr/>
        </p:nvSpPr>
        <p:spPr>
          <a:xfrm>
            <a:off x="945718" y="4800600"/>
            <a:ext cx="2707081" cy="274320"/>
          </a:xfrm>
          <a:prstGeom prst="rect">
            <a:avLst/>
          </a:prstGeom>
          <a:noFill/>
          <a:ln/>
        </p:spPr>
        <p:txBody>
          <a:bodyPr wrap="square" lIns="0" tIns="0" rIns="0" bIns="0" rtlCol="0" anchor="t"/>
          <a:lstStyle/>
          <a:p>
            <a:pPr indent="0" marL="0">
              <a:buNone/>
            </a:pPr>
            <a:r>
              <a:rPr lang="fr-FR" altLang="en-US" sz="1200" b="1" spc="200" kern="0" dirty="0">
                <a:solidFill>
                  <a:srgbClr val="1B3F9E"/>
                </a:solidFill>
                <a:latin typeface="Calibri" pitchFamily="34" charset="0"/>
                <a:ea typeface="Calibri" pitchFamily="34" charset="-122"/>
                <a:cs typeface="Calibri" pitchFamily="34" charset="-120"/>
              </a:rPr>
              <a:t>INTÉRÊT PERSONNEL</a:t>
            </a:r>
            <a:endParaRPr lang="fr-FR" sz="1200" dirty="0"/>
          </a:p>
        </p:txBody>
      </p:sp>
      <p:sp>
        <p:nvSpPr>
          <p:cNvPr id="14" name="icd0"/>
          <p:cNvSpPr txBox="1"/>
          <p:nvPr/>
        </p:nvSpPr>
        <p:spPr>
          <a:xfrm>
            <a:off x="945718" y="5120640"/>
            <a:ext cx="2707081" cy="731520"/>
          </a:xfrm>
          <a:prstGeom prst="rect">
            <a:avLst/>
          </a:prstGeom>
          <a:noFill/>
          <a:ln/>
        </p:spPr>
        <p:txBody>
          <a:bodyPr wrap="square" lIns="0" tIns="0" rIns="0" bIns="0" rtlCol="0" anchor="t"/>
          <a:lstStyle/>
          <a:p>
            <a:pPr indent="0" marL="0">
              <a:buNone/>
            </a:pPr>
            <a:r>
              <a:rPr lang="fr-FR" altLang="en-US" sz="1500" dirty="0">
                <a:solidFill>
                  <a:srgbClr val="0E1C46"/>
                </a:solidFill>
                <a:latin typeface="Calibri" pitchFamily="34" charset="0"/>
                <a:ea typeface="Calibri" pitchFamily="34" charset="-122"/>
                <a:cs typeface="Calibri" pitchFamily="34" charset="-120"/>
              </a:rPr>
              <a:t>Un domaine au cœur du métier d’assistante de direction.</a:t>
            </a:r>
            <a:endParaRPr lang="fr-FR" sz="1500" dirty="0"/>
          </a:p>
        </p:txBody>
      </p:sp>
      <p:sp>
        <p:nvSpPr>
          <p:cNvPr id="15" name="ic1"/>
          <p:cNvSpPr/>
          <p:nvPr/>
        </p:nvSpPr>
        <p:spPr>
          <a:xfrm>
            <a:off x="4176751" y="3611880"/>
            <a:ext cx="3274695" cy="2331720"/>
          </a:xfrm>
          <a:prstGeom prst="roundRect">
            <a:avLst>
              <a:gd name="adj" fmla="val 4706"/>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6" name="ici1c"/>
          <p:cNvSpPr/>
          <p:nvPr/>
        </p:nvSpPr>
        <p:spPr>
          <a:xfrm>
            <a:off x="4482389" y="3886200"/>
            <a:ext cx="742264" cy="777240"/>
          </a:xfrm>
          <a:prstGeom prst="ellipse">
            <a:avLst/>
          </a:prstGeom>
          <a:solidFill>
            <a:srgbClr val="00923A"/>
          </a:solidFill>
          <a:ln w="12700">
            <a:solidFill>
              <a:srgbClr val="00923A"/>
            </a:solidFill>
            <a:prstDash val="solid"/>
          </a:ln>
        </p:spPr>
      </p:sp>
      <p:pic>
        <p:nvPicPr>
          <p:cNvPr id="17" name="ici1i" descr="preencoded.png">    </p:cNvPr>
          <p:cNvPicPr>
            <a:picLocks noChangeAspect="1"/>
          </p:cNvPicPr>
          <p:nvPr/>
        </p:nvPicPr>
        <p:blipFill>
          <a:blip r:embed="rId2"/>
          <a:stretch>
            <a:fillRect/>
          </a:stretch>
        </p:blipFill>
        <p:spPr>
          <a:xfrm>
            <a:off x="4675377" y="4088282"/>
            <a:ext cx="356287" cy="373075"/>
          </a:xfrm>
          <a:prstGeom prst="rect">
            <a:avLst/>
          </a:prstGeom>
        </p:spPr>
      </p:pic>
      <p:sp>
        <p:nvSpPr>
          <p:cNvPr id="18" name="ict1"/>
          <p:cNvSpPr txBox="1"/>
          <p:nvPr/>
        </p:nvSpPr>
        <p:spPr>
          <a:xfrm>
            <a:off x="4482389" y="4800600"/>
            <a:ext cx="2707081" cy="274320"/>
          </a:xfrm>
          <a:prstGeom prst="rect">
            <a:avLst/>
          </a:prstGeom>
          <a:noFill/>
          <a:ln/>
        </p:spPr>
        <p:txBody>
          <a:bodyPr wrap="square" lIns="0" tIns="0" rIns="0" bIns="0" rtlCol="0" anchor="t"/>
          <a:lstStyle/>
          <a:p>
            <a:pPr indent="0" marL="0">
              <a:buNone/>
            </a:pPr>
            <a:r>
              <a:rPr lang="fr-FR" altLang="en-US" sz="1200" b="1" spc="200" kern="0" dirty="0">
                <a:solidFill>
                  <a:srgbClr val="00923A"/>
                </a:solidFill>
                <a:latin typeface="Calibri" pitchFamily="34" charset="0"/>
                <a:ea typeface="Calibri" pitchFamily="34" charset="-122"/>
                <a:cs typeface="Calibri" pitchFamily="34" charset="-120"/>
              </a:rPr>
              <a:t>INTÉRÊT ACADÉMIQUE</a:t>
            </a:r>
            <a:endParaRPr lang="fr-FR" sz="1200" dirty="0"/>
          </a:p>
        </p:txBody>
      </p:sp>
      <p:sp>
        <p:nvSpPr>
          <p:cNvPr id="19" name="icd1"/>
          <p:cNvSpPr txBox="1"/>
          <p:nvPr/>
        </p:nvSpPr>
        <p:spPr>
          <a:xfrm>
            <a:off x="4482389" y="5120640"/>
            <a:ext cx="2707081" cy="731520"/>
          </a:xfrm>
          <a:prstGeom prst="rect">
            <a:avLst/>
          </a:prstGeom>
          <a:noFill/>
          <a:ln/>
        </p:spPr>
        <p:txBody>
          <a:bodyPr wrap="square" lIns="0" tIns="0" rIns="0" bIns="0" rtlCol="0" anchor="t"/>
          <a:lstStyle/>
          <a:p>
            <a:pPr indent="0" marL="0">
              <a:buNone/>
            </a:pPr>
            <a:r>
              <a:rPr lang="fr-FR" altLang="en-US" sz="1500" dirty="0">
                <a:solidFill>
                  <a:srgbClr val="0E1C46"/>
                </a:solidFill>
                <a:latin typeface="Calibri" pitchFamily="34" charset="0"/>
                <a:ea typeface="Calibri" pitchFamily="34" charset="-122"/>
                <a:cs typeface="Calibri" pitchFamily="34" charset="-120"/>
              </a:rPr>
              <a:t>Appliquer une démarche de recherche à une situation réelle.</a:t>
            </a:r>
            <a:endParaRPr lang="fr-FR" sz="1500" dirty="0"/>
          </a:p>
        </p:txBody>
      </p:sp>
      <p:sp>
        <p:nvSpPr>
          <p:cNvPr id="20" name="ic2"/>
          <p:cNvSpPr/>
          <p:nvPr/>
        </p:nvSpPr>
        <p:spPr>
          <a:xfrm>
            <a:off x="7713421" y="3611880"/>
            <a:ext cx="3274695" cy="2331720"/>
          </a:xfrm>
          <a:prstGeom prst="roundRect">
            <a:avLst>
              <a:gd name="adj" fmla="val 4706"/>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1" name="ici2c"/>
          <p:cNvSpPr/>
          <p:nvPr/>
        </p:nvSpPr>
        <p:spPr>
          <a:xfrm>
            <a:off x="8019059" y="3886200"/>
            <a:ext cx="742264" cy="777240"/>
          </a:xfrm>
          <a:prstGeom prst="ellipse">
            <a:avLst/>
          </a:prstGeom>
          <a:solidFill>
            <a:srgbClr val="E2A400"/>
          </a:solidFill>
          <a:ln w="12700">
            <a:solidFill>
              <a:srgbClr val="E2A400"/>
            </a:solidFill>
            <a:prstDash val="solid"/>
          </a:ln>
        </p:spPr>
      </p:sp>
      <p:pic>
        <p:nvPicPr>
          <p:cNvPr id="22" name="ici2i" descr="preencoded.png">    </p:cNvPr>
          <p:cNvPicPr>
            <a:picLocks noChangeAspect="1"/>
          </p:cNvPicPr>
          <p:nvPr/>
        </p:nvPicPr>
        <p:blipFill>
          <a:blip r:embed="rId3"/>
          <a:stretch>
            <a:fillRect/>
          </a:stretch>
        </p:blipFill>
        <p:spPr>
          <a:xfrm>
            <a:off x="8212048" y="4088282"/>
            <a:ext cx="356287" cy="373075"/>
          </a:xfrm>
          <a:prstGeom prst="rect">
            <a:avLst/>
          </a:prstGeom>
        </p:spPr>
      </p:pic>
      <p:sp>
        <p:nvSpPr>
          <p:cNvPr id="23" name="ict2"/>
          <p:cNvSpPr txBox="1"/>
          <p:nvPr/>
        </p:nvSpPr>
        <p:spPr>
          <a:xfrm>
            <a:off x="8019059" y="4800600"/>
            <a:ext cx="2707081" cy="274320"/>
          </a:xfrm>
          <a:prstGeom prst="rect">
            <a:avLst/>
          </a:prstGeom>
          <a:noFill/>
          <a:ln/>
        </p:spPr>
        <p:txBody>
          <a:bodyPr wrap="square" lIns="0" tIns="0" rIns="0" bIns="0" rtlCol="0" anchor="t"/>
          <a:lstStyle/>
          <a:p>
            <a:pPr indent="0" marL="0">
              <a:buNone/>
            </a:pPr>
            <a:r>
              <a:rPr lang="fr-FR" altLang="en-US" sz="1200" b="1" spc="200" kern="0" dirty="0">
                <a:solidFill>
                  <a:srgbClr val="9A6A00"/>
                </a:solidFill>
                <a:latin typeface="Calibri" pitchFamily="34" charset="0"/>
                <a:ea typeface="Calibri" pitchFamily="34" charset="-122"/>
                <a:cs typeface="Calibri" pitchFamily="34" charset="-120"/>
              </a:rPr>
              <a:t>INTÉRÊT SOCIAL</a:t>
            </a:r>
            <a:endParaRPr lang="fr-FR" sz="1200" dirty="0"/>
          </a:p>
        </p:txBody>
      </p:sp>
      <p:sp>
        <p:nvSpPr>
          <p:cNvPr id="24" name="icd2"/>
          <p:cNvSpPr txBox="1"/>
          <p:nvPr/>
        </p:nvSpPr>
        <p:spPr>
          <a:xfrm>
            <a:off x="8019059" y="5120640"/>
            <a:ext cx="2707081" cy="731520"/>
          </a:xfrm>
          <a:prstGeom prst="rect">
            <a:avLst/>
          </a:prstGeom>
          <a:noFill/>
          <a:ln/>
        </p:spPr>
        <p:txBody>
          <a:bodyPr wrap="square" lIns="0" tIns="0" rIns="0" bIns="0" rtlCol="0" anchor="t"/>
          <a:lstStyle/>
          <a:p>
            <a:pPr indent="0" marL="0">
              <a:buNone/>
            </a:pPr>
            <a:r>
              <a:rPr lang="fr-FR" altLang="en-US" sz="1500" dirty="0">
                <a:solidFill>
                  <a:srgbClr val="0E1C46"/>
                </a:solidFill>
                <a:latin typeface="Calibri" pitchFamily="34" charset="0"/>
                <a:ea typeface="Calibri" pitchFamily="34" charset="-122"/>
                <a:cs typeface="Calibri" pitchFamily="34" charset="-120"/>
              </a:rPr>
              <a:t>La qualité du circuit touche directement les usagers de la mairie.</a:t>
            </a:r>
            <a:endParaRPr lang="fr-FR" sz="1500" dirty="0"/>
          </a:p>
        </p:txBody>
      </p:sp>
      <p:pic>
        <p:nvPicPr>
          <p:cNvPr id="25" name="!!flogo" descr="preencoded.png">    </p:cNvPr>
          <p:cNvPicPr>
            <a:picLocks noChangeAspect="1"/>
          </p:cNvPicPr>
          <p:nvPr/>
        </p:nvPicPr>
        <p:blipFill>
          <a:blip r:embed="rId4"/>
          <a:stretch>
            <a:fillRect/>
          </a:stretch>
        </p:blipFill>
        <p:spPr>
          <a:xfrm>
            <a:off x="640080" y="6382512"/>
            <a:ext cx="329184" cy="274320"/>
          </a:xfrm>
          <a:prstGeom prst="rect">
            <a:avLst/>
          </a:prstGeom>
        </p:spPr>
      </p:pic>
      <p:sp>
        <p:nvSpPr>
          <p:cNvPr id="26"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7"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3 / 22</a:t>
            </a:r>
            <a:endParaRPr lang="fr-FR" sz="1000" dirty="0"/>
          </a:p>
        </p:txBody>
      </p:sp>
      <p:sp>
        <p:nvSpPr>
          <p:cNvPr id="28"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9" name="!!railline"/>
          <p:cNvSpPr/>
          <p:nvPr/>
        </p:nvSpPr>
        <p:spPr>
          <a:xfrm>
            <a:off x="11795760" y="1600200"/>
            <a:ext cx="914" cy="3383280"/>
          </a:xfrm>
          <a:prstGeom prst="line">
            <a:avLst/>
          </a:prstGeom>
          <a:noFill/>
          <a:ln w="25400">
            <a:solidFill>
              <a:srgbClr val="DDE3EE"/>
            </a:solidFill>
            <a:prstDash val="solid"/>
          </a:ln>
        </p:spPr>
      </p:sp>
      <p:sp>
        <p:nvSpPr>
          <p:cNvPr id="30" name="!!railprog"/>
          <p:cNvSpPr/>
          <p:nvPr/>
        </p:nvSpPr>
        <p:spPr>
          <a:xfrm>
            <a:off x="11795760" y="1600200"/>
            <a:ext cx="914" cy="914"/>
          </a:xfrm>
          <a:prstGeom prst="line">
            <a:avLst/>
          </a:prstGeom>
          <a:noFill/>
          <a:ln w="38100">
            <a:solidFill>
              <a:srgbClr val="00923A"/>
            </a:solidFill>
            <a:prstDash val="solid"/>
          </a:ln>
        </p:spPr>
      </p:sp>
      <p:sp>
        <p:nvSpPr>
          <p:cNvPr id="31" name="!!mact"/>
          <p:cNvSpPr/>
          <p:nvPr/>
        </p:nvSpPr>
        <p:spPr>
          <a:xfrm>
            <a:off x="11494008" y="1298448"/>
            <a:ext cx="603504" cy="603504"/>
          </a:xfrm>
          <a:prstGeom prst="ellipse">
            <a:avLst/>
          </a:prstGeom>
          <a:solidFill>
            <a:srgbClr val="FFFFFF">
              <a:alpha val="0"/>
            </a:srgbClr>
          </a:solidFill>
          <a:ln w="38100">
            <a:solidFill>
              <a:srgbClr val="FCC600"/>
            </a:solidFill>
            <a:prstDash val="solid"/>
          </a:ln>
        </p:spPr>
      </p:sp>
      <p:sp>
        <p:nvSpPr>
          <p:cNvPr id="32" name="!!m1"/>
          <p:cNvSpPr/>
          <p:nvPr/>
        </p:nvSpPr>
        <p:spPr>
          <a:xfrm>
            <a:off x="11594592" y="1399032"/>
            <a:ext cx="402336" cy="402336"/>
          </a:xfrm>
          <a:prstGeom prst="ellipse">
            <a:avLst/>
          </a:prstGeom>
          <a:solidFill>
            <a:srgbClr val="1B3F9E"/>
          </a:solidFill>
          <a:ln w="19050">
            <a:solidFill>
              <a:srgbClr val="1B3F9E"/>
            </a:solidFill>
            <a:prstDash val="solid"/>
          </a:ln>
        </p:spPr>
      </p:sp>
      <p:sp>
        <p:nvSpPr>
          <p:cNvPr id="33" name="!!mt1"/>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4" name="!!m2"/>
          <p:cNvSpPr/>
          <p:nvPr/>
        </p:nvSpPr>
        <p:spPr>
          <a:xfrm>
            <a:off x="11594592" y="2075688"/>
            <a:ext cx="402336" cy="402336"/>
          </a:xfrm>
          <a:prstGeom prst="ellipse">
            <a:avLst/>
          </a:prstGeom>
          <a:solidFill>
            <a:srgbClr val="FFFFFF"/>
          </a:solidFill>
          <a:ln w="19050">
            <a:solidFill>
              <a:srgbClr val="C9D2E3"/>
            </a:solidFill>
            <a:prstDash val="solid"/>
          </a:ln>
        </p:spPr>
      </p:sp>
      <p:sp>
        <p:nvSpPr>
          <p:cNvPr id="35" name="!!mt2">
            <a:hlinkClick r:id="rId5"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5"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6" name="!!m3"/>
          <p:cNvSpPr/>
          <p:nvPr/>
        </p:nvSpPr>
        <p:spPr>
          <a:xfrm>
            <a:off x="11594592" y="2752344"/>
            <a:ext cx="402336" cy="402336"/>
          </a:xfrm>
          <a:prstGeom prst="ellipse">
            <a:avLst/>
          </a:prstGeom>
          <a:solidFill>
            <a:srgbClr val="FFFFFF"/>
          </a:solidFill>
          <a:ln w="19050">
            <a:solidFill>
              <a:srgbClr val="C9D2E3"/>
            </a:solidFill>
            <a:prstDash val="solid"/>
          </a:ln>
        </p:spPr>
      </p:sp>
      <p:sp>
        <p:nvSpPr>
          <p:cNvPr id="37" name="!!mt3">
            <a:hlinkClick r:id="rId6"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6"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8"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39" name="!!mt4">
            <a:hlinkClick r:id="rId7"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7"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0"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41" name="!!mt5">
            <a:hlinkClick r:id="rId8"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8"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2"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3" name="!!mt6">
            <a:hlinkClick r:id="rId9"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4"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INTRODUCTION</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53" presetClass="entr" presetSubtype="16" fill="hold" grpId="0" nodeType="withEffect">
                                  <p:stCondLst>
                                    <p:cond delay="300"/>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p:tgtEl>
                                          <p:spTgt spid="8"/>
                                        </p:tgtEl>
                                        <p:attrNameLst>
                                          <p:attrName>ppt_w</p:attrName>
                                        </p:attrNameLst>
                                      </p:cBhvr>
                                      <p:tavLst>
                                        <p:tav tm="0">
                                          <p:val>
                                            <p:fltVal val="0"/>
                                          </p:val>
                                        </p:tav>
                                        <p:tav tm="100000">
                                          <p:val>
                                            <p:strVal val="#ppt_w"/>
                                          </p:val>
                                        </p:tav>
                                      </p:tavLst>
                                    </p:anim>
                                    <p:anim calcmode="lin" valueType="num">
                                      <p:cBhvr>
                                        <p:cTn id="17" dur="600" fill="hold"/>
                                        <p:tgtEl>
                                          <p:spTgt spid="8"/>
                                        </p:tgtEl>
                                        <p:attrNameLst>
                                          <p:attrName>ppt_h</p:attrName>
                                        </p:attrNameLst>
                                      </p:cBhvr>
                                      <p:tavLst>
                                        <p:tav tm="0">
                                          <p:val>
                                            <p:fltVal val="0"/>
                                          </p:val>
                                        </p:tav>
                                        <p:tav tm="100000">
                                          <p:val>
                                            <p:strVal val="#ppt_h"/>
                                          </p:val>
                                        </p:tav>
                                      </p:tavLst>
                                    </p:anim>
                                    <p:animEffect transition="in" filter="fade">
                                      <p:cBhvr>
                                        <p:cTn id="18" dur="600"/>
                                        <p:tgtEl>
                                          <p:spTgt spid="8"/>
                                        </p:tgtEl>
                                      </p:cBhvr>
                                    </p:animEffect>
                                  </p:childTnLst>
                                </p:cTn>
                              </p:par>
                              <p:par>
                                <p:cTn id="19" presetID="10" presetClass="entr" presetSubtype="0" fill="hold" grpId="0" nodeType="withEffect">
                                  <p:stCondLst>
                                    <p:cond delay="3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53" presetClass="entr" presetSubtype="16" fill="hold" grpId="0" nodeType="withEffect">
                                  <p:stCondLst>
                                    <p:cond delay="400"/>
                                  </p:stCondLst>
                                  <p:childTnLst>
                                    <p:set>
                                      <p:cBhvr>
                                        <p:cTn id="23" dur="1" fill="hold">
                                          <p:stCondLst>
                                            <p:cond delay="0"/>
                                          </p:stCondLst>
                                        </p:cTn>
                                        <p:tgtEl>
                                          <p:spTgt spid="10"/>
                                        </p:tgtEl>
                                        <p:attrNameLst>
                                          <p:attrName>style.visibility</p:attrName>
                                        </p:attrNameLst>
                                      </p:cBhvr>
                                      <p:to>
                                        <p:strVal val="visible"/>
                                      </p:to>
                                    </p:set>
                                    <p:anim calcmode="lin" valueType="num">
                                      <p:cBhvr>
                                        <p:cTn id="24" dur="600" fill="hold"/>
                                        <p:tgtEl>
                                          <p:spTgt spid="10"/>
                                        </p:tgtEl>
                                        <p:attrNameLst>
                                          <p:attrName>ppt_w</p:attrName>
                                        </p:attrNameLst>
                                      </p:cBhvr>
                                      <p:tavLst>
                                        <p:tav tm="0">
                                          <p:val>
                                            <p:fltVal val="0"/>
                                          </p:val>
                                        </p:tav>
                                        <p:tav tm="100000">
                                          <p:val>
                                            <p:strVal val="#ppt_w"/>
                                          </p:val>
                                        </p:tav>
                                      </p:tavLst>
                                    </p:anim>
                                    <p:anim calcmode="lin" valueType="num">
                                      <p:cBhvr>
                                        <p:cTn id="25" dur="600" fill="hold"/>
                                        <p:tgtEl>
                                          <p:spTgt spid="10"/>
                                        </p:tgtEl>
                                        <p:attrNameLst>
                                          <p:attrName>ppt_h</p:attrName>
                                        </p:attrNameLst>
                                      </p:cBhvr>
                                      <p:tavLst>
                                        <p:tav tm="0">
                                          <p:val>
                                            <p:fltVal val="0"/>
                                          </p:val>
                                        </p:tav>
                                        <p:tav tm="100000">
                                          <p:val>
                                            <p:strVal val="#ppt_h"/>
                                          </p:val>
                                        </p:tav>
                                      </p:tavLst>
                                    </p:anim>
                                    <p:animEffect transition="in" filter="fade">
                                      <p:cBhvr>
                                        <p:cTn id="26" dur="600"/>
                                        <p:tgtEl>
                                          <p:spTgt spid="10"/>
                                        </p:tgtEl>
                                      </p:cBhvr>
                                    </p:animEffect>
                                  </p:childTnLst>
                                </p:cTn>
                              </p:par>
                              <p:par>
                                <p:cTn id="27" presetID="53" presetClass="entr" presetSubtype="16" fill="hold" grpId="0" nodeType="withEffect">
                                  <p:stCondLst>
                                    <p:cond delay="450"/>
                                  </p:stCondLst>
                                  <p:childTnLst>
                                    <p:set>
                                      <p:cBhvr>
                                        <p:cTn id="28" dur="1" fill="hold">
                                          <p:stCondLst>
                                            <p:cond delay="0"/>
                                          </p:stCondLst>
                                        </p:cTn>
                                        <p:tgtEl>
                                          <p:spTgt spid="11"/>
                                        </p:tgtEl>
                                        <p:attrNameLst>
                                          <p:attrName>style.visibility</p:attrName>
                                        </p:attrNameLst>
                                      </p:cBhvr>
                                      <p:to>
                                        <p:strVal val="visible"/>
                                      </p:to>
                                    </p:set>
                                    <p:anim calcmode="lin" valueType="num">
                                      <p:cBhvr>
                                        <p:cTn id="29" dur="600" fill="hold"/>
                                        <p:tgtEl>
                                          <p:spTgt spid="11"/>
                                        </p:tgtEl>
                                        <p:attrNameLst>
                                          <p:attrName>ppt_w</p:attrName>
                                        </p:attrNameLst>
                                      </p:cBhvr>
                                      <p:tavLst>
                                        <p:tav tm="0">
                                          <p:val>
                                            <p:fltVal val="0"/>
                                          </p:val>
                                        </p:tav>
                                        <p:tav tm="100000">
                                          <p:val>
                                            <p:strVal val="#ppt_w"/>
                                          </p:val>
                                        </p:tav>
                                      </p:tavLst>
                                    </p:anim>
                                    <p:anim calcmode="lin" valueType="num">
                                      <p:cBhvr>
                                        <p:cTn id="30" dur="600" fill="hold"/>
                                        <p:tgtEl>
                                          <p:spTgt spid="11"/>
                                        </p:tgtEl>
                                        <p:attrNameLst>
                                          <p:attrName>ppt_h</p:attrName>
                                        </p:attrNameLst>
                                      </p:cBhvr>
                                      <p:tavLst>
                                        <p:tav tm="0">
                                          <p:val>
                                            <p:fltVal val="0"/>
                                          </p:val>
                                        </p:tav>
                                        <p:tav tm="100000">
                                          <p:val>
                                            <p:strVal val="#ppt_h"/>
                                          </p:val>
                                        </p:tav>
                                      </p:tavLst>
                                    </p:anim>
                                    <p:animEffect transition="in" filter="fade">
                                      <p:cBhvr>
                                        <p:cTn id="31" dur="600"/>
                                        <p:tgtEl>
                                          <p:spTgt spid="11"/>
                                        </p:tgtEl>
                                      </p:cBhvr>
                                    </p:animEffect>
                                  </p:childTnLst>
                                </p:cTn>
                              </p:par>
                              <p:par>
                                <p:cTn id="32" presetID="53" presetClass="entr" presetSubtype="16" fill="hold" grpId="0" nodeType="withEffect">
                                  <p:stCondLst>
                                    <p:cond delay="450"/>
                                  </p:stCondLst>
                                  <p:childTnLst>
                                    <p:set>
                                      <p:cBhvr>
                                        <p:cTn id="33" dur="1" fill="hold">
                                          <p:stCondLst>
                                            <p:cond delay="0"/>
                                          </p:stCondLst>
                                        </p:cTn>
                                        <p:tgtEl>
                                          <p:spTgt spid="12"/>
                                        </p:tgtEl>
                                        <p:attrNameLst>
                                          <p:attrName>style.visibility</p:attrName>
                                        </p:attrNameLst>
                                      </p:cBhvr>
                                      <p:to>
                                        <p:strVal val="visible"/>
                                      </p:to>
                                    </p:set>
                                    <p:anim calcmode="lin" valueType="num">
                                      <p:cBhvr>
                                        <p:cTn id="34" dur="600" fill="hold"/>
                                        <p:tgtEl>
                                          <p:spTgt spid="12"/>
                                        </p:tgtEl>
                                        <p:attrNameLst>
                                          <p:attrName>ppt_w</p:attrName>
                                        </p:attrNameLst>
                                      </p:cBhvr>
                                      <p:tavLst>
                                        <p:tav tm="0">
                                          <p:val>
                                            <p:fltVal val="0"/>
                                          </p:val>
                                        </p:tav>
                                        <p:tav tm="100000">
                                          <p:val>
                                            <p:strVal val="#ppt_w"/>
                                          </p:val>
                                        </p:tav>
                                      </p:tavLst>
                                    </p:anim>
                                    <p:anim calcmode="lin" valueType="num">
                                      <p:cBhvr>
                                        <p:cTn id="35" dur="600" fill="hold"/>
                                        <p:tgtEl>
                                          <p:spTgt spid="12"/>
                                        </p:tgtEl>
                                        <p:attrNameLst>
                                          <p:attrName>ppt_h</p:attrName>
                                        </p:attrNameLst>
                                      </p:cBhvr>
                                      <p:tavLst>
                                        <p:tav tm="0">
                                          <p:val>
                                            <p:fltVal val="0"/>
                                          </p:val>
                                        </p:tav>
                                        <p:tav tm="100000">
                                          <p:val>
                                            <p:strVal val="#ppt_h"/>
                                          </p:val>
                                        </p:tav>
                                      </p:tavLst>
                                    </p:anim>
                                    <p:animEffect transition="in" filter="fade">
                                      <p:cBhvr>
                                        <p:cTn id="36" dur="600"/>
                                        <p:tgtEl>
                                          <p:spTgt spid="12"/>
                                        </p:tgtEl>
                                      </p:cBhvr>
                                    </p:animEffect>
                                  </p:childTnLst>
                                </p:cTn>
                              </p:par>
                              <p:par>
                                <p:cTn id="37" presetID="10" presetClass="entr" presetSubtype="0" fill="hold" grpId="0" nodeType="withEffect">
                                  <p:stCondLst>
                                    <p:cond delay="5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00"/>
                                        <p:tgtEl>
                                          <p:spTgt spid="13"/>
                                        </p:tgtEl>
                                      </p:cBhvr>
                                    </p:animEffect>
                                  </p:childTnLst>
                                </p:cTn>
                              </p:par>
                              <p:par>
                                <p:cTn id="40" presetID="10" presetClass="entr" presetSubtype="0" fill="hold" grpId="0" nodeType="withEffect">
                                  <p:stCondLst>
                                    <p:cond delay="55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600"/>
                                        <p:tgtEl>
                                          <p:spTgt spid="14"/>
                                        </p:tgtEl>
                                      </p:cBhvr>
                                    </p:animEffect>
                                  </p:childTnLst>
                                </p:cTn>
                              </p:par>
                              <p:par>
                                <p:cTn id="43" presetID="53" presetClass="entr" presetSubtype="16" fill="hold" grpId="0" nodeType="withEffect">
                                  <p:stCondLst>
                                    <p:cond delay="650"/>
                                  </p:stCondLst>
                                  <p:childTnLst>
                                    <p:set>
                                      <p:cBhvr>
                                        <p:cTn id="44" dur="1" fill="hold">
                                          <p:stCondLst>
                                            <p:cond delay="0"/>
                                          </p:stCondLst>
                                        </p:cTn>
                                        <p:tgtEl>
                                          <p:spTgt spid="15"/>
                                        </p:tgtEl>
                                        <p:attrNameLst>
                                          <p:attrName>style.visibility</p:attrName>
                                        </p:attrNameLst>
                                      </p:cBhvr>
                                      <p:to>
                                        <p:strVal val="visible"/>
                                      </p:to>
                                    </p:set>
                                    <p:anim calcmode="lin" valueType="num">
                                      <p:cBhvr>
                                        <p:cTn id="45" dur="600" fill="hold"/>
                                        <p:tgtEl>
                                          <p:spTgt spid="15"/>
                                        </p:tgtEl>
                                        <p:attrNameLst>
                                          <p:attrName>ppt_w</p:attrName>
                                        </p:attrNameLst>
                                      </p:cBhvr>
                                      <p:tavLst>
                                        <p:tav tm="0">
                                          <p:val>
                                            <p:fltVal val="0"/>
                                          </p:val>
                                        </p:tav>
                                        <p:tav tm="100000">
                                          <p:val>
                                            <p:strVal val="#ppt_w"/>
                                          </p:val>
                                        </p:tav>
                                      </p:tavLst>
                                    </p:anim>
                                    <p:anim calcmode="lin" valueType="num">
                                      <p:cBhvr>
                                        <p:cTn id="46" dur="600" fill="hold"/>
                                        <p:tgtEl>
                                          <p:spTgt spid="15"/>
                                        </p:tgtEl>
                                        <p:attrNameLst>
                                          <p:attrName>ppt_h</p:attrName>
                                        </p:attrNameLst>
                                      </p:cBhvr>
                                      <p:tavLst>
                                        <p:tav tm="0">
                                          <p:val>
                                            <p:fltVal val="0"/>
                                          </p:val>
                                        </p:tav>
                                        <p:tav tm="100000">
                                          <p:val>
                                            <p:strVal val="#ppt_h"/>
                                          </p:val>
                                        </p:tav>
                                      </p:tavLst>
                                    </p:anim>
                                    <p:animEffect transition="in" filter="fade">
                                      <p:cBhvr>
                                        <p:cTn id="47" dur="600"/>
                                        <p:tgtEl>
                                          <p:spTgt spid="15"/>
                                        </p:tgtEl>
                                      </p:cBhvr>
                                    </p:animEffect>
                                  </p:childTnLst>
                                </p:cTn>
                              </p:par>
                              <p:par>
                                <p:cTn id="48" presetID="53" presetClass="entr" presetSubtype="16" fill="hold" grpId="0" nodeType="withEffect">
                                  <p:stCondLst>
                                    <p:cond delay="700"/>
                                  </p:stCondLst>
                                  <p:childTnLst>
                                    <p:set>
                                      <p:cBhvr>
                                        <p:cTn id="49" dur="1" fill="hold">
                                          <p:stCondLst>
                                            <p:cond delay="0"/>
                                          </p:stCondLst>
                                        </p:cTn>
                                        <p:tgtEl>
                                          <p:spTgt spid="16"/>
                                        </p:tgtEl>
                                        <p:attrNameLst>
                                          <p:attrName>style.visibility</p:attrName>
                                        </p:attrNameLst>
                                      </p:cBhvr>
                                      <p:to>
                                        <p:strVal val="visible"/>
                                      </p:to>
                                    </p:set>
                                    <p:anim calcmode="lin" valueType="num">
                                      <p:cBhvr>
                                        <p:cTn id="50" dur="600" fill="hold"/>
                                        <p:tgtEl>
                                          <p:spTgt spid="16"/>
                                        </p:tgtEl>
                                        <p:attrNameLst>
                                          <p:attrName>ppt_w</p:attrName>
                                        </p:attrNameLst>
                                      </p:cBhvr>
                                      <p:tavLst>
                                        <p:tav tm="0">
                                          <p:val>
                                            <p:fltVal val="0"/>
                                          </p:val>
                                        </p:tav>
                                        <p:tav tm="100000">
                                          <p:val>
                                            <p:strVal val="#ppt_w"/>
                                          </p:val>
                                        </p:tav>
                                      </p:tavLst>
                                    </p:anim>
                                    <p:anim calcmode="lin" valueType="num">
                                      <p:cBhvr>
                                        <p:cTn id="51" dur="600" fill="hold"/>
                                        <p:tgtEl>
                                          <p:spTgt spid="16"/>
                                        </p:tgtEl>
                                        <p:attrNameLst>
                                          <p:attrName>ppt_h</p:attrName>
                                        </p:attrNameLst>
                                      </p:cBhvr>
                                      <p:tavLst>
                                        <p:tav tm="0">
                                          <p:val>
                                            <p:fltVal val="0"/>
                                          </p:val>
                                        </p:tav>
                                        <p:tav tm="100000">
                                          <p:val>
                                            <p:strVal val="#ppt_h"/>
                                          </p:val>
                                        </p:tav>
                                      </p:tavLst>
                                    </p:anim>
                                    <p:animEffect transition="in" filter="fade">
                                      <p:cBhvr>
                                        <p:cTn id="52" dur="600"/>
                                        <p:tgtEl>
                                          <p:spTgt spid="16"/>
                                        </p:tgtEl>
                                      </p:cBhvr>
                                    </p:animEffect>
                                  </p:childTnLst>
                                </p:cTn>
                              </p:par>
                              <p:par>
                                <p:cTn id="53" presetID="53" presetClass="entr" presetSubtype="16" fill="hold" grpId="0" nodeType="withEffect">
                                  <p:stCondLst>
                                    <p:cond delay="700"/>
                                  </p:stCondLst>
                                  <p:childTnLst>
                                    <p:set>
                                      <p:cBhvr>
                                        <p:cTn id="54" dur="1" fill="hold">
                                          <p:stCondLst>
                                            <p:cond delay="0"/>
                                          </p:stCondLst>
                                        </p:cTn>
                                        <p:tgtEl>
                                          <p:spTgt spid="17"/>
                                        </p:tgtEl>
                                        <p:attrNameLst>
                                          <p:attrName>style.visibility</p:attrName>
                                        </p:attrNameLst>
                                      </p:cBhvr>
                                      <p:to>
                                        <p:strVal val="visible"/>
                                      </p:to>
                                    </p:set>
                                    <p:anim calcmode="lin" valueType="num">
                                      <p:cBhvr>
                                        <p:cTn id="55" dur="600" fill="hold"/>
                                        <p:tgtEl>
                                          <p:spTgt spid="17"/>
                                        </p:tgtEl>
                                        <p:attrNameLst>
                                          <p:attrName>ppt_w</p:attrName>
                                        </p:attrNameLst>
                                      </p:cBhvr>
                                      <p:tavLst>
                                        <p:tav tm="0">
                                          <p:val>
                                            <p:fltVal val="0"/>
                                          </p:val>
                                        </p:tav>
                                        <p:tav tm="100000">
                                          <p:val>
                                            <p:strVal val="#ppt_w"/>
                                          </p:val>
                                        </p:tav>
                                      </p:tavLst>
                                    </p:anim>
                                    <p:anim calcmode="lin" valueType="num">
                                      <p:cBhvr>
                                        <p:cTn id="56" dur="600" fill="hold"/>
                                        <p:tgtEl>
                                          <p:spTgt spid="17"/>
                                        </p:tgtEl>
                                        <p:attrNameLst>
                                          <p:attrName>ppt_h</p:attrName>
                                        </p:attrNameLst>
                                      </p:cBhvr>
                                      <p:tavLst>
                                        <p:tav tm="0">
                                          <p:val>
                                            <p:fltVal val="0"/>
                                          </p:val>
                                        </p:tav>
                                        <p:tav tm="100000">
                                          <p:val>
                                            <p:strVal val="#ppt_h"/>
                                          </p:val>
                                        </p:tav>
                                      </p:tavLst>
                                    </p:anim>
                                    <p:animEffect transition="in" filter="fade">
                                      <p:cBhvr>
                                        <p:cTn id="57" dur="600"/>
                                        <p:tgtEl>
                                          <p:spTgt spid="17"/>
                                        </p:tgtEl>
                                      </p:cBhvr>
                                    </p:animEffect>
                                  </p:childTnLst>
                                </p:cTn>
                              </p:par>
                              <p:par>
                                <p:cTn id="58" presetID="10" presetClass="entr" presetSubtype="0" fill="hold" grpId="0" nodeType="withEffect">
                                  <p:stCondLst>
                                    <p:cond delay="80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par>
                                <p:cTn id="61" presetID="10" presetClass="entr" presetSubtype="0" fill="hold" grpId="0" nodeType="withEffect">
                                  <p:stCondLst>
                                    <p:cond delay="80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600"/>
                                        <p:tgtEl>
                                          <p:spTgt spid="19"/>
                                        </p:tgtEl>
                                      </p:cBhvr>
                                    </p:animEffect>
                                  </p:childTnLst>
                                </p:cTn>
                              </p:par>
                              <p:par>
                                <p:cTn id="64" presetID="53" presetClass="entr" presetSubtype="16" fill="hold" grpId="0" nodeType="withEffect">
                                  <p:stCondLst>
                                    <p:cond delay="900"/>
                                  </p:stCondLst>
                                  <p:childTnLst>
                                    <p:set>
                                      <p:cBhvr>
                                        <p:cTn id="65" dur="1" fill="hold">
                                          <p:stCondLst>
                                            <p:cond delay="0"/>
                                          </p:stCondLst>
                                        </p:cTn>
                                        <p:tgtEl>
                                          <p:spTgt spid="20"/>
                                        </p:tgtEl>
                                        <p:attrNameLst>
                                          <p:attrName>style.visibility</p:attrName>
                                        </p:attrNameLst>
                                      </p:cBhvr>
                                      <p:to>
                                        <p:strVal val="visible"/>
                                      </p:to>
                                    </p:set>
                                    <p:anim calcmode="lin" valueType="num">
                                      <p:cBhvr>
                                        <p:cTn id="66" dur="600" fill="hold"/>
                                        <p:tgtEl>
                                          <p:spTgt spid="20"/>
                                        </p:tgtEl>
                                        <p:attrNameLst>
                                          <p:attrName>ppt_w</p:attrName>
                                        </p:attrNameLst>
                                      </p:cBhvr>
                                      <p:tavLst>
                                        <p:tav tm="0">
                                          <p:val>
                                            <p:fltVal val="0"/>
                                          </p:val>
                                        </p:tav>
                                        <p:tav tm="100000">
                                          <p:val>
                                            <p:strVal val="#ppt_w"/>
                                          </p:val>
                                        </p:tav>
                                      </p:tavLst>
                                    </p:anim>
                                    <p:anim calcmode="lin" valueType="num">
                                      <p:cBhvr>
                                        <p:cTn id="67" dur="600" fill="hold"/>
                                        <p:tgtEl>
                                          <p:spTgt spid="20"/>
                                        </p:tgtEl>
                                        <p:attrNameLst>
                                          <p:attrName>ppt_h</p:attrName>
                                        </p:attrNameLst>
                                      </p:cBhvr>
                                      <p:tavLst>
                                        <p:tav tm="0">
                                          <p:val>
                                            <p:fltVal val="0"/>
                                          </p:val>
                                        </p:tav>
                                        <p:tav tm="100000">
                                          <p:val>
                                            <p:strVal val="#ppt_h"/>
                                          </p:val>
                                        </p:tav>
                                      </p:tavLst>
                                    </p:anim>
                                    <p:animEffect transition="in" filter="fade">
                                      <p:cBhvr>
                                        <p:cTn id="68" dur="600"/>
                                        <p:tgtEl>
                                          <p:spTgt spid="20"/>
                                        </p:tgtEl>
                                      </p:cBhvr>
                                    </p:animEffect>
                                  </p:childTnLst>
                                </p:cTn>
                              </p:par>
                              <p:par>
                                <p:cTn id="69" presetID="53" presetClass="entr" presetSubtype="16" fill="hold" grpId="0" nodeType="withEffect">
                                  <p:stCondLst>
                                    <p:cond delay="950"/>
                                  </p:stCondLst>
                                  <p:childTnLst>
                                    <p:set>
                                      <p:cBhvr>
                                        <p:cTn id="70" dur="1" fill="hold">
                                          <p:stCondLst>
                                            <p:cond delay="0"/>
                                          </p:stCondLst>
                                        </p:cTn>
                                        <p:tgtEl>
                                          <p:spTgt spid="21"/>
                                        </p:tgtEl>
                                        <p:attrNameLst>
                                          <p:attrName>style.visibility</p:attrName>
                                        </p:attrNameLst>
                                      </p:cBhvr>
                                      <p:to>
                                        <p:strVal val="visible"/>
                                      </p:to>
                                    </p:set>
                                    <p:anim calcmode="lin" valueType="num">
                                      <p:cBhvr>
                                        <p:cTn id="71" dur="600" fill="hold"/>
                                        <p:tgtEl>
                                          <p:spTgt spid="21"/>
                                        </p:tgtEl>
                                        <p:attrNameLst>
                                          <p:attrName>ppt_w</p:attrName>
                                        </p:attrNameLst>
                                      </p:cBhvr>
                                      <p:tavLst>
                                        <p:tav tm="0">
                                          <p:val>
                                            <p:fltVal val="0"/>
                                          </p:val>
                                        </p:tav>
                                        <p:tav tm="100000">
                                          <p:val>
                                            <p:strVal val="#ppt_w"/>
                                          </p:val>
                                        </p:tav>
                                      </p:tavLst>
                                    </p:anim>
                                    <p:anim calcmode="lin" valueType="num">
                                      <p:cBhvr>
                                        <p:cTn id="72" dur="600" fill="hold"/>
                                        <p:tgtEl>
                                          <p:spTgt spid="21"/>
                                        </p:tgtEl>
                                        <p:attrNameLst>
                                          <p:attrName>ppt_h</p:attrName>
                                        </p:attrNameLst>
                                      </p:cBhvr>
                                      <p:tavLst>
                                        <p:tav tm="0">
                                          <p:val>
                                            <p:fltVal val="0"/>
                                          </p:val>
                                        </p:tav>
                                        <p:tav tm="100000">
                                          <p:val>
                                            <p:strVal val="#ppt_h"/>
                                          </p:val>
                                        </p:tav>
                                      </p:tavLst>
                                    </p:anim>
                                    <p:animEffect transition="in" filter="fade">
                                      <p:cBhvr>
                                        <p:cTn id="73" dur="600"/>
                                        <p:tgtEl>
                                          <p:spTgt spid="21"/>
                                        </p:tgtEl>
                                      </p:cBhvr>
                                    </p:animEffect>
                                  </p:childTnLst>
                                </p:cTn>
                              </p:par>
                              <p:par>
                                <p:cTn id="74" presetID="53" presetClass="entr" presetSubtype="16" fill="hold" grpId="0" nodeType="withEffect">
                                  <p:stCondLst>
                                    <p:cond delay="950"/>
                                  </p:stCondLst>
                                  <p:childTnLst>
                                    <p:set>
                                      <p:cBhvr>
                                        <p:cTn id="75" dur="1" fill="hold">
                                          <p:stCondLst>
                                            <p:cond delay="0"/>
                                          </p:stCondLst>
                                        </p:cTn>
                                        <p:tgtEl>
                                          <p:spTgt spid="22"/>
                                        </p:tgtEl>
                                        <p:attrNameLst>
                                          <p:attrName>style.visibility</p:attrName>
                                        </p:attrNameLst>
                                      </p:cBhvr>
                                      <p:to>
                                        <p:strVal val="visible"/>
                                      </p:to>
                                    </p:set>
                                    <p:anim calcmode="lin" valueType="num">
                                      <p:cBhvr>
                                        <p:cTn id="76" dur="600" fill="hold"/>
                                        <p:tgtEl>
                                          <p:spTgt spid="22"/>
                                        </p:tgtEl>
                                        <p:attrNameLst>
                                          <p:attrName>ppt_w</p:attrName>
                                        </p:attrNameLst>
                                      </p:cBhvr>
                                      <p:tavLst>
                                        <p:tav tm="0">
                                          <p:val>
                                            <p:fltVal val="0"/>
                                          </p:val>
                                        </p:tav>
                                        <p:tav tm="100000">
                                          <p:val>
                                            <p:strVal val="#ppt_w"/>
                                          </p:val>
                                        </p:tav>
                                      </p:tavLst>
                                    </p:anim>
                                    <p:anim calcmode="lin" valueType="num">
                                      <p:cBhvr>
                                        <p:cTn id="77" dur="600" fill="hold"/>
                                        <p:tgtEl>
                                          <p:spTgt spid="22"/>
                                        </p:tgtEl>
                                        <p:attrNameLst>
                                          <p:attrName>ppt_h</p:attrName>
                                        </p:attrNameLst>
                                      </p:cBhvr>
                                      <p:tavLst>
                                        <p:tav tm="0">
                                          <p:val>
                                            <p:fltVal val="0"/>
                                          </p:val>
                                        </p:tav>
                                        <p:tav tm="100000">
                                          <p:val>
                                            <p:strVal val="#ppt_h"/>
                                          </p:val>
                                        </p:tav>
                                      </p:tavLst>
                                    </p:anim>
                                    <p:animEffect transition="in" filter="fade">
                                      <p:cBhvr>
                                        <p:cTn id="78" dur="600"/>
                                        <p:tgtEl>
                                          <p:spTgt spid="22"/>
                                        </p:tgtEl>
                                      </p:cBhvr>
                                    </p:animEffect>
                                  </p:childTnLst>
                                </p:cTn>
                              </p:par>
                              <p:par>
                                <p:cTn id="79" presetID="10" presetClass="entr" presetSubtype="0" fill="hold" grpId="0" nodeType="withEffect">
                                  <p:stCondLst>
                                    <p:cond delay="105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600"/>
                                        <p:tgtEl>
                                          <p:spTgt spid="23"/>
                                        </p:tgtEl>
                                      </p:cBhvr>
                                    </p:animEffect>
                                  </p:childTnLst>
                                </p:cTn>
                              </p:par>
                              <p:par>
                                <p:cTn id="82" presetID="10" presetClass="entr" presetSubtype="0" fill="hold" grpId="0" nodeType="withEffect">
                                  <p:stCondLst>
                                    <p:cond delay="105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3" grpId="0" animBg="1"/>
      <p:bldP spid="14" grpId="0" animBg="1"/>
      <p:bldP spid="18" grpId="0" animBg="1"/>
      <p:bldP spid="19"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L0" descr="preencoded.png">    </p:cNvPr>
          <p:cNvPicPr>
            <a:picLocks noChangeAspect="1"/>
          </p:cNvPicPr>
          <p:nvPr/>
        </p:nvPicPr>
        <p:blipFill>
          <a:blip r:embed="rId1"/>
          <a:stretch>
            <a:fillRect/>
          </a:stretch>
        </p:blipFill>
        <p:spPr>
          <a:xfrm>
            <a:off x="6573512" y="320040"/>
            <a:ext cx="2580657" cy="6172200"/>
          </a:xfrm>
          <a:prstGeom prst="rect">
            <a:avLst/>
          </a:prstGeom>
        </p:spPr>
      </p:pic>
      <p:pic>
        <p:nvPicPr>
          <p:cNvPr id="3" name="!!pin" descr="preencoded.png">    </p:cNvPr>
          <p:cNvPicPr>
            <a:picLocks noChangeAspect="1"/>
          </p:cNvPicPr>
          <p:nvPr/>
        </p:nvPicPr>
        <p:blipFill>
          <a:blip r:embed="rId2"/>
          <a:stretch>
            <a:fillRect/>
          </a:stretch>
        </p:blipFill>
        <p:spPr>
          <a:xfrm>
            <a:off x="8089737" y="5675108"/>
            <a:ext cx="457200" cy="660400"/>
          </a:xfrm>
          <a:prstGeom prst="rect">
            <a:avLst/>
          </a:prstGeom>
        </p:spPr>
      </p:pic>
      <p:sp>
        <p:nvSpPr>
          <p:cNvPr id="4" name="plab"/>
          <p:cNvSpPr/>
          <p:nvPr/>
        </p:nvSpPr>
        <p:spPr>
          <a:xfrm>
            <a:off x="8665809" y="5668504"/>
            <a:ext cx="1188720" cy="384048"/>
          </a:xfrm>
          <a:prstGeom prst="roundRect">
            <a:avLst>
              <a:gd name="adj" fmla="val 19048"/>
            </a:avLst>
          </a:prstGeom>
          <a:solidFill>
            <a:srgbClr val="0E1C46"/>
          </a:solidFill>
          <a:ln w="12700">
            <a:solidFill>
              <a:srgbClr val="0E1C46"/>
            </a:solidFill>
            <a:prstDash val="solid"/>
          </a:ln>
        </p:spPr>
      </p:sp>
      <p:sp>
        <p:nvSpPr>
          <p:cNvPr id="5" name="plabt"/>
          <p:cNvSpPr txBox="1"/>
          <p:nvPr/>
        </p:nvSpPr>
        <p:spPr>
          <a:xfrm>
            <a:off x="8665809" y="5668504"/>
            <a:ext cx="1188720"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Lomé</a:t>
            </a:r>
            <a:endParaRPr lang="fr-FR" sz="1300" dirty="0"/>
          </a:p>
        </p:txBody>
      </p:sp>
      <p:sp>
        <p:nvSpPr>
          <p:cNvPr id="6" name="labxlr9b"/>
          <p:cNvSpPr txBox="1"/>
          <p:nvPr/>
        </p:nvSpPr>
        <p:spPr>
          <a:xfrm>
            <a:off x="6306336" y="1074779"/>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Savanes</a:t>
            </a:r>
            <a:endParaRPr lang="fr-FR" sz="1400" dirty="0"/>
          </a:p>
        </p:txBody>
      </p:sp>
      <p:sp>
        <p:nvSpPr>
          <p:cNvPr id="7" name="labyj98w"/>
          <p:cNvSpPr txBox="1"/>
          <p:nvPr/>
        </p:nvSpPr>
        <p:spPr>
          <a:xfrm>
            <a:off x="6768448" y="2200553"/>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Kara</a:t>
            </a:r>
            <a:endParaRPr lang="fr-FR" sz="1400" dirty="0"/>
          </a:p>
        </p:txBody>
      </p:sp>
      <p:sp>
        <p:nvSpPr>
          <p:cNvPr id="8" name="labzczi4"/>
          <p:cNvSpPr txBox="1"/>
          <p:nvPr/>
        </p:nvSpPr>
        <p:spPr>
          <a:xfrm>
            <a:off x="6982228" y="3287999"/>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Centrale</a:t>
            </a:r>
            <a:endParaRPr lang="fr-FR" sz="1400" dirty="0"/>
          </a:p>
        </p:txBody>
      </p:sp>
      <p:sp>
        <p:nvSpPr>
          <p:cNvPr id="9" name="lab1be73"/>
          <p:cNvSpPr txBox="1"/>
          <p:nvPr/>
        </p:nvSpPr>
        <p:spPr>
          <a:xfrm>
            <a:off x="7062101" y="4605055"/>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Plateaux</a:t>
            </a:r>
            <a:endParaRPr lang="fr-FR" sz="1400" dirty="0"/>
          </a:p>
        </p:txBody>
      </p:sp>
      <p:sp>
        <p:nvSpPr>
          <p:cNvPr id="10" name="lab3cf27"/>
          <p:cNvSpPr txBox="1"/>
          <p:nvPr/>
        </p:nvSpPr>
        <p:spPr>
          <a:xfrm>
            <a:off x="6296717" y="2478864"/>
            <a:ext cx="2194560" cy="292608"/>
          </a:xfrm>
          <a:prstGeom prst="rect">
            <a:avLst/>
          </a:prstGeom>
          <a:noFill/>
          <a:ln/>
        </p:spPr>
        <p:txBody>
          <a:bodyPr wrap="square" lIns="0" tIns="0" rIns="0" bIns="0" rtlCol="0" anchor="t"/>
          <a:lstStyle/>
          <a:p>
            <a:pPr algn="ctr" indent="0" marL="0">
              <a:buNone/>
            </a:pPr>
            <a:r>
              <a:rPr lang="fr-FR" altLang="en-US" sz="1200" dirty="0">
                <a:solidFill>
                  <a:srgbClr val="56617C"/>
                </a:solidFill>
                <a:latin typeface="Calibri" pitchFamily="34" charset="0"/>
                <a:ea typeface="Calibri" pitchFamily="34" charset="-122"/>
                <a:cs typeface="Calibri" pitchFamily="34" charset="-120"/>
              </a:rPr>
              <a:t>GHANA</a:t>
            </a:r>
            <a:endParaRPr lang="fr-FR" sz="1200" dirty="0"/>
          </a:p>
        </p:txBody>
      </p:sp>
      <p:sp>
        <p:nvSpPr>
          <p:cNvPr id="11" name="lab829n4"/>
          <p:cNvSpPr txBox="1"/>
          <p:nvPr/>
        </p:nvSpPr>
        <p:spPr>
          <a:xfrm>
            <a:off x="8166429" y="2478864"/>
            <a:ext cx="2194560" cy="292608"/>
          </a:xfrm>
          <a:prstGeom prst="rect">
            <a:avLst/>
          </a:prstGeom>
          <a:noFill/>
          <a:ln/>
        </p:spPr>
        <p:txBody>
          <a:bodyPr wrap="square" lIns="0" tIns="0" rIns="0" bIns="0" rtlCol="0" anchor="t"/>
          <a:lstStyle/>
          <a:p>
            <a:pPr algn="ctr" indent="0" marL="0">
              <a:buNone/>
            </a:pPr>
            <a:r>
              <a:rPr lang="fr-FR" altLang="en-US" sz="1200" dirty="0">
                <a:solidFill>
                  <a:srgbClr val="56617C"/>
                </a:solidFill>
                <a:latin typeface="Calibri" pitchFamily="34" charset="0"/>
                <a:ea typeface="Calibri" pitchFamily="34" charset="-122"/>
                <a:cs typeface="Calibri" pitchFamily="34" charset="-120"/>
              </a:rPr>
              <a:t>BÉNIN</a:t>
            </a:r>
            <a:endParaRPr lang="fr-FR" sz="1200" dirty="0"/>
          </a:p>
        </p:txBody>
      </p:sp>
      <p:sp>
        <p:nvSpPr>
          <p:cNvPr id="12" name="labubxii"/>
          <p:cNvSpPr txBox="1"/>
          <p:nvPr/>
        </p:nvSpPr>
        <p:spPr>
          <a:xfrm>
            <a:off x="6904660" y="335364"/>
            <a:ext cx="2194560" cy="292608"/>
          </a:xfrm>
          <a:prstGeom prst="rect">
            <a:avLst/>
          </a:prstGeom>
          <a:noFill/>
          <a:ln/>
        </p:spPr>
        <p:txBody>
          <a:bodyPr wrap="square" lIns="0" tIns="0" rIns="0" bIns="0" rtlCol="0" anchor="t"/>
          <a:lstStyle/>
          <a:p>
            <a:pPr algn="ctr" indent="0" marL="0">
              <a:buNone/>
            </a:pPr>
            <a:r>
              <a:rPr lang="fr-FR" altLang="en-US" sz="1200" dirty="0">
                <a:solidFill>
                  <a:srgbClr val="56617C"/>
                </a:solidFill>
                <a:latin typeface="Calibri" pitchFamily="34" charset="0"/>
                <a:ea typeface="Calibri" pitchFamily="34" charset="-122"/>
                <a:cs typeface="Calibri" pitchFamily="34" charset="-120"/>
              </a:rPr>
              <a:t>BURKINA FASO</a:t>
            </a:r>
            <a:endParaRPr lang="fr-FR" sz="1200" dirty="0"/>
          </a:p>
        </p:txBody>
      </p:sp>
      <p:sp>
        <p:nvSpPr>
          <p:cNvPr id="13" name="labhovz9"/>
          <p:cNvSpPr txBox="1"/>
          <p:nvPr/>
        </p:nvSpPr>
        <p:spPr>
          <a:xfrm>
            <a:off x="7191426" y="6464617"/>
            <a:ext cx="2194560" cy="292608"/>
          </a:xfrm>
          <a:prstGeom prst="rect">
            <a:avLst/>
          </a:prstGeom>
          <a:noFill/>
          <a:ln/>
        </p:spPr>
        <p:txBody>
          <a:bodyPr wrap="square" lIns="0" tIns="0" rIns="0" bIns="0" rtlCol="0" anchor="t"/>
          <a:lstStyle/>
          <a:p>
            <a:pPr algn="ctr" indent="0" marL="0">
              <a:buNone/>
            </a:pPr>
            <a:r>
              <a:rPr lang="fr-FR" altLang="en-US" sz="1200" i="1" dirty="0">
                <a:solidFill>
                  <a:srgbClr val="1B3F9E"/>
                </a:solidFill>
                <a:latin typeface="Calibri" pitchFamily="34" charset="0"/>
                <a:ea typeface="Calibri" pitchFamily="34" charset="-122"/>
                <a:cs typeface="Calibri" pitchFamily="34" charset="-120"/>
              </a:rPr>
              <a:t>Golfe de Guinée</a:t>
            </a:r>
            <a:endParaRPr lang="fr-FR" sz="1200" dirty="0"/>
          </a:p>
        </p:txBody>
      </p:sp>
      <p:sp>
        <p:nvSpPr>
          <p:cNvPr id="14" name="!!mapcard"/>
          <p:cNvSpPr/>
          <p:nvPr/>
        </p:nvSpPr>
        <p:spPr>
          <a:xfrm>
            <a:off x="502920" y="502920"/>
            <a:ext cx="3611880" cy="5486400"/>
          </a:xfrm>
          <a:prstGeom prst="roundRect">
            <a:avLst>
              <a:gd name="adj" fmla="val 303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5" name="!!dot0"/>
          <p:cNvSpPr/>
          <p:nvPr/>
        </p:nvSpPr>
        <p:spPr>
          <a:xfrm>
            <a:off x="822960" y="822960"/>
            <a:ext cx="384048" cy="384048"/>
          </a:xfrm>
          <a:prstGeom prst="ellipse">
            <a:avLst/>
          </a:prstGeom>
          <a:solidFill>
            <a:srgbClr val="1B3F9E"/>
          </a:solidFill>
          <a:ln w="19050">
            <a:solidFill>
              <a:srgbClr val="1B3F9E"/>
            </a:solidFill>
            <a:prstDash val="solid"/>
          </a:ln>
        </p:spPr>
      </p:sp>
      <p:sp>
        <p:nvSpPr>
          <p:cNvPr id="16" name="!!dott0"/>
          <p:cNvSpPr txBox="1"/>
          <p:nvPr/>
        </p:nvSpPr>
        <p:spPr>
          <a:xfrm>
            <a:off x="822960"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7" name="!!dot1"/>
          <p:cNvSpPr/>
          <p:nvPr/>
        </p:nvSpPr>
        <p:spPr>
          <a:xfrm>
            <a:off x="1389888" y="822960"/>
            <a:ext cx="384048" cy="384048"/>
          </a:xfrm>
          <a:prstGeom prst="ellipse">
            <a:avLst/>
          </a:prstGeom>
          <a:solidFill>
            <a:srgbClr val="FFFFFF"/>
          </a:solidFill>
          <a:ln w="19050">
            <a:solidFill>
              <a:srgbClr val="DDE3EE"/>
            </a:solidFill>
            <a:prstDash val="solid"/>
          </a:ln>
        </p:spPr>
      </p:sp>
      <p:sp>
        <p:nvSpPr>
          <p:cNvPr id="18" name="!!dott1"/>
          <p:cNvSpPr txBox="1"/>
          <p:nvPr/>
        </p:nvSpPr>
        <p:spPr>
          <a:xfrm>
            <a:off x="1389888"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2</a:t>
            </a:r>
            <a:endParaRPr lang="fr-FR" sz="1200" dirty="0"/>
          </a:p>
        </p:txBody>
      </p:sp>
      <p:sp>
        <p:nvSpPr>
          <p:cNvPr id="19" name="!!dot2"/>
          <p:cNvSpPr/>
          <p:nvPr/>
        </p:nvSpPr>
        <p:spPr>
          <a:xfrm>
            <a:off x="1956816" y="822960"/>
            <a:ext cx="384048" cy="384048"/>
          </a:xfrm>
          <a:prstGeom prst="ellipse">
            <a:avLst/>
          </a:prstGeom>
          <a:solidFill>
            <a:srgbClr val="FFFFFF"/>
          </a:solidFill>
          <a:ln w="19050">
            <a:solidFill>
              <a:srgbClr val="DDE3EE"/>
            </a:solidFill>
            <a:prstDash val="solid"/>
          </a:ln>
        </p:spPr>
      </p:sp>
      <p:sp>
        <p:nvSpPr>
          <p:cNvPr id="20" name="!!dott2"/>
          <p:cNvSpPr txBox="1"/>
          <p:nvPr/>
        </p:nvSpPr>
        <p:spPr>
          <a:xfrm>
            <a:off x="1956816"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3</a:t>
            </a:r>
            <a:endParaRPr lang="fr-FR" sz="1200" dirty="0"/>
          </a:p>
        </p:txBody>
      </p:sp>
      <p:sp>
        <p:nvSpPr>
          <p:cNvPr id="21" name="!!dot3"/>
          <p:cNvSpPr/>
          <p:nvPr/>
        </p:nvSpPr>
        <p:spPr>
          <a:xfrm>
            <a:off x="2523744" y="822960"/>
            <a:ext cx="384048" cy="384048"/>
          </a:xfrm>
          <a:prstGeom prst="ellipse">
            <a:avLst/>
          </a:prstGeom>
          <a:solidFill>
            <a:srgbClr val="FFFFFF"/>
          </a:solidFill>
          <a:ln w="19050">
            <a:solidFill>
              <a:srgbClr val="DDE3EE"/>
            </a:solidFill>
            <a:prstDash val="solid"/>
          </a:ln>
        </p:spPr>
      </p:sp>
      <p:sp>
        <p:nvSpPr>
          <p:cNvPr id="22" name="!!dott3"/>
          <p:cNvSpPr txBox="1"/>
          <p:nvPr/>
        </p:nvSpPr>
        <p:spPr>
          <a:xfrm>
            <a:off x="2523744"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4</a:t>
            </a:r>
            <a:endParaRPr lang="fr-FR" sz="1200" dirty="0"/>
          </a:p>
        </p:txBody>
      </p:sp>
      <p:sp>
        <p:nvSpPr>
          <p:cNvPr id="23" name="!!dot4"/>
          <p:cNvSpPr/>
          <p:nvPr/>
        </p:nvSpPr>
        <p:spPr>
          <a:xfrm>
            <a:off x="3090672" y="822960"/>
            <a:ext cx="384048" cy="384048"/>
          </a:xfrm>
          <a:prstGeom prst="ellipse">
            <a:avLst/>
          </a:prstGeom>
          <a:solidFill>
            <a:srgbClr val="FFFFFF"/>
          </a:solidFill>
          <a:ln w="19050">
            <a:solidFill>
              <a:srgbClr val="DDE3EE"/>
            </a:solidFill>
            <a:prstDash val="solid"/>
          </a:ln>
        </p:spPr>
      </p:sp>
      <p:sp>
        <p:nvSpPr>
          <p:cNvPr id="24" name="!!dott4"/>
          <p:cNvSpPr txBox="1"/>
          <p:nvPr/>
        </p:nvSpPr>
        <p:spPr>
          <a:xfrm>
            <a:off x="3090672"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25" name="mstep"/>
          <p:cNvSpPr txBox="1"/>
          <p:nvPr/>
        </p:nvSpPr>
        <p:spPr>
          <a:xfrm>
            <a:off x="822960" y="1417320"/>
            <a:ext cx="3108960" cy="274320"/>
          </a:xfrm>
          <a:prstGeom prst="rect">
            <a:avLst/>
          </a:prstGeom>
          <a:noFill/>
          <a:ln/>
        </p:spPr>
        <p:txBody>
          <a:bodyPr wrap="square" lIns="0" tIns="0" rIns="0" bIns="0" rtlCol="0" anchor="t"/>
          <a:lstStyle/>
          <a:p>
            <a:pPr indent="0" marL="0">
              <a:buNone/>
            </a:pPr>
            <a:r>
              <a:rPr lang="fr-FR" altLang="en-US" sz="1100" b="1" spc="150" kern="0" dirty="0">
                <a:solidFill>
                  <a:srgbClr val="00923A"/>
                </a:solidFill>
                <a:latin typeface="Calibri" pitchFamily="34" charset="0"/>
                <a:ea typeface="Calibri" pitchFamily="34" charset="-122"/>
                <a:cs typeface="Calibri" pitchFamily="34" charset="-120"/>
              </a:rPr>
              <a:t>ÉTAPE 1 SUR 5 · TOGO</a:t>
            </a:r>
            <a:endParaRPr lang="fr-FR" sz="1100" dirty="0"/>
          </a:p>
        </p:txBody>
      </p:sp>
      <p:sp>
        <p:nvSpPr>
          <p:cNvPr id="26" name="mtitle"/>
          <p:cNvSpPr txBox="1"/>
          <p:nvPr/>
        </p:nvSpPr>
        <p:spPr>
          <a:xfrm>
            <a:off x="822960" y="1737360"/>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Le Togo</a:t>
            </a:r>
            <a:endParaRPr lang="fr-FR" sz="2400" dirty="0"/>
          </a:p>
        </p:txBody>
      </p:sp>
      <p:sp>
        <p:nvSpPr>
          <p:cNvPr id="27" name="mtext"/>
          <p:cNvSpPr txBox="1"/>
          <p:nvPr/>
        </p:nvSpPr>
        <p:spPr>
          <a:xfrm>
            <a:off x="822960" y="2697480"/>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Un pays d’Afrique de l’Ouest découpé en cinq régions. La mairie se trouve tout au sud, dans la région Maritime.</a:t>
            </a:r>
            <a:endParaRPr lang="fr-FR" sz="1400" dirty="0"/>
          </a:p>
        </p:txBody>
      </p:sp>
      <p:sp>
        <p:nvSpPr>
          <p:cNvPr id="28"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5</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régions</a:t>
            </a:r>
            <a:endParaRPr lang="fr-FR" sz="2000" dirty="0"/>
          </a:p>
        </p:txBody>
      </p:sp>
      <p:sp>
        <p:nvSpPr>
          <p:cNvPr id="29"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117</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communes</a:t>
            </a:r>
            <a:endParaRPr lang="fr-FR" sz="2000" dirty="0"/>
          </a:p>
        </p:txBody>
      </p:sp>
      <p:sp>
        <p:nvSpPr>
          <p:cNvPr id="30" name="mf2"/>
          <p:cNvSpPr txBox="1"/>
          <p:nvPr/>
        </p:nvSpPr>
        <p:spPr>
          <a:xfrm>
            <a:off x="822960" y="489204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Lomé</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capitale</a:t>
            </a:r>
            <a:endParaRPr lang="fr-FR" sz="2000" dirty="0"/>
          </a:p>
        </p:txBody>
      </p:sp>
      <p:sp>
        <p:nvSpPr>
          <p:cNvPr id="31" name="mhint">
            <a:hlinkClick r:id="rId3" tooltip="Zoomer" action="ppaction://hlinksldjump"/>
          </p:cNvPr>
          <p:cNvSpPr txBox="1"/>
          <p:nvPr/>
        </p:nvSpPr>
        <p:spPr>
          <a:xfrm>
            <a:off x="822960" y="5577840"/>
            <a:ext cx="3017520" cy="274320"/>
          </a:xfrm>
          <a:prstGeom prst="rect">
            <a:avLst/>
          </a:prstGeom>
          <a:noFill/>
          <a:ln/>
        </p:spPr>
        <p:txBody>
          <a:bodyPr wrap="square" lIns="0" tIns="0" rIns="0" bIns="0" rtlCol="0" anchor="t"/>
          <a:lstStyle/>
          <a:p>
            <a:pPr indent="0" marL="0">
              <a:buNone/>
            </a:pPr>
            <a:r>
              <a:rPr lang="fr-FR" altLang="en-US" sz="1100" i="1" u="sng" dirty="0">
                <a:solidFill>
                  <a:srgbClr val="1B3F9E"/>
                </a:solidFill>
                <a:latin typeface="Calibri" pitchFamily="34" charset="0"/>
                <a:ea typeface="Calibri" pitchFamily="34" charset="-122"/>
                <a:cs typeface="Calibri" pitchFamily="34" charset="-120"/>
                <a:hlinkClick r:id="rId3" action="ppaction://hlinksldjump" tooltip="Zoomer">
                  <a:extLst>
                    <a:ext uri="{A12FA001-AC4F-418D-AE19-62706E023703}">
                      <ahyp:hlinkClr xmlns:ahyp="http://schemas.microsoft.com/office/drawing/2018/hyperlinkcolor" val="tx"/>
                    </a:ext>
                  </a:extLst>
                </a:hlinkClick>
              </a:rPr>
              <a:t>Cliquez pour zoomer →</a:t>
            </a:r>
            <a:endParaRPr lang="fr-FR" sz="1100" dirty="0"/>
          </a:p>
        </p:txBody>
      </p:sp>
      <p:sp>
        <p:nvSpPr>
          <p:cNvPr id="32"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33" name="!!railline"/>
          <p:cNvSpPr/>
          <p:nvPr/>
        </p:nvSpPr>
        <p:spPr>
          <a:xfrm>
            <a:off x="11795760" y="1600200"/>
            <a:ext cx="914" cy="3383280"/>
          </a:xfrm>
          <a:prstGeom prst="line">
            <a:avLst/>
          </a:prstGeom>
          <a:noFill/>
          <a:ln w="25400">
            <a:solidFill>
              <a:srgbClr val="DDE3EE"/>
            </a:solidFill>
            <a:prstDash val="solid"/>
          </a:ln>
        </p:spPr>
      </p:sp>
      <p:sp>
        <p:nvSpPr>
          <p:cNvPr id="34" name="!!railprog"/>
          <p:cNvSpPr/>
          <p:nvPr/>
        </p:nvSpPr>
        <p:spPr>
          <a:xfrm>
            <a:off x="11795760" y="1600200"/>
            <a:ext cx="914" cy="676656"/>
          </a:xfrm>
          <a:prstGeom prst="line">
            <a:avLst/>
          </a:prstGeom>
          <a:noFill/>
          <a:ln w="38100">
            <a:solidFill>
              <a:srgbClr val="00923A"/>
            </a:solidFill>
            <a:prstDash val="solid"/>
          </a:ln>
        </p:spPr>
      </p:sp>
      <p:sp>
        <p:nvSpPr>
          <p:cNvPr id="35" name="!!mact"/>
          <p:cNvSpPr/>
          <p:nvPr/>
        </p:nvSpPr>
        <p:spPr>
          <a:xfrm>
            <a:off x="11494008" y="1975104"/>
            <a:ext cx="603504" cy="603504"/>
          </a:xfrm>
          <a:prstGeom prst="ellipse">
            <a:avLst/>
          </a:prstGeom>
          <a:solidFill>
            <a:srgbClr val="FFFFFF">
              <a:alpha val="0"/>
            </a:srgbClr>
          </a:solidFill>
          <a:ln w="38100">
            <a:solidFill>
              <a:srgbClr val="FCC600"/>
            </a:solidFill>
            <a:prstDash val="solid"/>
          </a:ln>
        </p:spPr>
      </p:sp>
      <p:sp>
        <p:nvSpPr>
          <p:cNvPr id="36"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7" name="!!mt1">
            <a:hlinkClick r:id="rId4"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4"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8" name="!!m2"/>
          <p:cNvSpPr/>
          <p:nvPr/>
        </p:nvSpPr>
        <p:spPr>
          <a:xfrm>
            <a:off x="11594592" y="2075688"/>
            <a:ext cx="402336" cy="402336"/>
          </a:xfrm>
          <a:prstGeom prst="ellipse">
            <a:avLst/>
          </a:prstGeom>
          <a:solidFill>
            <a:srgbClr val="1B3F9E"/>
          </a:solidFill>
          <a:ln w="19050">
            <a:solidFill>
              <a:srgbClr val="1B3F9E"/>
            </a:solidFill>
            <a:prstDash val="solid"/>
          </a:ln>
        </p:spPr>
      </p:sp>
      <p:sp>
        <p:nvSpPr>
          <p:cNvPr id="39" name="!!mt2"/>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0" name="!!m3"/>
          <p:cNvSpPr/>
          <p:nvPr/>
        </p:nvSpPr>
        <p:spPr>
          <a:xfrm>
            <a:off x="11594592" y="2752344"/>
            <a:ext cx="402336" cy="402336"/>
          </a:xfrm>
          <a:prstGeom prst="ellipse">
            <a:avLst/>
          </a:prstGeom>
          <a:solidFill>
            <a:srgbClr val="FFFFFF"/>
          </a:solidFill>
          <a:ln w="19050">
            <a:solidFill>
              <a:srgbClr val="C9D2E3"/>
            </a:solidFill>
            <a:prstDash val="solid"/>
          </a:ln>
        </p:spPr>
      </p:sp>
      <p:sp>
        <p:nvSpPr>
          <p:cNvPr id="41" name="!!mt3">
            <a:hlinkClick r:id="rId5"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5"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42"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43" name="!!mt4">
            <a:hlinkClick r:id="rId6"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6"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4"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45" name="!!mt5">
            <a:hlinkClick r:id="rId7"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7"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6"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7" name="!!mt6">
            <a:hlinkClick r:id="rId8"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8"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8"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STRUCTURE D’ACCUEIL</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600"/>
                                        <p:tgtEl>
                                          <p:spTgt spid="2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600"/>
                                        <p:tgtEl>
                                          <p:spTgt spid="26"/>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00"/>
                                        <p:tgtEl>
                                          <p:spTgt spid="7"/>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600"/>
                                        <p:tgtEl>
                                          <p:spTgt spid="8"/>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00"/>
                                        <p:tgtEl>
                                          <p:spTgt spid="9"/>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600"/>
                                        <p:tgtEl>
                                          <p:spTgt spid="10"/>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600"/>
                                        <p:tgtEl>
                                          <p:spTgt spid="11"/>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2" presetID="10" presetClass="entr" presetSubtype="0" fill="hold" grpId="0" nodeType="withEffect">
                                  <p:stCondLst>
                                    <p:cond delay="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600"/>
                                        <p:tgtEl>
                                          <p:spTgt spid="27"/>
                                        </p:tgtEl>
                                      </p:cBhvr>
                                    </p:animEffect>
                                  </p:childTnLst>
                                </p:cTn>
                              </p:par>
                              <p:par>
                                <p:cTn id="38" presetID="53" presetClass="entr" presetSubtype="16" fill="hold" grpId="0" nodeType="withEffect">
                                  <p:stCondLst>
                                    <p:cond delay="300"/>
                                  </p:stCondLst>
                                  <p:childTnLst>
                                    <p:set>
                                      <p:cBhvr>
                                        <p:cTn id="39" dur="1" fill="hold">
                                          <p:stCondLst>
                                            <p:cond delay="0"/>
                                          </p:stCondLst>
                                        </p:cTn>
                                        <p:tgtEl>
                                          <p:spTgt spid="4"/>
                                        </p:tgtEl>
                                        <p:attrNameLst>
                                          <p:attrName>style.visibility</p:attrName>
                                        </p:attrNameLst>
                                      </p:cBhvr>
                                      <p:to>
                                        <p:strVal val="visible"/>
                                      </p:to>
                                    </p:set>
                                    <p:anim calcmode="lin" valueType="num">
                                      <p:cBhvr>
                                        <p:cTn id="40" dur="600" fill="hold"/>
                                        <p:tgtEl>
                                          <p:spTgt spid="4"/>
                                        </p:tgtEl>
                                        <p:attrNameLst>
                                          <p:attrName>ppt_w</p:attrName>
                                        </p:attrNameLst>
                                      </p:cBhvr>
                                      <p:tavLst>
                                        <p:tav tm="0">
                                          <p:val>
                                            <p:fltVal val="0"/>
                                          </p:val>
                                        </p:tav>
                                        <p:tav tm="100000">
                                          <p:val>
                                            <p:strVal val="#ppt_w"/>
                                          </p:val>
                                        </p:tav>
                                      </p:tavLst>
                                    </p:anim>
                                    <p:anim calcmode="lin" valueType="num">
                                      <p:cBhvr>
                                        <p:cTn id="41" dur="600" fill="hold"/>
                                        <p:tgtEl>
                                          <p:spTgt spid="4"/>
                                        </p:tgtEl>
                                        <p:attrNameLst>
                                          <p:attrName>ppt_h</p:attrName>
                                        </p:attrNameLst>
                                      </p:cBhvr>
                                      <p:tavLst>
                                        <p:tav tm="0">
                                          <p:val>
                                            <p:fltVal val="0"/>
                                          </p:val>
                                        </p:tav>
                                        <p:tav tm="100000">
                                          <p:val>
                                            <p:strVal val="#ppt_h"/>
                                          </p:val>
                                        </p:tav>
                                      </p:tavLst>
                                    </p:anim>
                                    <p:animEffect transition="in" filter="fade">
                                      <p:cBhvr>
                                        <p:cTn id="42" dur="600"/>
                                        <p:tgtEl>
                                          <p:spTgt spid="4"/>
                                        </p:tgtEl>
                                      </p:cBhvr>
                                    </p:animEffect>
                                  </p:childTnLst>
                                </p:cTn>
                              </p:par>
                              <p:par>
                                <p:cTn id="43" presetID="53" presetClass="entr" presetSubtype="16" fill="hold" grpId="0" nodeType="withEffect">
                                  <p:stCondLst>
                                    <p:cond delay="300"/>
                                  </p:stCondLst>
                                  <p:childTnLst>
                                    <p:set>
                                      <p:cBhvr>
                                        <p:cTn id="44" dur="1" fill="hold">
                                          <p:stCondLst>
                                            <p:cond delay="0"/>
                                          </p:stCondLst>
                                        </p:cTn>
                                        <p:tgtEl>
                                          <p:spTgt spid="5"/>
                                        </p:tgtEl>
                                        <p:attrNameLst>
                                          <p:attrName>style.visibility</p:attrName>
                                        </p:attrNameLst>
                                      </p:cBhvr>
                                      <p:to>
                                        <p:strVal val="visible"/>
                                      </p:to>
                                    </p:set>
                                    <p:anim calcmode="lin" valueType="num">
                                      <p:cBhvr>
                                        <p:cTn id="45" dur="600" fill="hold"/>
                                        <p:tgtEl>
                                          <p:spTgt spid="5"/>
                                        </p:tgtEl>
                                        <p:attrNameLst>
                                          <p:attrName>ppt_w</p:attrName>
                                        </p:attrNameLst>
                                      </p:cBhvr>
                                      <p:tavLst>
                                        <p:tav tm="0">
                                          <p:val>
                                            <p:fltVal val="0"/>
                                          </p:val>
                                        </p:tav>
                                        <p:tav tm="100000">
                                          <p:val>
                                            <p:strVal val="#ppt_w"/>
                                          </p:val>
                                        </p:tav>
                                      </p:tavLst>
                                    </p:anim>
                                    <p:anim calcmode="lin" valueType="num">
                                      <p:cBhvr>
                                        <p:cTn id="46" dur="600" fill="hold"/>
                                        <p:tgtEl>
                                          <p:spTgt spid="5"/>
                                        </p:tgtEl>
                                        <p:attrNameLst>
                                          <p:attrName>ppt_h</p:attrName>
                                        </p:attrNameLst>
                                      </p:cBhvr>
                                      <p:tavLst>
                                        <p:tav tm="0">
                                          <p:val>
                                            <p:fltVal val="0"/>
                                          </p:val>
                                        </p:tav>
                                        <p:tav tm="100000">
                                          <p:val>
                                            <p:strVal val="#ppt_h"/>
                                          </p:val>
                                        </p:tav>
                                      </p:tavLst>
                                    </p:anim>
                                    <p:animEffect transition="in" filter="fade">
                                      <p:cBhvr>
                                        <p:cTn id="47" dur="600"/>
                                        <p:tgtEl>
                                          <p:spTgt spid="5"/>
                                        </p:tgtEl>
                                      </p:cBhvr>
                                    </p:animEffect>
                                  </p:childTnLst>
                                </p:cTn>
                              </p:par>
                              <p:par>
                                <p:cTn id="48" presetID="53" presetClass="entr" presetSubtype="16" fill="hold" grpId="0" nodeType="withEffect">
                                  <p:stCondLst>
                                    <p:cond delay="500"/>
                                  </p:stCondLst>
                                  <p:childTnLst>
                                    <p:set>
                                      <p:cBhvr>
                                        <p:cTn id="49" dur="1" fill="hold">
                                          <p:stCondLst>
                                            <p:cond delay="0"/>
                                          </p:stCondLst>
                                        </p:cTn>
                                        <p:tgtEl>
                                          <p:spTgt spid="28"/>
                                        </p:tgtEl>
                                        <p:attrNameLst>
                                          <p:attrName>style.visibility</p:attrName>
                                        </p:attrNameLst>
                                      </p:cBhvr>
                                      <p:to>
                                        <p:strVal val="visible"/>
                                      </p:to>
                                    </p:set>
                                    <p:anim calcmode="lin" valueType="num">
                                      <p:cBhvr>
                                        <p:cTn id="50" dur="600" fill="hold"/>
                                        <p:tgtEl>
                                          <p:spTgt spid="28"/>
                                        </p:tgtEl>
                                        <p:attrNameLst>
                                          <p:attrName>ppt_w</p:attrName>
                                        </p:attrNameLst>
                                      </p:cBhvr>
                                      <p:tavLst>
                                        <p:tav tm="0">
                                          <p:val>
                                            <p:fltVal val="0"/>
                                          </p:val>
                                        </p:tav>
                                        <p:tav tm="100000">
                                          <p:val>
                                            <p:strVal val="#ppt_w"/>
                                          </p:val>
                                        </p:tav>
                                      </p:tavLst>
                                    </p:anim>
                                    <p:anim calcmode="lin" valueType="num">
                                      <p:cBhvr>
                                        <p:cTn id="51" dur="600" fill="hold"/>
                                        <p:tgtEl>
                                          <p:spTgt spid="28"/>
                                        </p:tgtEl>
                                        <p:attrNameLst>
                                          <p:attrName>ppt_h</p:attrName>
                                        </p:attrNameLst>
                                      </p:cBhvr>
                                      <p:tavLst>
                                        <p:tav tm="0">
                                          <p:val>
                                            <p:fltVal val="0"/>
                                          </p:val>
                                        </p:tav>
                                        <p:tav tm="100000">
                                          <p:val>
                                            <p:strVal val="#ppt_h"/>
                                          </p:val>
                                        </p:tav>
                                      </p:tavLst>
                                    </p:anim>
                                    <p:animEffect transition="in" filter="fade">
                                      <p:cBhvr>
                                        <p:cTn id="52" dur="600"/>
                                        <p:tgtEl>
                                          <p:spTgt spid="28"/>
                                        </p:tgtEl>
                                      </p:cBhvr>
                                    </p:animEffect>
                                  </p:childTnLst>
                                </p:cTn>
                              </p:par>
                              <p:par>
                                <p:cTn id="53" presetID="53" presetClass="entr" presetSubtype="16" fill="hold" grpId="0" nodeType="withEffect">
                                  <p:stCondLst>
                                    <p:cond delay="650"/>
                                  </p:stCondLst>
                                  <p:childTnLst>
                                    <p:set>
                                      <p:cBhvr>
                                        <p:cTn id="54" dur="1" fill="hold">
                                          <p:stCondLst>
                                            <p:cond delay="0"/>
                                          </p:stCondLst>
                                        </p:cTn>
                                        <p:tgtEl>
                                          <p:spTgt spid="29"/>
                                        </p:tgtEl>
                                        <p:attrNameLst>
                                          <p:attrName>style.visibility</p:attrName>
                                        </p:attrNameLst>
                                      </p:cBhvr>
                                      <p:to>
                                        <p:strVal val="visible"/>
                                      </p:to>
                                    </p:set>
                                    <p:anim calcmode="lin" valueType="num">
                                      <p:cBhvr>
                                        <p:cTn id="55" dur="600" fill="hold"/>
                                        <p:tgtEl>
                                          <p:spTgt spid="29"/>
                                        </p:tgtEl>
                                        <p:attrNameLst>
                                          <p:attrName>ppt_w</p:attrName>
                                        </p:attrNameLst>
                                      </p:cBhvr>
                                      <p:tavLst>
                                        <p:tav tm="0">
                                          <p:val>
                                            <p:fltVal val="0"/>
                                          </p:val>
                                        </p:tav>
                                        <p:tav tm="100000">
                                          <p:val>
                                            <p:strVal val="#ppt_w"/>
                                          </p:val>
                                        </p:tav>
                                      </p:tavLst>
                                    </p:anim>
                                    <p:anim calcmode="lin" valueType="num">
                                      <p:cBhvr>
                                        <p:cTn id="56" dur="600" fill="hold"/>
                                        <p:tgtEl>
                                          <p:spTgt spid="29"/>
                                        </p:tgtEl>
                                        <p:attrNameLst>
                                          <p:attrName>ppt_h</p:attrName>
                                        </p:attrNameLst>
                                      </p:cBhvr>
                                      <p:tavLst>
                                        <p:tav tm="0">
                                          <p:val>
                                            <p:fltVal val="0"/>
                                          </p:val>
                                        </p:tav>
                                        <p:tav tm="100000">
                                          <p:val>
                                            <p:strVal val="#ppt_h"/>
                                          </p:val>
                                        </p:tav>
                                      </p:tavLst>
                                    </p:anim>
                                    <p:animEffect transition="in" filter="fade">
                                      <p:cBhvr>
                                        <p:cTn id="57" dur="600"/>
                                        <p:tgtEl>
                                          <p:spTgt spid="29"/>
                                        </p:tgtEl>
                                      </p:cBhvr>
                                    </p:animEffect>
                                  </p:childTnLst>
                                </p:cTn>
                              </p:par>
                              <p:par>
                                <p:cTn id="58" presetID="53" presetClass="entr" presetSubtype="16" fill="hold" grpId="0" nodeType="withEffect">
                                  <p:stCondLst>
                                    <p:cond delay="800"/>
                                  </p:stCondLst>
                                  <p:childTnLst>
                                    <p:set>
                                      <p:cBhvr>
                                        <p:cTn id="59" dur="1" fill="hold">
                                          <p:stCondLst>
                                            <p:cond delay="0"/>
                                          </p:stCondLst>
                                        </p:cTn>
                                        <p:tgtEl>
                                          <p:spTgt spid="30"/>
                                        </p:tgtEl>
                                        <p:attrNameLst>
                                          <p:attrName>style.visibility</p:attrName>
                                        </p:attrNameLst>
                                      </p:cBhvr>
                                      <p:to>
                                        <p:strVal val="visible"/>
                                      </p:to>
                                    </p:set>
                                    <p:anim calcmode="lin" valueType="num">
                                      <p:cBhvr>
                                        <p:cTn id="60" dur="600" fill="hold"/>
                                        <p:tgtEl>
                                          <p:spTgt spid="30"/>
                                        </p:tgtEl>
                                        <p:attrNameLst>
                                          <p:attrName>ppt_w</p:attrName>
                                        </p:attrNameLst>
                                      </p:cBhvr>
                                      <p:tavLst>
                                        <p:tav tm="0">
                                          <p:val>
                                            <p:fltVal val="0"/>
                                          </p:val>
                                        </p:tav>
                                        <p:tav tm="100000">
                                          <p:val>
                                            <p:strVal val="#ppt_w"/>
                                          </p:val>
                                        </p:tav>
                                      </p:tavLst>
                                    </p:anim>
                                    <p:anim calcmode="lin" valueType="num">
                                      <p:cBhvr>
                                        <p:cTn id="61" dur="600" fill="hold"/>
                                        <p:tgtEl>
                                          <p:spTgt spid="30"/>
                                        </p:tgtEl>
                                        <p:attrNameLst>
                                          <p:attrName>ppt_h</p:attrName>
                                        </p:attrNameLst>
                                      </p:cBhvr>
                                      <p:tavLst>
                                        <p:tav tm="0">
                                          <p:val>
                                            <p:fltVal val="0"/>
                                          </p:val>
                                        </p:tav>
                                        <p:tav tm="100000">
                                          <p:val>
                                            <p:strVal val="#ppt_h"/>
                                          </p:val>
                                        </p:tav>
                                      </p:tavLst>
                                    </p:anim>
                                    <p:animEffect transition="in" filter="fade">
                                      <p:cBhvr>
                                        <p:cTn id="62" dur="600"/>
                                        <p:tgtEl>
                                          <p:spTgt spid="30"/>
                                        </p:tgtEl>
                                      </p:cBhvr>
                                    </p:animEffect>
                                  </p:childTnLst>
                                </p:cTn>
                              </p:par>
                              <p:par>
                                <p:cTn id="63" presetID="10" presetClass="entr" presetSubtype="0" fill="hold" grpId="0" nodeType="withEffect">
                                  <p:stCondLst>
                                    <p:cond delay="90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25" grpId="0" animBg="1"/>
      <p:bldP spid="26" grpId="0" animBg="1"/>
      <p:bldP spid="27" grpId="0" animBg="1"/>
      <p:bldP spid="28" grpId="0" animBg="1"/>
      <p:bldP spid="29" grpId="0" animBg="1"/>
      <p:bldP spid="30" grpId="0" animBg="1"/>
      <p:bldP spid="3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L0" descr="preencoded.png">    </p:cNvPr>
          <p:cNvPicPr>
            <a:picLocks noChangeAspect="1"/>
          </p:cNvPicPr>
          <p:nvPr/>
        </p:nvPicPr>
        <p:blipFill>
          <a:blip r:embed="rId1"/>
          <a:stretch>
            <a:fillRect/>
          </a:stretch>
        </p:blipFill>
        <p:spPr>
          <a:xfrm>
            <a:off x="-1351770" y="-25196262"/>
            <a:ext cx="13349631" cy="31928538"/>
          </a:xfrm>
          <a:prstGeom prst="rect">
            <a:avLst/>
          </a:prstGeom>
        </p:spPr>
      </p:pic>
      <p:pic>
        <p:nvPicPr>
          <p:cNvPr id="3" name="!!L1" descr="preencoded.png">    </p:cNvPr>
          <p:cNvPicPr>
            <a:picLocks noChangeAspect="1"/>
          </p:cNvPicPr>
          <p:nvPr/>
        </p:nvPicPr>
        <p:blipFill>
          <a:blip r:embed="rId2"/>
          <a:stretch>
            <a:fillRect/>
          </a:stretch>
        </p:blipFill>
        <p:spPr>
          <a:xfrm>
            <a:off x="4389120" y="739305"/>
            <a:ext cx="6949440" cy="5333669"/>
          </a:xfrm>
          <a:prstGeom prst="rect">
            <a:avLst/>
          </a:prstGeom>
        </p:spPr>
      </p:pic>
      <p:pic>
        <p:nvPicPr>
          <p:cNvPr id="4" name="!!pin" descr="preencoded.png">    </p:cNvPr>
          <p:cNvPicPr>
            <a:picLocks noChangeAspect="1"/>
          </p:cNvPicPr>
          <p:nvPr/>
        </p:nvPicPr>
        <p:blipFill>
          <a:blip r:embed="rId3"/>
          <a:stretch>
            <a:fillRect/>
          </a:stretch>
        </p:blipFill>
        <p:spPr>
          <a:xfrm>
            <a:off x="7383218" y="4747527"/>
            <a:ext cx="457200" cy="660400"/>
          </a:xfrm>
          <a:prstGeom prst="rect">
            <a:avLst/>
          </a:prstGeom>
        </p:spPr>
      </p:pic>
      <p:sp>
        <p:nvSpPr>
          <p:cNvPr id="5" name="plab"/>
          <p:cNvSpPr/>
          <p:nvPr/>
        </p:nvSpPr>
        <p:spPr>
          <a:xfrm>
            <a:off x="7959290" y="4740923"/>
            <a:ext cx="1371600" cy="384048"/>
          </a:xfrm>
          <a:prstGeom prst="roundRect">
            <a:avLst>
              <a:gd name="adj" fmla="val 19048"/>
            </a:avLst>
          </a:prstGeom>
          <a:solidFill>
            <a:srgbClr val="0E1C46"/>
          </a:solidFill>
          <a:ln w="12700">
            <a:solidFill>
              <a:srgbClr val="0E1C46"/>
            </a:solidFill>
            <a:prstDash val="solid"/>
          </a:ln>
        </p:spPr>
      </p:sp>
      <p:sp>
        <p:nvSpPr>
          <p:cNvPr id="6" name="plabt"/>
          <p:cNvSpPr txBox="1"/>
          <p:nvPr/>
        </p:nvSpPr>
        <p:spPr>
          <a:xfrm>
            <a:off x="7959290" y="4740923"/>
            <a:ext cx="1371600"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Grand Lomé</a:t>
            </a:r>
            <a:endParaRPr lang="fr-FR" sz="1300" dirty="0"/>
          </a:p>
        </p:txBody>
      </p:sp>
      <p:sp>
        <p:nvSpPr>
          <p:cNvPr id="7" name="lab34uga"/>
          <p:cNvSpPr txBox="1"/>
          <p:nvPr/>
        </p:nvSpPr>
        <p:spPr>
          <a:xfrm>
            <a:off x="8806296" y="4624375"/>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Lacs</a:t>
            </a:r>
            <a:endParaRPr lang="fr-FR" sz="1200" dirty="0"/>
          </a:p>
        </p:txBody>
      </p:sp>
      <p:sp>
        <p:nvSpPr>
          <p:cNvPr id="8" name="lab5vj29"/>
          <p:cNvSpPr txBox="1"/>
          <p:nvPr/>
        </p:nvSpPr>
        <p:spPr>
          <a:xfrm>
            <a:off x="9136700" y="3601440"/>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Bas-Mono</a:t>
            </a:r>
            <a:endParaRPr lang="fr-FR" sz="1200" dirty="0"/>
          </a:p>
        </p:txBody>
      </p:sp>
      <p:sp>
        <p:nvSpPr>
          <p:cNvPr id="9" name="labq8o2c"/>
          <p:cNvSpPr txBox="1"/>
          <p:nvPr/>
        </p:nvSpPr>
        <p:spPr>
          <a:xfrm>
            <a:off x="8185492" y="4079043"/>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Vo</a:t>
            </a:r>
            <a:endParaRPr lang="fr-FR" sz="1200" dirty="0"/>
          </a:p>
        </p:txBody>
      </p:sp>
      <p:sp>
        <p:nvSpPr>
          <p:cNvPr id="10" name="labwangr"/>
          <p:cNvSpPr txBox="1"/>
          <p:nvPr/>
        </p:nvSpPr>
        <p:spPr>
          <a:xfrm>
            <a:off x="7920379" y="2358402"/>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Yoto</a:t>
            </a:r>
            <a:endParaRPr lang="fr-FR" sz="1200" dirty="0"/>
          </a:p>
        </p:txBody>
      </p:sp>
      <p:sp>
        <p:nvSpPr>
          <p:cNvPr id="11" name="lablo3k1"/>
          <p:cNvSpPr txBox="1"/>
          <p:nvPr/>
        </p:nvSpPr>
        <p:spPr>
          <a:xfrm>
            <a:off x="6122146" y="3316521"/>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Zio</a:t>
            </a:r>
            <a:endParaRPr lang="fr-FR" sz="1200" dirty="0"/>
          </a:p>
        </p:txBody>
      </p:sp>
      <p:sp>
        <p:nvSpPr>
          <p:cNvPr id="12" name="lab60t36"/>
          <p:cNvSpPr txBox="1"/>
          <p:nvPr/>
        </p:nvSpPr>
        <p:spPr>
          <a:xfrm>
            <a:off x="4726069" y="3803647"/>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Avé</a:t>
            </a:r>
            <a:endParaRPr lang="fr-FR" sz="1200" dirty="0"/>
          </a:p>
        </p:txBody>
      </p:sp>
      <p:sp>
        <p:nvSpPr>
          <p:cNvPr id="13" name="labio707"/>
          <p:cNvSpPr txBox="1"/>
          <p:nvPr/>
        </p:nvSpPr>
        <p:spPr>
          <a:xfrm>
            <a:off x="6660928" y="6180981"/>
            <a:ext cx="2194560" cy="292608"/>
          </a:xfrm>
          <a:prstGeom prst="rect">
            <a:avLst/>
          </a:prstGeom>
          <a:noFill/>
          <a:ln/>
        </p:spPr>
        <p:txBody>
          <a:bodyPr wrap="square" lIns="0" tIns="0" rIns="0" bIns="0" rtlCol="0" anchor="t"/>
          <a:lstStyle/>
          <a:p>
            <a:pPr algn="ctr" indent="0" marL="0">
              <a:buNone/>
            </a:pPr>
            <a:r>
              <a:rPr lang="fr-FR" altLang="en-US" sz="1200" i="1" dirty="0">
                <a:solidFill>
                  <a:srgbClr val="1B3F9E"/>
                </a:solidFill>
                <a:latin typeface="Calibri" pitchFamily="34" charset="0"/>
                <a:ea typeface="Calibri" pitchFamily="34" charset="-122"/>
                <a:cs typeface="Calibri" pitchFamily="34" charset="-120"/>
              </a:rPr>
              <a:t>Golfe de Guinée</a:t>
            </a:r>
            <a:endParaRPr lang="fr-FR" sz="1200" dirty="0"/>
          </a:p>
        </p:txBody>
      </p:sp>
      <p:sp>
        <p:nvSpPr>
          <p:cNvPr id="14" name="!!mapcard"/>
          <p:cNvSpPr/>
          <p:nvPr/>
        </p:nvSpPr>
        <p:spPr>
          <a:xfrm>
            <a:off x="502920" y="502920"/>
            <a:ext cx="3611880" cy="5486400"/>
          </a:xfrm>
          <a:prstGeom prst="roundRect">
            <a:avLst>
              <a:gd name="adj" fmla="val 303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5" name="!!dot0"/>
          <p:cNvSpPr/>
          <p:nvPr/>
        </p:nvSpPr>
        <p:spPr>
          <a:xfrm>
            <a:off x="822960" y="822960"/>
            <a:ext cx="384048" cy="384048"/>
          </a:xfrm>
          <a:prstGeom prst="ellipse">
            <a:avLst/>
          </a:prstGeom>
          <a:solidFill>
            <a:srgbClr val="00923A"/>
          </a:solidFill>
          <a:ln w="19050">
            <a:solidFill>
              <a:srgbClr val="00923A"/>
            </a:solidFill>
            <a:prstDash val="solid"/>
          </a:ln>
        </p:spPr>
      </p:sp>
      <p:sp>
        <p:nvSpPr>
          <p:cNvPr id="16" name="!!dott0"/>
          <p:cNvSpPr txBox="1"/>
          <p:nvPr/>
        </p:nvSpPr>
        <p:spPr>
          <a:xfrm>
            <a:off x="822960"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7" name="!!dot1"/>
          <p:cNvSpPr/>
          <p:nvPr/>
        </p:nvSpPr>
        <p:spPr>
          <a:xfrm>
            <a:off x="1389888" y="822960"/>
            <a:ext cx="384048" cy="384048"/>
          </a:xfrm>
          <a:prstGeom prst="ellipse">
            <a:avLst/>
          </a:prstGeom>
          <a:solidFill>
            <a:srgbClr val="1B3F9E"/>
          </a:solidFill>
          <a:ln w="19050">
            <a:solidFill>
              <a:srgbClr val="1B3F9E"/>
            </a:solidFill>
            <a:prstDash val="solid"/>
          </a:ln>
        </p:spPr>
      </p:sp>
      <p:sp>
        <p:nvSpPr>
          <p:cNvPr id="18" name="!!dott1"/>
          <p:cNvSpPr txBox="1"/>
          <p:nvPr/>
        </p:nvSpPr>
        <p:spPr>
          <a:xfrm>
            <a:off x="1389888"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19" name="!!dot2"/>
          <p:cNvSpPr/>
          <p:nvPr/>
        </p:nvSpPr>
        <p:spPr>
          <a:xfrm>
            <a:off x="1956816" y="822960"/>
            <a:ext cx="384048" cy="384048"/>
          </a:xfrm>
          <a:prstGeom prst="ellipse">
            <a:avLst/>
          </a:prstGeom>
          <a:solidFill>
            <a:srgbClr val="FFFFFF"/>
          </a:solidFill>
          <a:ln w="19050">
            <a:solidFill>
              <a:srgbClr val="DDE3EE"/>
            </a:solidFill>
            <a:prstDash val="solid"/>
          </a:ln>
        </p:spPr>
      </p:sp>
      <p:sp>
        <p:nvSpPr>
          <p:cNvPr id="20" name="!!dott2"/>
          <p:cNvSpPr txBox="1"/>
          <p:nvPr/>
        </p:nvSpPr>
        <p:spPr>
          <a:xfrm>
            <a:off x="1956816"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3</a:t>
            </a:r>
            <a:endParaRPr lang="fr-FR" sz="1200" dirty="0"/>
          </a:p>
        </p:txBody>
      </p:sp>
      <p:sp>
        <p:nvSpPr>
          <p:cNvPr id="21" name="!!dot3"/>
          <p:cNvSpPr/>
          <p:nvPr/>
        </p:nvSpPr>
        <p:spPr>
          <a:xfrm>
            <a:off x="2523744" y="822960"/>
            <a:ext cx="384048" cy="384048"/>
          </a:xfrm>
          <a:prstGeom prst="ellipse">
            <a:avLst/>
          </a:prstGeom>
          <a:solidFill>
            <a:srgbClr val="FFFFFF"/>
          </a:solidFill>
          <a:ln w="19050">
            <a:solidFill>
              <a:srgbClr val="DDE3EE"/>
            </a:solidFill>
            <a:prstDash val="solid"/>
          </a:ln>
        </p:spPr>
      </p:sp>
      <p:sp>
        <p:nvSpPr>
          <p:cNvPr id="22" name="!!dott3"/>
          <p:cNvSpPr txBox="1"/>
          <p:nvPr/>
        </p:nvSpPr>
        <p:spPr>
          <a:xfrm>
            <a:off x="2523744"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4</a:t>
            </a:r>
            <a:endParaRPr lang="fr-FR" sz="1200" dirty="0"/>
          </a:p>
        </p:txBody>
      </p:sp>
      <p:sp>
        <p:nvSpPr>
          <p:cNvPr id="23" name="!!dot4"/>
          <p:cNvSpPr/>
          <p:nvPr/>
        </p:nvSpPr>
        <p:spPr>
          <a:xfrm>
            <a:off x="3090672" y="822960"/>
            <a:ext cx="384048" cy="384048"/>
          </a:xfrm>
          <a:prstGeom prst="ellipse">
            <a:avLst/>
          </a:prstGeom>
          <a:solidFill>
            <a:srgbClr val="FFFFFF"/>
          </a:solidFill>
          <a:ln w="19050">
            <a:solidFill>
              <a:srgbClr val="DDE3EE"/>
            </a:solidFill>
            <a:prstDash val="solid"/>
          </a:ln>
        </p:spPr>
      </p:sp>
      <p:sp>
        <p:nvSpPr>
          <p:cNvPr id="24" name="!!dott4"/>
          <p:cNvSpPr txBox="1"/>
          <p:nvPr/>
        </p:nvSpPr>
        <p:spPr>
          <a:xfrm>
            <a:off x="3090672"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25" name="mstep"/>
          <p:cNvSpPr txBox="1"/>
          <p:nvPr/>
        </p:nvSpPr>
        <p:spPr>
          <a:xfrm>
            <a:off x="822960" y="1417320"/>
            <a:ext cx="3108960" cy="274320"/>
          </a:xfrm>
          <a:prstGeom prst="rect">
            <a:avLst/>
          </a:prstGeom>
          <a:noFill/>
          <a:ln/>
        </p:spPr>
        <p:txBody>
          <a:bodyPr wrap="square" lIns="0" tIns="0" rIns="0" bIns="0" rtlCol="0" anchor="t"/>
          <a:lstStyle/>
          <a:p>
            <a:pPr indent="0" marL="0">
              <a:buNone/>
            </a:pPr>
            <a:r>
              <a:rPr lang="fr-FR" altLang="en-US" sz="1100" b="1" spc="150" kern="0" dirty="0">
                <a:solidFill>
                  <a:srgbClr val="00923A"/>
                </a:solidFill>
                <a:latin typeface="Calibri" pitchFamily="34" charset="0"/>
                <a:ea typeface="Calibri" pitchFamily="34" charset="-122"/>
                <a:cs typeface="Calibri" pitchFamily="34" charset="-120"/>
              </a:rPr>
              <a:t>ÉTAPE 2 SUR 5 · RÉGION MARITIME</a:t>
            </a:r>
            <a:endParaRPr lang="fr-FR" sz="1100" dirty="0"/>
          </a:p>
        </p:txBody>
      </p:sp>
      <p:sp>
        <p:nvSpPr>
          <p:cNvPr id="26" name="mtitle"/>
          <p:cNvSpPr txBox="1"/>
          <p:nvPr/>
        </p:nvSpPr>
        <p:spPr>
          <a:xfrm>
            <a:off x="822960" y="1737360"/>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La région Maritime</a:t>
            </a:r>
            <a:endParaRPr lang="fr-FR" sz="2400" dirty="0"/>
          </a:p>
        </p:txBody>
      </p:sp>
      <p:sp>
        <p:nvSpPr>
          <p:cNvPr id="27" name="mtext"/>
          <p:cNvSpPr txBox="1"/>
          <p:nvPr/>
        </p:nvSpPr>
        <p:spPr>
          <a:xfrm>
            <a:off x="822960" y="2697480"/>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La région la plus au sud, ouverte sur le golfe de Guinée. Les préfectures du Golfe et d’Agoè-Nyivé y forment le Grand Lomé.</a:t>
            </a:r>
            <a:endParaRPr lang="fr-FR" sz="1400" dirty="0"/>
          </a:p>
        </p:txBody>
      </p:sp>
      <p:sp>
        <p:nvSpPr>
          <p:cNvPr id="28"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Sud</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du pays</a:t>
            </a:r>
            <a:endParaRPr lang="fr-FR" sz="2000" dirty="0"/>
          </a:p>
        </p:txBody>
      </p:sp>
      <p:sp>
        <p:nvSpPr>
          <p:cNvPr id="29"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8</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préfectures</a:t>
            </a:r>
            <a:endParaRPr lang="fr-FR" sz="2000" dirty="0"/>
          </a:p>
        </p:txBody>
      </p:sp>
      <p:sp>
        <p:nvSpPr>
          <p:cNvPr id="30" name="mhint">
            <a:hlinkClick r:id="rId4" tooltip="Zoomer" action="ppaction://hlinksldjump"/>
          </p:cNvPr>
          <p:cNvSpPr txBox="1"/>
          <p:nvPr/>
        </p:nvSpPr>
        <p:spPr>
          <a:xfrm>
            <a:off x="822960" y="5577840"/>
            <a:ext cx="3017520" cy="274320"/>
          </a:xfrm>
          <a:prstGeom prst="rect">
            <a:avLst/>
          </a:prstGeom>
          <a:noFill/>
          <a:ln/>
        </p:spPr>
        <p:txBody>
          <a:bodyPr wrap="square" lIns="0" tIns="0" rIns="0" bIns="0" rtlCol="0" anchor="t"/>
          <a:lstStyle/>
          <a:p>
            <a:pPr indent="0" marL="0">
              <a:buNone/>
            </a:pPr>
            <a:r>
              <a:rPr lang="fr-FR" altLang="en-US" sz="1100" i="1" u="sng" dirty="0">
                <a:solidFill>
                  <a:srgbClr val="1B3F9E"/>
                </a:solidFill>
                <a:latin typeface="Calibri" pitchFamily="34" charset="0"/>
                <a:ea typeface="Calibri" pitchFamily="34" charset="-122"/>
                <a:cs typeface="Calibri" pitchFamily="34" charset="-120"/>
                <a:hlinkClick r:id="rId4" action="ppaction://hlinksldjump" tooltip="Zoomer">
                  <a:extLst>
                    <a:ext uri="{A12FA001-AC4F-418D-AE19-62706E023703}">
                      <ahyp:hlinkClr xmlns:ahyp="http://schemas.microsoft.com/office/drawing/2018/hyperlinkcolor" val="tx"/>
                    </a:ext>
                  </a:extLst>
                </a:hlinkClick>
              </a:rPr>
              <a:t>Cliquez pour zoomer →</a:t>
            </a:r>
            <a:endParaRPr lang="fr-FR" sz="1100" dirty="0"/>
          </a:p>
        </p:txBody>
      </p:sp>
      <p:sp>
        <p:nvSpPr>
          <p:cNvPr id="31"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32" name="!!railline"/>
          <p:cNvSpPr/>
          <p:nvPr/>
        </p:nvSpPr>
        <p:spPr>
          <a:xfrm>
            <a:off x="11795760" y="1600200"/>
            <a:ext cx="914" cy="3383280"/>
          </a:xfrm>
          <a:prstGeom prst="line">
            <a:avLst/>
          </a:prstGeom>
          <a:noFill/>
          <a:ln w="25400">
            <a:solidFill>
              <a:srgbClr val="DDE3EE"/>
            </a:solidFill>
            <a:prstDash val="solid"/>
          </a:ln>
        </p:spPr>
      </p:sp>
      <p:sp>
        <p:nvSpPr>
          <p:cNvPr id="33" name="!!railprog"/>
          <p:cNvSpPr/>
          <p:nvPr/>
        </p:nvSpPr>
        <p:spPr>
          <a:xfrm>
            <a:off x="11795760" y="1600200"/>
            <a:ext cx="914" cy="676656"/>
          </a:xfrm>
          <a:prstGeom prst="line">
            <a:avLst/>
          </a:prstGeom>
          <a:noFill/>
          <a:ln w="38100">
            <a:solidFill>
              <a:srgbClr val="00923A"/>
            </a:solidFill>
            <a:prstDash val="solid"/>
          </a:ln>
        </p:spPr>
      </p:sp>
      <p:sp>
        <p:nvSpPr>
          <p:cNvPr id="34" name="!!mact"/>
          <p:cNvSpPr/>
          <p:nvPr/>
        </p:nvSpPr>
        <p:spPr>
          <a:xfrm>
            <a:off x="11494008" y="1975104"/>
            <a:ext cx="603504" cy="603504"/>
          </a:xfrm>
          <a:prstGeom prst="ellipse">
            <a:avLst/>
          </a:prstGeom>
          <a:solidFill>
            <a:srgbClr val="FFFFFF">
              <a:alpha val="0"/>
            </a:srgbClr>
          </a:solidFill>
          <a:ln w="38100">
            <a:solidFill>
              <a:srgbClr val="FCC600"/>
            </a:solidFill>
            <a:prstDash val="solid"/>
          </a:ln>
        </p:spPr>
      </p:sp>
      <p:sp>
        <p:nvSpPr>
          <p:cNvPr id="35"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6" name="!!mt1">
            <a:hlinkClick r:id="rId5"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7" name="!!m2"/>
          <p:cNvSpPr/>
          <p:nvPr/>
        </p:nvSpPr>
        <p:spPr>
          <a:xfrm>
            <a:off x="11594592" y="2075688"/>
            <a:ext cx="402336" cy="402336"/>
          </a:xfrm>
          <a:prstGeom prst="ellipse">
            <a:avLst/>
          </a:prstGeom>
          <a:solidFill>
            <a:srgbClr val="1B3F9E"/>
          </a:solidFill>
          <a:ln w="19050">
            <a:solidFill>
              <a:srgbClr val="1B3F9E"/>
            </a:solidFill>
            <a:prstDash val="solid"/>
          </a:ln>
        </p:spPr>
      </p:sp>
      <p:sp>
        <p:nvSpPr>
          <p:cNvPr id="38" name="!!mt2">
            <a:hlinkClick r:id="rId6"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9" name="!!m3"/>
          <p:cNvSpPr/>
          <p:nvPr/>
        </p:nvSpPr>
        <p:spPr>
          <a:xfrm>
            <a:off x="11594592" y="2752344"/>
            <a:ext cx="402336" cy="402336"/>
          </a:xfrm>
          <a:prstGeom prst="ellipse">
            <a:avLst/>
          </a:prstGeom>
          <a:solidFill>
            <a:srgbClr val="FFFFFF"/>
          </a:solidFill>
          <a:ln w="19050">
            <a:solidFill>
              <a:srgbClr val="C9D2E3"/>
            </a:solidFill>
            <a:prstDash val="solid"/>
          </a:ln>
        </p:spPr>
      </p:sp>
      <p:sp>
        <p:nvSpPr>
          <p:cNvPr id="40" name="!!mt3">
            <a:hlinkClick r:id="rId7"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7"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41"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42" name="!!mt4">
            <a:hlinkClick r:id="rId8"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8"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3"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44" name="!!mt5">
            <a:hlinkClick r:id="rId9"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5"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6" name="!!mt6">
            <a:hlinkClick r:id="rId10"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0"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7"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STRUCTURE D’ACCUEIL</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600"/>
                                        <p:tgtEl>
                                          <p:spTgt spid="2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600"/>
                                        <p:tgtEl>
                                          <p:spTgt spid="26"/>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600"/>
                                        <p:tgtEl>
                                          <p:spTgt spid="9"/>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600"/>
                                        <p:tgtEl>
                                          <p:spTgt spid="11"/>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600"/>
                                        <p:tgtEl>
                                          <p:spTgt spid="12"/>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600"/>
                                        <p:tgtEl>
                                          <p:spTgt spid="27"/>
                                        </p:tgtEl>
                                      </p:cBhvr>
                                    </p:animEffect>
                                  </p:childTnLst>
                                </p:cTn>
                              </p:par>
                              <p:par>
                                <p:cTn id="35" presetID="53" presetClass="entr" presetSubtype="16" fill="hold" grpId="0" nodeType="withEffect">
                                  <p:stCondLst>
                                    <p:cond delay="300"/>
                                  </p:stCondLst>
                                  <p:childTnLst>
                                    <p:set>
                                      <p:cBhvr>
                                        <p:cTn id="36" dur="1" fill="hold">
                                          <p:stCondLst>
                                            <p:cond delay="0"/>
                                          </p:stCondLst>
                                        </p:cTn>
                                        <p:tgtEl>
                                          <p:spTgt spid="5"/>
                                        </p:tgtEl>
                                        <p:attrNameLst>
                                          <p:attrName>style.visibility</p:attrName>
                                        </p:attrNameLst>
                                      </p:cBhvr>
                                      <p:to>
                                        <p:strVal val="visible"/>
                                      </p:to>
                                    </p:set>
                                    <p:anim calcmode="lin" valueType="num">
                                      <p:cBhvr>
                                        <p:cTn id="37" dur="600" fill="hold"/>
                                        <p:tgtEl>
                                          <p:spTgt spid="5"/>
                                        </p:tgtEl>
                                        <p:attrNameLst>
                                          <p:attrName>ppt_w</p:attrName>
                                        </p:attrNameLst>
                                      </p:cBhvr>
                                      <p:tavLst>
                                        <p:tav tm="0">
                                          <p:val>
                                            <p:fltVal val="0"/>
                                          </p:val>
                                        </p:tav>
                                        <p:tav tm="100000">
                                          <p:val>
                                            <p:strVal val="#ppt_w"/>
                                          </p:val>
                                        </p:tav>
                                      </p:tavLst>
                                    </p:anim>
                                    <p:anim calcmode="lin" valueType="num">
                                      <p:cBhvr>
                                        <p:cTn id="38" dur="600" fill="hold"/>
                                        <p:tgtEl>
                                          <p:spTgt spid="5"/>
                                        </p:tgtEl>
                                        <p:attrNameLst>
                                          <p:attrName>ppt_h</p:attrName>
                                        </p:attrNameLst>
                                      </p:cBhvr>
                                      <p:tavLst>
                                        <p:tav tm="0">
                                          <p:val>
                                            <p:fltVal val="0"/>
                                          </p:val>
                                        </p:tav>
                                        <p:tav tm="100000">
                                          <p:val>
                                            <p:strVal val="#ppt_h"/>
                                          </p:val>
                                        </p:tav>
                                      </p:tavLst>
                                    </p:anim>
                                    <p:animEffect transition="in" filter="fade">
                                      <p:cBhvr>
                                        <p:cTn id="39" dur="600"/>
                                        <p:tgtEl>
                                          <p:spTgt spid="5"/>
                                        </p:tgtEl>
                                      </p:cBhvr>
                                    </p:animEffect>
                                  </p:childTnLst>
                                </p:cTn>
                              </p:par>
                              <p:par>
                                <p:cTn id="40" presetID="53" presetClass="entr" presetSubtype="16" fill="hold" grpId="0" nodeType="withEffect">
                                  <p:stCondLst>
                                    <p:cond delay="300"/>
                                  </p:stCondLst>
                                  <p:childTnLst>
                                    <p:set>
                                      <p:cBhvr>
                                        <p:cTn id="41" dur="1" fill="hold">
                                          <p:stCondLst>
                                            <p:cond delay="0"/>
                                          </p:stCondLst>
                                        </p:cTn>
                                        <p:tgtEl>
                                          <p:spTgt spid="6"/>
                                        </p:tgtEl>
                                        <p:attrNameLst>
                                          <p:attrName>style.visibility</p:attrName>
                                        </p:attrNameLst>
                                      </p:cBhvr>
                                      <p:to>
                                        <p:strVal val="visible"/>
                                      </p:to>
                                    </p:set>
                                    <p:anim calcmode="lin" valueType="num">
                                      <p:cBhvr>
                                        <p:cTn id="42" dur="600" fill="hold"/>
                                        <p:tgtEl>
                                          <p:spTgt spid="6"/>
                                        </p:tgtEl>
                                        <p:attrNameLst>
                                          <p:attrName>ppt_w</p:attrName>
                                        </p:attrNameLst>
                                      </p:cBhvr>
                                      <p:tavLst>
                                        <p:tav tm="0">
                                          <p:val>
                                            <p:fltVal val="0"/>
                                          </p:val>
                                        </p:tav>
                                        <p:tav tm="100000">
                                          <p:val>
                                            <p:strVal val="#ppt_w"/>
                                          </p:val>
                                        </p:tav>
                                      </p:tavLst>
                                    </p:anim>
                                    <p:anim calcmode="lin" valueType="num">
                                      <p:cBhvr>
                                        <p:cTn id="43" dur="600" fill="hold"/>
                                        <p:tgtEl>
                                          <p:spTgt spid="6"/>
                                        </p:tgtEl>
                                        <p:attrNameLst>
                                          <p:attrName>ppt_h</p:attrName>
                                        </p:attrNameLst>
                                      </p:cBhvr>
                                      <p:tavLst>
                                        <p:tav tm="0">
                                          <p:val>
                                            <p:fltVal val="0"/>
                                          </p:val>
                                        </p:tav>
                                        <p:tav tm="100000">
                                          <p:val>
                                            <p:strVal val="#ppt_h"/>
                                          </p:val>
                                        </p:tav>
                                      </p:tavLst>
                                    </p:anim>
                                    <p:animEffect transition="in" filter="fade">
                                      <p:cBhvr>
                                        <p:cTn id="44" dur="600"/>
                                        <p:tgtEl>
                                          <p:spTgt spid="6"/>
                                        </p:tgtEl>
                                      </p:cBhvr>
                                    </p:animEffect>
                                  </p:childTnLst>
                                </p:cTn>
                              </p:par>
                              <p:par>
                                <p:cTn id="45" presetID="53" presetClass="entr" presetSubtype="16" fill="hold" grpId="0" nodeType="withEffect">
                                  <p:stCondLst>
                                    <p:cond delay="500"/>
                                  </p:stCondLst>
                                  <p:childTnLst>
                                    <p:set>
                                      <p:cBhvr>
                                        <p:cTn id="46" dur="1" fill="hold">
                                          <p:stCondLst>
                                            <p:cond delay="0"/>
                                          </p:stCondLst>
                                        </p:cTn>
                                        <p:tgtEl>
                                          <p:spTgt spid="28"/>
                                        </p:tgtEl>
                                        <p:attrNameLst>
                                          <p:attrName>style.visibility</p:attrName>
                                        </p:attrNameLst>
                                      </p:cBhvr>
                                      <p:to>
                                        <p:strVal val="visible"/>
                                      </p:to>
                                    </p:set>
                                    <p:anim calcmode="lin" valueType="num">
                                      <p:cBhvr>
                                        <p:cTn id="47" dur="600" fill="hold"/>
                                        <p:tgtEl>
                                          <p:spTgt spid="28"/>
                                        </p:tgtEl>
                                        <p:attrNameLst>
                                          <p:attrName>ppt_w</p:attrName>
                                        </p:attrNameLst>
                                      </p:cBhvr>
                                      <p:tavLst>
                                        <p:tav tm="0">
                                          <p:val>
                                            <p:fltVal val="0"/>
                                          </p:val>
                                        </p:tav>
                                        <p:tav tm="100000">
                                          <p:val>
                                            <p:strVal val="#ppt_w"/>
                                          </p:val>
                                        </p:tav>
                                      </p:tavLst>
                                    </p:anim>
                                    <p:anim calcmode="lin" valueType="num">
                                      <p:cBhvr>
                                        <p:cTn id="48" dur="600" fill="hold"/>
                                        <p:tgtEl>
                                          <p:spTgt spid="28"/>
                                        </p:tgtEl>
                                        <p:attrNameLst>
                                          <p:attrName>ppt_h</p:attrName>
                                        </p:attrNameLst>
                                      </p:cBhvr>
                                      <p:tavLst>
                                        <p:tav tm="0">
                                          <p:val>
                                            <p:fltVal val="0"/>
                                          </p:val>
                                        </p:tav>
                                        <p:tav tm="100000">
                                          <p:val>
                                            <p:strVal val="#ppt_h"/>
                                          </p:val>
                                        </p:tav>
                                      </p:tavLst>
                                    </p:anim>
                                    <p:animEffect transition="in" filter="fade">
                                      <p:cBhvr>
                                        <p:cTn id="49" dur="600"/>
                                        <p:tgtEl>
                                          <p:spTgt spid="28"/>
                                        </p:tgtEl>
                                      </p:cBhvr>
                                    </p:animEffect>
                                  </p:childTnLst>
                                </p:cTn>
                              </p:par>
                              <p:par>
                                <p:cTn id="50" presetID="53" presetClass="entr" presetSubtype="16" fill="hold" grpId="0" nodeType="withEffect">
                                  <p:stCondLst>
                                    <p:cond delay="650"/>
                                  </p:stCondLst>
                                  <p:childTnLst>
                                    <p:set>
                                      <p:cBhvr>
                                        <p:cTn id="51" dur="1" fill="hold">
                                          <p:stCondLst>
                                            <p:cond delay="0"/>
                                          </p:stCondLst>
                                        </p:cTn>
                                        <p:tgtEl>
                                          <p:spTgt spid="29"/>
                                        </p:tgtEl>
                                        <p:attrNameLst>
                                          <p:attrName>style.visibility</p:attrName>
                                        </p:attrNameLst>
                                      </p:cBhvr>
                                      <p:to>
                                        <p:strVal val="visible"/>
                                      </p:to>
                                    </p:set>
                                    <p:anim calcmode="lin" valueType="num">
                                      <p:cBhvr>
                                        <p:cTn id="52" dur="600" fill="hold"/>
                                        <p:tgtEl>
                                          <p:spTgt spid="29"/>
                                        </p:tgtEl>
                                        <p:attrNameLst>
                                          <p:attrName>ppt_w</p:attrName>
                                        </p:attrNameLst>
                                      </p:cBhvr>
                                      <p:tavLst>
                                        <p:tav tm="0">
                                          <p:val>
                                            <p:fltVal val="0"/>
                                          </p:val>
                                        </p:tav>
                                        <p:tav tm="100000">
                                          <p:val>
                                            <p:strVal val="#ppt_w"/>
                                          </p:val>
                                        </p:tav>
                                      </p:tavLst>
                                    </p:anim>
                                    <p:anim calcmode="lin" valueType="num">
                                      <p:cBhvr>
                                        <p:cTn id="53" dur="600" fill="hold"/>
                                        <p:tgtEl>
                                          <p:spTgt spid="29"/>
                                        </p:tgtEl>
                                        <p:attrNameLst>
                                          <p:attrName>ppt_h</p:attrName>
                                        </p:attrNameLst>
                                      </p:cBhvr>
                                      <p:tavLst>
                                        <p:tav tm="0">
                                          <p:val>
                                            <p:fltVal val="0"/>
                                          </p:val>
                                        </p:tav>
                                        <p:tav tm="100000">
                                          <p:val>
                                            <p:strVal val="#ppt_h"/>
                                          </p:val>
                                        </p:tav>
                                      </p:tavLst>
                                    </p:anim>
                                    <p:animEffect transition="in" filter="fade">
                                      <p:cBhvr>
                                        <p:cTn id="54" dur="600"/>
                                        <p:tgtEl>
                                          <p:spTgt spid="29"/>
                                        </p:tgtEl>
                                      </p:cBhvr>
                                    </p:animEffect>
                                  </p:childTnLst>
                                </p:cTn>
                              </p:par>
                              <p:par>
                                <p:cTn id="55" presetID="10" presetClass="entr" presetSubtype="0" fill="hold" grpId="0" nodeType="withEffect">
                                  <p:stCondLst>
                                    <p:cond delay="90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25" grpId="0" animBg="1"/>
      <p:bldP spid="26" grpId="0" animBg="1"/>
      <p:bldP spid="27" grpId="0" animBg="1"/>
      <p:bldP spid="28" grpId="0" animBg="1"/>
      <p:bldP spid="29" grpId="0" animBg="1"/>
      <p:bldP spid="3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L0" descr="preencoded.png">    </p:cNvPr>
          <p:cNvPicPr>
            <a:picLocks noChangeAspect="1"/>
          </p:cNvPicPr>
          <p:nvPr/>
        </p:nvPicPr>
        <p:blipFill>
          <a:blip r:embed="rId1"/>
          <a:stretch>
            <a:fillRect/>
          </a:stretch>
        </p:blipFill>
        <p:spPr>
          <a:xfrm>
            <a:off x="-26092219" y="-109409114"/>
            <a:ext cx="49363831" cy="118064306"/>
          </a:xfrm>
          <a:prstGeom prst="rect">
            <a:avLst/>
          </a:prstGeom>
        </p:spPr>
      </p:pic>
      <p:pic>
        <p:nvPicPr>
          <p:cNvPr id="3" name="!!L1" descr="preencoded.png">    </p:cNvPr>
          <p:cNvPicPr>
            <a:picLocks noChangeAspect="1"/>
          </p:cNvPicPr>
          <p:nvPr/>
        </p:nvPicPr>
        <p:blipFill>
          <a:blip r:embed="rId2"/>
          <a:stretch>
            <a:fillRect/>
          </a:stretch>
        </p:blipFill>
        <p:spPr>
          <a:xfrm>
            <a:off x="-4863741" y="-13505417"/>
            <a:ext cx="25697413" cy="19722668"/>
          </a:xfrm>
          <a:prstGeom prst="rect">
            <a:avLst/>
          </a:prstGeom>
        </p:spPr>
      </p:pic>
      <p:pic>
        <p:nvPicPr>
          <p:cNvPr id="4" name="!!L2" descr="preencoded.png">    </p:cNvPr>
          <p:cNvPicPr>
            <a:picLocks noChangeAspect="1"/>
          </p:cNvPicPr>
          <p:nvPr/>
        </p:nvPicPr>
        <p:blipFill>
          <a:blip r:embed="rId3"/>
          <a:stretch>
            <a:fillRect/>
          </a:stretch>
        </p:blipFill>
        <p:spPr>
          <a:xfrm>
            <a:off x="4389120" y="1215466"/>
            <a:ext cx="6949440" cy="4381348"/>
          </a:xfrm>
          <a:prstGeom prst="rect">
            <a:avLst/>
          </a:prstGeom>
        </p:spPr>
      </p:pic>
      <p:pic>
        <p:nvPicPr>
          <p:cNvPr id="5" name="!!pin" descr="preencoded.png">    </p:cNvPr>
          <p:cNvPicPr>
            <a:picLocks noChangeAspect="1"/>
          </p:cNvPicPr>
          <p:nvPr/>
        </p:nvPicPr>
        <p:blipFill>
          <a:blip r:embed="rId4"/>
          <a:stretch>
            <a:fillRect/>
          </a:stretch>
        </p:blipFill>
        <p:spPr>
          <a:xfrm>
            <a:off x="6835419" y="3755389"/>
            <a:ext cx="457200" cy="660400"/>
          </a:xfrm>
          <a:prstGeom prst="rect">
            <a:avLst/>
          </a:prstGeom>
        </p:spPr>
      </p:pic>
      <p:sp>
        <p:nvSpPr>
          <p:cNvPr id="6" name="plab"/>
          <p:cNvSpPr/>
          <p:nvPr/>
        </p:nvSpPr>
        <p:spPr>
          <a:xfrm>
            <a:off x="7411491" y="3748785"/>
            <a:ext cx="2528316" cy="384048"/>
          </a:xfrm>
          <a:prstGeom prst="roundRect">
            <a:avLst>
              <a:gd name="adj" fmla="val 19048"/>
            </a:avLst>
          </a:prstGeom>
          <a:solidFill>
            <a:srgbClr val="0E1C46"/>
          </a:solidFill>
          <a:ln w="12700">
            <a:solidFill>
              <a:srgbClr val="0E1C46"/>
            </a:solidFill>
            <a:prstDash val="solid"/>
          </a:ln>
        </p:spPr>
      </p:sp>
      <p:sp>
        <p:nvSpPr>
          <p:cNvPr id="7" name="plabt"/>
          <p:cNvSpPr txBox="1"/>
          <p:nvPr/>
        </p:nvSpPr>
        <p:spPr>
          <a:xfrm>
            <a:off x="7411491" y="3748785"/>
            <a:ext cx="2528316"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Golfe 3 · Doumassessé</a:t>
            </a:r>
            <a:endParaRPr lang="fr-FR" sz="1300" dirty="0"/>
          </a:p>
        </p:txBody>
      </p:sp>
      <p:sp>
        <p:nvSpPr>
          <p:cNvPr id="8" name="labdo1hl"/>
          <p:cNvSpPr txBox="1"/>
          <p:nvPr/>
        </p:nvSpPr>
        <p:spPr>
          <a:xfrm>
            <a:off x="4741766" y="2024633"/>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Préfecture du Golfe</a:t>
            </a:r>
            <a:endParaRPr lang="fr-FR" sz="1200" dirty="0"/>
          </a:p>
        </p:txBody>
      </p:sp>
      <p:sp>
        <p:nvSpPr>
          <p:cNvPr id="9" name="lablo224"/>
          <p:cNvSpPr txBox="1"/>
          <p:nvPr/>
        </p:nvSpPr>
        <p:spPr>
          <a:xfrm>
            <a:off x="8581523" y="3797680"/>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Lomé</a:t>
            </a:r>
            <a:endParaRPr lang="fr-FR" sz="1200" dirty="0"/>
          </a:p>
        </p:txBody>
      </p:sp>
      <p:sp>
        <p:nvSpPr>
          <p:cNvPr id="10" name="labczcz3"/>
          <p:cNvSpPr txBox="1"/>
          <p:nvPr/>
        </p:nvSpPr>
        <p:spPr>
          <a:xfrm>
            <a:off x="6716498" y="5349097"/>
            <a:ext cx="2194560" cy="292608"/>
          </a:xfrm>
          <a:prstGeom prst="rect">
            <a:avLst/>
          </a:prstGeom>
          <a:noFill/>
          <a:ln/>
        </p:spPr>
        <p:txBody>
          <a:bodyPr wrap="square" lIns="0" tIns="0" rIns="0" bIns="0" rtlCol="0" anchor="t"/>
          <a:lstStyle/>
          <a:p>
            <a:pPr algn="ctr" indent="0" marL="0">
              <a:buNone/>
            </a:pPr>
            <a:r>
              <a:rPr lang="fr-FR" altLang="en-US" sz="1200" i="1" dirty="0">
                <a:solidFill>
                  <a:srgbClr val="1B3F9E"/>
                </a:solidFill>
                <a:latin typeface="Calibri" pitchFamily="34" charset="0"/>
                <a:ea typeface="Calibri" pitchFamily="34" charset="-122"/>
                <a:cs typeface="Calibri" pitchFamily="34" charset="-120"/>
              </a:rPr>
              <a:t>Golfe de Guinée</a:t>
            </a:r>
            <a:endParaRPr lang="fr-FR" sz="1200" dirty="0"/>
          </a:p>
        </p:txBody>
      </p:sp>
      <p:sp>
        <p:nvSpPr>
          <p:cNvPr id="11" name="!!mapcard"/>
          <p:cNvSpPr/>
          <p:nvPr/>
        </p:nvSpPr>
        <p:spPr>
          <a:xfrm>
            <a:off x="502920" y="502920"/>
            <a:ext cx="3611880" cy="5486400"/>
          </a:xfrm>
          <a:prstGeom prst="roundRect">
            <a:avLst>
              <a:gd name="adj" fmla="val 303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2" name="!!dot0"/>
          <p:cNvSpPr/>
          <p:nvPr/>
        </p:nvSpPr>
        <p:spPr>
          <a:xfrm>
            <a:off x="822960" y="822960"/>
            <a:ext cx="384048" cy="384048"/>
          </a:xfrm>
          <a:prstGeom prst="ellipse">
            <a:avLst/>
          </a:prstGeom>
          <a:solidFill>
            <a:srgbClr val="00923A"/>
          </a:solidFill>
          <a:ln w="19050">
            <a:solidFill>
              <a:srgbClr val="00923A"/>
            </a:solidFill>
            <a:prstDash val="solid"/>
          </a:ln>
        </p:spPr>
      </p:sp>
      <p:sp>
        <p:nvSpPr>
          <p:cNvPr id="13" name="!!dott0"/>
          <p:cNvSpPr txBox="1"/>
          <p:nvPr/>
        </p:nvSpPr>
        <p:spPr>
          <a:xfrm>
            <a:off x="822960"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4" name="!!dot1"/>
          <p:cNvSpPr/>
          <p:nvPr/>
        </p:nvSpPr>
        <p:spPr>
          <a:xfrm>
            <a:off x="1389888" y="822960"/>
            <a:ext cx="384048" cy="384048"/>
          </a:xfrm>
          <a:prstGeom prst="ellipse">
            <a:avLst/>
          </a:prstGeom>
          <a:solidFill>
            <a:srgbClr val="00923A"/>
          </a:solidFill>
          <a:ln w="19050">
            <a:solidFill>
              <a:srgbClr val="00923A"/>
            </a:solidFill>
            <a:prstDash val="solid"/>
          </a:ln>
        </p:spPr>
      </p:sp>
      <p:sp>
        <p:nvSpPr>
          <p:cNvPr id="15" name="!!dott1"/>
          <p:cNvSpPr txBox="1"/>
          <p:nvPr/>
        </p:nvSpPr>
        <p:spPr>
          <a:xfrm>
            <a:off x="1389888"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16" name="!!dot2"/>
          <p:cNvSpPr/>
          <p:nvPr/>
        </p:nvSpPr>
        <p:spPr>
          <a:xfrm>
            <a:off x="1956816" y="822960"/>
            <a:ext cx="384048" cy="384048"/>
          </a:xfrm>
          <a:prstGeom prst="ellipse">
            <a:avLst/>
          </a:prstGeom>
          <a:solidFill>
            <a:srgbClr val="1B3F9E"/>
          </a:solidFill>
          <a:ln w="19050">
            <a:solidFill>
              <a:srgbClr val="1B3F9E"/>
            </a:solidFill>
            <a:prstDash val="solid"/>
          </a:ln>
        </p:spPr>
      </p:sp>
      <p:sp>
        <p:nvSpPr>
          <p:cNvPr id="17" name="!!dott2"/>
          <p:cNvSpPr txBox="1"/>
          <p:nvPr/>
        </p:nvSpPr>
        <p:spPr>
          <a:xfrm>
            <a:off x="1956816"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3</a:t>
            </a:r>
            <a:endParaRPr lang="fr-FR" sz="1200" dirty="0"/>
          </a:p>
        </p:txBody>
      </p:sp>
      <p:sp>
        <p:nvSpPr>
          <p:cNvPr id="18" name="!!dot3"/>
          <p:cNvSpPr/>
          <p:nvPr/>
        </p:nvSpPr>
        <p:spPr>
          <a:xfrm>
            <a:off x="2523744" y="822960"/>
            <a:ext cx="384048" cy="384048"/>
          </a:xfrm>
          <a:prstGeom prst="ellipse">
            <a:avLst/>
          </a:prstGeom>
          <a:solidFill>
            <a:srgbClr val="FFFFFF"/>
          </a:solidFill>
          <a:ln w="19050">
            <a:solidFill>
              <a:srgbClr val="DDE3EE"/>
            </a:solidFill>
            <a:prstDash val="solid"/>
          </a:ln>
        </p:spPr>
      </p:sp>
      <p:sp>
        <p:nvSpPr>
          <p:cNvPr id="19" name="!!dott3"/>
          <p:cNvSpPr txBox="1"/>
          <p:nvPr/>
        </p:nvSpPr>
        <p:spPr>
          <a:xfrm>
            <a:off x="2523744"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4</a:t>
            </a:r>
            <a:endParaRPr lang="fr-FR" sz="1200" dirty="0"/>
          </a:p>
        </p:txBody>
      </p:sp>
      <p:sp>
        <p:nvSpPr>
          <p:cNvPr id="20" name="!!dot4"/>
          <p:cNvSpPr/>
          <p:nvPr/>
        </p:nvSpPr>
        <p:spPr>
          <a:xfrm>
            <a:off x="3090672" y="822960"/>
            <a:ext cx="384048" cy="384048"/>
          </a:xfrm>
          <a:prstGeom prst="ellipse">
            <a:avLst/>
          </a:prstGeom>
          <a:solidFill>
            <a:srgbClr val="FFFFFF"/>
          </a:solidFill>
          <a:ln w="19050">
            <a:solidFill>
              <a:srgbClr val="DDE3EE"/>
            </a:solidFill>
            <a:prstDash val="solid"/>
          </a:ln>
        </p:spPr>
      </p:sp>
      <p:sp>
        <p:nvSpPr>
          <p:cNvPr id="21" name="!!dott4"/>
          <p:cNvSpPr txBox="1"/>
          <p:nvPr/>
        </p:nvSpPr>
        <p:spPr>
          <a:xfrm>
            <a:off x="3090672"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22" name="mstep"/>
          <p:cNvSpPr txBox="1"/>
          <p:nvPr/>
        </p:nvSpPr>
        <p:spPr>
          <a:xfrm>
            <a:off x="822960" y="1417320"/>
            <a:ext cx="3108960" cy="274320"/>
          </a:xfrm>
          <a:prstGeom prst="rect">
            <a:avLst/>
          </a:prstGeom>
          <a:noFill/>
          <a:ln/>
        </p:spPr>
        <p:txBody>
          <a:bodyPr wrap="square" lIns="0" tIns="0" rIns="0" bIns="0" rtlCol="0" anchor="t"/>
          <a:lstStyle/>
          <a:p>
            <a:pPr indent="0" marL="0">
              <a:buNone/>
            </a:pPr>
            <a:r>
              <a:rPr lang="fr-FR" altLang="en-US" sz="1100" b="1" spc="150" kern="0" dirty="0">
                <a:solidFill>
                  <a:srgbClr val="00923A"/>
                </a:solidFill>
                <a:latin typeface="Calibri" pitchFamily="34" charset="0"/>
                <a:ea typeface="Calibri" pitchFamily="34" charset="-122"/>
                <a:cs typeface="Calibri" pitchFamily="34" charset="-120"/>
              </a:rPr>
              <a:t>ÉTAPE 3 SUR 5 · GRAND LOMÉ</a:t>
            </a:r>
            <a:endParaRPr lang="fr-FR" sz="1100" dirty="0"/>
          </a:p>
        </p:txBody>
      </p:sp>
      <p:sp>
        <p:nvSpPr>
          <p:cNvPr id="23" name="mtitle"/>
          <p:cNvSpPr txBox="1"/>
          <p:nvPr/>
        </p:nvSpPr>
        <p:spPr>
          <a:xfrm>
            <a:off x="822960" y="1737360"/>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Le District autonome du Grand Lomé</a:t>
            </a:r>
            <a:endParaRPr lang="fr-FR" sz="2400" dirty="0"/>
          </a:p>
        </p:txBody>
      </p:sp>
      <p:sp>
        <p:nvSpPr>
          <p:cNvPr id="24" name="mtext"/>
          <p:cNvSpPr txBox="1"/>
          <p:nvPr/>
        </p:nvSpPr>
        <p:spPr>
          <a:xfrm>
            <a:off x="822960" y="2697480"/>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Treize communes, dont la Commune du Golfe 3, avec Doumassessé pour chef-lieu.</a:t>
            </a:r>
            <a:endParaRPr lang="fr-FR" sz="1400" dirty="0"/>
          </a:p>
        </p:txBody>
      </p:sp>
      <p:sp>
        <p:nvSpPr>
          <p:cNvPr id="25"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13</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communes</a:t>
            </a:r>
            <a:endParaRPr lang="fr-FR" sz="2000" dirty="0"/>
          </a:p>
        </p:txBody>
      </p:sp>
      <p:sp>
        <p:nvSpPr>
          <p:cNvPr id="26"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DAGL</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district autonome</a:t>
            </a:r>
            <a:endParaRPr lang="fr-FR" sz="2000" dirty="0"/>
          </a:p>
        </p:txBody>
      </p:sp>
      <p:sp>
        <p:nvSpPr>
          <p:cNvPr id="27" name="mhint">
            <a:hlinkClick r:id="rId5" tooltip="Zoomer" action="ppaction://hlinksldjump"/>
          </p:cNvPr>
          <p:cNvSpPr txBox="1"/>
          <p:nvPr/>
        </p:nvSpPr>
        <p:spPr>
          <a:xfrm>
            <a:off x="822960" y="5577840"/>
            <a:ext cx="3017520" cy="274320"/>
          </a:xfrm>
          <a:prstGeom prst="rect">
            <a:avLst/>
          </a:prstGeom>
          <a:noFill/>
          <a:ln/>
        </p:spPr>
        <p:txBody>
          <a:bodyPr wrap="square" lIns="0" tIns="0" rIns="0" bIns="0" rtlCol="0" anchor="t"/>
          <a:lstStyle/>
          <a:p>
            <a:pPr indent="0" marL="0">
              <a:buNone/>
            </a:pPr>
            <a:r>
              <a:rPr lang="fr-FR" altLang="en-US" sz="1100" i="1" u="sng" dirty="0">
                <a:solidFill>
                  <a:srgbClr val="1B3F9E"/>
                </a:solidFill>
                <a:latin typeface="Calibri" pitchFamily="34" charset="0"/>
                <a:ea typeface="Calibri" pitchFamily="34" charset="-122"/>
                <a:cs typeface="Calibri" pitchFamily="34" charset="-120"/>
                <a:hlinkClick r:id="rId5" action="ppaction://hlinksldjump" tooltip="Zoomer">
                  <a:extLst>
                    <a:ext uri="{A12FA001-AC4F-418D-AE19-62706E023703}">
                      <ahyp:hlinkClr xmlns:ahyp="http://schemas.microsoft.com/office/drawing/2018/hyperlinkcolor" val="tx"/>
                    </a:ext>
                  </a:extLst>
                </a:hlinkClick>
              </a:rPr>
              <a:t>Cliquez pour zoomer →</a:t>
            </a:r>
            <a:endParaRPr lang="fr-FR" sz="1100" dirty="0"/>
          </a:p>
        </p:txBody>
      </p:sp>
      <p:sp>
        <p:nvSpPr>
          <p:cNvPr id="28"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9" name="!!railline"/>
          <p:cNvSpPr/>
          <p:nvPr/>
        </p:nvSpPr>
        <p:spPr>
          <a:xfrm>
            <a:off x="11795760" y="1600200"/>
            <a:ext cx="914" cy="3383280"/>
          </a:xfrm>
          <a:prstGeom prst="line">
            <a:avLst/>
          </a:prstGeom>
          <a:noFill/>
          <a:ln w="25400">
            <a:solidFill>
              <a:srgbClr val="DDE3EE"/>
            </a:solidFill>
            <a:prstDash val="solid"/>
          </a:ln>
        </p:spPr>
      </p:sp>
      <p:sp>
        <p:nvSpPr>
          <p:cNvPr id="30" name="!!railprog"/>
          <p:cNvSpPr/>
          <p:nvPr/>
        </p:nvSpPr>
        <p:spPr>
          <a:xfrm>
            <a:off x="11795760" y="1600200"/>
            <a:ext cx="914" cy="676656"/>
          </a:xfrm>
          <a:prstGeom prst="line">
            <a:avLst/>
          </a:prstGeom>
          <a:noFill/>
          <a:ln w="38100">
            <a:solidFill>
              <a:srgbClr val="00923A"/>
            </a:solidFill>
            <a:prstDash val="solid"/>
          </a:ln>
        </p:spPr>
      </p:sp>
      <p:sp>
        <p:nvSpPr>
          <p:cNvPr id="31" name="!!mact"/>
          <p:cNvSpPr/>
          <p:nvPr/>
        </p:nvSpPr>
        <p:spPr>
          <a:xfrm>
            <a:off x="11494008" y="1975104"/>
            <a:ext cx="603504" cy="603504"/>
          </a:xfrm>
          <a:prstGeom prst="ellipse">
            <a:avLst/>
          </a:prstGeom>
          <a:solidFill>
            <a:srgbClr val="FFFFFF">
              <a:alpha val="0"/>
            </a:srgbClr>
          </a:solidFill>
          <a:ln w="38100">
            <a:solidFill>
              <a:srgbClr val="FCC600"/>
            </a:solidFill>
            <a:prstDash val="solid"/>
          </a:ln>
        </p:spPr>
      </p:sp>
      <p:sp>
        <p:nvSpPr>
          <p:cNvPr id="32"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3" name="!!mt1">
            <a:hlinkClick r:id="rId6"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4" name="!!m2"/>
          <p:cNvSpPr/>
          <p:nvPr/>
        </p:nvSpPr>
        <p:spPr>
          <a:xfrm>
            <a:off x="11594592" y="2075688"/>
            <a:ext cx="402336" cy="402336"/>
          </a:xfrm>
          <a:prstGeom prst="ellipse">
            <a:avLst/>
          </a:prstGeom>
          <a:solidFill>
            <a:srgbClr val="1B3F9E"/>
          </a:solidFill>
          <a:ln w="19050">
            <a:solidFill>
              <a:srgbClr val="1B3F9E"/>
            </a:solidFill>
            <a:prstDash val="solid"/>
          </a:ln>
        </p:spPr>
      </p:sp>
      <p:sp>
        <p:nvSpPr>
          <p:cNvPr id="35" name="!!mt2">
            <a:hlinkClick r:id="rId7"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6" name="!!m3"/>
          <p:cNvSpPr/>
          <p:nvPr/>
        </p:nvSpPr>
        <p:spPr>
          <a:xfrm>
            <a:off x="11594592" y="2752344"/>
            <a:ext cx="402336" cy="402336"/>
          </a:xfrm>
          <a:prstGeom prst="ellipse">
            <a:avLst/>
          </a:prstGeom>
          <a:solidFill>
            <a:srgbClr val="FFFFFF"/>
          </a:solidFill>
          <a:ln w="19050">
            <a:solidFill>
              <a:srgbClr val="C9D2E3"/>
            </a:solidFill>
            <a:prstDash val="solid"/>
          </a:ln>
        </p:spPr>
      </p:sp>
      <p:sp>
        <p:nvSpPr>
          <p:cNvPr id="37" name="!!mt3">
            <a:hlinkClick r:id="rId8"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8"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8"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39" name="!!mt4">
            <a:hlinkClick r:id="rId9"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0"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41" name="!!mt5">
            <a:hlinkClick r:id="rId10"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0"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2"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3" name="!!mt6">
            <a:hlinkClick r:id="rId11"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1"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4"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STRUCTURE D’ACCUEIL</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600"/>
                                        <p:tgtEl>
                                          <p:spTgt spid="2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600"/>
                                        <p:tgtEl>
                                          <p:spTgt spid="23"/>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600"/>
                                        <p:tgtEl>
                                          <p:spTgt spid="10"/>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600"/>
                                        <p:tgtEl>
                                          <p:spTgt spid="24"/>
                                        </p:tgtEl>
                                      </p:cBhvr>
                                    </p:animEffect>
                                  </p:childTnLst>
                                </p:cTn>
                              </p:par>
                              <p:par>
                                <p:cTn id="23" presetID="53" presetClass="entr" presetSubtype="16" fill="hold" grpId="0" nodeType="withEffect">
                                  <p:stCondLst>
                                    <p:cond delay="300"/>
                                  </p:stCondLst>
                                  <p:childTnLst>
                                    <p:set>
                                      <p:cBhvr>
                                        <p:cTn id="24" dur="1" fill="hold">
                                          <p:stCondLst>
                                            <p:cond delay="0"/>
                                          </p:stCondLst>
                                        </p:cTn>
                                        <p:tgtEl>
                                          <p:spTgt spid="6"/>
                                        </p:tgtEl>
                                        <p:attrNameLst>
                                          <p:attrName>style.visibility</p:attrName>
                                        </p:attrNameLst>
                                      </p:cBhvr>
                                      <p:to>
                                        <p:strVal val="visible"/>
                                      </p:to>
                                    </p:set>
                                    <p:anim calcmode="lin" valueType="num">
                                      <p:cBhvr>
                                        <p:cTn id="25" dur="600" fill="hold"/>
                                        <p:tgtEl>
                                          <p:spTgt spid="6"/>
                                        </p:tgtEl>
                                        <p:attrNameLst>
                                          <p:attrName>ppt_w</p:attrName>
                                        </p:attrNameLst>
                                      </p:cBhvr>
                                      <p:tavLst>
                                        <p:tav tm="0">
                                          <p:val>
                                            <p:fltVal val="0"/>
                                          </p:val>
                                        </p:tav>
                                        <p:tav tm="100000">
                                          <p:val>
                                            <p:strVal val="#ppt_w"/>
                                          </p:val>
                                        </p:tav>
                                      </p:tavLst>
                                    </p:anim>
                                    <p:anim calcmode="lin" valueType="num">
                                      <p:cBhvr>
                                        <p:cTn id="26" dur="600" fill="hold"/>
                                        <p:tgtEl>
                                          <p:spTgt spid="6"/>
                                        </p:tgtEl>
                                        <p:attrNameLst>
                                          <p:attrName>ppt_h</p:attrName>
                                        </p:attrNameLst>
                                      </p:cBhvr>
                                      <p:tavLst>
                                        <p:tav tm="0">
                                          <p:val>
                                            <p:fltVal val="0"/>
                                          </p:val>
                                        </p:tav>
                                        <p:tav tm="100000">
                                          <p:val>
                                            <p:strVal val="#ppt_h"/>
                                          </p:val>
                                        </p:tav>
                                      </p:tavLst>
                                    </p:anim>
                                    <p:animEffect transition="in" filter="fade">
                                      <p:cBhvr>
                                        <p:cTn id="27" dur="600"/>
                                        <p:tgtEl>
                                          <p:spTgt spid="6"/>
                                        </p:tgtEl>
                                      </p:cBhvr>
                                    </p:animEffect>
                                  </p:childTnLst>
                                </p:cTn>
                              </p:par>
                              <p:par>
                                <p:cTn id="28" presetID="53" presetClass="entr" presetSubtype="16" fill="hold" grpId="0" nodeType="withEffect">
                                  <p:stCondLst>
                                    <p:cond delay="300"/>
                                  </p:stCondLst>
                                  <p:childTnLst>
                                    <p:set>
                                      <p:cBhvr>
                                        <p:cTn id="29" dur="1" fill="hold">
                                          <p:stCondLst>
                                            <p:cond delay="0"/>
                                          </p:stCondLst>
                                        </p:cTn>
                                        <p:tgtEl>
                                          <p:spTgt spid="7"/>
                                        </p:tgtEl>
                                        <p:attrNameLst>
                                          <p:attrName>style.visibility</p:attrName>
                                        </p:attrNameLst>
                                      </p:cBhvr>
                                      <p:to>
                                        <p:strVal val="visible"/>
                                      </p:to>
                                    </p:set>
                                    <p:anim calcmode="lin" valueType="num">
                                      <p:cBhvr>
                                        <p:cTn id="30" dur="600" fill="hold"/>
                                        <p:tgtEl>
                                          <p:spTgt spid="7"/>
                                        </p:tgtEl>
                                        <p:attrNameLst>
                                          <p:attrName>ppt_w</p:attrName>
                                        </p:attrNameLst>
                                      </p:cBhvr>
                                      <p:tavLst>
                                        <p:tav tm="0">
                                          <p:val>
                                            <p:fltVal val="0"/>
                                          </p:val>
                                        </p:tav>
                                        <p:tav tm="100000">
                                          <p:val>
                                            <p:strVal val="#ppt_w"/>
                                          </p:val>
                                        </p:tav>
                                      </p:tavLst>
                                    </p:anim>
                                    <p:anim calcmode="lin" valueType="num">
                                      <p:cBhvr>
                                        <p:cTn id="31" dur="600" fill="hold"/>
                                        <p:tgtEl>
                                          <p:spTgt spid="7"/>
                                        </p:tgtEl>
                                        <p:attrNameLst>
                                          <p:attrName>ppt_h</p:attrName>
                                        </p:attrNameLst>
                                      </p:cBhvr>
                                      <p:tavLst>
                                        <p:tav tm="0">
                                          <p:val>
                                            <p:fltVal val="0"/>
                                          </p:val>
                                        </p:tav>
                                        <p:tav tm="100000">
                                          <p:val>
                                            <p:strVal val="#ppt_h"/>
                                          </p:val>
                                        </p:tav>
                                      </p:tavLst>
                                    </p:anim>
                                    <p:animEffect transition="in" filter="fade">
                                      <p:cBhvr>
                                        <p:cTn id="32" dur="600"/>
                                        <p:tgtEl>
                                          <p:spTgt spid="7"/>
                                        </p:tgtEl>
                                      </p:cBhvr>
                                    </p:animEffect>
                                  </p:childTnLst>
                                </p:cTn>
                              </p:par>
                              <p:par>
                                <p:cTn id="33" presetID="53" presetClass="entr" presetSubtype="16" fill="hold" grpId="0" nodeType="withEffect">
                                  <p:stCondLst>
                                    <p:cond delay="500"/>
                                  </p:stCondLst>
                                  <p:childTnLst>
                                    <p:set>
                                      <p:cBhvr>
                                        <p:cTn id="34" dur="1" fill="hold">
                                          <p:stCondLst>
                                            <p:cond delay="0"/>
                                          </p:stCondLst>
                                        </p:cTn>
                                        <p:tgtEl>
                                          <p:spTgt spid="25"/>
                                        </p:tgtEl>
                                        <p:attrNameLst>
                                          <p:attrName>style.visibility</p:attrName>
                                        </p:attrNameLst>
                                      </p:cBhvr>
                                      <p:to>
                                        <p:strVal val="visible"/>
                                      </p:to>
                                    </p:set>
                                    <p:anim calcmode="lin" valueType="num">
                                      <p:cBhvr>
                                        <p:cTn id="35" dur="600" fill="hold"/>
                                        <p:tgtEl>
                                          <p:spTgt spid="25"/>
                                        </p:tgtEl>
                                        <p:attrNameLst>
                                          <p:attrName>ppt_w</p:attrName>
                                        </p:attrNameLst>
                                      </p:cBhvr>
                                      <p:tavLst>
                                        <p:tav tm="0">
                                          <p:val>
                                            <p:fltVal val="0"/>
                                          </p:val>
                                        </p:tav>
                                        <p:tav tm="100000">
                                          <p:val>
                                            <p:strVal val="#ppt_w"/>
                                          </p:val>
                                        </p:tav>
                                      </p:tavLst>
                                    </p:anim>
                                    <p:anim calcmode="lin" valueType="num">
                                      <p:cBhvr>
                                        <p:cTn id="36" dur="600" fill="hold"/>
                                        <p:tgtEl>
                                          <p:spTgt spid="25"/>
                                        </p:tgtEl>
                                        <p:attrNameLst>
                                          <p:attrName>ppt_h</p:attrName>
                                        </p:attrNameLst>
                                      </p:cBhvr>
                                      <p:tavLst>
                                        <p:tav tm="0">
                                          <p:val>
                                            <p:fltVal val="0"/>
                                          </p:val>
                                        </p:tav>
                                        <p:tav tm="100000">
                                          <p:val>
                                            <p:strVal val="#ppt_h"/>
                                          </p:val>
                                        </p:tav>
                                      </p:tavLst>
                                    </p:anim>
                                    <p:animEffect transition="in" filter="fade">
                                      <p:cBhvr>
                                        <p:cTn id="37" dur="600"/>
                                        <p:tgtEl>
                                          <p:spTgt spid="25"/>
                                        </p:tgtEl>
                                      </p:cBhvr>
                                    </p:animEffect>
                                  </p:childTnLst>
                                </p:cTn>
                              </p:par>
                              <p:par>
                                <p:cTn id="38" presetID="53" presetClass="entr" presetSubtype="16" fill="hold" grpId="0" nodeType="withEffect">
                                  <p:stCondLst>
                                    <p:cond delay="650"/>
                                  </p:stCondLst>
                                  <p:childTnLst>
                                    <p:set>
                                      <p:cBhvr>
                                        <p:cTn id="39" dur="1" fill="hold">
                                          <p:stCondLst>
                                            <p:cond delay="0"/>
                                          </p:stCondLst>
                                        </p:cTn>
                                        <p:tgtEl>
                                          <p:spTgt spid="26"/>
                                        </p:tgtEl>
                                        <p:attrNameLst>
                                          <p:attrName>style.visibility</p:attrName>
                                        </p:attrNameLst>
                                      </p:cBhvr>
                                      <p:to>
                                        <p:strVal val="visible"/>
                                      </p:to>
                                    </p:set>
                                    <p:anim calcmode="lin" valueType="num">
                                      <p:cBhvr>
                                        <p:cTn id="40" dur="600" fill="hold"/>
                                        <p:tgtEl>
                                          <p:spTgt spid="26"/>
                                        </p:tgtEl>
                                        <p:attrNameLst>
                                          <p:attrName>ppt_w</p:attrName>
                                        </p:attrNameLst>
                                      </p:cBhvr>
                                      <p:tavLst>
                                        <p:tav tm="0">
                                          <p:val>
                                            <p:fltVal val="0"/>
                                          </p:val>
                                        </p:tav>
                                        <p:tav tm="100000">
                                          <p:val>
                                            <p:strVal val="#ppt_w"/>
                                          </p:val>
                                        </p:tav>
                                      </p:tavLst>
                                    </p:anim>
                                    <p:anim calcmode="lin" valueType="num">
                                      <p:cBhvr>
                                        <p:cTn id="41" dur="600" fill="hold"/>
                                        <p:tgtEl>
                                          <p:spTgt spid="26"/>
                                        </p:tgtEl>
                                        <p:attrNameLst>
                                          <p:attrName>ppt_h</p:attrName>
                                        </p:attrNameLst>
                                      </p:cBhvr>
                                      <p:tavLst>
                                        <p:tav tm="0">
                                          <p:val>
                                            <p:fltVal val="0"/>
                                          </p:val>
                                        </p:tav>
                                        <p:tav tm="100000">
                                          <p:val>
                                            <p:strVal val="#ppt_h"/>
                                          </p:val>
                                        </p:tav>
                                      </p:tavLst>
                                    </p:anim>
                                    <p:animEffect transition="in" filter="fade">
                                      <p:cBhvr>
                                        <p:cTn id="42" dur="600"/>
                                        <p:tgtEl>
                                          <p:spTgt spid="26"/>
                                        </p:tgtEl>
                                      </p:cBhvr>
                                    </p:animEffect>
                                  </p:childTnLst>
                                </p:cTn>
                              </p:par>
                              <p:par>
                                <p:cTn id="43" presetID="10" presetClass="entr" presetSubtype="0" fill="hold" grpId="0" nodeType="withEffect">
                                  <p:stCondLst>
                                    <p:cond delay="90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22" grpId="0" animBg="1"/>
      <p:bldP spid="23" grpId="0" animBg="1"/>
      <p:bldP spid="24" grpId="0" animBg="1"/>
      <p:bldP spid="25" grpId="0" animBg="1"/>
      <p:bldP spid="26" grpId="0" animBg="1"/>
      <p:bldP spid="2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L1" descr="preencoded.png">    </p:cNvPr>
          <p:cNvPicPr>
            <a:picLocks noChangeAspect="1"/>
          </p:cNvPicPr>
          <p:nvPr/>
        </p:nvPicPr>
        <p:blipFill>
          <a:blip r:embed="rId1"/>
          <a:stretch>
            <a:fillRect/>
          </a:stretch>
        </p:blipFill>
        <p:spPr>
          <a:xfrm>
            <a:off x="-22504850" y="-41836344"/>
            <a:ext cx="66318032" cy="50898842"/>
          </a:xfrm>
          <a:prstGeom prst="rect">
            <a:avLst/>
          </a:prstGeom>
        </p:spPr>
      </p:pic>
      <p:pic>
        <p:nvPicPr>
          <p:cNvPr id="3" name="!!L2" descr="preencoded.png">    </p:cNvPr>
          <p:cNvPicPr>
            <a:picLocks noChangeAspect="1"/>
          </p:cNvPicPr>
          <p:nvPr/>
        </p:nvPicPr>
        <p:blipFill>
          <a:blip r:embed="rId2"/>
          <a:stretch>
            <a:fillRect/>
          </a:stretch>
        </p:blipFill>
        <p:spPr>
          <a:xfrm>
            <a:off x="1374267" y="-3845749"/>
            <a:ext cx="17934614" cy="11307068"/>
          </a:xfrm>
          <a:prstGeom prst="rect">
            <a:avLst/>
          </a:prstGeom>
        </p:spPr>
      </p:pic>
      <p:pic>
        <p:nvPicPr>
          <p:cNvPr id="4" name="!!L3" descr="preencoded.png">    </p:cNvPr>
          <p:cNvPicPr>
            <a:picLocks noChangeAspect="1"/>
          </p:cNvPicPr>
          <p:nvPr/>
        </p:nvPicPr>
        <p:blipFill>
          <a:blip r:embed="rId3"/>
          <a:stretch>
            <a:fillRect/>
          </a:stretch>
        </p:blipFill>
        <p:spPr>
          <a:xfrm>
            <a:off x="5382155" y="320040"/>
            <a:ext cx="4963370" cy="6172200"/>
          </a:xfrm>
          <a:prstGeom prst="rect">
            <a:avLst/>
          </a:prstGeom>
        </p:spPr>
      </p:pic>
      <p:pic>
        <p:nvPicPr>
          <p:cNvPr id="5" name="!!pin" descr="preencoded.png">    </p:cNvPr>
          <p:cNvPicPr>
            <a:picLocks noChangeAspect="1"/>
          </p:cNvPicPr>
          <p:nvPr/>
        </p:nvPicPr>
        <p:blipFill>
          <a:blip r:embed="rId4"/>
          <a:stretch>
            <a:fillRect/>
          </a:stretch>
        </p:blipFill>
        <p:spPr>
          <a:xfrm>
            <a:off x="7993990" y="3541392"/>
            <a:ext cx="566928" cy="818896"/>
          </a:xfrm>
          <a:prstGeom prst="rect">
            <a:avLst/>
          </a:prstGeom>
        </p:spPr>
      </p:pic>
      <p:sp>
        <p:nvSpPr>
          <p:cNvPr id="6" name="!!mapcard"/>
          <p:cNvSpPr/>
          <p:nvPr/>
        </p:nvSpPr>
        <p:spPr>
          <a:xfrm>
            <a:off x="502920" y="502920"/>
            <a:ext cx="3611880" cy="5486400"/>
          </a:xfrm>
          <a:prstGeom prst="roundRect">
            <a:avLst>
              <a:gd name="adj" fmla="val 303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7" name="!!dot0"/>
          <p:cNvSpPr/>
          <p:nvPr/>
        </p:nvSpPr>
        <p:spPr>
          <a:xfrm>
            <a:off x="822960" y="822960"/>
            <a:ext cx="384048" cy="384048"/>
          </a:xfrm>
          <a:prstGeom prst="ellipse">
            <a:avLst/>
          </a:prstGeom>
          <a:solidFill>
            <a:srgbClr val="00923A"/>
          </a:solidFill>
          <a:ln w="19050">
            <a:solidFill>
              <a:srgbClr val="00923A"/>
            </a:solidFill>
            <a:prstDash val="solid"/>
          </a:ln>
        </p:spPr>
      </p:sp>
      <p:sp>
        <p:nvSpPr>
          <p:cNvPr id="8" name="!!dott0"/>
          <p:cNvSpPr txBox="1"/>
          <p:nvPr/>
        </p:nvSpPr>
        <p:spPr>
          <a:xfrm>
            <a:off x="822960"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9" name="!!dot1"/>
          <p:cNvSpPr/>
          <p:nvPr/>
        </p:nvSpPr>
        <p:spPr>
          <a:xfrm>
            <a:off x="1389888" y="822960"/>
            <a:ext cx="384048" cy="384048"/>
          </a:xfrm>
          <a:prstGeom prst="ellipse">
            <a:avLst/>
          </a:prstGeom>
          <a:solidFill>
            <a:srgbClr val="00923A"/>
          </a:solidFill>
          <a:ln w="19050">
            <a:solidFill>
              <a:srgbClr val="00923A"/>
            </a:solidFill>
            <a:prstDash val="solid"/>
          </a:ln>
        </p:spPr>
      </p:sp>
      <p:sp>
        <p:nvSpPr>
          <p:cNvPr id="10" name="!!dott1"/>
          <p:cNvSpPr txBox="1"/>
          <p:nvPr/>
        </p:nvSpPr>
        <p:spPr>
          <a:xfrm>
            <a:off x="1389888"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11" name="!!dot2"/>
          <p:cNvSpPr/>
          <p:nvPr/>
        </p:nvSpPr>
        <p:spPr>
          <a:xfrm>
            <a:off x="1956816" y="822960"/>
            <a:ext cx="384048" cy="384048"/>
          </a:xfrm>
          <a:prstGeom prst="ellipse">
            <a:avLst/>
          </a:prstGeom>
          <a:solidFill>
            <a:srgbClr val="00923A"/>
          </a:solidFill>
          <a:ln w="19050">
            <a:solidFill>
              <a:srgbClr val="00923A"/>
            </a:solidFill>
            <a:prstDash val="solid"/>
          </a:ln>
        </p:spPr>
      </p:sp>
      <p:sp>
        <p:nvSpPr>
          <p:cNvPr id="12" name="!!dott2"/>
          <p:cNvSpPr txBox="1"/>
          <p:nvPr/>
        </p:nvSpPr>
        <p:spPr>
          <a:xfrm>
            <a:off x="1956816"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3</a:t>
            </a:r>
            <a:endParaRPr lang="fr-FR" sz="1200" dirty="0"/>
          </a:p>
        </p:txBody>
      </p:sp>
      <p:sp>
        <p:nvSpPr>
          <p:cNvPr id="13" name="!!dot3"/>
          <p:cNvSpPr/>
          <p:nvPr/>
        </p:nvSpPr>
        <p:spPr>
          <a:xfrm>
            <a:off x="2523744" y="822960"/>
            <a:ext cx="384048" cy="384048"/>
          </a:xfrm>
          <a:prstGeom prst="ellipse">
            <a:avLst/>
          </a:prstGeom>
          <a:solidFill>
            <a:srgbClr val="1B3F9E"/>
          </a:solidFill>
          <a:ln w="19050">
            <a:solidFill>
              <a:srgbClr val="1B3F9E"/>
            </a:solidFill>
            <a:prstDash val="solid"/>
          </a:ln>
        </p:spPr>
      </p:sp>
      <p:sp>
        <p:nvSpPr>
          <p:cNvPr id="14" name="!!dott3"/>
          <p:cNvSpPr txBox="1"/>
          <p:nvPr/>
        </p:nvSpPr>
        <p:spPr>
          <a:xfrm>
            <a:off x="2523744"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4</a:t>
            </a:r>
            <a:endParaRPr lang="fr-FR" sz="1200" dirty="0"/>
          </a:p>
        </p:txBody>
      </p:sp>
      <p:sp>
        <p:nvSpPr>
          <p:cNvPr id="15" name="!!dot4"/>
          <p:cNvSpPr/>
          <p:nvPr/>
        </p:nvSpPr>
        <p:spPr>
          <a:xfrm>
            <a:off x="3090672" y="822960"/>
            <a:ext cx="384048" cy="384048"/>
          </a:xfrm>
          <a:prstGeom prst="ellipse">
            <a:avLst/>
          </a:prstGeom>
          <a:solidFill>
            <a:srgbClr val="FFFFFF"/>
          </a:solidFill>
          <a:ln w="19050">
            <a:solidFill>
              <a:srgbClr val="DDE3EE"/>
            </a:solidFill>
            <a:prstDash val="solid"/>
          </a:ln>
        </p:spPr>
      </p:sp>
      <p:sp>
        <p:nvSpPr>
          <p:cNvPr id="16" name="!!dott4"/>
          <p:cNvSpPr txBox="1"/>
          <p:nvPr/>
        </p:nvSpPr>
        <p:spPr>
          <a:xfrm>
            <a:off x="3090672"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17" name="mstep"/>
          <p:cNvSpPr txBox="1"/>
          <p:nvPr/>
        </p:nvSpPr>
        <p:spPr>
          <a:xfrm>
            <a:off x="822960" y="1417320"/>
            <a:ext cx="3108960" cy="274320"/>
          </a:xfrm>
          <a:prstGeom prst="rect">
            <a:avLst/>
          </a:prstGeom>
          <a:noFill/>
          <a:ln/>
        </p:spPr>
        <p:txBody>
          <a:bodyPr wrap="square" lIns="0" tIns="0" rIns="0" bIns="0" rtlCol="0" anchor="t"/>
          <a:lstStyle/>
          <a:p>
            <a:pPr indent="0" marL="0">
              <a:buNone/>
            </a:pPr>
            <a:r>
              <a:rPr lang="fr-FR" altLang="en-US" sz="1100" b="1" spc="150" kern="0" dirty="0">
                <a:solidFill>
                  <a:srgbClr val="00923A"/>
                </a:solidFill>
                <a:latin typeface="Calibri" pitchFamily="34" charset="0"/>
                <a:ea typeface="Calibri" pitchFamily="34" charset="-122"/>
                <a:cs typeface="Calibri" pitchFamily="34" charset="-120"/>
              </a:rPr>
              <a:t>ÉTAPE 4 SUR 5 · COMMUNE DU GOLFE 3</a:t>
            </a:r>
            <a:endParaRPr lang="fr-FR" sz="1100" dirty="0"/>
          </a:p>
        </p:txBody>
      </p:sp>
      <p:sp>
        <p:nvSpPr>
          <p:cNvPr id="18" name="mtitle"/>
          <p:cNvSpPr txBox="1"/>
          <p:nvPr/>
        </p:nvSpPr>
        <p:spPr>
          <a:xfrm>
            <a:off x="822960" y="1737360"/>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La Commune du Golfe 3</a:t>
            </a:r>
            <a:endParaRPr lang="fr-FR" sz="2400" dirty="0"/>
          </a:p>
        </p:txBody>
      </p:sp>
      <p:sp>
        <p:nvSpPr>
          <p:cNvPr id="19" name="mtext"/>
          <p:cNvSpPr txBox="1"/>
          <p:nvPr/>
        </p:nvSpPr>
        <p:spPr>
          <a:xfrm>
            <a:off x="822960" y="2697480"/>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Huit quartiers, entre Agoè-Nyivé 1 au nord, Golfe 2 à l’est et Golfe 4 au sud.</a:t>
            </a:r>
            <a:endParaRPr lang="fr-FR" sz="1400" dirty="0"/>
          </a:p>
        </p:txBody>
      </p:sp>
      <p:sp>
        <p:nvSpPr>
          <p:cNvPr id="20"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 17 km²</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superficie</a:t>
            </a:r>
            <a:endParaRPr lang="fr-FR" sz="2000" dirty="0"/>
          </a:p>
        </p:txBody>
      </p:sp>
      <p:sp>
        <p:nvSpPr>
          <p:cNvPr id="21"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52 679</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habitants</a:t>
            </a:r>
            <a:endParaRPr lang="fr-FR" sz="2000" dirty="0"/>
          </a:p>
        </p:txBody>
      </p:sp>
      <p:sp>
        <p:nvSpPr>
          <p:cNvPr id="22" name="mf2"/>
          <p:cNvSpPr txBox="1"/>
          <p:nvPr/>
        </p:nvSpPr>
        <p:spPr>
          <a:xfrm>
            <a:off x="822960" y="489204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19</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conseillers</a:t>
            </a:r>
            <a:endParaRPr lang="fr-FR" sz="2000" dirty="0"/>
          </a:p>
        </p:txBody>
      </p:sp>
      <p:sp>
        <p:nvSpPr>
          <p:cNvPr id="23" name="mhint">
            <a:hlinkClick r:id="rId5" tooltip="Zoomer" action="ppaction://hlinksldjump"/>
          </p:cNvPr>
          <p:cNvSpPr txBox="1"/>
          <p:nvPr/>
        </p:nvSpPr>
        <p:spPr>
          <a:xfrm>
            <a:off x="822960" y="5577840"/>
            <a:ext cx="3017520" cy="274320"/>
          </a:xfrm>
          <a:prstGeom prst="rect">
            <a:avLst/>
          </a:prstGeom>
          <a:noFill/>
          <a:ln/>
        </p:spPr>
        <p:txBody>
          <a:bodyPr wrap="square" lIns="0" tIns="0" rIns="0" bIns="0" rtlCol="0" anchor="t"/>
          <a:lstStyle/>
          <a:p>
            <a:pPr indent="0" marL="0">
              <a:buNone/>
            </a:pPr>
            <a:r>
              <a:rPr lang="fr-FR" altLang="en-US" sz="1100" i="1" u="sng" dirty="0">
                <a:solidFill>
                  <a:srgbClr val="1B3F9E"/>
                </a:solidFill>
                <a:latin typeface="Calibri" pitchFamily="34" charset="0"/>
                <a:ea typeface="Calibri" pitchFamily="34" charset="-122"/>
                <a:cs typeface="Calibri" pitchFamily="34" charset="-120"/>
                <a:hlinkClick r:id="rId5" action="ppaction://hlinksldjump" tooltip="Zoomer">
                  <a:extLst>
                    <a:ext uri="{A12FA001-AC4F-418D-AE19-62706E023703}">
                      <ahyp:hlinkClr xmlns:ahyp="http://schemas.microsoft.com/office/drawing/2018/hyperlinkcolor" val="tx"/>
                    </a:ext>
                  </a:extLst>
                </a:hlinkClick>
              </a:rPr>
              <a:t>Cliquez pour zoomer →</a:t>
            </a:r>
            <a:endParaRPr lang="fr-FR" sz="1100" dirty="0"/>
          </a:p>
        </p:txBody>
      </p:sp>
      <p:sp>
        <p:nvSpPr>
          <p:cNvPr id="24"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5" name="!!railline"/>
          <p:cNvSpPr/>
          <p:nvPr/>
        </p:nvSpPr>
        <p:spPr>
          <a:xfrm>
            <a:off x="11795760" y="1600200"/>
            <a:ext cx="914" cy="3383280"/>
          </a:xfrm>
          <a:prstGeom prst="line">
            <a:avLst/>
          </a:prstGeom>
          <a:noFill/>
          <a:ln w="25400">
            <a:solidFill>
              <a:srgbClr val="DDE3EE"/>
            </a:solidFill>
            <a:prstDash val="solid"/>
          </a:ln>
        </p:spPr>
      </p:sp>
      <p:sp>
        <p:nvSpPr>
          <p:cNvPr id="26" name="!!railprog"/>
          <p:cNvSpPr/>
          <p:nvPr/>
        </p:nvSpPr>
        <p:spPr>
          <a:xfrm>
            <a:off x="11795760" y="1600200"/>
            <a:ext cx="914" cy="676656"/>
          </a:xfrm>
          <a:prstGeom prst="line">
            <a:avLst/>
          </a:prstGeom>
          <a:noFill/>
          <a:ln w="38100">
            <a:solidFill>
              <a:srgbClr val="00923A"/>
            </a:solidFill>
            <a:prstDash val="solid"/>
          </a:ln>
        </p:spPr>
      </p:sp>
      <p:sp>
        <p:nvSpPr>
          <p:cNvPr id="27" name="!!mact"/>
          <p:cNvSpPr/>
          <p:nvPr/>
        </p:nvSpPr>
        <p:spPr>
          <a:xfrm>
            <a:off x="11494008" y="1975104"/>
            <a:ext cx="603504" cy="603504"/>
          </a:xfrm>
          <a:prstGeom prst="ellipse">
            <a:avLst/>
          </a:prstGeom>
          <a:solidFill>
            <a:srgbClr val="FFFFFF">
              <a:alpha val="0"/>
            </a:srgbClr>
          </a:solidFill>
          <a:ln w="38100">
            <a:solidFill>
              <a:srgbClr val="FCC600"/>
            </a:solidFill>
            <a:prstDash val="solid"/>
          </a:ln>
        </p:spPr>
      </p:sp>
      <p:sp>
        <p:nvSpPr>
          <p:cNvPr id="28"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29" name="!!mt1">
            <a:hlinkClick r:id="rId6"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0" name="!!m2"/>
          <p:cNvSpPr/>
          <p:nvPr/>
        </p:nvSpPr>
        <p:spPr>
          <a:xfrm>
            <a:off x="11594592" y="2075688"/>
            <a:ext cx="402336" cy="402336"/>
          </a:xfrm>
          <a:prstGeom prst="ellipse">
            <a:avLst/>
          </a:prstGeom>
          <a:solidFill>
            <a:srgbClr val="1B3F9E"/>
          </a:solidFill>
          <a:ln w="19050">
            <a:solidFill>
              <a:srgbClr val="1B3F9E"/>
            </a:solidFill>
            <a:prstDash val="solid"/>
          </a:ln>
        </p:spPr>
      </p:sp>
      <p:sp>
        <p:nvSpPr>
          <p:cNvPr id="31" name="!!mt2">
            <a:hlinkClick r:id="rId7"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2" name="!!m3"/>
          <p:cNvSpPr/>
          <p:nvPr/>
        </p:nvSpPr>
        <p:spPr>
          <a:xfrm>
            <a:off x="11594592" y="2752344"/>
            <a:ext cx="402336" cy="402336"/>
          </a:xfrm>
          <a:prstGeom prst="ellipse">
            <a:avLst/>
          </a:prstGeom>
          <a:solidFill>
            <a:srgbClr val="FFFFFF"/>
          </a:solidFill>
          <a:ln w="19050">
            <a:solidFill>
              <a:srgbClr val="C9D2E3"/>
            </a:solidFill>
            <a:prstDash val="solid"/>
          </a:ln>
        </p:spPr>
      </p:sp>
      <p:sp>
        <p:nvSpPr>
          <p:cNvPr id="33" name="!!mt3">
            <a:hlinkClick r:id="rId8"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8"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4"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35" name="!!mt4">
            <a:hlinkClick r:id="rId9"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36"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37" name="!!mt5">
            <a:hlinkClick r:id="rId10"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0"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38"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39" name="!!mt6">
            <a:hlinkClick r:id="rId11"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1"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0"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STRUCTURE D’ACCUEIL</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600"/>
                                        <p:tgtEl>
                                          <p:spTgt spid="19"/>
                                        </p:tgtEl>
                                      </p:cBhvr>
                                    </p:animEffect>
                                  </p:childTnLst>
                                </p:cTn>
                              </p:par>
                              <p:par>
                                <p:cTn id="14" presetID="53" presetClass="entr" presetSubtype="16" fill="hold" grpId="0" nodeType="withEffect">
                                  <p:stCondLst>
                                    <p:cond delay="500"/>
                                  </p:stCondLst>
                                  <p:childTnLst>
                                    <p:set>
                                      <p:cBhvr>
                                        <p:cTn id="15" dur="1" fill="hold">
                                          <p:stCondLst>
                                            <p:cond delay="0"/>
                                          </p:stCondLst>
                                        </p:cTn>
                                        <p:tgtEl>
                                          <p:spTgt spid="20"/>
                                        </p:tgtEl>
                                        <p:attrNameLst>
                                          <p:attrName>style.visibility</p:attrName>
                                        </p:attrNameLst>
                                      </p:cBhvr>
                                      <p:to>
                                        <p:strVal val="visible"/>
                                      </p:to>
                                    </p:set>
                                    <p:anim calcmode="lin" valueType="num">
                                      <p:cBhvr>
                                        <p:cTn id="16" dur="600" fill="hold"/>
                                        <p:tgtEl>
                                          <p:spTgt spid="20"/>
                                        </p:tgtEl>
                                        <p:attrNameLst>
                                          <p:attrName>ppt_w</p:attrName>
                                        </p:attrNameLst>
                                      </p:cBhvr>
                                      <p:tavLst>
                                        <p:tav tm="0">
                                          <p:val>
                                            <p:fltVal val="0"/>
                                          </p:val>
                                        </p:tav>
                                        <p:tav tm="100000">
                                          <p:val>
                                            <p:strVal val="#ppt_w"/>
                                          </p:val>
                                        </p:tav>
                                      </p:tavLst>
                                    </p:anim>
                                    <p:anim calcmode="lin" valueType="num">
                                      <p:cBhvr>
                                        <p:cTn id="17" dur="600" fill="hold"/>
                                        <p:tgtEl>
                                          <p:spTgt spid="20"/>
                                        </p:tgtEl>
                                        <p:attrNameLst>
                                          <p:attrName>ppt_h</p:attrName>
                                        </p:attrNameLst>
                                      </p:cBhvr>
                                      <p:tavLst>
                                        <p:tav tm="0">
                                          <p:val>
                                            <p:fltVal val="0"/>
                                          </p:val>
                                        </p:tav>
                                        <p:tav tm="100000">
                                          <p:val>
                                            <p:strVal val="#ppt_h"/>
                                          </p:val>
                                        </p:tav>
                                      </p:tavLst>
                                    </p:anim>
                                    <p:animEffect transition="in" filter="fade">
                                      <p:cBhvr>
                                        <p:cTn id="18" dur="600"/>
                                        <p:tgtEl>
                                          <p:spTgt spid="20"/>
                                        </p:tgtEl>
                                      </p:cBhvr>
                                    </p:animEffect>
                                  </p:childTnLst>
                                </p:cTn>
                              </p:par>
                              <p:par>
                                <p:cTn id="19" presetID="53" presetClass="entr" presetSubtype="16" fill="hold" grpId="0" nodeType="withEffect">
                                  <p:stCondLst>
                                    <p:cond delay="650"/>
                                  </p:stCondLst>
                                  <p:childTnLst>
                                    <p:set>
                                      <p:cBhvr>
                                        <p:cTn id="20" dur="1" fill="hold">
                                          <p:stCondLst>
                                            <p:cond delay="0"/>
                                          </p:stCondLst>
                                        </p:cTn>
                                        <p:tgtEl>
                                          <p:spTgt spid="21"/>
                                        </p:tgtEl>
                                        <p:attrNameLst>
                                          <p:attrName>style.visibility</p:attrName>
                                        </p:attrNameLst>
                                      </p:cBhvr>
                                      <p:to>
                                        <p:strVal val="visible"/>
                                      </p:to>
                                    </p:set>
                                    <p:anim calcmode="lin" valueType="num">
                                      <p:cBhvr>
                                        <p:cTn id="21" dur="600" fill="hold"/>
                                        <p:tgtEl>
                                          <p:spTgt spid="21"/>
                                        </p:tgtEl>
                                        <p:attrNameLst>
                                          <p:attrName>ppt_w</p:attrName>
                                        </p:attrNameLst>
                                      </p:cBhvr>
                                      <p:tavLst>
                                        <p:tav tm="0">
                                          <p:val>
                                            <p:fltVal val="0"/>
                                          </p:val>
                                        </p:tav>
                                        <p:tav tm="100000">
                                          <p:val>
                                            <p:strVal val="#ppt_w"/>
                                          </p:val>
                                        </p:tav>
                                      </p:tavLst>
                                    </p:anim>
                                    <p:anim calcmode="lin" valueType="num">
                                      <p:cBhvr>
                                        <p:cTn id="22" dur="600" fill="hold"/>
                                        <p:tgtEl>
                                          <p:spTgt spid="21"/>
                                        </p:tgtEl>
                                        <p:attrNameLst>
                                          <p:attrName>ppt_h</p:attrName>
                                        </p:attrNameLst>
                                      </p:cBhvr>
                                      <p:tavLst>
                                        <p:tav tm="0">
                                          <p:val>
                                            <p:fltVal val="0"/>
                                          </p:val>
                                        </p:tav>
                                        <p:tav tm="100000">
                                          <p:val>
                                            <p:strVal val="#ppt_h"/>
                                          </p:val>
                                        </p:tav>
                                      </p:tavLst>
                                    </p:anim>
                                    <p:animEffect transition="in" filter="fade">
                                      <p:cBhvr>
                                        <p:cTn id="23" dur="600"/>
                                        <p:tgtEl>
                                          <p:spTgt spid="21"/>
                                        </p:tgtEl>
                                      </p:cBhvr>
                                    </p:animEffect>
                                  </p:childTnLst>
                                </p:cTn>
                              </p:par>
                              <p:par>
                                <p:cTn id="24" presetID="53" presetClass="entr" presetSubtype="16" fill="hold" grpId="0" nodeType="withEffect">
                                  <p:stCondLst>
                                    <p:cond delay="800"/>
                                  </p:stCondLst>
                                  <p:childTnLst>
                                    <p:set>
                                      <p:cBhvr>
                                        <p:cTn id="25" dur="1" fill="hold">
                                          <p:stCondLst>
                                            <p:cond delay="0"/>
                                          </p:stCondLst>
                                        </p:cTn>
                                        <p:tgtEl>
                                          <p:spTgt spid="22"/>
                                        </p:tgtEl>
                                        <p:attrNameLst>
                                          <p:attrName>style.visibility</p:attrName>
                                        </p:attrNameLst>
                                      </p:cBhvr>
                                      <p:to>
                                        <p:strVal val="visible"/>
                                      </p:to>
                                    </p:set>
                                    <p:anim calcmode="lin" valueType="num">
                                      <p:cBhvr>
                                        <p:cTn id="26" dur="600" fill="hold"/>
                                        <p:tgtEl>
                                          <p:spTgt spid="22"/>
                                        </p:tgtEl>
                                        <p:attrNameLst>
                                          <p:attrName>ppt_w</p:attrName>
                                        </p:attrNameLst>
                                      </p:cBhvr>
                                      <p:tavLst>
                                        <p:tav tm="0">
                                          <p:val>
                                            <p:fltVal val="0"/>
                                          </p:val>
                                        </p:tav>
                                        <p:tav tm="100000">
                                          <p:val>
                                            <p:strVal val="#ppt_w"/>
                                          </p:val>
                                        </p:tav>
                                      </p:tavLst>
                                    </p:anim>
                                    <p:anim calcmode="lin" valueType="num">
                                      <p:cBhvr>
                                        <p:cTn id="27" dur="600" fill="hold"/>
                                        <p:tgtEl>
                                          <p:spTgt spid="22"/>
                                        </p:tgtEl>
                                        <p:attrNameLst>
                                          <p:attrName>ppt_h</p:attrName>
                                        </p:attrNameLst>
                                      </p:cBhvr>
                                      <p:tavLst>
                                        <p:tav tm="0">
                                          <p:val>
                                            <p:fltVal val="0"/>
                                          </p:val>
                                        </p:tav>
                                        <p:tav tm="100000">
                                          <p:val>
                                            <p:strVal val="#ppt_h"/>
                                          </p:val>
                                        </p:tav>
                                      </p:tavLst>
                                    </p:anim>
                                    <p:animEffect transition="in" filter="fade">
                                      <p:cBhvr>
                                        <p:cTn id="28" dur="600"/>
                                        <p:tgtEl>
                                          <p:spTgt spid="22"/>
                                        </p:tgtEl>
                                      </p:cBhvr>
                                    </p:animEffect>
                                  </p:childTnLst>
                                </p:cTn>
                              </p:par>
                              <p:par>
                                <p:cTn id="29" presetID="10" presetClass="entr" presetSubtype="0" fill="hold" grpId="0" nodeType="withEffect">
                                  <p:stCondLst>
                                    <p:cond delay="90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animBg="1"/>
      <p:bldP spid="2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L2" descr="preencoded.png">    </p:cNvPr>
          <p:cNvPicPr>
            <a:picLocks noChangeAspect="1"/>
          </p:cNvPicPr>
          <p:nvPr/>
        </p:nvPicPr>
        <p:blipFill>
          <a:blip r:embed="rId1"/>
          <a:stretch>
            <a:fillRect/>
          </a:stretch>
        </p:blipFill>
        <p:spPr>
          <a:xfrm>
            <a:off x="-10084447" y="-17493200"/>
            <a:ext cx="46629997" cy="29398376"/>
          </a:xfrm>
          <a:prstGeom prst="rect">
            <a:avLst/>
          </a:prstGeom>
        </p:spPr>
      </p:pic>
      <p:pic>
        <p:nvPicPr>
          <p:cNvPr id="3" name="!!L3" descr="preencoded.png">    </p:cNvPr>
          <p:cNvPicPr>
            <a:picLocks noChangeAspect="1"/>
          </p:cNvPicPr>
          <p:nvPr/>
        </p:nvPicPr>
        <p:blipFill>
          <a:blip r:embed="rId2"/>
          <a:stretch>
            <a:fillRect/>
          </a:stretch>
        </p:blipFill>
        <p:spPr>
          <a:xfrm>
            <a:off x="336063" y="-6662148"/>
            <a:ext cx="12904761" cy="16047720"/>
          </a:xfrm>
          <a:prstGeom prst="rect">
            <a:avLst/>
          </a:prstGeom>
        </p:spPr>
      </p:pic>
      <p:pic>
        <p:nvPicPr>
          <p:cNvPr id="4" name="!!pin" descr="preencoded.png">    </p:cNvPr>
          <p:cNvPicPr>
            <a:picLocks noChangeAspect="1"/>
          </p:cNvPicPr>
          <p:nvPr/>
        </p:nvPicPr>
        <p:blipFill>
          <a:blip r:embed="rId3"/>
          <a:stretch>
            <a:fillRect/>
          </a:stretch>
        </p:blipFill>
        <p:spPr>
          <a:xfrm>
            <a:off x="7580376" y="2944988"/>
            <a:ext cx="566928" cy="818896"/>
          </a:xfrm>
          <a:prstGeom prst="rect">
            <a:avLst/>
          </a:prstGeom>
        </p:spPr>
      </p:pic>
      <p:sp>
        <p:nvSpPr>
          <p:cNvPr id="5" name="plab"/>
          <p:cNvSpPr/>
          <p:nvPr/>
        </p:nvSpPr>
        <p:spPr>
          <a:xfrm>
            <a:off x="8211312" y="2936799"/>
            <a:ext cx="2528316" cy="384048"/>
          </a:xfrm>
          <a:prstGeom prst="roundRect">
            <a:avLst>
              <a:gd name="adj" fmla="val 19048"/>
            </a:avLst>
          </a:prstGeom>
          <a:solidFill>
            <a:srgbClr val="0E1C46"/>
          </a:solidFill>
          <a:ln w="12700">
            <a:solidFill>
              <a:srgbClr val="0E1C46"/>
            </a:solidFill>
            <a:prstDash val="solid"/>
          </a:ln>
        </p:spPr>
      </p:sp>
      <p:sp>
        <p:nvSpPr>
          <p:cNvPr id="6" name="plabt"/>
          <p:cNvSpPr txBox="1"/>
          <p:nvPr/>
        </p:nvSpPr>
        <p:spPr>
          <a:xfrm>
            <a:off x="8211312" y="2936799"/>
            <a:ext cx="2528316"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Mairie de Doumassessé</a:t>
            </a:r>
            <a:endParaRPr lang="fr-FR" sz="1300" dirty="0"/>
          </a:p>
        </p:txBody>
      </p:sp>
      <p:sp>
        <p:nvSpPr>
          <p:cNvPr id="7" name="!!mapcard"/>
          <p:cNvSpPr/>
          <p:nvPr/>
        </p:nvSpPr>
        <p:spPr>
          <a:xfrm>
            <a:off x="502920" y="502920"/>
            <a:ext cx="3611880" cy="5486400"/>
          </a:xfrm>
          <a:prstGeom prst="roundRect">
            <a:avLst>
              <a:gd name="adj" fmla="val 303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dot0"/>
          <p:cNvSpPr/>
          <p:nvPr/>
        </p:nvSpPr>
        <p:spPr>
          <a:xfrm>
            <a:off x="822960" y="822960"/>
            <a:ext cx="384048" cy="384048"/>
          </a:xfrm>
          <a:prstGeom prst="ellipse">
            <a:avLst/>
          </a:prstGeom>
          <a:solidFill>
            <a:srgbClr val="00923A"/>
          </a:solidFill>
          <a:ln w="19050">
            <a:solidFill>
              <a:srgbClr val="00923A"/>
            </a:solidFill>
            <a:prstDash val="solid"/>
          </a:ln>
        </p:spPr>
      </p:sp>
      <p:sp>
        <p:nvSpPr>
          <p:cNvPr id="9" name="!!dott0"/>
          <p:cNvSpPr txBox="1"/>
          <p:nvPr/>
        </p:nvSpPr>
        <p:spPr>
          <a:xfrm>
            <a:off x="822960"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0" name="!!dot1"/>
          <p:cNvSpPr/>
          <p:nvPr/>
        </p:nvSpPr>
        <p:spPr>
          <a:xfrm>
            <a:off x="1389888" y="822960"/>
            <a:ext cx="384048" cy="384048"/>
          </a:xfrm>
          <a:prstGeom prst="ellipse">
            <a:avLst/>
          </a:prstGeom>
          <a:solidFill>
            <a:srgbClr val="00923A"/>
          </a:solidFill>
          <a:ln w="19050">
            <a:solidFill>
              <a:srgbClr val="00923A"/>
            </a:solidFill>
            <a:prstDash val="solid"/>
          </a:ln>
        </p:spPr>
      </p:sp>
      <p:sp>
        <p:nvSpPr>
          <p:cNvPr id="11" name="!!dott1"/>
          <p:cNvSpPr txBox="1"/>
          <p:nvPr/>
        </p:nvSpPr>
        <p:spPr>
          <a:xfrm>
            <a:off x="1389888"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12" name="!!dot2"/>
          <p:cNvSpPr/>
          <p:nvPr/>
        </p:nvSpPr>
        <p:spPr>
          <a:xfrm>
            <a:off x="1956816" y="822960"/>
            <a:ext cx="384048" cy="384048"/>
          </a:xfrm>
          <a:prstGeom prst="ellipse">
            <a:avLst/>
          </a:prstGeom>
          <a:solidFill>
            <a:srgbClr val="00923A"/>
          </a:solidFill>
          <a:ln w="19050">
            <a:solidFill>
              <a:srgbClr val="00923A"/>
            </a:solidFill>
            <a:prstDash val="solid"/>
          </a:ln>
        </p:spPr>
      </p:sp>
      <p:sp>
        <p:nvSpPr>
          <p:cNvPr id="13" name="!!dott2"/>
          <p:cNvSpPr txBox="1"/>
          <p:nvPr/>
        </p:nvSpPr>
        <p:spPr>
          <a:xfrm>
            <a:off x="1956816"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3</a:t>
            </a:r>
            <a:endParaRPr lang="fr-FR" sz="1200" dirty="0"/>
          </a:p>
        </p:txBody>
      </p:sp>
      <p:sp>
        <p:nvSpPr>
          <p:cNvPr id="14" name="!!dot3"/>
          <p:cNvSpPr/>
          <p:nvPr/>
        </p:nvSpPr>
        <p:spPr>
          <a:xfrm>
            <a:off x="2523744" y="822960"/>
            <a:ext cx="384048" cy="384048"/>
          </a:xfrm>
          <a:prstGeom prst="ellipse">
            <a:avLst/>
          </a:prstGeom>
          <a:solidFill>
            <a:srgbClr val="00923A"/>
          </a:solidFill>
          <a:ln w="19050">
            <a:solidFill>
              <a:srgbClr val="00923A"/>
            </a:solidFill>
            <a:prstDash val="solid"/>
          </a:ln>
        </p:spPr>
      </p:sp>
      <p:sp>
        <p:nvSpPr>
          <p:cNvPr id="15" name="!!dott3"/>
          <p:cNvSpPr txBox="1"/>
          <p:nvPr/>
        </p:nvSpPr>
        <p:spPr>
          <a:xfrm>
            <a:off x="2523744"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4</a:t>
            </a:r>
            <a:endParaRPr lang="fr-FR" sz="1200" dirty="0"/>
          </a:p>
        </p:txBody>
      </p:sp>
      <p:sp>
        <p:nvSpPr>
          <p:cNvPr id="16" name="!!dot4"/>
          <p:cNvSpPr/>
          <p:nvPr/>
        </p:nvSpPr>
        <p:spPr>
          <a:xfrm>
            <a:off x="3090672" y="822960"/>
            <a:ext cx="384048" cy="384048"/>
          </a:xfrm>
          <a:prstGeom prst="ellipse">
            <a:avLst/>
          </a:prstGeom>
          <a:solidFill>
            <a:srgbClr val="1B3F9E"/>
          </a:solidFill>
          <a:ln w="19050">
            <a:solidFill>
              <a:srgbClr val="1B3F9E"/>
            </a:solidFill>
            <a:prstDash val="solid"/>
          </a:ln>
        </p:spPr>
      </p:sp>
      <p:sp>
        <p:nvSpPr>
          <p:cNvPr id="17" name="!!dott4"/>
          <p:cNvSpPr txBox="1"/>
          <p:nvPr/>
        </p:nvSpPr>
        <p:spPr>
          <a:xfrm>
            <a:off x="3090672" y="822960"/>
            <a:ext cx="384048" cy="384048"/>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5</a:t>
            </a:r>
            <a:endParaRPr lang="fr-FR" sz="1200" dirty="0"/>
          </a:p>
        </p:txBody>
      </p:sp>
      <p:sp>
        <p:nvSpPr>
          <p:cNvPr id="18" name="mstep"/>
          <p:cNvSpPr txBox="1"/>
          <p:nvPr/>
        </p:nvSpPr>
        <p:spPr>
          <a:xfrm>
            <a:off x="822960" y="1417320"/>
            <a:ext cx="3108960" cy="274320"/>
          </a:xfrm>
          <a:prstGeom prst="rect">
            <a:avLst/>
          </a:prstGeom>
          <a:noFill/>
          <a:ln/>
        </p:spPr>
        <p:txBody>
          <a:bodyPr wrap="square" lIns="0" tIns="0" rIns="0" bIns="0" rtlCol="0" anchor="t"/>
          <a:lstStyle/>
          <a:p>
            <a:pPr indent="0" marL="0">
              <a:buNone/>
            </a:pPr>
            <a:r>
              <a:rPr lang="fr-FR" altLang="en-US" sz="1100" b="1" spc="150" kern="0" dirty="0">
                <a:solidFill>
                  <a:srgbClr val="00923A"/>
                </a:solidFill>
                <a:latin typeface="Calibri" pitchFamily="34" charset="0"/>
                <a:ea typeface="Calibri" pitchFamily="34" charset="-122"/>
                <a:cs typeface="Calibri" pitchFamily="34" charset="-120"/>
              </a:rPr>
              <a:t>ÉTAPE 5 SUR 5 · MAIRIE</a:t>
            </a:r>
            <a:endParaRPr lang="fr-FR" sz="1100" dirty="0"/>
          </a:p>
        </p:txBody>
      </p:sp>
      <p:sp>
        <p:nvSpPr>
          <p:cNvPr id="19" name="mtitle"/>
          <p:cNvSpPr txBox="1"/>
          <p:nvPr/>
        </p:nvSpPr>
        <p:spPr>
          <a:xfrm>
            <a:off x="822960" y="1737360"/>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La Mairie de Doumassessé</a:t>
            </a:r>
            <a:endParaRPr lang="fr-FR" sz="2400" dirty="0"/>
          </a:p>
        </p:txBody>
      </p:sp>
      <p:sp>
        <p:nvSpPr>
          <p:cNvPr id="20" name="mtext"/>
          <p:cNvSpPr txBox="1"/>
          <p:nvPr/>
        </p:nvSpPr>
        <p:spPr>
          <a:xfrm>
            <a:off x="822960" y="2697480"/>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Siège de la Commune du Golfe 3 et lieu du stage, au secrétariat général.</a:t>
            </a:r>
            <a:endParaRPr lang="fr-FR" sz="1400" dirty="0"/>
          </a:p>
        </p:txBody>
      </p:sp>
      <p:sp>
        <p:nvSpPr>
          <p:cNvPr id="21"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15 BP 440</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Lomé</a:t>
            </a:r>
            <a:endParaRPr lang="fr-FR" sz="2000" dirty="0"/>
          </a:p>
        </p:txBody>
      </p:sp>
      <p:sp>
        <p:nvSpPr>
          <p:cNvPr id="22"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22 21 16 24</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téléphone (+228)</a:t>
            </a:r>
            <a:endParaRPr lang="fr-FR" sz="2000" dirty="0"/>
          </a:p>
        </p:txBody>
      </p:sp>
      <p:sp>
        <p:nvSpPr>
          <p:cNvPr id="23" name="mhint"/>
          <p:cNvSpPr txBox="1"/>
          <p:nvPr/>
        </p:nvSpPr>
        <p:spPr>
          <a:xfrm>
            <a:off x="822960" y="5577840"/>
            <a:ext cx="3017520" cy="274320"/>
          </a:xfrm>
          <a:prstGeom prst="rect">
            <a:avLst/>
          </a:prstGeom>
          <a:noFill/>
          <a:ln/>
        </p:spPr>
        <p:txBody>
          <a:bodyPr wrap="square" lIns="0" tIns="0" rIns="0" bIns="0" rtlCol="0" anchor="t"/>
          <a:lstStyle/>
          <a:p>
            <a:pPr indent="0" marL="0">
              <a:buNone/>
            </a:pPr>
            <a:r>
              <a:rPr lang="fr-FR" altLang="en-US" sz="1100" i="1" dirty="0">
                <a:solidFill>
                  <a:srgbClr val="1B3F9E"/>
                </a:solidFill>
                <a:latin typeface="Calibri" pitchFamily="34" charset="0"/>
                <a:ea typeface="Calibri" pitchFamily="34" charset="-122"/>
                <a:cs typeface="Calibri" pitchFamily="34" charset="-120"/>
              </a:rPr>
              <a:t>Vous êtes arrivé à destination.</a:t>
            </a:r>
            <a:endParaRPr lang="fr-FR" sz="1100" dirty="0"/>
          </a:p>
        </p:txBody>
      </p:sp>
      <p:sp>
        <p:nvSpPr>
          <p:cNvPr id="24"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5" name="!!railline"/>
          <p:cNvSpPr/>
          <p:nvPr/>
        </p:nvSpPr>
        <p:spPr>
          <a:xfrm>
            <a:off x="11795760" y="1600200"/>
            <a:ext cx="914" cy="3383280"/>
          </a:xfrm>
          <a:prstGeom prst="line">
            <a:avLst/>
          </a:prstGeom>
          <a:noFill/>
          <a:ln w="25400">
            <a:solidFill>
              <a:srgbClr val="DDE3EE"/>
            </a:solidFill>
            <a:prstDash val="solid"/>
          </a:ln>
        </p:spPr>
      </p:sp>
      <p:sp>
        <p:nvSpPr>
          <p:cNvPr id="26" name="!!railprog"/>
          <p:cNvSpPr/>
          <p:nvPr/>
        </p:nvSpPr>
        <p:spPr>
          <a:xfrm>
            <a:off x="11795760" y="1600200"/>
            <a:ext cx="914" cy="676656"/>
          </a:xfrm>
          <a:prstGeom prst="line">
            <a:avLst/>
          </a:prstGeom>
          <a:noFill/>
          <a:ln w="38100">
            <a:solidFill>
              <a:srgbClr val="00923A"/>
            </a:solidFill>
            <a:prstDash val="solid"/>
          </a:ln>
        </p:spPr>
      </p:sp>
      <p:sp>
        <p:nvSpPr>
          <p:cNvPr id="27" name="!!mact"/>
          <p:cNvSpPr/>
          <p:nvPr/>
        </p:nvSpPr>
        <p:spPr>
          <a:xfrm>
            <a:off x="11494008" y="1975104"/>
            <a:ext cx="603504" cy="603504"/>
          </a:xfrm>
          <a:prstGeom prst="ellipse">
            <a:avLst/>
          </a:prstGeom>
          <a:solidFill>
            <a:srgbClr val="FFFFFF">
              <a:alpha val="0"/>
            </a:srgbClr>
          </a:solidFill>
          <a:ln w="38100">
            <a:solidFill>
              <a:srgbClr val="FCC600"/>
            </a:solidFill>
            <a:prstDash val="solid"/>
          </a:ln>
        </p:spPr>
      </p:sp>
      <p:sp>
        <p:nvSpPr>
          <p:cNvPr id="28"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29" name="!!mt1">
            <a:hlinkClick r:id="rId4"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4"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0" name="!!m2"/>
          <p:cNvSpPr/>
          <p:nvPr/>
        </p:nvSpPr>
        <p:spPr>
          <a:xfrm>
            <a:off x="11594592" y="2075688"/>
            <a:ext cx="402336" cy="402336"/>
          </a:xfrm>
          <a:prstGeom prst="ellipse">
            <a:avLst/>
          </a:prstGeom>
          <a:solidFill>
            <a:srgbClr val="1B3F9E"/>
          </a:solidFill>
          <a:ln w="19050">
            <a:solidFill>
              <a:srgbClr val="1B3F9E"/>
            </a:solidFill>
            <a:prstDash val="solid"/>
          </a:ln>
        </p:spPr>
      </p:sp>
      <p:sp>
        <p:nvSpPr>
          <p:cNvPr id="31" name="!!mt2">
            <a:hlinkClick r:id="rId5"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2" name="!!m3"/>
          <p:cNvSpPr/>
          <p:nvPr/>
        </p:nvSpPr>
        <p:spPr>
          <a:xfrm>
            <a:off x="11594592" y="2752344"/>
            <a:ext cx="402336" cy="402336"/>
          </a:xfrm>
          <a:prstGeom prst="ellipse">
            <a:avLst/>
          </a:prstGeom>
          <a:solidFill>
            <a:srgbClr val="FFFFFF"/>
          </a:solidFill>
          <a:ln w="19050">
            <a:solidFill>
              <a:srgbClr val="C9D2E3"/>
            </a:solidFill>
            <a:prstDash val="solid"/>
          </a:ln>
        </p:spPr>
      </p:sp>
      <p:sp>
        <p:nvSpPr>
          <p:cNvPr id="33" name="!!mt3">
            <a:hlinkClick r:id="rId6"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6"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4"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35" name="!!mt4">
            <a:hlinkClick r:id="rId7"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7"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36"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37" name="!!mt5">
            <a:hlinkClick r:id="rId8"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8"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38"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39" name="!!mt6">
            <a:hlinkClick r:id="rId9"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0"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STRUCTURE D’ACCUEIL</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600"/>
                                        <p:tgtEl>
                                          <p:spTgt spid="19"/>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600"/>
                                        <p:tgtEl>
                                          <p:spTgt spid="20"/>
                                        </p:tgtEl>
                                      </p:cBhvr>
                                    </p:animEffect>
                                  </p:childTnLst>
                                </p:cTn>
                              </p:par>
                              <p:par>
                                <p:cTn id="14" presetID="53" presetClass="entr" presetSubtype="16" fill="hold" grpId="0" nodeType="withEffect">
                                  <p:stCondLst>
                                    <p:cond delay="30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animEffect transition="in" filter="fade">
                                      <p:cBhvr>
                                        <p:cTn id="18" dur="600"/>
                                        <p:tgtEl>
                                          <p:spTgt spid="5"/>
                                        </p:tgtEl>
                                      </p:cBhvr>
                                    </p:animEffect>
                                  </p:childTnLst>
                                </p:cTn>
                              </p:par>
                              <p:par>
                                <p:cTn id="19" presetID="53" presetClass="entr" presetSubtype="16" fill="hold" grpId="0" nodeType="withEffect">
                                  <p:stCondLst>
                                    <p:cond delay="300"/>
                                  </p:stCondLst>
                                  <p:childTnLst>
                                    <p:set>
                                      <p:cBhvr>
                                        <p:cTn id="20" dur="1" fill="hold">
                                          <p:stCondLst>
                                            <p:cond delay="0"/>
                                          </p:stCondLst>
                                        </p:cTn>
                                        <p:tgtEl>
                                          <p:spTgt spid="6"/>
                                        </p:tgtEl>
                                        <p:attrNameLst>
                                          <p:attrName>style.visibility</p:attrName>
                                        </p:attrNameLst>
                                      </p:cBhvr>
                                      <p:to>
                                        <p:strVal val="visible"/>
                                      </p:to>
                                    </p:set>
                                    <p:anim calcmode="lin" valueType="num">
                                      <p:cBhvr>
                                        <p:cTn id="21" dur="600" fill="hold"/>
                                        <p:tgtEl>
                                          <p:spTgt spid="6"/>
                                        </p:tgtEl>
                                        <p:attrNameLst>
                                          <p:attrName>ppt_w</p:attrName>
                                        </p:attrNameLst>
                                      </p:cBhvr>
                                      <p:tavLst>
                                        <p:tav tm="0">
                                          <p:val>
                                            <p:fltVal val="0"/>
                                          </p:val>
                                        </p:tav>
                                        <p:tav tm="100000">
                                          <p:val>
                                            <p:strVal val="#ppt_w"/>
                                          </p:val>
                                        </p:tav>
                                      </p:tavLst>
                                    </p:anim>
                                    <p:anim calcmode="lin" valueType="num">
                                      <p:cBhvr>
                                        <p:cTn id="22" dur="600" fill="hold"/>
                                        <p:tgtEl>
                                          <p:spTgt spid="6"/>
                                        </p:tgtEl>
                                        <p:attrNameLst>
                                          <p:attrName>ppt_h</p:attrName>
                                        </p:attrNameLst>
                                      </p:cBhvr>
                                      <p:tavLst>
                                        <p:tav tm="0">
                                          <p:val>
                                            <p:fltVal val="0"/>
                                          </p:val>
                                        </p:tav>
                                        <p:tav tm="100000">
                                          <p:val>
                                            <p:strVal val="#ppt_h"/>
                                          </p:val>
                                        </p:tav>
                                      </p:tavLst>
                                    </p:anim>
                                    <p:animEffect transition="in" filter="fade">
                                      <p:cBhvr>
                                        <p:cTn id="23" dur="600"/>
                                        <p:tgtEl>
                                          <p:spTgt spid="6"/>
                                        </p:tgtEl>
                                      </p:cBhvr>
                                    </p:animEffect>
                                  </p:childTnLst>
                                </p:cTn>
                              </p:par>
                              <p:par>
                                <p:cTn id="24" presetID="53" presetClass="entr" presetSubtype="16" fill="hold" grpId="0" nodeType="withEffect">
                                  <p:stCondLst>
                                    <p:cond delay="500"/>
                                  </p:stCondLst>
                                  <p:childTnLst>
                                    <p:set>
                                      <p:cBhvr>
                                        <p:cTn id="25" dur="1" fill="hold">
                                          <p:stCondLst>
                                            <p:cond delay="0"/>
                                          </p:stCondLst>
                                        </p:cTn>
                                        <p:tgtEl>
                                          <p:spTgt spid="21"/>
                                        </p:tgtEl>
                                        <p:attrNameLst>
                                          <p:attrName>style.visibility</p:attrName>
                                        </p:attrNameLst>
                                      </p:cBhvr>
                                      <p:to>
                                        <p:strVal val="visible"/>
                                      </p:to>
                                    </p:set>
                                    <p:anim calcmode="lin" valueType="num">
                                      <p:cBhvr>
                                        <p:cTn id="26" dur="600" fill="hold"/>
                                        <p:tgtEl>
                                          <p:spTgt spid="21"/>
                                        </p:tgtEl>
                                        <p:attrNameLst>
                                          <p:attrName>ppt_w</p:attrName>
                                        </p:attrNameLst>
                                      </p:cBhvr>
                                      <p:tavLst>
                                        <p:tav tm="0">
                                          <p:val>
                                            <p:fltVal val="0"/>
                                          </p:val>
                                        </p:tav>
                                        <p:tav tm="100000">
                                          <p:val>
                                            <p:strVal val="#ppt_w"/>
                                          </p:val>
                                        </p:tav>
                                      </p:tavLst>
                                    </p:anim>
                                    <p:anim calcmode="lin" valueType="num">
                                      <p:cBhvr>
                                        <p:cTn id="27" dur="600" fill="hold"/>
                                        <p:tgtEl>
                                          <p:spTgt spid="21"/>
                                        </p:tgtEl>
                                        <p:attrNameLst>
                                          <p:attrName>ppt_h</p:attrName>
                                        </p:attrNameLst>
                                      </p:cBhvr>
                                      <p:tavLst>
                                        <p:tav tm="0">
                                          <p:val>
                                            <p:fltVal val="0"/>
                                          </p:val>
                                        </p:tav>
                                        <p:tav tm="100000">
                                          <p:val>
                                            <p:strVal val="#ppt_h"/>
                                          </p:val>
                                        </p:tav>
                                      </p:tavLst>
                                    </p:anim>
                                    <p:animEffect transition="in" filter="fade">
                                      <p:cBhvr>
                                        <p:cTn id="28" dur="600"/>
                                        <p:tgtEl>
                                          <p:spTgt spid="21"/>
                                        </p:tgtEl>
                                      </p:cBhvr>
                                    </p:animEffect>
                                  </p:childTnLst>
                                </p:cTn>
                              </p:par>
                              <p:par>
                                <p:cTn id="29" presetID="53" presetClass="entr" presetSubtype="16" fill="hold" grpId="0" nodeType="withEffect">
                                  <p:stCondLst>
                                    <p:cond delay="650"/>
                                  </p:stCondLst>
                                  <p:childTnLst>
                                    <p:set>
                                      <p:cBhvr>
                                        <p:cTn id="30" dur="1" fill="hold">
                                          <p:stCondLst>
                                            <p:cond delay="0"/>
                                          </p:stCondLst>
                                        </p:cTn>
                                        <p:tgtEl>
                                          <p:spTgt spid="22"/>
                                        </p:tgtEl>
                                        <p:attrNameLst>
                                          <p:attrName>style.visibility</p:attrName>
                                        </p:attrNameLst>
                                      </p:cBhvr>
                                      <p:to>
                                        <p:strVal val="visible"/>
                                      </p:to>
                                    </p:set>
                                    <p:anim calcmode="lin" valueType="num">
                                      <p:cBhvr>
                                        <p:cTn id="31" dur="600" fill="hold"/>
                                        <p:tgtEl>
                                          <p:spTgt spid="22"/>
                                        </p:tgtEl>
                                        <p:attrNameLst>
                                          <p:attrName>ppt_w</p:attrName>
                                        </p:attrNameLst>
                                      </p:cBhvr>
                                      <p:tavLst>
                                        <p:tav tm="0">
                                          <p:val>
                                            <p:fltVal val="0"/>
                                          </p:val>
                                        </p:tav>
                                        <p:tav tm="100000">
                                          <p:val>
                                            <p:strVal val="#ppt_w"/>
                                          </p:val>
                                        </p:tav>
                                      </p:tavLst>
                                    </p:anim>
                                    <p:anim calcmode="lin" valueType="num">
                                      <p:cBhvr>
                                        <p:cTn id="32" dur="600" fill="hold"/>
                                        <p:tgtEl>
                                          <p:spTgt spid="22"/>
                                        </p:tgtEl>
                                        <p:attrNameLst>
                                          <p:attrName>ppt_h</p:attrName>
                                        </p:attrNameLst>
                                      </p:cBhvr>
                                      <p:tavLst>
                                        <p:tav tm="0">
                                          <p:val>
                                            <p:fltVal val="0"/>
                                          </p:val>
                                        </p:tav>
                                        <p:tav tm="100000">
                                          <p:val>
                                            <p:strVal val="#ppt_h"/>
                                          </p:val>
                                        </p:tav>
                                      </p:tavLst>
                                    </p:anim>
                                    <p:animEffect transition="in" filter="fade">
                                      <p:cBhvr>
                                        <p:cTn id="33" dur="600"/>
                                        <p:tgtEl>
                                          <p:spTgt spid="22"/>
                                        </p:tgtEl>
                                      </p:cBhvr>
                                    </p:animEffect>
                                  </p:childTnLst>
                                </p:cTn>
                              </p:par>
                              <p:par>
                                <p:cTn id="34" presetID="10" presetClass="entr" presetSubtype="0" fill="hold" grpId="0" nodeType="withEffect">
                                  <p:stCondLst>
                                    <p:cond delay="90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8" grpId="0" animBg="1"/>
      <p:bldP spid="19" grpId="0" animBg="1"/>
      <p:bldP spid="20" grpId="0" animBg="1"/>
      <p:bldP spid="21" grpId="0" animBg="1"/>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094415" y="-1272845"/>
            <a:ext cx="2194560" cy="2194560"/>
          </a:xfrm>
          <a:prstGeom prst="ellipse">
            <a:avLst/>
          </a:prstGeom>
          <a:solidFill>
            <a:srgbClr val="1B3F9E"/>
          </a:solidFill>
          <a:ln w="12700">
            <a:solidFill>
              <a:srgbClr val="1B3F9E"/>
            </a:solidFill>
            <a:prstDash val="solid"/>
          </a:ln>
        </p:spPr>
      </p:sp>
      <p:sp>
        <p:nvSpPr>
          <p:cNvPr id="3" name="!!orbG"/>
          <p:cNvSpPr/>
          <p:nvPr/>
        </p:nvSpPr>
        <p:spPr>
          <a:xfrm>
            <a:off x="-914400" y="6035040"/>
            <a:ext cx="1463040" cy="1463040"/>
          </a:xfrm>
          <a:prstGeom prst="ellipse">
            <a:avLst/>
          </a:prstGeom>
          <a:solidFill>
            <a:srgbClr val="00923A"/>
          </a:solidFill>
          <a:ln w="12700">
            <a:solidFill>
              <a:srgbClr val="00923A"/>
            </a:solidFill>
            <a:prstDash val="solid"/>
          </a:ln>
        </p:spPr>
      </p:sp>
      <p:sp>
        <p:nvSpPr>
          <p:cNvPr id="4" name="!!orbY"/>
          <p:cNvSpPr/>
          <p:nvPr/>
        </p:nvSpPr>
        <p:spPr>
          <a:xfrm>
            <a:off x="8778240" y="6569964"/>
            <a:ext cx="640080" cy="640080"/>
          </a:xfrm>
          <a:prstGeom prst="ellipse">
            <a:avLst/>
          </a:prstGeom>
          <a:solidFill>
            <a:srgbClr val="FFFFFF">
              <a:alpha val="0"/>
            </a:srgbClr>
          </a:solidFill>
          <a:ln w="5334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ORGANISATION DE LA COMMUNE</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Le secrétariat général au centre de l’administration</a:t>
            </a:r>
            <a:endParaRPr lang="fr-FR" sz="3200" dirty="0"/>
          </a:p>
        </p:txBody>
      </p:sp>
      <p:sp>
        <p:nvSpPr>
          <p:cNvPr id="7" name="o1"/>
          <p:cNvSpPr/>
          <p:nvPr/>
        </p:nvSpPr>
        <p:spPr>
          <a:xfrm>
            <a:off x="4307738" y="1783080"/>
            <a:ext cx="3056382" cy="731520"/>
          </a:xfrm>
          <a:prstGeom prst="roundRect">
            <a:avLst>
              <a:gd name="adj" fmla="val 12500"/>
            </a:avLst>
          </a:prstGeom>
          <a:solidFill>
            <a:srgbClr val="EEF2FB"/>
          </a:solidFill>
          <a:ln w="12700">
            <a:solidFill>
              <a:srgbClr val="EEF2FB"/>
            </a:solidFill>
            <a:prstDash val="solid"/>
          </a:ln>
          <a:effectLst>
            <a:outerShdw sx="100000" sy="100000" kx="0" ky="0" algn="bl" rotWithShape="0" blurRad="127000" dist="25400" dir="5400000">
              <a:srgbClr val="0E1C46">
                <a:alpha val="10000"/>
              </a:srgbClr>
            </a:outerShdw>
          </a:effectLst>
        </p:spPr>
      </p:sp>
      <p:sp>
        <p:nvSpPr>
          <p:cNvPr id="8" name="o1t"/>
          <p:cNvSpPr txBox="1"/>
          <p:nvPr/>
        </p:nvSpPr>
        <p:spPr>
          <a:xfrm>
            <a:off x="4307738" y="1856232"/>
            <a:ext cx="3056382" cy="585216"/>
          </a:xfrm>
          <a:prstGeom prst="rect">
            <a:avLst/>
          </a:prstGeom>
          <a:noFill/>
          <a:ln/>
        </p:spPr>
        <p:txBody>
          <a:bodyPr wrap="square" lIns="0" tIns="0" rIns="0" bIns="0" rtlCol="0" anchor="ctr"/>
          <a:lstStyle/>
          <a:p>
            <a:pPr algn="ctr" indent="0" marL="0">
              <a:buNone/>
            </a:pPr>
            <a:r>
              <a:rPr lang="fr-FR" altLang="en-US" sz="1600" b="1" dirty="0">
                <a:solidFill>
                  <a:srgbClr val="0E1C46"/>
                </a:solidFill>
                <a:latin typeface="Calibri" pitchFamily="34" charset="0"/>
                <a:ea typeface="Calibri" pitchFamily="34" charset="-122"/>
                <a:cs typeface="Calibri" pitchFamily="34" charset="-120"/>
              </a:rPr>
              <a:t>Conseil municipal</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19 membres élus</a:t>
            </a:r>
            <a:endParaRPr lang="fr-FR" sz="1600" dirty="0"/>
          </a:p>
        </p:txBody>
      </p:sp>
      <p:sp>
        <p:nvSpPr>
          <p:cNvPr id="9" name="o2"/>
          <p:cNvSpPr/>
          <p:nvPr/>
        </p:nvSpPr>
        <p:spPr>
          <a:xfrm>
            <a:off x="4307738" y="2788920"/>
            <a:ext cx="3056382" cy="731520"/>
          </a:xfrm>
          <a:prstGeom prst="roundRect">
            <a:avLst>
              <a:gd name="adj" fmla="val 12500"/>
            </a:avLst>
          </a:prstGeom>
          <a:solidFill>
            <a:srgbClr val="1B3F9E"/>
          </a:solidFill>
          <a:ln w="12700">
            <a:solidFill>
              <a:srgbClr val="1B3F9E"/>
            </a:solidFill>
            <a:prstDash val="solid"/>
          </a:ln>
          <a:effectLst>
            <a:outerShdw sx="100000" sy="100000" kx="0" ky="0" algn="bl" rotWithShape="0" blurRad="127000" dist="25400" dir="5400000">
              <a:srgbClr val="0E1C46">
                <a:alpha val="10000"/>
              </a:srgbClr>
            </a:outerShdw>
          </a:effectLst>
        </p:spPr>
      </p:sp>
      <p:sp>
        <p:nvSpPr>
          <p:cNvPr id="10" name="o2t"/>
          <p:cNvSpPr txBox="1"/>
          <p:nvPr/>
        </p:nvSpPr>
        <p:spPr>
          <a:xfrm>
            <a:off x="4307738" y="2862072"/>
            <a:ext cx="3056382" cy="585216"/>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Maire et ses 3 adjoints</a:t>
            </a:r>
            <a:endParaRPr lang="fr-FR" sz="1600" dirty="0"/>
          </a:p>
          <a:p>
            <a:pPr algn="ctr" indent="0" marL="0">
              <a:buNone/>
            </a:pPr>
            <a:r>
              <a:rPr lang="fr-FR" altLang="en-US" sz="1200" dirty="0">
                <a:solidFill>
                  <a:srgbClr val="DCE4F7"/>
                </a:solidFill>
                <a:latin typeface="Calibri" pitchFamily="34" charset="0"/>
                <a:ea typeface="Calibri" pitchFamily="34" charset="-122"/>
                <a:cs typeface="Calibri" pitchFamily="34" charset="-120"/>
              </a:rPr>
              <a:t>Bureau exécutif</a:t>
            </a:r>
            <a:endParaRPr lang="fr-FR" sz="1600" dirty="0"/>
          </a:p>
        </p:txBody>
      </p:sp>
      <p:sp>
        <p:nvSpPr>
          <p:cNvPr id="11" name="o3"/>
          <p:cNvSpPr/>
          <p:nvPr/>
        </p:nvSpPr>
        <p:spPr>
          <a:xfrm>
            <a:off x="4089425" y="3794760"/>
            <a:ext cx="3493008" cy="777240"/>
          </a:xfrm>
          <a:prstGeom prst="roundRect">
            <a:avLst>
              <a:gd name="adj" fmla="val 11765"/>
            </a:avLst>
          </a:prstGeom>
          <a:solidFill>
            <a:srgbClr val="00923A"/>
          </a:solidFill>
          <a:ln w="12700">
            <a:solidFill>
              <a:srgbClr val="00923A"/>
            </a:solidFill>
            <a:prstDash val="solid"/>
          </a:ln>
          <a:effectLst>
            <a:outerShdw sx="100000" sy="100000" kx="0" ky="0" algn="bl" rotWithShape="0" blurRad="127000" dist="25400" dir="5400000">
              <a:srgbClr val="0E1C46">
                <a:alpha val="10000"/>
              </a:srgbClr>
            </a:outerShdw>
          </a:effectLst>
        </p:spPr>
      </p:sp>
      <p:sp>
        <p:nvSpPr>
          <p:cNvPr id="12" name="o3t"/>
          <p:cNvSpPr txBox="1"/>
          <p:nvPr/>
        </p:nvSpPr>
        <p:spPr>
          <a:xfrm>
            <a:off x="4089425" y="3867912"/>
            <a:ext cx="3493008" cy="630936"/>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Secrétariat général</a:t>
            </a:r>
            <a:endParaRPr lang="fr-FR" sz="1600" dirty="0"/>
          </a:p>
          <a:p>
            <a:pPr algn="ctr" indent="0" marL="0">
              <a:buNone/>
            </a:pPr>
            <a:r>
              <a:rPr lang="fr-FR" altLang="en-US" sz="1200" dirty="0">
                <a:solidFill>
                  <a:srgbClr val="DCE4F7"/>
                </a:solidFill>
                <a:latin typeface="Calibri" pitchFamily="34" charset="0"/>
                <a:ea typeface="Calibri" pitchFamily="34" charset="-122"/>
                <a:cs typeface="Calibri" pitchFamily="34" charset="-120"/>
              </a:rPr>
              <a:t>Coordination · courrier · dossiers</a:t>
            </a:r>
            <a:endParaRPr lang="fr-FR" sz="1600" dirty="0"/>
          </a:p>
        </p:txBody>
      </p:sp>
      <p:sp>
        <p:nvSpPr>
          <p:cNvPr id="13" name="l1"/>
          <p:cNvSpPr/>
          <p:nvPr/>
        </p:nvSpPr>
        <p:spPr>
          <a:xfrm>
            <a:off x="5835929" y="2514600"/>
            <a:ext cx="873" cy="274320"/>
          </a:xfrm>
          <a:prstGeom prst="line">
            <a:avLst/>
          </a:prstGeom>
          <a:noFill/>
          <a:ln w="19050">
            <a:solidFill>
              <a:srgbClr val="9AA8C6"/>
            </a:solidFill>
            <a:prstDash val="solid"/>
          </a:ln>
        </p:spPr>
      </p:sp>
      <p:sp>
        <p:nvSpPr>
          <p:cNvPr id="14" name="l2"/>
          <p:cNvSpPr/>
          <p:nvPr/>
        </p:nvSpPr>
        <p:spPr>
          <a:xfrm>
            <a:off x="5835929" y="3520440"/>
            <a:ext cx="873" cy="274320"/>
          </a:xfrm>
          <a:prstGeom prst="line">
            <a:avLst/>
          </a:prstGeom>
          <a:noFill/>
          <a:ln w="19050">
            <a:solidFill>
              <a:srgbClr val="9AA8C6"/>
            </a:solidFill>
            <a:prstDash val="solid"/>
          </a:ln>
        </p:spPr>
      </p:sp>
      <p:sp>
        <p:nvSpPr>
          <p:cNvPr id="15" name="l3"/>
          <p:cNvSpPr/>
          <p:nvPr/>
        </p:nvSpPr>
        <p:spPr>
          <a:xfrm>
            <a:off x="5835929" y="4572000"/>
            <a:ext cx="873" cy="274320"/>
          </a:xfrm>
          <a:prstGeom prst="line">
            <a:avLst/>
          </a:prstGeom>
          <a:noFill/>
          <a:ln w="19050">
            <a:solidFill>
              <a:srgbClr val="9AA8C6"/>
            </a:solidFill>
            <a:prstDash val="solid"/>
          </a:ln>
        </p:spPr>
      </p:sp>
      <p:sp>
        <p:nvSpPr>
          <p:cNvPr id="16" name="l4"/>
          <p:cNvSpPr/>
          <p:nvPr/>
        </p:nvSpPr>
        <p:spPr>
          <a:xfrm>
            <a:off x="1731645" y="4846320"/>
            <a:ext cx="8208569" cy="914"/>
          </a:xfrm>
          <a:prstGeom prst="line">
            <a:avLst/>
          </a:prstGeom>
          <a:noFill/>
          <a:ln w="19050">
            <a:solidFill>
              <a:srgbClr val="9AA8C6"/>
            </a:solidFill>
            <a:prstDash val="solid"/>
          </a:ln>
        </p:spPr>
      </p:sp>
      <p:sp>
        <p:nvSpPr>
          <p:cNvPr id="17" name="lv0"/>
          <p:cNvSpPr/>
          <p:nvPr/>
        </p:nvSpPr>
        <p:spPr>
          <a:xfrm>
            <a:off x="1731645" y="4846320"/>
            <a:ext cx="873" cy="228600"/>
          </a:xfrm>
          <a:prstGeom prst="line">
            <a:avLst/>
          </a:prstGeom>
          <a:noFill/>
          <a:ln w="19050">
            <a:solidFill>
              <a:srgbClr val="9AA8C6"/>
            </a:solidFill>
            <a:prstDash val="solid"/>
          </a:ln>
        </p:spPr>
      </p:sp>
      <p:sp>
        <p:nvSpPr>
          <p:cNvPr id="18" name="d0"/>
          <p:cNvSpPr/>
          <p:nvPr/>
        </p:nvSpPr>
        <p:spPr>
          <a:xfrm>
            <a:off x="640080" y="5074920"/>
            <a:ext cx="2183130" cy="960120"/>
          </a:xfrm>
          <a:prstGeom prst="roundRect">
            <a:avLst>
              <a:gd name="adj" fmla="val 9524"/>
            </a:avLst>
          </a:prstGeom>
          <a:solidFill>
            <a:srgbClr val="FFFFFF"/>
          </a:solidFill>
          <a:ln w="12700">
            <a:solidFill>
              <a:srgbClr val="DDE3EE"/>
            </a:solidFill>
            <a:prstDash val="solid"/>
          </a:ln>
          <a:effectLst>
            <a:outerShdw sx="100000" sy="100000" kx="0" ky="0" algn="bl" rotWithShape="0" blurRad="127000" dist="25400" dir="5400000">
              <a:srgbClr val="0E1C46">
                <a:alpha val="10000"/>
              </a:srgbClr>
            </a:outerShdw>
          </a:effectLst>
        </p:spPr>
      </p:sp>
      <p:sp>
        <p:nvSpPr>
          <p:cNvPr id="19" name="d0t"/>
          <p:cNvSpPr txBox="1"/>
          <p:nvPr/>
        </p:nvSpPr>
        <p:spPr>
          <a:xfrm>
            <a:off x="640080"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DAF</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Administration et finances</a:t>
            </a:r>
            <a:endParaRPr lang="fr-FR" sz="1600" dirty="0"/>
          </a:p>
        </p:txBody>
      </p:sp>
      <p:sp>
        <p:nvSpPr>
          <p:cNvPr id="20" name="lv1"/>
          <p:cNvSpPr/>
          <p:nvPr/>
        </p:nvSpPr>
        <p:spPr>
          <a:xfrm>
            <a:off x="4464924" y="4846320"/>
            <a:ext cx="873" cy="228600"/>
          </a:xfrm>
          <a:prstGeom prst="line">
            <a:avLst/>
          </a:prstGeom>
          <a:noFill/>
          <a:ln w="19050">
            <a:solidFill>
              <a:srgbClr val="9AA8C6"/>
            </a:solidFill>
            <a:prstDash val="solid"/>
          </a:ln>
        </p:spPr>
      </p:sp>
      <p:sp>
        <p:nvSpPr>
          <p:cNvPr id="21" name="d1"/>
          <p:cNvSpPr/>
          <p:nvPr/>
        </p:nvSpPr>
        <p:spPr>
          <a:xfrm>
            <a:off x="3373359" y="5074920"/>
            <a:ext cx="2183130" cy="960120"/>
          </a:xfrm>
          <a:prstGeom prst="roundRect">
            <a:avLst>
              <a:gd name="adj" fmla="val 9524"/>
            </a:avLst>
          </a:prstGeom>
          <a:solidFill>
            <a:srgbClr val="FFFFFF"/>
          </a:solidFill>
          <a:ln w="12700">
            <a:solidFill>
              <a:srgbClr val="DDE3EE"/>
            </a:solidFill>
            <a:prstDash val="solid"/>
          </a:ln>
          <a:effectLst>
            <a:outerShdw sx="100000" sy="100000" kx="0" ky="0" algn="bl" rotWithShape="0" blurRad="127000" dist="25400" dir="5400000">
              <a:srgbClr val="0E1C46">
                <a:alpha val="10000"/>
              </a:srgbClr>
            </a:outerShdw>
          </a:effectLst>
        </p:spPr>
      </p:sp>
      <p:sp>
        <p:nvSpPr>
          <p:cNvPr id="22" name="d1t"/>
          <p:cNvSpPr txBox="1"/>
          <p:nvPr/>
        </p:nvSpPr>
        <p:spPr>
          <a:xfrm>
            <a:off x="3373359"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DPDPS</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Planification et promotion sociale</a:t>
            </a:r>
            <a:endParaRPr lang="fr-FR" sz="1600" dirty="0"/>
          </a:p>
        </p:txBody>
      </p:sp>
      <p:sp>
        <p:nvSpPr>
          <p:cNvPr id="23" name="lv2"/>
          <p:cNvSpPr/>
          <p:nvPr/>
        </p:nvSpPr>
        <p:spPr>
          <a:xfrm>
            <a:off x="7198203" y="4846320"/>
            <a:ext cx="873" cy="228600"/>
          </a:xfrm>
          <a:prstGeom prst="line">
            <a:avLst/>
          </a:prstGeom>
          <a:noFill/>
          <a:ln w="19050">
            <a:solidFill>
              <a:srgbClr val="9AA8C6"/>
            </a:solidFill>
            <a:prstDash val="solid"/>
          </a:ln>
        </p:spPr>
      </p:sp>
      <p:sp>
        <p:nvSpPr>
          <p:cNvPr id="24" name="d2"/>
          <p:cNvSpPr/>
          <p:nvPr/>
        </p:nvSpPr>
        <p:spPr>
          <a:xfrm>
            <a:off x="6106638" y="5074920"/>
            <a:ext cx="2183130" cy="960120"/>
          </a:xfrm>
          <a:prstGeom prst="roundRect">
            <a:avLst>
              <a:gd name="adj" fmla="val 9524"/>
            </a:avLst>
          </a:prstGeom>
          <a:solidFill>
            <a:srgbClr val="FFFFFF"/>
          </a:solidFill>
          <a:ln w="12700">
            <a:solidFill>
              <a:srgbClr val="DDE3EE"/>
            </a:solidFill>
            <a:prstDash val="solid"/>
          </a:ln>
          <a:effectLst>
            <a:outerShdw sx="100000" sy="100000" kx="0" ky="0" algn="bl" rotWithShape="0" blurRad="127000" dist="25400" dir="5400000">
              <a:srgbClr val="0E1C46">
                <a:alpha val="10000"/>
              </a:srgbClr>
            </a:outerShdw>
          </a:effectLst>
        </p:spPr>
      </p:sp>
      <p:sp>
        <p:nvSpPr>
          <p:cNvPr id="25" name="d2t"/>
          <p:cNvSpPr txBox="1"/>
          <p:nvPr/>
        </p:nvSpPr>
        <p:spPr>
          <a:xfrm>
            <a:off x="6106638"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DST</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Services techniques</a:t>
            </a:r>
            <a:endParaRPr lang="fr-FR" sz="1600" dirty="0"/>
          </a:p>
        </p:txBody>
      </p:sp>
      <p:sp>
        <p:nvSpPr>
          <p:cNvPr id="26" name="lv3"/>
          <p:cNvSpPr/>
          <p:nvPr/>
        </p:nvSpPr>
        <p:spPr>
          <a:xfrm>
            <a:off x="9931481" y="4846320"/>
            <a:ext cx="873" cy="228600"/>
          </a:xfrm>
          <a:prstGeom prst="line">
            <a:avLst/>
          </a:prstGeom>
          <a:noFill/>
          <a:ln w="19050">
            <a:solidFill>
              <a:srgbClr val="9AA8C6"/>
            </a:solidFill>
            <a:prstDash val="solid"/>
          </a:ln>
        </p:spPr>
      </p:sp>
      <p:sp>
        <p:nvSpPr>
          <p:cNvPr id="27" name="d3"/>
          <p:cNvSpPr/>
          <p:nvPr/>
        </p:nvSpPr>
        <p:spPr>
          <a:xfrm>
            <a:off x="8839916" y="5074920"/>
            <a:ext cx="2183130" cy="960120"/>
          </a:xfrm>
          <a:prstGeom prst="roundRect">
            <a:avLst>
              <a:gd name="adj" fmla="val 9524"/>
            </a:avLst>
          </a:prstGeom>
          <a:solidFill>
            <a:srgbClr val="FFFFFF"/>
          </a:solidFill>
          <a:ln w="12700">
            <a:solidFill>
              <a:srgbClr val="DDE3EE"/>
            </a:solidFill>
            <a:prstDash val="solid"/>
          </a:ln>
          <a:effectLst>
            <a:outerShdw sx="100000" sy="100000" kx="0" ky="0" algn="bl" rotWithShape="0" blurRad="127000" dist="25400" dir="5400000">
              <a:srgbClr val="0E1C46">
                <a:alpha val="10000"/>
              </a:srgbClr>
            </a:outerShdw>
          </a:effectLst>
        </p:spPr>
      </p:sp>
      <p:sp>
        <p:nvSpPr>
          <p:cNvPr id="28" name="d3t"/>
          <p:cNvSpPr txBox="1"/>
          <p:nvPr/>
        </p:nvSpPr>
        <p:spPr>
          <a:xfrm>
            <a:off x="8839916"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DECTN</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État civil et transition numérique</a:t>
            </a:r>
            <a:endParaRPr lang="fr-FR" sz="1600" dirty="0"/>
          </a:p>
        </p:txBody>
      </p:sp>
      <p:pic>
        <p:nvPicPr>
          <p:cNvPr id="29" name="!!flogo" descr="preencoded.png">    </p:cNvPr>
          <p:cNvPicPr>
            <a:picLocks noChangeAspect="1"/>
          </p:cNvPicPr>
          <p:nvPr/>
        </p:nvPicPr>
        <p:blipFill>
          <a:blip r:embed="rId1"/>
          <a:stretch>
            <a:fillRect/>
          </a:stretch>
        </p:blipFill>
        <p:spPr>
          <a:xfrm>
            <a:off x="640080" y="6382512"/>
            <a:ext cx="329184" cy="274320"/>
          </a:xfrm>
          <a:prstGeom prst="rect">
            <a:avLst/>
          </a:prstGeom>
        </p:spPr>
      </p:pic>
      <p:sp>
        <p:nvSpPr>
          <p:cNvPr id="30"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31"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9 / 22</a:t>
            </a:r>
            <a:endParaRPr lang="fr-FR" sz="1000" dirty="0"/>
          </a:p>
        </p:txBody>
      </p:sp>
      <p:sp>
        <p:nvSpPr>
          <p:cNvPr id="32"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33" name="!!railline"/>
          <p:cNvSpPr/>
          <p:nvPr/>
        </p:nvSpPr>
        <p:spPr>
          <a:xfrm>
            <a:off x="11795760" y="1600200"/>
            <a:ext cx="914" cy="3383280"/>
          </a:xfrm>
          <a:prstGeom prst="line">
            <a:avLst/>
          </a:prstGeom>
          <a:noFill/>
          <a:ln w="25400">
            <a:solidFill>
              <a:srgbClr val="DDE3EE"/>
            </a:solidFill>
            <a:prstDash val="solid"/>
          </a:ln>
        </p:spPr>
      </p:sp>
      <p:sp>
        <p:nvSpPr>
          <p:cNvPr id="34" name="!!railprog"/>
          <p:cNvSpPr/>
          <p:nvPr/>
        </p:nvSpPr>
        <p:spPr>
          <a:xfrm>
            <a:off x="11795760" y="1600200"/>
            <a:ext cx="914" cy="676656"/>
          </a:xfrm>
          <a:prstGeom prst="line">
            <a:avLst/>
          </a:prstGeom>
          <a:noFill/>
          <a:ln w="38100">
            <a:solidFill>
              <a:srgbClr val="00923A"/>
            </a:solidFill>
            <a:prstDash val="solid"/>
          </a:ln>
        </p:spPr>
      </p:sp>
      <p:sp>
        <p:nvSpPr>
          <p:cNvPr id="35" name="!!mact"/>
          <p:cNvSpPr/>
          <p:nvPr/>
        </p:nvSpPr>
        <p:spPr>
          <a:xfrm>
            <a:off x="11494008" y="1975104"/>
            <a:ext cx="603504" cy="603504"/>
          </a:xfrm>
          <a:prstGeom prst="ellipse">
            <a:avLst/>
          </a:prstGeom>
          <a:solidFill>
            <a:srgbClr val="FFFFFF">
              <a:alpha val="0"/>
            </a:srgbClr>
          </a:solidFill>
          <a:ln w="38100">
            <a:solidFill>
              <a:srgbClr val="FCC600"/>
            </a:solidFill>
            <a:prstDash val="solid"/>
          </a:ln>
        </p:spPr>
      </p:sp>
      <p:sp>
        <p:nvSpPr>
          <p:cNvPr id="36"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7" name="!!mt1">
            <a:hlinkClick r:id="rId2"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2"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8" name="!!m2"/>
          <p:cNvSpPr/>
          <p:nvPr/>
        </p:nvSpPr>
        <p:spPr>
          <a:xfrm>
            <a:off x="11594592" y="2075688"/>
            <a:ext cx="402336" cy="402336"/>
          </a:xfrm>
          <a:prstGeom prst="ellipse">
            <a:avLst/>
          </a:prstGeom>
          <a:solidFill>
            <a:srgbClr val="1B3F9E"/>
          </a:solidFill>
          <a:ln w="19050">
            <a:solidFill>
              <a:srgbClr val="1B3F9E"/>
            </a:solidFill>
            <a:prstDash val="solid"/>
          </a:ln>
        </p:spPr>
      </p:sp>
      <p:sp>
        <p:nvSpPr>
          <p:cNvPr id="39" name="!!mt2">
            <a:hlinkClick r:id="rId3"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3"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40" name="!!m3"/>
          <p:cNvSpPr/>
          <p:nvPr/>
        </p:nvSpPr>
        <p:spPr>
          <a:xfrm>
            <a:off x="11594592" y="2752344"/>
            <a:ext cx="402336" cy="402336"/>
          </a:xfrm>
          <a:prstGeom prst="ellipse">
            <a:avLst/>
          </a:prstGeom>
          <a:solidFill>
            <a:srgbClr val="FFFFFF"/>
          </a:solidFill>
          <a:ln w="19050">
            <a:solidFill>
              <a:srgbClr val="C9D2E3"/>
            </a:solidFill>
            <a:prstDash val="solid"/>
          </a:ln>
        </p:spPr>
      </p:sp>
      <p:sp>
        <p:nvSpPr>
          <p:cNvPr id="41" name="!!mt3">
            <a:hlinkClick r:id="rId4"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4"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42"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43" name="!!mt4">
            <a:hlinkClick r:id="rId5"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5"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4"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45" name="!!mt5">
            <a:hlinkClick r:id="rId6"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6"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6"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7" name="!!mt6">
            <a:hlinkClick r:id="rId7"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7"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8"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STRUCTURE D’ACCUEIL</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53" presetClass="entr" presetSubtype="16" fill="hold" grpId="0" nodeType="withEffect">
                                  <p:stCondLst>
                                    <p:cond delay="150"/>
                                  </p:stCondLst>
                                  <p:childTnLst>
                                    <p:set>
                                      <p:cBhvr>
                                        <p:cTn id="12" dur="1" fill="hold">
                                          <p:stCondLst>
                                            <p:cond delay="0"/>
                                          </p:stCondLst>
                                        </p:cTn>
                                        <p:tgtEl>
                                          <p:spTgt spid="7"/>
                                        </p:tgtEl>
                                        <p:attrNameLst>
                                          <p:attrName>style.visibility</p:attrName>
                                        </p:attrNameLst>
                                      </p:cBhvr>
                                      <p:to>
                                        <p:strVal val="visible"/>
                                      </p:to>
                                    </p:set>
                                    <p:anim calcmode="lin" valueType="num">
                                      <p:cBhvr>
                                        <p:cTn id="13" dur="600" fill="hold"/>
                                        <p:tgtEl>
                                          <p:spTgt spid="7"/>
                                        </p:tgtEl>
                                        <p:attrNameLst>
                                          <p:attrName>ppt_w</p:attrName>
                                        </p:attrNameLst>
                                      </p:cBhvr>
                                      <p:tavLst>
                                        <p:tav tm="0">
                                          <p:val>
                                            <p:fltVal val="0"/>
                                          </p:val>
                                        </p:tav>
                                        <p:tav tm="100000">
                                          <p:val>
                                            <p:strVal val="#ppt_w"/>
                                          </p:val>
                                        </p:tav>
                                      </p:tavLst>
                                    </p:anim>
                                    <p:anim calcmode="lin" valueType="num">
                                      <p:cBhvr>
                                        <p:cTn id="14" dur="600" fill="hold"/>
                                        <p:tgtEl>
                                          <p:spTgt spid="7"/>
                                        </p:tgtEl>
                                        <p:attrNameLst>
                                          <p:attrName>ppt_h</p:attrName>
                                        </p:attrNameLst>
                                      </p:cBhvr>
                                      <p:tavLst>
                                        <p:tav tm="0">
                                          <p:val>
                                            <p:fltVal val="0"/>
                                          </p:val>
                                        </p:tav>
                                        <p:tav tm="100000">
                                          <p:val>
                                            <p:strVal val="#ppt_h"/>
                                          </p:val>
                                        </p:tav>
                                      </p:tavLst>
                                    </p:anim>
                                    <p:animEffect transition="in" filter="fade">
                                      <p:cBhvr>
                                        <p:cTn id="15" dur="600"/>
                                        <p:tgtEl>
                                          <p:spTgt spid="7"/>
                                        </p:tgtEl>
                                      </p:cBhvr>
                                    </p:animEffect>
                                  </p:childTnLst>
                                </p:cTn>
                              </p:par>
                              <p:par>
                                <p:cTn id="16" presetID="53" presetClass="entr" presetSubtype="16" fill="hold" grpId="0" nodeType="withEffect">
                                  <p:stCondLst>
                                    <p:cond delay="150"/>
                                  </p:stCondLst>
                                  <p:childTnLst>
                                    <p:set>
                                      <p:cBhvr>
                                        <p:cTn id="17" dur="1" fill="hold">
                                          <p:stCondLst>
                                            <p:cond delay="0"/>
                                          </p:stCondLst>
                                        </p:cTn>
                                        <p:tgtEl>
                                          <p:spTgt spid="8"/>
                                        </p:tgtEl>
                                        <p:attrNameLst>
                                          <p:attrName>style.visibility</p:attrName>
                                        </p:attrNameLst>
                                      </p:cBhvr>
                                      <p:to>
                                        <p:strVal val="visible"/>
                                      </p:to>
                                    </p:set>
                                    <p:anim calcmode="lin" valueType="num">
                                      <p:cBhvr>
                                        <p:cTn id="18" dur="600" fill="hold"/>
                                        <p:tgtEl>
                                          <p:spTgt spid="8"/>
                                        </p:tgtEl>
                                        <p:attrNameLst>
                                          <p:attrName>ppt_w</p:attrName>
                                        </p:attrNameLst>
                                      </p:cBhvr>
                                      <p:tavLst>
                                        <p:tav tm="0">
                                          <p:val>
                                            <p:fltVal val="0"/>
                                          </p:val>
                                        </p:tav>
                                        <p:tav tm="100000">
                                          <p:val>
                                            <p:strVal val="#ppt_w"/>
                                          </p:val>
                                        </p:tav>
                                      </p:tavLst>
                                    </p:anim>
                                    <p:anim calcmode="lin" valueType="num">
                                      <p:cBhvr>
                                        <p:cTn id="19" dur="600" fill="hold"/>
                                        <p:tgtEl>
                                          <p:spTgt spid="8"/>
                                        </p:tgtEl>
                                        <p:attrNameLst>
                                          <p:attrName>ppt_h</p:attrName>
                                        </p:attrNameLst>
                                      </p:cBhvr>
                                      <p:tavLst>
                                        <p:tav tm="0">
                                          <p:val>
                                            <p:fltVal val="0"/>
                                          </p:val>
                                        </p:tav>
                                        <p:tav tm="100000">
                                          <p:val>
                                            <p:strVal val="#ppt_h"/>
                                          </p:val>
                                        </p:tav>
                                      </p:tavLst>
                                    </p:anim>
                                    <p:animEffect transition="in" filter="fade">
                                      <p:cBhvr>
                                        <p:cTn id="20" dur="600"/>
                                        <p:tgtEl>
                                          <p:spTgt spid="8"/>
                                        </p:tgtEl>
                                      </p:cBhvr>
                                    </p:animEffect>
                                  </p:childTnLst>
                                </p:cTn>
                              </p:par>
                              <p:par>
                                <p:cTn id="21" presetID="22" presetClass="entr" presetSubtype="8" fill="hold" grpId="0" nodeType="withEffect">
                                  <p:stCondLst>
                                    <p:cond delay="150"/>
                                  </p:stCondLst>
                                  <p:childTnLst>
                                    <p:set>
                                      <p:cBhvr>
                                        <p:cTn id="22" dur="1" fill="hold">
                                          <p:stCondLst>
                                            <p:cond delay="0"/>
                                          </p:stCondLst>
                                        </p:cTn>
                                        <p:tgtEl>
                                          <p:spTgt spid="13"/>
                                        </p:tgtEl>
                                        <p:attrNameLst>
                                          <p:attrName>style.visibility</p:attrName>
                                        </p:attrNameLst>
                                      </p:cBhvr>
                                      <p:to>
                                        <p:strVal val="visible"/>
                                      </p:to>
                                    </p:set>
                                    <p:animEffect transition="in" filter="wipe(left)">
                                      <p:cBhvr>
                                        <p:cTn id="23" dur="600"/>
                                        <p:tgtEl>
                                          <p:spTgt spid="13"/>
                                        </p:tgtEl>
                                      </p:cBhvr>
                                    </p:animEffect>
                                  </p:childTnLst>
                                </p:cTn>
                              </p:par>
                              <p:par>
                                <p:cTn id="24" presetID="53" presetClass="entr" presetSubtype="16" fill="hold" grpId="0" nodeType="withEffect">
                                  <p:stCondLst>
                                    <p:cond delay="450"/>
                                  </p:stCondLst>
                                  <p:childTnLst>
                                    <p:set>
                                      <p:cBhvr>
                                        <p:cTn id="25" dur="1" fill="hold">
                                          <p:stCondLst>
                                            <p:cond delay="0"/>
                                          </p:stCondLst>
                                        </p:cTn>
                                        <p:tgtEl>
                                          <p:spTgt spid="9"/>
                                        </p:tgtEl>
                                        <p:attrNameLst>
                                          <p:attrName>style.visibility</p:attrName>
                                        </p:attrNameLst>
                                      </p:cBhvr>
                                      <p:to>
                                        <p:strVal val="visible"/>
                                      </p:to>
                                    </p:set>
                                    <p:anim calcmode="lin" valueType="num">
                                      <p:cBhvr>
                                        <p:cTn id="26" dur="600" fill="hold"/>
                                        <p:tgtEl>
                                          <p:spTgt spid="9"/>
                                        </p:tgtEl>
                                        <p:attrNameLst>
                                          <p:attrName>ppt_w</p:attrName>
                                        </p:attrNameLst>
                                      </p:cBhvr>
                                      <p:tavLst>
                                        <p:tav tm="0">
                                          <p:val>
                                            <p:fltVal val="0"/>
                                          </p:val>
                                        </p:tav>
                                        <p:tav tm="100000">
                                          <p:val>
                                            <p:strVal val="#ppt_w"/>
                                          </p:val>
                                        </p:tav>
                                      </p:tavLst>
                                    </p:anim>
                                    <p:anim calcmode="lin" valueType="num">
                                      <p:cBhvr>
                                        <p:cTn id="27" dur="600" fill="hold"/>
                                        <p:tgtEl>
                                          <p:spTgt spid="9"/>
                                        </p:tgtEl>
                                        <p:attrNameLst>
                                          <p:attrName>ppt_h</p:attrName>
                                        </p:attrNameLst>
                                      </p:cBhvr>
                                      <p:tavLst>
                                        <p:tav tm="0">
                                          <p:val>
                                            <p:fltVal val="0"/>
                                          </p:val>
                                        </p:tav>
                                        <p:tav tm="100000">
                                          <p:val>
                                            <p:strVal val="#ppt_h"/>
                                          </p:val>
                                        </p:tav>
                                      </p:tavLst>
                                    </p:anim>
                                    <p:animEffect transition="in" filter="fade">
                                      <p:cBhvr>
                                        <p:cTn id="28" dur="600"/>
                                        <p:tgtEl>
                                          <p:spTgt spid="9"/>
                                        </p:tgtEl>
                                      </p:cBhvr>
                                    </p:animEffect>
                                  </p:childTnLst>
                                </p:cTn>
                              </p:par>
                              <p:par>
                                <p:cTn id="29" presetID="53" presetClass="entr" presetSubtype="16" fill="hold" grpId="0" nodeType="withEffect">
                                  <p:stCondLst>
                                    <p:cond delay="450"/>
                                  </p:stCondLst>
                                  <p:childTnLst>
                                    <p:set>
                                      <p:cBhvr>
                                        <p:cTn id="30" dur="1" fill="hold">
                                          <p:stCondLst>
                                            <p:cond delay="0"/>
                                          </p:stCondLst>
                                        </p:cTn>
                                        <p:tgtEl>
                                          <p:spTgt spid="10"/>
                                        </p:tgtEl>
                                        <p:attrNameLst>
                                          <p:attrName>style.visibility</p:attrName>
                                        </p:attrNameLst>
                                      </p:cBhvr>
                                      <p:to>
                                        <p:strVal val="visible"/>
                                      </p:to>
                                    </p:set>
                                    <p:anim calcmode="lin" valueType="num">
                                      <p:cBhvr>
                                        <p:cTn id="31" dur="600" fill="hold"/>
                                        <p:tgtEl>
                                          <p:spTgt spid="10"/>
                                        </p:tgtEl>
                                        <p:attrNameLst>
                                          <p:attrName>ppt_w</p:attrName>
                                        </p:attrNameLst>
                                      </p:cBhvr>
                                      <p:tavLst>
                                        <p:tav tm="0">
                                          <p:val>
                                            <p:fltVal val="0"/>
                                          </p:val>
                                        </p:tav>
                                        <p:tav tm="100000">
                                          <p:val>
                                            <p:strVal val="#ppt_w"/>
                                          </p:val>
                                        </p:tav>
                                      </p:tavLst>
                                    </p:anim>
                                    <p:anim calcmode="lin" valueType="num">
                                      <p:cBhvr>
                                        <p:cTn id="32" dur="600" fill="hold"/>
                                        <p:tgtEl>
                                          <p:spTgt spid="10"/>
                                        </p:tgtEl>
                                        <p:attrNameLst>
                                          <p:attrName>ppt_h</p:attrName>
                                        </p:attrNameLst>
                                      </p:cBhvr>
                                      <p:tavLst>
                                        <p:tav tm="0">
                                          <p:val>
                                            <p:fltVal val="0"/>
                                          </p:val>
                                        </p:tav>
                                        <p:tav tm="100000">
                                          <p:val>
                                            <p:strVal val="#ppt_h"/>
                                          </p:val>
                                        </p:tav>
                                      </p:tavLst>
                                    </p:anim>
                                    <p:animEffect transition="in" filter="fade">
                                      <p:cBhvr>
                                        <p:cTn id="33" dur="600"/>
                                        <p:tgtEl>
                                          <p:spTgt spid="10"/>
                                        </p:tgtEl>
                                      </p:cBhvr>
                                    </p:animEffect>
                                  </p:childTnLst>
                                </p:cTn>
                              </p:par>
                              <p:par>
                                <p:cTn id="34" presetID="22" presetClass="entr" presetSubtype="8" fill="hold" grpId="0" nodeType="withEffect">
                                  <p:stCondLst>
                                    <p:cond delay="45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600"/>
                                        <p:tgtEl>
                                          <p:spTgt spid="14"/>
                                        </p:tgtEl>
                                      </p:cBhvr>
                                    </p:animEffect>
                                  </p:childTnLst>
                                </p:cTn>
                              </p:par>
                              <p:par>
                                <p:cTn id="37" presetID="53" presetClass="entr" presetSubtype="16" fill="hold" grpId="0" nodeType="withEffect">
                                  <p:stCondLst>
                                    <p:cond delay="750"/>
                                  </p:stCondLst>
                                  <p:childTnLst>
                                    <p:set>
                                      <p:cBhvr>
                                        <p:cTn id="38" dur="1" fill="hold">
                                          <p:stCondLst>
                                            <p:cond delay="0"/>
                                          </p:stCondLst>
                                        </p:cTn>
                                        <p:tgtEl>
                                          <p:spTgt spid="11"/>
                                        </p:tgtEl>
                                        <p:attrNameLst>
                                          <p:attrName>style.visibility</p:attrName>
                                        </p:attrNameLst>
                                      </p:cBhvr>
                                      <p:to>
                                        <p:strVal val="visible"/>
                                      </p:to>
                                    </p:set>
                                    <p:anim calcmode="lin" valueType="num">
                                      <p:cBhvr>
                                        <p:cTn id="39" dur="600" fill="hold"/>
                                        <p:tgtEl>
                                          <p:spTgt spid="11"/>
                                        </p:tgtEl>
                                        <p:attrNameLst>
                                          <p:attrName>ppt_w</p:attrName>
                                        </p:attrNameLst>
                                      </p:cBhvr>
                                      <p:tavLst>
                                        <p:tav tm="0">
                                          <p:val>
                                            <p:fltVal val="0"/>
                                          </p:val>
                                        </p:tav>
                                        <p:tav tm="100000">
                                          <p:val>
                                            <p:strVal val="#ppt_w"/>
                                          </p:val>
                                        </p:tav>
                                      </p:tavLst>
                                    </p:anim>
                                    <p:anim calcmode="lin" valueType="num">
                                      <p:cBhvr>
                                        <p:cTn id="40" dur="600" fill="hold"/>
                                        <p:tgtEl>
                                          <p:spTgt spid="11"/>
                                        </p:tgtEl>
                                        <p:attrNameLst>
                                          <p:attrName>ppt_h</p:attrName>
                                        </p:attrNameLst>
                                      </p:cBhvr>
                                      <p:tavLst>
                                        <p:tav tm="0">
                                          <p:val>
                                            <p:fltVal val="0"/>
                                          </p:val>
                                        </p:tav>
                                        <p:tav tm="100000">
                                          <p:val>
                                            <p:strVal val="#ppt_h"/>
                                          </p:val>
                                        </p:tav>
                                      </p:tavLst>
                                    </p:anim>
                                    <p:animEffect transition="in" filter="fade">
                                      <p:cBhvr>
                                        <p:cTn id="41" dur="600"/>
                                        <p:tgtEl>
                                          <p:spTgt spid="11"/>
                                        </p:tgtEl>
                                      </p:cBhvr>
                                    </p:animEffect>
                                  </p:childTnLst>
                                </p:cTn>
                              </p:par>
                              <p:par>
                                <p:cTn id="42" presetID="53" presetClass="entr" presetSubtype="16" fill="hold" grpId="0" nodeType="withEffect">
                                  <p:stCondLst>
                                    <p:cond delay="750"/>
                                  </p:stCondLst>
                                  <p:childTnLst>
                                    <p:set>
                                      <p:cBhvr>
                                        <p:cTn id="43" dur="1" fill="hold">
                                          <p:stCondLst>
                                            <p:cond delay="0"/>
                                          </p:stCondLst>
                                        </p:cTn>
                                        <p:tgtEl>
                                          <p:spTgt spid="12"/>
                                        </p:tgtEl>
                                        <p:attrNameLst>
                                          <p:attrName>style.visibility</p:attrName>
                                        </p:attrNameLst>
                                      </p:cBhvr>
                                      <p:to>
                                        <p:strVal val="visible"/>
                                      </p:to>
                                    </p:set>
                                    <p:anim calcmode="lin" valueType="num">
                                      <p:cBhvr>
                                        <p:cTn id="44" dur="600" fill="hold"/>
                                        <p:tgtEl>
                                          <p:spTgt spid="12"/>
                                        </p:tgtEl>
                                        <p:attrNameLst>
                                          <p:attrName>ppt_w</p:attrName>
                                        </p:attrNameLst>
                                      </p:cBhvr>
                                      <p:tavLst>
                                        <p:tav tm="0">
                                          <p:val>
                                            <p:fltVal val="0"/>
                                          </p:val>
                                        </p:tav>
                                        <p:tav tm="100000">
                                          <p:val>
                                            <p:strVal val="#ppt_w"/>
                                          </p:val>
                                        </p:tav>
                                      </p:tavLst>
                                    </p:anim>
                                    <p:anim calcmode="lin" valueType="num">
                                      <p:cBhvr>
                                        <p:cTn id="45" dur="600" fill="hold"/>
                                        <p:tgtEl>
                                          <p:spTgt spid="12"/>
                                        </p:tgtEl>
                                        <p:attrNameLst>
                                          <p:attrName>ppt_h</p:attrName>
                                        </p:attrNameLst>
                                      </p:cBhvr>
                                      <p:tavLst>
                                        <p:tav tm="0">
                                          <p:val>
                                            <p:fltVal val="0"/>
                                          </p:val>
                                        </p:tav>
                                        <p:tav tm="100000">
                                          <p:val>
                                            <p:strVal val="#ppt_h"/>
                                          </p:val>
                                        </p:tav>
                                      </p:tavLst>
                                    </p:anim>
                                    <p:animEffect transition="in" filter="fade">
                                      <p:cBhvr>
                                        <p:cTn id="46" dur="600"/>
                                        <p:tgtEl>
                                          <p:spTgt spid="12"/>
                                        </p:tgtEl>
                                      </p:cBhvr>
                                    </p:animEffect>
                                  </p:childTnLst>
                                </p:cTn>
                              </p:par>
                              <p:par>
                                <p:cTn id="47" presetID="22" presetClass="entr" presetSubtype="8" fill="hold" grpId="0" nodeType="withEffect">
                                  <p:stCondLst>
                                    <p:cond delay="75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600"/>
                                        <p:tgtEl>
                                          <p:spTgt spid="15"/>
                                        </p:tgtEl>
                                      </p:cBhvr>
                                    </p:animEffect>
                                  </p:childTnLst>
                                </p:cTn>
                              </p:par>
                              <p:par>
                                <p:cTn id="50" presetID="22" presetClass="entr" presetSubtype="8" fill="hold" grpId="0" nodeType="withEffect">
                                  <p:stCondLst>
                                    <p:cond delay="105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30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53" presetClass="entr" presetSubtype="16"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 calcmode="lin" valueType="num">
                                      <p:cBhvr>
                                        <p:cTn id="58" dur="600" fill="hold"/>
                                        <p:tgtEl>
                                          <p:spTgt spid="18"/>
                                        </p:tgtEl>
                                        <p:attrNameLst>
                                          <p:attrName>ppt_w</p:attrName>
                                        </p:attrNameLst>
                                      </p:cBhvr>
                                      <p:tavLst>
                                        <p:tav tm="0">
                                          <p:val>
                                            <p:fltVal val="0"/>
                                          </p:val>
                                        </p:tav>
                                        <p:tav tm="100000">
                                          <p:val>
                                            <p:strVal val="#ppt_w"/>
                                          </p:val>
                                        </p:tav>
                                      </p:tavLst>
                                    </p:anim>
                                    <p:anim calcmode="lin" valueType="num">
                                      <p:cBhvr>
                                        <p:cTn id="59" dur="600" fill="hold"/>
                                        <p:tgtEl>
                                          <p:spTgt spid="18"/>
                                        </p:tgtEl>
                                        <p:attrNameLst>
                                          <p:attrName>ppt_h</p:attrName>
                                        </p:attrNameLst>
                                      </p:cBhvr>
                                      <p:tavLst>
                                        <p:tav tm="0">
                                          <p:val>
                                            <p:fltVal val="0"/>
                                          </p:val>
                                        </p:tav>
                                        <p:tav tm="100000">
                                          <p:val>
                                            <p:strVal val="#ppt_h"/>
                                          </p:val>
                                        </p:tav>
                                      </p:tavLst>
                                    </p:anim>
                                    <p:animEffect transition="in" filter="fade">
                                      <p:cBhvr>
                                        <p:cTn id="60" dur="600"/>
                                        <p:tgtEl>
                                          <p:spTgt spid="18"/>
                                        </p:tgtEl>
                                      </p:cBhvr>
                                    </p:animEffect>
                                  </p:childTnLst>
                                </p:cTn>
                              </p:par>
                              <p:par>
                                <p:cTn id="61" presetID="53" presetClass="entr" presetSubtype="16"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 calcmode="lin" valueType="num">
                                      <p:cBhvr>
                                        <p:cTn id="63" dur="600" fill="hold"/>
                                        <p:tgtEl>
                                          <p:spTgt spid="19"/>
                                        </p:tgtEl>
                                        <p:attrNameLst>
                                          <p:attrName>ppt_w</p:attrName>
                                        </p:attrNameLst>
                                      </p:cBhvr>
                                      <p:tavLst>
                                        <p:tav tm="0">
                                          <p:val>
                                            <p:fltVal val="0"/>
                                          </p:val>
                                        </p:tav>
                                        <p:tav tm="100000">
                                          <p:val>
                                            <p:strVal val="#ppt_w"/>
                                          </p:val>
                                        </p:tav>
                                      </p:tavLst>
                                    </p:anim>
                                    <p:anim calcmode="lin" valueType="num">
                                      <p:cBhvr>
                                        <p:cTn id="64" dur="600" fill="hold"/>
                                        <p:tgtEl>
                                          <p:spTgt spid="19"/>
                                        </p:tgtEl>
                                        <p:attrNameLst>
                                          <p:attrName>ppt_h</p:attrName>
                                        </p:attrNameLst>
                                      </p:cBhvr>
                                      <p:tavLst>
                                        <p:tav tm="0">
                                          <p:val>
                                            <p:fltVal val="0"/>
                                          </p:val>
                                        </p:tav>
                                        <p:tav tm="100000">
                                          <p:val>
                                            <p:strVal val="#ppt_h"/>
                                          </p:val>
                                        </p:tav>
                                      </p:tavLst>
                                    </p:anim>
                                    <p:animEffect transition="in" filter="fade">
                                      <p:cBhvr>
                                        <p:cTn id="65" dur="600"/>
                                        <p:tgtEl>
                                          <p:spTgt spid="19"/>
                                        </p:tgtEl>
                                      </p:cBhvr>
                                    </p:animEffect>
                                  </p:childTnLst>
                                </p:cTn>
                              </p:par>
                              <p:par>
                                <p:cTn id="66" presetID="22" presetClass="entr" presetSubtype="8" fill="hold" grpId="0" nodeType="withEffect">
                                  <p:stCondLst>
                                    <p:cond delay="1450"/>
                                  </p:stCondLst>
                                  <p:childTnLst>
                                    <p:set>
                                      <p:cBhvr>
                                        <p:cTn id="67" dur="1" fill="hold">
                                          <p:stCondLst>
                                            <p:cond delay="0"/>
                                          </p:stCondLst>
                                        </p:cTn>
                                        <p:tgtEl>
                                          <p:spTgt spid="20"/>
                                        </p:tgtEl>
                                        <p:attrNameLst>
                                          <p:attrName>style.visibility</p:attrName>
                                        </p:attrNameLst>
                                      </p:cBhvr>
                                      <p:to>
                                        <p:strVal val="visible"/>
                                      </p:to>
                                    </p:set>
                                    <p:animEffect transition="in" filter="wipe(left)">
                                      <p:cBhvr>
                                        <p:cTn id="68" dur="600"/>
                                        <p:tgtEl>
                                          <p:spTgt spid="20"/>
                                        </p:tgtEl>
                                      </p:cBhvr>
                                    </p:animEffect>
                                  </p:childTnLst>
                                </p:cTn>
                              </p:par>
                              <p:par>
                                <p:cTn id="69" presetID="53" presetClass="entr" presetSubtype="16" fill="hold" grpId="0" nodeType="withEffect">
                                  <p:stCondLst>
                                    <p:cond delay="1500"/>
                                  </p:stCondLst>
                                  <p:childTnLst>
                                    <p:set>
                                      <p:cBhvr>
                                        <p:cTn id="70" dur="1" fill="hold">
                                          <p:stCondLst>
                                            <p:cond delay="0"/>
                                          </p:stCondLst>
                                        </p:cTn>
                                        <p:tgtEl>
                                          <p:spTgt spid="21"/>
                                        </p:tgtEl>
                                        <p:attrNameLst>
                                          <p:attrName>style.visibility</p:attrName>
                                        </p:attrNameLst>
                                      </p:cBhvr>
                                      <p:to>
                                        <p:strVal val="visible"/>
                                      </p:to>
                                    </p:set>
                                    <p:anim calcmode="lin" valueType="num">
                                      <p:cBhvr>
                                        <p:cTn id="71" dur="600" fill="hold"/>
                                        <p:tgtEl>
                                          <p:spTgt spid="21"/>
                                        </p:tgtEl>
                                        <p:attrNameLst>
                                          <p:attrName>ppt_w</p:attrName>
                                        </p:attrNameLst>
                                      </p:cBhvr>
                                      <p:tavLst>
                                        <p:tav tm="0">
                                          <p:val>
                                            <p:fltVal val="0"/>
                                          </p:val>
                                        </p:tav>
                                        <p:tav tm="100000">
                                          <p:val>
                                            <p:strVal val="#ppt_w"/>
                                          </p:val>
                                        </p:tav>
                                      </p:tavLst>
                                    </p:anim>
                                    <p:anim calcmode="lin" valueType="num">
                                      <p:cBhvr>
                                        <p:cTn id="72" dur="600" fill="hold"/>
                                        <p:tgtEl>
                                          <p:spTgt spid="21"/>
                                        </p:tgtEl>
                                        <p:attrNameLst>
                                          <p:attrName>ppt_h</p:attrName>
                                        </p:attrNameLst>
                                      </p:cBhvr>
                                      <p:tavLst>
                                        <p:tav tm="0">
                                          <p:val>
                                            <p:fltVal val="0"/>
                                          </p:val>
                                        </p:tav>
                                        <p:tav tm="100000">
                                          <p:val>
                                            <p:strVal val="#ppt_h"/>
                                          </p:val>
                                        </p:tav>
                                      </p:tavLst>
                                    </p:anim>
                                    <p:animEffect transition="in" filter="fade">
                                      <p:cBhvr>
                                        <p:cTn id="73" dur="600"/>
                                        <p:tgtEl>
                                          <p:spTgt spid="21"/>
                                        </p:tgtEl>
                                      </p:cBhvr>
                                    </p:animEffect>
                                  </p:childTnLst>
                                </p:cTn>
                              </p:par>
                              <p:par>
                                <p:cTn id="74" presetID="53" presetClass="entr" presetSubtype="16" fill="hold" grpId="0" nodeType="withEffect">
                                  <p:stCondLst>
                                    <p:cond delay="1500"/>
                                  </p:stCondLst>
                                  <p:childTnLst>
                                    <p:set>
                                      <p:cBhvr>
                                        <p:cTn id="75" dur="1" fill="hold">
                                          <p:stCondLst>
                                            <p:cond delay="0"/>
                                          </p:stCondLst>
                                        </p:cTn>
                                        <p:tgtEl>
                                          <p:spTgt spid="22"/>
                                        </p:tgtEl>
                                        <p:attrNameLst>
                                          <p:attrName>style.visibility</p:attrName>
                                        </p:attrNameLst>
                                      </p:cBhvr>
                                      <p:to>
                                        <p:strVal val="visible"/>
                                      </p:to>
                                    </p:set>
                                    <p:anim calcmode="lin" valueType="num">
                                      <p:cBhvr>
                                        <p:cTn id="76" dur="600" fill="hold"/>
                                        <p:tgtEl>
                                          <p:spTgt spid="22"/>
                                        </p:tgtEl>
                                        <p:attrNameLst>
                                          <p:attrName>ppt_w</p:attrName>
                                        </p:attrNameLst>
                                      </p:cBhvr>
                                      <p:tavLst>
                                        <p:tav tm="0">
                                          <p:val>
                                            <p:fltVal val="0"/>
                                          </p:val>
                                        </p:tav>
                                        <p:tav tm="100000">
                                          <p:val>
                                            <p:strVal val="#ppt_w"/>
                                          </p:val>
                                        </p:tav>
                                      </p:tavLst>
                                    </p:anim>
                                    <p:anim calcmode="lin" valueType="num">
                                      <p:cBhvr>
                                        <p:cTn id="77" dur="600" fill="hold"/>
                                        <p:tgtEl>
                                          <p:spTgt spid="22"/>
                                        </p:tgtEl>
                                        <p:attrNameLst>
                                          <p:attrName>ppt_h</p:attrName>
                                        </p:attrNameLst>
                                      </p:cBhvr>
                                      <p:tavLst>
                                        <p:tav tm="0">
                                          <p:val>
                                            <p:fltVal val="0"/>
                                          </p:val>
                                        </p:tav>
                                        <p:tav tm="100000">
                                          <p:val>
                                            <p:strVal val="#ppt_h"/>
                                          </p:val>
                                        </p:tav>
                                      </p:tavLst>
                                    </p:anim>
                                    <p:animEffect transition="in" filter="fade">
                                      <p:cBhvr>
                                        <p:cTn id="78" dur="600"/>
                                        <p:tgtEl>
                                          <p:spTgt spid="22"/>
                                        </p:tgtEl>
                                      </p:cBhvr>
                                    </p:animEffect>
                                  </p:childTnLst>
                                </p:cTn>
                              </p:par>
                              <p:par>
                                <p:cTn id="79" presetID="22" presetClass="entr" presetSubtype="8" fill="hold" grpId="0" nodeType="withEffect">
                                  <p:stCondLst>
                                    <p:cond delay="1600"/>
                                  </p:stCondLst>
                                  <p:childTnLst>
                                    <p:set>
                                      <p:cBhvr>
                                        <p:cTn id="80" dur="1" fill="hold">
                                          <p:stCondLst>
                                            <p:cond delay="0"/>
                                          </p:stCondLst>
                                        </p:cTn>
                                        <p:tgtEl>
                                          <p:spTgt spid="23"/>
                                        </p:tgtEl>
                                        <p:attrNameLst>
                                          <p:attrName>style.visibility</p:attrName>
                                        </p:attrNameLst>
                                      </p:cBhvr>
                                      <p:to>
                                        <p:strVal val="visible"/>
                                      </p:to>
                                    </p:set>
                                    <p:animEffect transition="in" filter="wipe(left)">
                                      <p:cBhvr>
                                        <p:cTn id="81" dur="600"/>
                                        <p:tgtEl>
                                          <p:spTgt spid="23"/>
                                        </p:tgtEl>
                                      </p:cBhvr>
                                    </p:animEffect>
                                  </p:childTnLst>
                                </p:cTn>
                              </p:par>
                              <p:par>
                                <p:cTn id="82" presetID="53" presetClass="entr" presetSubtype="16" fill="hold" grpId="0" nodeType="withEffect">
                                  <p:stCondLst>
                                    <p:cond delay="1650"/>
                                  </p:stCondLst>
                                  <p:childTnLst>
                                    <p:set>
                                      <p:cBhvr>
                                        <p:cTn id="83" dur="1" fill="hold">
                                          <p:stCondLst>
                                            <p:cond delay="0"/>
                                          </p:stCondLst>
                                        </p:cTn>
                                        <p:tgtEl>
                                          <p:spTgt spid="24"/>
                                        </p:tgtEl>
                                        <p:attrNameLst>
                                          <p:attrName>style.visibility</p:attrName>
                                        </p:attrNameLst>
                                      </p:cBhvr>
                                      <p:to>
                                        <p:strVal val="visible"/>
                                      </p:to>
                                    </p:set>
                                    <p:anim calcmode="lin" valueType="num">
                                      <p:cBhvr>
                                        <p:cTn id="84" dur="600" fill="hold"/>
                                        <p:tgtEl>
                                          <p:spTgt spid="24"/>
                                        </p:tgtEl>
                                        <p:attrNameLst>
                                          <p:attrName>ppt_w</p:attrName>
                                        </p:attrNameLst>
                                      </p:cBhvr>
                                      <p:tavLst>
                                        <p:tav tm="0">
                                          <p:val>
                                            <p:fltVal val="0"/>
                                          </p:val>
                                        </p:tav>
                                        <p:tav tm="100000">
                                          <p:val>
                                            <p:strVal val="#ppt_w"/>
                                          </p:val>
                                        </p:tav>
                                      </p:tavLst>
                                    </p:anim>
                                    <p:anim calcmode="lin" valueType="num">
                                      <p:cBhvr>
                                        <p:cTn id="85" dur="600" fill="hold"/>
                                        <p:tgtEl>
                                          <p:spTgt spid="24"/>
                                        </p:tgtEl>
                                        <p:attrNameLst>
                                          <p:attrName>ppt_h</p:attrName>
                                        </p:attrNameLst>
                                      </p:cBhvr>
                                      <p:tavLst>
                                        <p:tav tm="0">
                                          <p:val>
                                            <p:fltVal val="0"/>
                                          </p:val>
                                        </p:tav>
                                        <p:tav tm="100000">
                                          <p:val>
                                            <p:strVal val="#ppt_h"/>
                                          </p:val>
                                        </p:tav>
                                      </p:tavLst>
                                    </p:anim>
                                    <p:animEffect transition="in" filter="fade">
                                      <p:cBhvr>
                                        <p:cTn id="86" dur="600"/>
                                        <p:tgtEl>
                                          <p:spTgt spid="24"/>
                                        </p:tgtEl>
                                      </p:cBhvr>
                                    </p:animEffect>
                                  </p:childTnLst>
                                </p:cTn>
                              </p:par>
                              <p:par>
                                <p:cTn id="87" presetID="53" presetClass="entr" presetSubtype="16" fill="hold" grpId="0" nodeType="withEffect">
                                  <p:stCondLst>
                                    <p:cond delay="1650"/>
                                  </p:stCondLst>
                                  <p:childTnLst>
                                    <p:set>
                                      <p:cBhvr>
                                        <p:cTn id="88" dur="1" fill="hold">
                                          <p:stCondLst>
                                            <p:cond delay="0"/>
                                          </p:stCondLst>
                                        </p:cTn>
                                        <p:tgtEl>
                                          <p:spTgt spid="25"/>
                                        </p:tgtEl>
                                        <p:attrNameLst>
                                          <p:attrName>style.visibility</p:attrName>
                                        </p:attrNameLst>
                                      </p:cBhvr>
                                      <p:to>
                                        <p:strVal val="visible"/>
                                      </p:to>
                                    </p:set>
                                    <p:anim calcmode="lin" valueType="num">
                                      <p:cBhvr>
                                        <p:cTn id="89" dur="600" fill="hold"/>
                                        <p:tgtEl>
                                          <p:spTgt spid="25"/>
                                        </p:tgtEl>
                                        <p:attrNameLst>
                                          <p:attrName>ppt_w</p:attrName>
                                        </p:attrNameLst>
                                      </p:cBhvr>
                                      <p:tavLst>
                                        <p:tav tm="0">
                                          <p:val>
                                            <p:fltVal val="0"/>
                                          </p:val>
                                        </p:tav>
                                        <p:tav tm="100000">
                                          <p:val>
                                            <p:strVal val="#ppt_w"/>
                                          </p:val>
                                        </p:tav>
                                      </p:tavLst>
                                    </p:anim>
                                    <p:anim calcmode="lin" valueType="num">
                                      <p:cBhvr>
                                        <p:cTn id="90" dur="600" fill="hold"/>
                                        <p:tgtEl>
                                          <p:spTgt spid="25"/>
                                        </p:tgtEl>
                                        <p:attrNameLst>
                                          <p:attrName>ppt_h</p:attrName>
                                        </p:attrNameLst>
                                      </p:cBhvr>
                                      <p:tavLst>
                                        <p:tav tm="0">
                                          <p:val>
                                            <p:fltVal val="0"/>
                                          </p:val>
                                        </p:tav>
                                        <p:tav tm="100000">
                                          <p:val>
                                            <p:strVal val="#ppt_h"/>
                                          </p:val>
                                        </p:tav>
                                      </p:tavLst>
                                    </p:anim>
                                    <p:animEffect transition="in" filter="fade">
                                      <p:cBhvr>
                                        <p:cTn id="91" dur="600"/>
                                        <p:tgtEl>
                                          <p:spTgt spid="25"/>
                                        </p:tgtEl>
                                      </p:cBhvr>
                                    </p:animEffect>
                                  </p:childTnLst>
                                </p:cTn>
                              </p:par>
                              <p:par>
                                <p:cTn id="92" presetID="22" presetClass="entr" presetSubtype="8" fill="hold" grpId="0" nodeType="withEffect">
                                  <p:stCondLst>
                                    <p:cond delay="1750"/>
                                  </p:stCondLst>
                                  <p:childTnLst>
                                    <p:set>
                                      <p:cBhvr>
                                        <p:cTn id="93" dur="1" fill="hold">
                                          <p:stCondLst>
                                            <p:cond delay="0"/>
                                          </p:stCondLst>
                                        </p:cTn>
                                        <p:tgtEl>
                                          <p:spTgt spid="26"/>
                                        </p:tgtEl>
                                        <p:attrNameLst>
                                          <p:attrName>style.visibility</p:attrName>
                                        </p:attrNameLst>
                                      </p:cBhvr>
                                      <p:to>
                                        <p:strVal val="visible"/>
                                      </p:to>
                                    </p:set>
                                    <p:animEffect transition="in" filter="wipe(left)">
                                      <p:cBhvr>
                                        <p:cTn id="94" dur="600"/>
                                        <p:tgtEl>
                                          <p:spTgt spid="26"/>
                                        </p:tgtEl>
                                      </p:cBhvr>
                                    </p:animEffect>
                                  </p:childTnLst>
                                </p:cTn>
                              </p:par>
                              <p:par>
                                <p:cTn id="95" presetID="53" presetClass="entr" presetSubtype="16" fill="hold" grpId="0" nodeType="withEffect">
                                  <p:stCondLst>
                                    <p:cond delay="1800"/>
                                  </p:stCondLst>
                                  <p:childTnLst>
                                    <p:set>
                                      <p:cBhvr>
                                        <p:cTn id="96" dur="1" fill="hold">
                                          <p:stCondLst>
                                            <p:cond delay="0"/>
                                          </p:stCondLst>
                                        </p:cTn>
                                        <p:tgtEl>
                                          <p:spTgt spid="27"/>
                                        </p:tgtEl>
                                        <p:attrNameLst>
                                          <p:attrName>style.visibility</p:attrName>
                                        </p:attrNameLst>
                                      </p:cBhvr>
                                      <p:to>
                                        <p:strVal val="visible"/>
                                      </p:to>
                                    </p:set>
                                    <p:anim calcmode="lin" valueType="num">
                                      <p:cBhvr>
                                        <p:cTn id="97" dur="600" fill="hold"/>
                                        <p:tgtEl>
                                          <p:spTgt spid="27"/>
                                        </p:tgtEl>
                                        <p:attrNameLst>
                                          <p:attrName>ppt_w</p:attrName>
                                        </p:attrNameLst>
                                      </p:cBhvr>
                                      <p:tavLst>
                                        <p:tav tm="0">
                                          <p:val>
                                            <p:fltVal val="0"/>
                                          </p:val>
                                        </p:tav>
                                        <p:tav tm="100000">
                                          <p:val>
                                            <p:strVal val="#ppt_w"/>
                                          </p:val>
                                        </p:tav>
                                      </p:tavLst>
                                    </p:anim>
                                    <p:anim calcmode="lin" valueType="num">
                                      <p:cBhvr>
                                        <p:cTn id="98" dur="600" fill="hold"/>
                                        <p:tgtEl>
                                          <p:spTgt spid="27"/>
                                        </p:tgtEl>
                                        <p:attrNameLst>
                                          <p:attrName>ppt_h</p:attrName>
                                        </p:attrNameLst>
                                      </p:cBhvr>
                                      <p:tavLst>
                                        <p:tav tm="0">
                                          <p:val>
                                            <p:fltVal val="0"/>
                                          </p:val>
                                        </p:tav>
                                        <p:tav tm="100000">
                                          <p:val>
                                            <p:strVal val="#ppt_h"/>
                                          </p:val>
                                        </p:tav>
                                      </p:tavLst>
                                    </p:anim>
                                    <p:animEffect transition="in" filter="fade">
                                      <p:cBhvr>
                                        <p:cTn id="99" dur="600"/>
                                        <p:tgtEl>
                                          <p:spTgt spid="27"/>
                                        </p:tgtEl>
                                      </p:cBhvr>
                                    </p:animEffect>
                                  </p:childTnLst>
                                </p:cTn>
                              </p:par>
                              <p:par>
                                <p:cTn id="100" presetID="53" presetClass="entr" presetSubtype="16" fill="hold" grpId="0" nodeType="withEffect">
                                  <p:stCondLst>
                                    <p:cond delay="1800"/>
                                  </p:stCondLst>
                                  <p:childTnLst>
                                    <p:set>
                                      <p:cBhvr>
                                        <p:cTn id="101" dur="1" fill="hold">
                                          <p:stCondLst>
                                            <p:cond delay="0"/>
                                          </p:stCondLst>
                                        </p:cTn>
                                        <p:tgtEl>
                                          <p:spTgt spid="28"/>
                                        </p:tgtEl>
                                        <p:attrNameLst>
                                          <p:attrName>style.visibility</p:attrName>
                                        </p:attrNameLst>
                                      </p:cBhvr>
                                      <p:to>
                                        <p:strVal val="visible"/>
                                      </p:to>
                                    </p:set>
                                    <p:anim calcmode="lin" valueType="num">
                                      <p:cBhvr>
                                        <p:cTn id="102" dur="600" fill="hold"/>
                                        <p:tgtEl>
                                          <p:spTgt spid="28"/>
                                        </p:tgtEl>
                                        <p:attrNameLst>
                                          <p:attrName>ppt_w</p:attrName>
                                        </p:attrNameLst>
                                      </p:cBhvr>
                                      <p:tavLst>
                                        <p:tav tm="0">
                                          <p:val>
                                            <p:fltVal val="0"/>
                                          </p:val>
                                        </p:tav>
                                        <p:tav tm="100000">
                                          <p:val>
                                            <p:strVal val="#ppt_w"/>
                                          </p:val>
                                        </p:tav>
                                      </p:tavLst>
                                    </p:anim>
                                    <p:anim calcmode="lin" valueType="num">
                                      <p:cBhvr>
                                        <p:cTn id="103" dur="600" fill="hold"/>
                                        <p:tgtEl>
                                          <p:spTgt spid="28"/>
                                        </p:tgtEl>
                                        <p:attrNameLst>
                                          <p:attrName>ppt_h</p:attrName>
                                        </p:attrNameLst>
                                      </p:cBhvr>
                                      <p:tavLst>
                                        <p:tav tm="0">
                                          <p:val>
                                            <p:fltVal val="0"/>
                                          </p:val>
                                        </p:tav>
                                        <p:tav tm="100000">
                                          <p:val>
                                            <p:strVal val="#ppt_h"/>
                                          </p:val>
                                        </p:tav>
                                      </p:tavLst>
                                    </p:anim>
                                    <p:animEffect transition="in" filter="fade">
                                      <p:cBhvr>
                                        <p:cTn id="104"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2" grpId="0" animBg="1"/>
      <p:bldP spid="19" grpId="0" animBg="1"/>
      <p:bldP spid="22" grpId="0" animBg="1"/>
      <p:bldP spid="25" grpId="0" animBg="1"/>
      <p:bldP spid="2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338560" y="-1188720"/>
            <a:ext cx="1828800" cy="1828800"/>
          </a:xfrm>
          <a:prstGeom prst="ellipse">
            <a:avLst/>
          </a:prstGeom>
          <a:solidFill>
            <a:srgbClr val="1B3F9E"/>
          </a:solidFill>
          <a:ln w="12700">
            <a:solidFill>
              <a:srgbClr val="1B3F9E"/>
            </a:solidFill>
            <a:prstDash val="solid"/>
          </a:ln>
        </p:spPr>
      </p:sp>
      <p:sp>
        <p:nvSpPr>
          <p:cNvPr id="3" name="!!orbG"/>
          <p:cNvSpPr/>
          <p:nvPr/>
        </p:nvSpPr>
        <p:spPr>
          <a:xfrm>
            <a:off x="-914400" y="6035040"/>
            <a:ext cx="1463040" cy="1463040"/>
          </a:xfrm>
          <a:prstGeom prst="ellipse">
            <a:avLst/>
          </a:prstGeom>
          <a:solidFill>
            <a:srgbClr val="00923A"/>
          </a:solidFill>
          <a:ln w="12700">
            <a:solidFill>
              <a:srgbClr val="00923A"/>
            </a:solidFill>
            <a:prstDash val="solid"/>
          </a:ln>
        </p:spPr>
      </p:sp>
      <p:sp>
        <p:nvSpPr>
          <p:cNvPr id="4" name="!!orbY"/>
          <p:cNvSpPr/>
          <p:nvPr/>
        </p:nvSpPr>
        <p:spPr>
          <a:xfrm>
            <a:off x="8778240" y="6611112"/>
            <a:ext cx="548640" cy="548640"/>
          </a:xfrm>
          <a:prstGeom prst="ellipse">
            <a:avLst/>
          </a:prstGeom>
          <a:solidFill>
            <a:srgbClr val="FFFFFF">
              <a:alpha val="0"/>
            </a:srgbClr>
          </a:solidFill>
          <a:ln w="5080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LES TRAVAUX EFFECTUÉS</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Le parcours d’un courrier arrivé, en huit étapes</a:t>
            </a:r>
            <a:endParaRPr lang="fr-FR" sz="3200" dirty="0"/>
          </a:p>
        </p:txBody>
      </p:sp>
      <p:sp>
        <p:nvSpPr>
          <p:cNvPr id="7" name="st0"/>
          <p:cNvSpPr/>
          <p:nvPr/>
        </p:nvSpPr>
        <p:spPr>
          <a:xfrm>
            <a:off x="771068" y="196596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sti0c"/>
          <p:cNvSpPr/>
          <p:nvPr/>
        </p:nvSpPr>
        <p:spPr>
          <a:xfrm>
            <a:off x="989381" y="2194560"/>
            <a:ext cx="611276" cy="640080"/>
          </a:xfrm>
          <a:prstGeom prst="ellipse">
            <a:avLst/>
          </a:prstGeom>
          <a:solidFill>
            <a:srgbClr val="1B3F9E"/>
          </a:solidFill>
          <a:ln w="12700">
            <a:solidFill>
              <a:srgbClr val="1B3F9E"/>
            </a:solidFill>
            <a:prstDash val="solid"/>
          </a:ln>
        </p:spPr>
      </p:sp>
      <p:pic>
        <p:nvPicPr>
          <p:cNvPr id="9" name="sti0i" descr="preencoded.png">    </p:cNvPr>
          <p:cNvPicPr>
            <a:picLocks noChangeAspect="1"/>
          </p:cNvPicPr>
          <p:nvPr/>
        </p:nvPicPr>
        <p:blipFill>
          <a:blip r:embed="rId1"/>
          <a:stretch>
            <a:fillRect/>
          </a:stretch>
        </p:blipFill>
        <p:spPr>
          <a:xfrm>
            <a:off x="1148313" y="2360981"/>
            <a:ext cx="293413" cy="307238"/>
          </a:xfrm>
          <a:prstGeom prst="rect">
            <a:avLst/>
          </a:prstGeom>
        </p:spPr>
      </p:pic>
      <p:sp>
        <p:nvSpPr>
          <p:cNvPr id="10" name="stn0"/>
          <p:cNvSpPr txBox="1"/>
          <p:nvPr/>
        </p:nvSpPr>
        <p:spPr>
          <a:xfrm>
            <a:off x="2430247" y="219456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01</a:t>
            </a:r>
            <a:endParaRPr lang="fr-FR" sz="1300" dirty="0"/>
          </a:p>
        </p:txBody>
      </p:sp>
      <p:sp>
        <p:nvSpPr>
          <p:cNvPr id="11" name="stt0"/>
          <p:cNvSpPr txBox="1"/>
          <p:nvPr/>
        </p:nvSpPr>
        <p:spPr>
          <a:xfrm>
            <a:off x="989381" y="288036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Réception</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Vérification, décharge</a:t>
            </a:r>
            <a:endParaRPr lang="fr-FR" sz="1700" dirty="0"/>
          </a:p>
        </p:txBody>
      </p:sp>
      <p:sp>
        <p:nvSpPr>
          <p:cNvPr id="12" name="ar0"/>
          <p:cNvSpPr/>
          <p:nvPr/>
        </p:nvSpPr>
        <p:spPr>
          <a:xfrm>
            <a:off x="3058988" y="2624328"/>
            <a:ext cx="401696" cy="274320"/>
          </a:xfrm>
          <a:prstGeom prst="rightArrow">
            <a:avLst/>
          </a:prstGeom>
          <a:solidFill>
            <a:srgbClr val="B8C4DE"/>
          </a:solidFill>
          <a:ln w="12700">
            <a:solidFill>
              <a:srgbClr val="B8C4DE"/>
            </a:solidFill>
            <a:prstDash val="solid"/>
          </a:ln>
        </p:spPr>
      </p:sp>
      <p:sp>
        <p:nvSpPr>
          <p:cNvPr id="13" name="st1"/>
          <p:cNvSpPr/>
          <p:nvPr/>
        </p:nvSpPr>
        <p:spPr>
          <a:xfrm>
            <a:off x="3478149" y="196596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4" name="sti1c"/>
          <p:cNvSpPr/>
          <p:nvPr/>
        </p:nvSpPr>
        <p:spPr>
          <a:xfrm>
            <a:off x="3696462" y="2194560"/>
            <a:ext cx="611276" cy="640080"/>
          </a:xfrm>
          <a:prstGeom prst="ellipse">
            <a:avLst/>
          </a:prstGeom>
          <a:solidFill>
            <a:srgbClr val="00923A"/>
          </a:solidFill>
          <a:ln w="12700">
            <a:solidFill>
              <a:srgbClr val="00923A"/>
            </a:solidFill>
            <a:prstDash val="solid"/>
          </a:ln>
        </p:spPr>
      </p:sp>
      <p:pic>
        <p:nvPicPr>
          <p:cNvPr id="15" name="sti1i" descr="preencoded.png">    </p:cNvPr>
          <p:cNvPicPr>
            <a:picLocks noChangeAspect="1"/>
          </p:cNvPicPr>
          <p:nvPr/>
        </p:nvPicPr>
        <p:blipFill>
          <a:blip r:embed="rId2"/>
          <a:stretch>
            <a:fillRect/>
          </a:stretch>
        </p:blipFill>
        <p:spPr>
          <a:xfrm>
            <a:off x="3855394" y="2360981"/>
            <a:ext cx="293413" cy="307238"/>
          </a:xfrm>
          <a:prstGeom prst="rect">
            <a:avLst/>
          </a:prstGeom>
        </p:spPr>
      </p:pic>
      <p:sp>
        <p:nvSpPr>
          <p:cNvPr id="16" name="stn1"/>
          <p:cNvSpPr txBox="1"/>
          <p:nvPr/>
        </p:nvSpPr>
        <p:spPr>
          <a:xfrm>
            <a:off x="5137328" y="219456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02</a:t>
            </a:r>
            <a:endParaRPr lang="fr-FR" sz="1300" dirty="0"/>
          </a:p>
        </p:txBody>
      </p:sp>
      <p:sp>
        <p:nvSpPr>
          <p:cNvPr id="17" name="stt1"/>
          <p:cNvSpPr txBox="1"/>
          <p:nvPr/>
        </p:nvSpPr>
        <p:spPr>
          <a:xfrm>
            <a:off x="3696462" y="288036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Cachets</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Mairie et « Arrivée »</a:t>
            </a:r>
            <a:endParaRPr lang="fr-FR" sz="1700" dirty="0"/>
          </a:p>
        </p:txBody>
      </p:sp>
      <p:sp>
        <p:nvSpPr>
          <p:cNvPr id="18" name="ar1"/>
          <p:cNvSpPr/>
          <p:nvPr/>
        </p:nvSpPr>
        <p:spPr>
          <a:xfrm>
            <a:off x="5766069" y="2624328"/>
            <a:ext cx="401696" cy="274320"/>
          </a:xfrm>
          <a:prstGeom prst="rightArrow">
            <a:avLst/>
          </a:prstGeom>
          <a:solidFill>
            <a:srgbClr val="B8C4DE"/>
          </a:solidFill>
          <a:ln w="12700">
            <a:solidFill>
              <a:srgbClr val="B8C4DE"/>
            </a:solidFill>
            <a:prstDash val="solid"/>
          </a:ln>
        </p:spPr>
      </p:sp>
      <p:sp>
        <p:nvSpPr>
          <p:cNvPr id="19" name="st2"/>
          <p:cNvSpPr/>
          <p:nvPr/>
        </p:nvSpPr>
        <p:spPr>
          <a:xfrm>
            <a:off x="6185230" y="196596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0" name="sti2c"/>
          <p:cNvSpPr/>
          <p:nvPr/>
        </p:nvSpPr>
        <p:spPr>
          <a:xfrm>
            <a:off x="6403543" y="2194560"/>
            <a:ext cx="611276" cy="640080"/>
          </a:xfrm>
          <a:prstGeom prst="ellipse">
            <a:avLst/>
          </a:prstGeom>
          <a:solidFill>
            <a:srgbClr val="E2A400"/>
          </a:solidFill>
          <a:ln w="12700">
            <a:solidFill>
              <a:srgbClr val="E2A400"/>
            </a:solidFill>
            <a:prstDash val="solid"/>
          </a:ln>
        </p:spPr>
      </p:sp>
      <p:pic>
        <p:nvPicPr>
          <p:cNvPr id="21" name="sti2i" descr="preencoded.png">    </p:cNvPr>
          <p:cNvPicPr>
            <a:picLocks noChangeAspect="1"/>
          </p:cNvPicPr>
          <p:nvPr/>
        </p:nvPicPr>
        <p:blipFill>
          <a:blip r:embed="rId3"/>
          <a:stretch>
            <a:fillRect/>
          </a:stretch>
        </p:blipFill>
        <p:spPr>
          <a:xfrm>
            <a:off x="6562475" y="2360981"/>
            <a:ext cx="293413" cy="307238"/>
          </a:xfrm>
          <a:prstGeom prst="rect">
            <a:avLst/>
          </a:prstGeom>
        </p:spPr>
      </p:pic>
      <p:sp>
        <p:nvSpPr>
          <p:cNvPr id="22" name="stn2"/>
          <p:cNvSpPr txBox="1"/>
          <p:nvPr/>
        </p:nvSpPr>
        <p:spPr>
          <a:xfrm>
            <a:off x="7844409" y="219456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03</a:t>
            </a:r>
            <a:endParaRPr lang="fr-FR" sz="1300" dirty="0"/>
          </a:p>
        </p:txBody>
      </p:sp>
      <p:sp>
        <p:nvSpPr>
          <p:cNvPr id="23" name="stt2"/>
          <p:cNvSpPr txBox="1"/>
          <p:nvPr/>
        </p:nvSpPr>
        <p:spPr>
          <a:xfrm>
            <a:off x="6403543" y="288036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Enregistrement</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Registre et fiche</a:t>
            </a:r>
            <a:endParaRPr lang="fr-FR" sz="1700" dirty="0"/>
          </a:p>
        </p:txBody>
      </p:sp>
      <p:sp>
        <p:nvSpPr>
          <p:cNvPr id="24" name="ar2"/>
          <p:cNvSpPr/>
          <p:nvPr/>
        </p:nvSpPr>
        <p:spPr>
          <a:xfrm>
            <a:off x="8473150" y="2624328"/>
            <a:ext cx="401696" cy="274320"/>
          </a:xfrm>
          <a:prstGeom prst="rightArrow">
            <a:avLst/>
          </a:prstGeom>
          <a:solidFill>
            <a:srgbClr val="B8C4DE"/>
          </a:solidFill>
          <a:ln w="12700">
            <a:solidFill>
              <a:srgbClr val="B8C4DE"/>
            </a:solidFill>
            <a:prstDash val="solid"/>
          </a:ln>
        </p:spPr>
      </p:sp>
      <p:sp>
        <p:nvSpPr>
          <p:cNvPr id="25" name="st3"/>
          <p:cNvSpPr/>
          <p:nvPr/>
        </p:nvSpPr>
        <p:spPr>
          <a:xfrm>
            <a:off x="8892311" y="196596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6" name="sti3c"/>
          <p:cNvSpPr/>
          <p:nvPr/>
        </p:nvSpPr>
        <p:spPr>
          <a:xfrm>
            <a:off x="9110624" y="2194560"/>
            <a:ext cx="611276" cy="640080"/>
          </a:xfrm>
          <a:prstGeom prst="ellipse">
            <a:avLst/>
          </a:prstGeom>
          <a:solidFill>
            <a:srgbClr val="1B3F9E"/>
          </a:solidFill>
          <a:ln w="12700">
            <a:solidFill>
              <a:srgbClr val="1B3F9E"/>
            </a:solidFill>
            <a:prstDash val="solid"/>
          </a:ln>
        </p:spPr>
      </p:sp>
      <p:pic>
        <p:nvPicPr>
          <p:cNvPr id="27" name="sti3i" descr="preencoded.png">    </p:cNvPr>
          <p:cNvPicPr>
            <a:picLocks noChangeAspect="1"/>
          </p:cNvPicPr>
          <p:nvPr/>
        </p:nvPicPr>
        <p:blipFill>
          <a:blip r:embed="rId4"/>
          <a:stretch>
            <a:fillRect/>
          </a:stretch>
        </p:blipFill>
        <p:spPr>
          <a:xfrm>
            <a:off x="9269556" y="2360981"/>
            <a:ext cx="293413" cy="307238"/>
          </a:xfrm>
          <a:prstGeom prst="rect">
            <a:avLst/>
          </a:prstGeom>
        </p:spPr>
      </p:pic>
      <p:sp>
        <p:nvSpPr>
          <p:cNvPr id="28" name="stn3"/>
          <p:cNvSpPr txBox="1"/>
          <p:nvPr/>
        </p:nvSpPr>
        <p:spPr>
          <a:xfrm>
            <a:off x="10551490" y="219456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04</a:t>
            </a:r>
            <a:endParaRPr lang="fr-FR" sz="1300" dirty="0"/>
          </a:p>
        </p:txBody>
      </p:sp>
      <p:sp>
        <p:nvSpPr>
          <p:cNvPr id="29" name="stt3"/>
          <p:cNvSpPr txBox="1"/>
          <p:nvPr/>
        </p:nvSpPr>
        <p:spPr>
          <a:xfrm>
            <a:off x="9110624" y="288036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Examen</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Cheffe du secrétariat</a:t>
            </a:r>
            <a:endParaRPr lang="fr-FR" sz="1700" dirty="0"/>
          </a:p>
        </p:txBody>
      </p:sp>
      <p:sp>
        <p:nvSpPr>
          <p:cNvPr id="30" name="st4"/>
          <p:cNvSpPr/>
          <p:nvPr/>
        </p:nvSpPr>
        <p:spPr>
          <a:xfrm>
            <a:off x="8892311" y="406908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31" name="sti4c"/>
          <p:cNvSpPr/>
          <p:nvPr/>
        </p:nvSpPr>
        <p:spPr>
          <a:xfrm>
            <a:off x="9110624" y="4297680"/>
            <a:ext cx="611276" cy="640080"/>
          </a:xfrm>
          <a:prstGeom prst="ellipse">
            <a:avLst/>
          </a:prstGeom>
          <a:solidFill>
            <a:srgbClr val="1B3F9E"/>
          </a:solidFill>
          <a:ln w="12700">
            <a:solidFill>
              <a:srgbClr val="1B3F9E"/>
            </a:solidFill>
            <a:prstDash val="solid"/>
          </a:ln>
        </p:spPr>
      </p:sp>
      <p:pic>
        <p:nvPicPr>
          <p:cNvPr id="32" name="sti4i" descr="preencoded.png">    </p:cNvPr>
          <p:cNvPicPr>
            <a:picLocks noChangeAspect="1"/>
          </p:cNvPicPr>
          <p:nvPr/>
        </p:nvPicPr>
        <p:blipFill>
          <a:blip r:embed="rId5"/>
          <a:stretch>
            <a:fillRect/>
          </a:stretch>
        </p:blipFill>
        <p:spPr>
          <a:xfrm>
            <a:off x="9269556" y="4464101"/>
            <a:ext cx="293413" cy="307238"/>
          </a:xfrm>
          <a:prstGeom prst="rect">
            <a:avLst/>
          </a:prstGeom>
        </p:spPr>
      </p:pic>
      <p:sp>
        <p:nvSpPr>
          <p:cNvPr id="33" name="stn4"/>
          <p:cNvSpPr txBox="1"/>
          <p:nvPr/>
        </p:nvSpPr>
        <p:spPr>
          <a:xfrm>
            <a:off x="10551490" y="429768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05</a:t>
            </a:r>
            <a:endParaRPr lang="fr-FR" sz="1300" dirty="0"/>
          </a:p>
        </p:txBody>
      </p:sp>
      <p:sp>
        <p:nvSpPr>
          <p:cNvPr id="34" name="stt4"/>
          <p:cNvSpPr txBox="1"/>
          <p:nvPr/>
        </p:nvSpPr>
        <p:spPr>
          <a:xfrm>
            <a:off x="9110624" y="498348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Paraphe</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Secrétaire Général</a:t>
            </a:r>
            <a:endParaRPr lang="fr-FR" sz="1700" dirty="0"/>
          </a:p>
        </p:txBody>
      </p:sp>
      <p:sp>
        <p:nvSpPr>
          <p:cNvPr id="35" name="ar4"/>
          <p:cNvSpPr/>
          <p:nvPr/>
        </p:nvSpPr>
        <p:spPr>
          <a:xfrm rot="10800000">
            <a:off x="8455685" y="4727448"/>
            <a:ext cx="401696" cy="274320"/>
          </a:xfrm>
          <a:prstGeom prst="rightArrow">
            <a:avLst/>
          </a:prstGeom>
          <a:solidFill>
            <a:srgbClr val="B8C4DE"/>
          </a:solidFill>
          <a:ln w="12700">
            <a:solidFill>
              <a:srgbClr val="B8C4DE"/>
            </a:solidFill>
            <a:prstDash val="solid"/>
          </a:ln>
        </p:spPr>
      </p:sp>
      <p:sp>
        <p:nvSpPr>
          <p:cNvPr id="36" name="st5"/>
          <p:cNvSpPr/>
          <p:nvPr/>
        </p:nvSpPr>
        <p:spPr>
          <a:xfrm>
            <a:off x="6185230" y="406908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37" name="sti5c"/>
          <p:cNvSpPr/>
          <p:nvPr/>
        </p:nvSpPr>
        <p:spPr>
          <a:xfrm>
            <a:off x="6403543" y="4297680"/>
            <a:ext cx="611276" cy="640080"/>
          </a:xfrm>
          <a:prstGeom prst="ellipse">
            <a:avLst/>
          </a:prstGeom>
          <a:solidFill>
            <a:srgbClr val="E2A400"/>
          </a:solidFill>
          <a:ln w="12700">
            <a:solidFill>
              <a:srgbClr val="E2A400"/>
            </a:solidFill>
            <a:prstDash val="solid"/>
          </a:ln>
        </p:spPr>
      </p:sp>
      <p:pic>
        <p:nvPicPr>
          <p:cNvPr id="38" name="sti5i" descr="preencoded.png">    </p:cNvPr>
          <p:cNvPicPr>
            <a:picLocks noChangeAspect="1"/>
          </p:cNvPicPr>
          <p:nvPr/>
        </p:nvPicPr>
        <p:blipFill>
          <a:blip r:embed="rId6"/>
          <a:stretch>
            <a:fillRect/>
          </a:stretch>
        </p:blipFill>
        <p:spPr>
          <a:xfrm>
            <a:off x="6562475" y="4464101"/>
            <a:ext cx="293413" cy="307238"/>
          </a:xfrm>
          <a:prstGeom prst="rect">
            <a:avLst/>
          </a:prstGeom>
        </p:spPr>
      </p:pic>
      <p:sp>
        <p:nvSpPr>
          <p:cNvPr id="39" name="stn5"/>
          <p:cNvSpPr txBox="1"/>
          <p:nvPr/>
        </p:nvSpPr>
        <p:spPr>
          <a:xfrm>
            <a:off x="7844409" y="429768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06</a:t>
            </a:r>
            <a:endParaRPr lang="fr-FR" sz="1300" dirty="0"/>
          </a:p>
        </p:txBody>
      </p:sp>
      <p:sp>
        <p:nvSpPr>
          <p:cNvPr id="40" name="stt5"/>
          <p:cNvSpPr txBox="1"/>
          <p:nvPr/>
        </p:nvSpPr>
        <p:spPr>
          <a:xfrm>
            <a:off x="6403543" y="498348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Instructions</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Le Maire</a:t>
            </a:r>
            <a:endParaRPr lang="fr-FR" sz="1700" dirty="0"/>
          </a:p>
        </p:txBody>
      </p:sp>
      <p:sp>
        <p:nvSpPr>
          <p:cNvPr id="41" name="ar5"/>
          <p:cNvSpPr/>
          <p:nvPr/>
        </p:nvSpPr>
        <p:spPr>
          <a:xfrm rot="10800000">
            <a:off x="5748604" y="4727448"/>
            <a:ext cx="401696" cy="274320"/>
          </a:xfrm>
          <a:prstGeom prst="rightArrow">
            <a:avLst/>
          </a:prstGeom>
          <a:solidFill>
            <a:srgbClr val="B8C4DE"/>
          </a:solidFill>
          <a:ln w="12700">
            <a:solidFill>
              <a:srgbClr val="B8C4DE"/>
            </a:solidFill>
            <a:prstDash val="solid"/>
          </a:ln>
        </p:spPr>
      </p:sp>
      <p:sp>
        <p:nvSpPr>
          <p:cNvPr id="42" name="st6"/>
          <p:cNvSpPr/>
          <p:nvPr/>
        </p:nvSpPr>
        <p:spPr>
          <a:xfrm>
            <a:off x="3478149" y="406908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43" name="sti6c"/>
          <p:cNvSpPr/>
          <p:nvPr/>
        </p:nvSpPr>
        <p:spPr>
          <a:xfrm>
            <a:off x="3696462" y="4297680"/>
            <a:ext cx="611276" cy="640080"/>
          </a:xfrm>
          <a:prstGeom prst="ellipse">
            <a:avLst/>
          </a:prstGeom>
          <a:solidFill>
            <a:srgbClr val="00923A"/>
          </a:solidFill>
          <a:ln w="12700">
            <a:solidFill>
              <a:srgbClr val="00923A"/>
            </a:solidFill>
            <a:prstDash val="solid"/>
          </a:ln>
        </p:spPr>
      </p:sp>
      <p:pic>
        <p:nvPicPr>
          <p:cNvPr id="44" name="sti6i" descr="preencoded.png">    </p:cNvPr>
          <p:cNvPicPr>
            <a:picLocks noChangeAspect="1"/>
          </p:cNvPicPr>
          <p:nvPr/>
        </p:nvPicPr>
        <p:blipFill>
          <a:blip r:embed="rId7"/>
          <a:stretch>
            <a:fillRect/>
          </a:stretch>
        </p:blipFill>
        <p:spPr>
          <a:xfrm>
            <a:off x="3855394" y="4464101"/>
            <a:ext cx="293413" cy="307238"/>
          </a:xfrm>
          <a:prstGeom prst="rect">
            <a:avLst/>
          </a:prstGeom>
        </p:spPr>
      </p:pic>
      <p:sp>
        <p:nvSpPr>
          <p:cNvPr id="45" name="stn6"/>
          <p:cNvSpPr txBox="1"/>
          <p:nvPr/>
        </p:nvSpPr>
        <p:spPr>
          <a:xfrm>
            <a:off x="5137328" y="429768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07</a:t>
            </a:r>
            <a:endParaRPr lang="fr-FR" sz="1300" dirty="0"/>
          </a:p>
        </p:txBody>
      </p:sp>
      <p:sp>
        <p:nvSpPr>
          <p:cNvPr id="46" name="stt6"/>
          <p:cNvSpPr txBox="1"/>
          <p:nvPr/>
        </p:nvSpPr>
        <p:spPr>
          <a:xfrm>
            <a:off x="3696462" y="498348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Transmission</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Vers la direction</a:t>
            </a:r>
            <a:endParaRPr lang="fr-FR" sz="1700" dirty="0"/>
          </a:p>
        </p:txBody>
      </p:sp>
      <p:sp>
        <p:nvSpPr>
          <p:cNvPr id="47" name="ar6"/>
          <p:cNvSpPr/>
          <p:nvPr/>
        </p:nvSpPr>
        <p:spPr>
          <a:xfrm rot="10800000">
            <a:off x="3041523" y="4727448"/>
            <a:ext cx="401696" cy="274320"/>
          </a:xfrm>
          <a:prstGeom prst="rightArrow">
            <a:avLst/>
          </a:prstGeom>
          <a:solidFill>
            <a:srgbClr val="B8C4DE"/>
          </a:solidFill>
          <a:ln w="12700">
            <a:solidFill>
              <a:srgbClr val="B8C4DE"/>
            </a:solidFill>
            <a:prstDash val="solid"/>
          </a:ln>
        </p:spPr>
      </p:sp>
      <p:sp>
        <p:nvSpPr>
          <p:cNvPr id="48" name="st7"/>
          <p:cNvSpPr/>
          <p:nvPr/>
        </p:nvSpPr>
        <p:spPr>
          <a:xfrm>
            <a:off x="771068" y="4069080"/>
            <a:ext cx="2270455" cy="1600200"/>
          </a:xfrm>
          <a:prstGeom prst="roundRect">
            <a:avLst>
              <a:gd name="adj" fmla="val 685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49" name="sti7c"/>
          <p:cNvSpPr/>
          <p:nvPr/>
        </p:nvSpPr>
        <p:spPr>
          <a:xfrm>
            <a:off x="989381" y="4297680"/>
            <a:ext cx="611276" cy="640080"/>
          </a:xfrm>
          <a:prstGeom prst="ellipse">
            <a:avLst/>
          </a:prstGeom>
          <a:solidFill>
            <a:srgbClr val="1B3F9E"/>
          </a:solidFill>
          <a:ln w="12700">
            <a:solidFill>
              <a:srgbClr val="1B3F9E"/>
            </a:solidFill>
            <a:prstDash val="solid"/>
          </a:ln>
        </p:spPr>
      </p:sp>
      <p:pic>
        <p:nvPicPr>
          <p:cNvPr id="50" name="sti7i" descr="preencoded.png">    </p:cNvPr>
          <p:cNvPicPr>
            <a:picLocks noChangeAspect="1"/>
          </p:cNvPicPr>
          <p:nvPr/>
        </p:nvPicPr>
        <p:blipFill>
          <a:blip r:embed="rId8"/>
          <a:stretch>
            <a:fillRect/>
          </a:stretch>
        </p:blipFill>
        <p:spPr>
          <a:xfrm>
            <a:off x="1148313" y="4464101"/>
            <a:ext cx="293413" cy="307238"/>
          </a:xfrm>
          <a:prstGeom prst="rect">
            <a:avLst/>
          </a:prstGeom>
        </p:spPr>
      </p:pic>
      <p:sp>
        <p:nvSpPr>
          <p:cNvPr id="51" name="stn7"/>
          <p:cNvSpPr txBox="1"/>
          <p:nvPr/>
        </p:nvSpPr>
        <p:spPr>
          <a:xfrm>
            <a:off x="2430247" y="4297680"/>
            <a:ext cx="436626" cy="274320"/>
          </a:xfrm>
          <a:prstGeom prst="rect">
            <a:avLst/>
          </a:prstGeom>
          <a:noFill/>
          <a:ln/>
        </p:spPr>
        <p:txBody>
          <a:bodyPr wrap="square" lIns="0" tIns="0" rIns="0" bIns="0" rtlCol="0" anchor="t"/>
          <a:lstStyle/>
          <a:p>
            <a:pPr algn="r" indent="0" marL="0">
              <a:buNone/>
            </a:pPr>
            <a:r>
              <a:rPr lang="fr-FR" altLang="en-US" sz="1300" b="1" dirty="0">
                <a:solidFill>
                  <a:srgbClr val="56617C"/>
                </a:solidFill>
                <a:latin typeface="Calibri" pitchFamily="34" charset="0"/>
                <a:ea typeface="Calibri" pitchFamily="34" charset="-122"/>
                <a:cs typeface="Calibri" pitchFamily="34" charset="-120"/>
              </a:rPr>
              <a:t>08</a:t>
            </a:r>
            <a:endParaRPr lang="fr-FR" sz="1300" dirty="0"/>
          </a:p>
        </p:txBody>
      </p:sp>
      <p:sp>
        <p:nvSpPr>
          <p:cNvPr id="52" name="stt7"/>
          <p:cNvSpPr txBox="1"/>
          <p:nvPr/>
        </p:nvSpPr>
        <p:spPr>
          <a:xfrm>
            <a:off x="989381" y="4983480"/>
            <a:ext cx="1921154" cy="621792"/>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Traitement</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Puis classement</a:t>
            </a:r>
            <a:endParaRPr lang="fr-FR" sz="1700" dirty="0"/>
          </a:p>
        </p:txBody>
      </p:sp>
      <p:sp>
        <p:nvSpPr>
          <p:cNvPr id="53" name="ardown"/>
          <p:cNvSpPr/>
          <p:nvPr/>
        </p:nvSpPr>
        <p:spPr>
          <a:xfrm>
            <a:off x="9136822" y="3611880"/>
            <a:ext cx="279441" cy="411480"/>
          </a:xfrm>
          <a:prstGeom prst="downArrow">
            <a:avLst/>
          </a:prstGeom>
          <a:solidFill>
            <a:srgbClr val="B8C4DE"/>
          </a:solidFill>
          <a:ln w="12700">
            <a:solidFill>
              <a:srgbClr val="B8C4DE"/>
            </a:solidFill>
            <a:prstDash val="solid"/>
          </a:ln>
        </p:spPr>
      </p:sp>
      <p:pic>
        <p:nvPicPr>
          <p:cNvPr id="54" name="!!flogo" descr="preencoded.png">    </p:cNvPr>
          <p:cNvPicPr>
            <a:picLocks noChangeAspect="1"/>
          </p:cNvPicPr>
          <p:nvPr/>
        </p:nvPicPr>
        <p:blipFill>
          <a:blip r:embed="rId9"/>
          <a:stretch>
            <a:fillRect/>
          </a:stretch>
        </p:blipFill>
        <p:spPr>
          <a:xfrm>
            <a:off x="640080" y="6382512"/>
            <a:ext cx="329184" cy="274320"/>
          </a:xfrm>
          <a:prstGeom prst="rect">
            <a:avLst/>
          </a:prstGeom>
        </p:spPr>
      </p:pic>
      <p:sp>
        <p:nvSpPr>
          <p:cNvPr id="55"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56"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10 / 22</a:t>
            </a:r>
            <a:endParaRPr lang="fr-FR" sz="1000" dirty="0"/>
          </a:p>
        </p:txBody>
      </p:sp>
      <p:sp>
        <p:nvSpPr>
          <p:cNvPr id="57"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58" name="!!railline"/>
          <p:cNvSpPr/>
          <p:nvPr/>
        </p:nvSpPr>
        <p:spPr>
          <a:xfrm>
            <a:off x="11795760" y="1600200"/>
            <a:ext cx="914" cy="3383280"/>
          </a:xfrm>
          <a:prstGeom prst="line">
            <a:avLst/>
          </a:prstGeom>
          <a:noFill/>
          <a:ln w="25400">
            <a:solidFill>
              <a:srgbClr val="DDE3EE"/>
            </a:solidFill>
            <a:prstDash val="solid"/>
          </a:ln>
        </p:spPr>
      </p:sp>
      <p:sp>
        <p:nvSpPr>
          <p:cNvPr id="59" name="!!railprog"/>
          <p:cNvSpPr/>
          <p:nvPr/>
        </p:nvSpPr>
        <p:spPr>
          <a:xfrm>
            <a:off x="11795760" y="1600200"/>
            <a:ext cx="914" cy="1353312"/>
          </a:xfrm>
          <a:prstGeom prst="line">
            <a:avLst/>
          </a:prstGeom>
          <a:noFill/>
          <a:ln w="38100">
            <a:solidFill>
              <a:srgbClr val="00923A"/>
            </a:solidFill>
            <a:prstDash val="solid"/>
          </a:ln>
        </p:spPr>
      </p:sp>
      <p:sp>
        <p:nvSpPr>
          <p:cNvPr id="60" name="!!mact"/>
          <p:cNvSpPr/>
          <p:nvPr/>
        </p:nvSpPr>
        <p:spPr>
          <a:xfrm>
            <a:off x="11494008" y="2651760"/>
            <a:ext cx="603504" cy="603504"/>
          </a:xfrm>
          <a:prstGeom prst="ellipse">
            <a:avLst/>
          </a:prstGeom>
          <a:solidFill>
            <a:srgbClr val="FFFFFF">
              <a:alpha val="0"/>
            </a:srgbClr>
          </a:solidFill>
          <a:ln w="38100">
            <a:solidFill>
              <a:srgbClr val="FCC600"/>
            </a:solidFill>
            <a:prstDash val="solid"/>
          </a:ln>
        </p:spPr>
      </p:sp>
      <p:sp>
        <p:nvSpPr>
          <p:cNvPr id="61"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62" name="!!mt1">
            <a:hlinkClick r:id="rId10"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0"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63"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64" name="!!mt2">
            <a:hlinkClick r:id="rId11"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1"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65" name="!!m3"/>
          <p:cNvSpPr/>
          <p:nvPr/>
        </p:nvSpPr>
        <p:spPr>
          <a:xfrm>
            <a:off x="11594592" y="2752344"/>
            <a:ext cx="402336" cy="402336"/>
          </a:xfrm>
          <a:prstGeom prst="ellipse">
            <a:avLst/>
          </a:prstGeom>
          <a:solidFill>
            <a:srgbClr val="1B3F9E"/>
          </a:solidFill>
          <a:ln w="19050">
            <a:solidFill>
              <a:srgbClr val="1B3F9E"/>
            </a:solidFill>
            <a:prstDash val="solid"/>
          </a:ln>
        </p:spPr>
      </p:sp>
      <p:sp>
        <p:nvSpPr>
          <p:cNvPr id="66" name="!!mt3"/>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67" name="!!m4"/>
          <p:cNvSpPr/>
          <p:nvPr/>
        </p:nvSpPr>
        <p:spPr>
          <a:xfrm>
            <a:off x="11594592" y="3429000"/>
            <a:ext cx="402336" cy="402336"/>
          </a:xfrm>
          <a:prstGeom prst="ellipse">
            <a:avLst/>
          </a:prstGeom>
          <a:solidFill>
            <a:srgbClr val="FFFFFF"/>
          </a:solidFill>
          <a:ln w="19050">
            <a:solidFill>
              <a:srgbClr val="C9D2E3"/>
            </a:solidFill>
            <a:prstDash val="solid"/>
          </a:ln>
        </p:spPr>
      </p:sp>
      <p:sp>
        <p:nvSpPr>
          <p:cNvPr id="68" name="!!mt4">
            <a:hlinkClick r:id="rId12"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2"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69"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70" name="!!mt5">
            <a:hlinkClick r:id="rId13"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3"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71"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72" name="!!mt6">
            <a:hlinkClick r:id="rId14"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4"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73"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TRAVAUX EFFECTUÉS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53" presetClass="entr" presetSubtype="16" fill="hold" grpId="0" nodeType="withEffect">
                                  <p:stCondLst>
                                    <p:cond delay="250"/>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p:tgtEl>
                                          <p:spTgt spid="8"/>
                                        </p:tgtEl>
                                        <p:attrNameLst>
                                          <p:attrName>ppt_w</p:attrName>
                                        </p:attrNameLst>
                                      </p:cBhvr>
                                      <p:tavLst>
                                        <p:tav tm="0">
                                          <p:val>
                                            <p:fltVal val="0"/>
                                          </p:val>
                                        </p:tav>
                                        <p:tav tm="100000">
                                          <p:val>
                                            <p:strVal val="#ppt_w"/>
                                          </p:val>
                                        </p:tav>
                                      </p:tavLst>
                                    </p:anim>
                                    <p:anim calcmode="lin" valueType="num">
                                      <p:cBhvr>
                                        <p:cTn id="17" dur="600" fill="hold"/>
                                        <p:tgtEl>
                                          <p:spTgt spid="8"/>
                                        </p:tgtEl>
                                        <p:attrNameLst>
                                          <p:attrName>ppt_h</p:attrName>
                                        </p:attrNameLst>
                                      </p:cBhvr>
                                      <p:tavLst>
                                        <p:tav tm="0">
                                          <p:val>
                                            <p:fltVal val="0"/>
                                          </p:val>
                                        </p:tav>
                                        <p:tav tm="100000">
                                          <p:val>
                                            <p:strVal val="#ppt_h"/>
                                          </p:val>
                                        </p:tav>
                                      </p:tavLst>
                                    </p:anim>
                                    <p:animEffect transition="in" filter="fade">
                                      <p:cBhvr>
                                        <p:cTn id="18" dur="600"/>
                                        <p:tgtEl>
                                          <p:spTgt spid="8"/>
                                        </p:tgtEl>
                                      </p:cBhvr>
                                    </p:animEffect>
                                  </p:childTnLst>
                                </p:cTn>
                              </p:par>
                              <p:par>
                                <p:cTn id="19" presetID="53" presetClass="entr" presetSubtype="16" fill="hold" grpId="0" nodeType="withEffect">
                                  <p:stCondLst>
                                    <p:cond delay="250"/>
                                  </p:stCondLst>
                                  <p:childTnLst>
                                    <p:set>
                                      <p:cBhvr>
                                        <p:cTn id="20" dur="1" fill="hold">
                                          <p:stCondLst>
                                            <p:cond delay="0"/>
                                          </p:stCondLst>
                                        </p:cTn>
                                        <p:tgtEl>
                                          <p:spTgt spid="9"/>
                                        </p:tgtEl>
                                        <p:attrNameLst>
                                          <p:attrName>style.visibility</p:attrName>
                                        </p:attrNameLst>
                                      </p:cBhvr>
                                      <p:to>
                                        <p:strVal val="visible"/>
                                      </p:to>
                                    </p:set>
                                    <p:anim calcmode="lin" valueType="num">
                                      <p:cBhvr>
                                        <p:cTn id="21" dur="600" fill="hold"/>
                                        <p:tgtEl>
                                          <p:spTgt spid="9"/>
                                        </p:tgtEl>
                                        <p:attrNameLst>
                                          <p:attrName>ppt_w</p:attrName>
                                        </p:attrNameLst>
                                      </p:cBhvr>
                                      <p:tavLst>
                                        <p:tav tm="0">
                                          <p:val>
                                            <p:fltVal val="0"/>
                                          </p:val>
                                        </p:tav>
                                        <p:tav tm="100000">
                                          <p:val>
                                            <p:strVal val="#ppt_w"/>
                                          </p:val>
                                        </p:tav>
                                      </p:tavLst>
                                    </p:anim>
                                    <p:anim calcmode="lin" valueType="num">
                                      <p:cBhvr>
                                        <p:cTn id="22" dur="600" fill="hold"/>
                                        <p:tgtEl>
                                          <p:spTgt spid="9"/>
                                        </p:tgtEl>
                                        <p:attrNameLst>
                                          <p:attrName>ppt_h</p:attrName>
                                        </p:attrNameLst>
                                      </p:cBhvr>
                                      <p:tavLst>
                                        <p:tav tm="0">
                                          <p:val>
                                            <p:fltVal val="0"/>
                                          </p:val>
                                        </p:tav>
                                        <p:tav tm="100000">
                                          <p:val>
                                            <p:strVal val="#ppt_h"/>
                                          </p:val>
                                        </p:tav>
                                      </p:tavLst>
                                    </p:anim>
                                    <p:animEffect transition="in" filter="fade">
                                      <p:cBhvr>
                                        <p:cTn id="23" dur="600"/>
                                        <p:tgtEl>
                                          <p:spTgt spid="9"/>
                                        </p:tgtEl>
                                      </p:cBhvr>
                                    </p:animEffect>
                                  </p:childTnLst>
                                </p:cTn>
                              </p:par>
                              <p:par>
                                <p:cTn id="24" presetID="10" presetClass="entr" presetSubtype="0" fill="hold" grpId="0" nodeType="withEffect">
                                  <p:stCondLst>
                                    <p:cond delay="25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p:tgtEl>
                                          <p:spTgt spid="10"/>
                                        </p:tgtEl>
                                      </p:cBhvr>
                                    </p:animEffect>
                                  </p:childTnLst>
                                </p:cTn>
                              </p:par>
                              <p:par>
                                <p:cTn id="27" presetID="10" presetClass="entr" presetSubtype="0" fill="hold" grpId="0" nodeType="withEffect">
                                  <p:stCondLst>
                                    <p:cond delay="25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22" presetClass="entr" presetSubtype="8" fill="hold" grpId="0" nodeType="withEffect">
                                  <p:stCondLst>
                                    <p:cond delay="450"/>
                                  </p:stCondLst>
                                  <p:childTnLst>
                                    <p:set>
                                      <p:cBhvr>
                                        <p:cTn id="31" dur="1" fill="hold">
                                          <p:stCondLst>
                                            <p:cond delay="0"/>
                                          </p:stCondLst>
                                        </p:cTn>
                                        <p:tgtEl>
                                          <p:spTgt spid="12"/>
                                        </p:tgtEl>
                                        <p:attrNameLst>
                                          <p:attrName>style.visibility</p:attrName>
                                        </p:attrNameLst>
                                      </p:cBhvr>
                                      <p:to>
                                        <p:strVal val="visible"/>
                                      </p:to>
                                    </p:set>
                                    <p:animEffect transition="in" filter="wipe(left)">
                                      <p:cBhvr>
                                        <p:cTn id="32" dur="600"/>
                                        <p:tgtEl>
                                          <p:spTgt spid="12"/>
                                        </p:tgtEl>
                                      </p:cBhvr>
                                    </p:animEffect>
                                  </p:childTnLst>
                                </p:cTn>
                              </p:par>
                              <p:par>
                                <p:cTn id="33" presetID="10" presetClass="entr" presetSubtype="0" fill="hold" grpId="0" nodeType="withEffect">
                                  <p:stCondLst>
                                    <p:cond delay="58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600"/>
                                        <p:tgtEl>
                                          <p:spTgt spid="13"/>
                                        </p:tgtEl>
                                      </p:cBhvr>
                                    </p:animEffect>
                                  </p:childTnLst>
                                </p:cTn>
                              </p:par>
                              <p:par>
                                <p:cTn id="36" presetID="53" presetClass="entr" presetSubtype="16" fill="hold" grpId="0" nodeType="withEffect">
                                  <p:stCondLst>
                                    <p:cond delay="580"/>
                                  </p:stCondLst>
                                  <p:childTnLst>
                                    <p:set>
                                      <p:cBhvr>
                                        <p:cTn id="37" dur="1" fill="hold">
                                          <p:stCondLst>
                                            <p:cond delay="0"/>
                                          </p:stCondLst>
                                        </p:cTn>
                                        <p:tgtEl>
                                          <p:spTgt spid="14"/>
                                        </p:tgtEl>
                                        <p:attrNameLst>
                                          <p:attrName>style.visibility</p:attrName>
                                        </p:attrNameLst>
                                      </p:cBhvr>
                                      <p:to>
                                        <p:strVal val="visible"/>
                                      </p:to>
                                    </p:set>
                                    <p:anim calcmode="lin" valueType="num">
                                      <p:cBhvr>
                                        <p:cTn id="38" dur="600" fill="hold"/>
                                        <p:tgtEl>
                                          <p:spTgt spid="14"/>
                                        </p:tgtEl>
                                        <p:attrNameLst>
                                          <p:attrName>ppt_w</p:attrName>
                                        </p:attrNameLst>
                                      </p:cBhvr>
                                      <p:tavLst>
                                        <p:tav tm="0">
                                          <p:val>
                                            <p:fltVal val="0"/>
                                          </p:val>
                                        </p:tav>
                                        <p:tav tm="100000">
                                          <p:val>
                                            <p:strVal val="#ppt_w"/>
                                          </p:val>
                                        </p:tav>
                                      </p:tavLst>
                                    </p:anim>
                                    <p:anim calcmode="lin" valueType="num">
                                      <p:cBhvr>
                                        <p:cTn id="39" dur="600" fill="hold"/>
                                        <p:tgtEl>
                                          <p:spTgt spid="14"/>
                                        </p:tgtEl>
                                        <p:attrNameLst>
                                          <p:attrName>ppt_h</p:attrName>
                                        </p:attrNameLst>
                                      </p:cBhvr>
                                      <p:tavLst>
                                        <p:tav tm="0">
                                          <p:val>
                                            <p:fltVal val="0"/>
                                          </p:val>
                                        </p:tav>
                                        <p:tav tm="100000">
                                          <p:val>
                                            <p:strVal val="#ppt_h"/>
                                          </p:val>
                                        </p:tav>
                                      </p:tavLst>
                                    </p:anim>
                                    <p:animEffect transition="in" filter="fade">
                                      <p:cBhvr>
                                        <p:cTn id="40" dur="600"/>
                                        <p:tgtEl>
                                          <p:spTgt spid="14"/>
                                        </p:tgtEl>
                                      </p:cBhvr>
                                    </p:animEffect>
                                  </p:childTnLst>
                                </p:cTn>
                              </p:par>
                              <p:par>
                                <p:cTn id="41" presetID="53" presetClass="entr" presetSubtype="16" fill="hold" grpId="0" nodeType="withEffect">
                                  <p:stCondLst>
                                    <p:cond delay="580"/>
                                  </p:stCondLst>
                                  <p:childTnLst>
                                    <p:set>
                                      <p:cBhvr>
                                        <p:cTn id="42" dur="1" fill="hold">
                                          <p:stCondLst>
                                            <p:cond delay="0"/>
                                          </p:stCondLst>
                                        </p:cTn>
                                        <p:tgtEl>
                                          <p:spTgt spid="15"/>
                                        </p:tgtEl>
                                        <p:attrNameLst>
                                          <p:attrName>style.visibility</p:attrName>
                                        </p:attrNameLst>
                                      </p:cBhvr>
                                      <p:to>
                                        <p:strVal val="visible"/>
                                      </p:to>
                                    </p:set>
                                    <p:anim calcmode="lin" valueType="num">
                                      <p:cBhvr>
                                        <p:cTn id="43" dur="600" fill="hold"/>
                                        <p:tgtEl>
                                          <p:spTgt spid="15"/>
                                        </p:tgtEl>
                                        <p:attrNameLst>
                                          <p:attrName>ppt_w</p:attrName>
                                        </p:attrNameLst>
                                      </p:cBhvr>
                                      <p:tavLst>
                                        <p:tav tm="0">
                                          <p:val>
                                            <p:fltVal val="0"/>
                                          </p:val>
                                        </p:tav>
                                        <p:tav tm="100000">
                                          <p:val>
                                            <p:strVal val="#ppt_w"/>
                                          </p:val>
                                        </p:tav>
                                      </p:tavLst>
                                    </p:anim>
                                    <p:anim calcmode="lin" valueType="num">
                                      <p:cBhvr>
                                        <p:cTn id="44" dur="600" fill="hold"/>
                                        <p:tgtEl>
                                          <p:spTgt spid="15"/>
                                        </p:tgtEl>
                                        <p:attrNameLst>
                                          <p:attrName>ppt_h</p:attrName>
                                        </p:attrNameLst>
                                      </p:cBhvr>
                                      <p:tavLst>
                                        <p:tav tm="0">
                                          <p:val>
                                            <p:fltVal val="0"/>
                                          </p:val>
                                        </p:tav>
                                        <p:tav tm="100000">
                                          <p:val>
                                            <p:strVal val="#ppt_h"/>
                                          </p:val>
                                        </p:tav>
                                      </p:tavLst>
                                    </p:anim>
                                    <p:animEffect transition="in" filter="fade">
                                      <p:cBhvr>
                                        <p:cTn id="45" dur="600"/>
                                        <p:tgtEl>
                                          <p:spTgt spid="15"/>
                                        </p:tgtEl>
                                      </p:cBhvr>
                                    </p:animEffect>
                                  </p:childTnLst>
                                </p:cTn>
                              </p:par>
                              <p:par>
                                <p:cTn id="46" presetID="10" presetClass="entr" presetSubtype="0" fill="hold" grpId="0" nodeType="withEffect">
                                  <p:stCondLst>
                                    <p:cond delay="58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600"/>
                                        <p:tgtEl>
                                          <p:spTgt spid="16"/>
                                        </p:tgtEl>
                                      </p:cBhvr>
                                    </p:animEffect>
                                  </p:childTnLst>
                                </p:cTn>
                              </p:par>
                              <p:par>
                                <p:cTn id="49" presetID="10" presetClass="entr" presetSubtype="0" fill="hold" grpId="0" nodeType="withEffect">
                                  <p:stCondLst>
                                    <p:cond delay="58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600"/>
                                        <p:tgtEl>
                                          <p:spTgt spid="17"/>
                                        </p:tgtEl>
                                      </p:cBhvr>
                                    </p:animEffect>
                                  </p:childTnLst>
                                </p:cTn>
                              </p:par>
                              <p:par>
                                <p:cTn id="52" presetID="22" presetClass="entr" presetSubtype="8" fill="hold" grpId="0" nodeType="withEffect">
                                  <p:stCondLst>
                                    <p:cond delay="780"/>
                                  </p:stCondLst>
                                  <p:childTnLst>
                                    <p:set>
                                      <p:cBhvr>
                                        <p:cTn id="53" dur="1" fill="hold">
                                          <p:stCondLst>
                                            <p:cond delay="0"/>
                                          </p:stCondLst>
                                        </p:cTn>
                                        <p:tgtEl>
                                          <p:spTgt spid="18"/>
                                        </p:tgtEl>
                                        <p:attrNameLst>
                                          <p:attrName>style.visibility</p:attrName>
                                        </p:attrNameLst>
                                      </p:cBhvr>
                                      <p:to>
                                        <p:strVal val="visible"/>
                                      </p:to>
                                    </p:set>
                                    <p:animEffect transition="in" filter="wipe(left)">
                                      <p:cBhvr>
                                        <p:cTn id="54" dur="600"/>
                                        <p:tgtEl>
                                          <p:spTgt spid="18"/>
                                        </p:tgtEl>
                                      </p:cBhvr>
                                    </p:animEffect>
                                  </p:childTnLst>
                                </p:cTn>
                              </p:par>
                              <p:par>
                                <p:cTn id="55" presetID="10" presetClass="entr" presetSubtype="0" fill="hold" grpId="0" nodeType="withEffect">
                                  <p:stCondLst>
                                    <p:cond delay="91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600"/>
                                        <p:tgtEl>
                                          <p:spTgt spid="19"/>
                                        </p:tgtEl>
                                      </p:cBhvr>
                                    </p:animEffect>
                                  </p:childTnLst>
                                </p:cTn>
                              </p:par>
                              <p:par>
                                <p:cTn id="58" presetID="53" presetClass="entr" presetSubtype="16" fill="hold" grpId="0" nodeType="withEffect">
                                  <p:stCondLst>
                                    <p:cond delay="910"/>
                                  </p:stCondLst>
                                  <p:childTnLst>
                                    <p:set>
                                      <p:cBhvr>
                                        <p:cTn id="59" dur="1" fill="hold">
                                          <p:stCondLst>
                                            <p:cond delay="0"/>
                                          </p:stCondLst>
                                        </p:cTn>
                                        <p:tgtEl>
                                          <p:spTgt spid="20"/>
                                        </p:tgtEl>
                                        <p:attrNameLst>
                                          <p:attrName>style.visibility</p:attrName>
                                        </p:attrNameLst>
                                      </p:cBhvr>
                                      <p:to>
                                        <p:strVal val="visible"/>
                                      </p:to>
                                    </p:set>
                                    <p:anim calcmode="lin" valueType="num">
                                      <p:cBhvr>
                                        <p:cTn id="60" dur="600" fill="hold"/>
                                        <p:tgtEl>
                                          <p:spTgt spid="20"/>
                                        </p:tgtEl>
                                        <p:attrNameLst>
                                          <p:attrName>ppt_w</p:attrName>
                                        </p:attrNameLst>
                                      </p:cBhvr>
                                      <p:tavLst>
                                        <p:tav tm="0">
                                          <p:val>
                                            <p:fltVal val="0"/>
                                          </p:val>
                                        </p:tav>
                                        <p:tav tm="100000">
                                          <p:val>
                                            <p:strVal val="#ppt_w"/>
                                          </p:val>
                                        </p:tav>
                                      </p:tavLst>
                                    </p:anim>
                                    <p:anim calcmode="lin" valueType="num">
                                      <p:cBhvr>
                                        <p:cTn id="61" dur="600" fill="hold"/>
                                        <p:tgtEl>
                                          <p:spTgt spid="20"/>
                                        </p:tgtEl>
                                        <p:attrNameLst>
                                          <p:attrName>ppt_h</p:attrName>
                                        </p:attrNameLst>
                                      </p:cBhvr>
                                      <p:tavLst>
                                        <p:tav tm="0">
                                          <p:val>
                                            <p:fltVal val="0"/>
                                          </p:val>
                                        </p:tav>
                                        <p:tav tm="100000">
                                          <p:val>
                                            <p:strVal val="#ppt_h"/>
                                          </p:val>
                                        </p:tav>
                                      </p:tavLst>
                                    </p:anim>
                                    <p:animEffect transition="in" filter="fade">
                                      <p:cBhvr>
                                        <p:cTn id="62" dur="600"/>
                                        <p:tgtEl>
                                          <p:spTgt spid="20"/>
                                        </p:tgtEl>
                                      </p:cBhvr>
                                    </p:animEffect>
                                  </p:childTnLst>
                                </p:cTn>
                              </p:par>
                              <p:par>
                                <p:cTn id="63" presetID="53" presetClass="entr" presetSubtype="16" fill="hold" grpId="0" nodeType="withEffect">
                                  <p:stCondLst>
                                    <p:cond delay="910"/>
                                  </p:stCondLst>
                                  <p:childTnLst>
                                    <p:set>
                                      <p:cBhvr>
                                        <p:cTn id="64" dur="1" fill="hold">
                                          <p:stCondLst>
                                            <p:cond delay="0"/>
                                          </p:stCondLst>
                                        </p:cTn>
                                        <p:tgtEl>
                                          <p:spTgt spid="21"/>
                                        </p:tgtEl>
                                        <p:attrNameLst>
                                          <p:attrName>style.visibility</p:attrName>
                                        </p:attrNameLst>
                                      </p:cBhvr>
                                      <p:to>
                                        <p:strVal val="visible"/>
                                      </p:to>
                                    </p:set>
                                    <p:anim calcmode="lin" valueType="num">
                                      <p:cBhvr>
                                        <p:cTn id="65" dur="600" fill="hold"/>
                                        <p:tgtEl>
                                          <p:spTgt spid="21"/>
                                        </p:tgtEl>
                                        <p:attrNameLst>
                                          <p:attrName>ppt_w</p:attrName>
                                        </p:attrNameLst>
                                      </p:cBhvr>
                                      <p:tavLst>
                                        <p:tav tm="0">
                                          <p:val>
                                            <p:fltVal val="0"/>
                                          </p:val>
                                        </p:tav>
                                        <p:tav tm="100000">
                                          <p:val>
                                            <p:strVal val="#ppt_w"/>
                                          </p:val>
                                        </p:tav>
                                      </p:tavLst>
                                    </p:anim>
                                    <p:anim calcmode="lin" valueType="num">
                                      <p:cBhvr>
                                        <p:cTn id="66" dur="600" fill="hold"/>
                                        <p:tgtEl>
                                          <p:spTgt spid="21"/>
                                        </p:tgtEl>
                                        <p:attrNameLst>
                                          <p:attrName>ppt_h</p:attrName>
                                        </p:attrNameLst>
                                      </p:cBhvr>
                                      <p:tavLst>
                                        <p:tav tm="0">
                                          <p:val>
                                            <p:fltVal val="0"/>
                                          </p:val>
                                        </p:tav>
                                        <p:tav tm="100000">
                                          <p:val>
                                            <p:strVal val="#ppt_h"/>
                                          </p:val>
                                        </p:tav>
                                      </p:tavLst>
                                    </p:anim>
                                    <p:animEffect transition="in" filter="fade">
                                      <p:cBhvr>
                                        <p:cTn id="67" dur="600"/>
                                        <p:tgtEl>
                                          <p:spTgt spid="21"/>
                                        </p:tgtEl>
                                      </p:cBhvr>
                                    </p:animEffect>
                                  </p:childTnLst>
                                </p:cTn>
                              </p:par>
                              <p:par>
                                <p:cTn id="68" presetID="10" presetClass="entr" presetSubtype="0" fill="hold" grpId="0" nodeType="withEffect">
                                  <p:stCondLst>
                                    <p:cond delay="9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childTnLst>
                                </p:cTn>
                              </p:par>
                              <p:par>
                                <p:cTn id="71" presetID="10" presetClass="entr" presetSubtype="0" fill="hold" grpId="0" nodeType="withEffect">
                                  <p:stCondLst>
                                    <p:cond delay="91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600"/>
                                        <p:tgtEl>
                                          <p:spTgt spid="23"/>
                                        </p:tgtEl>
                                      </p:cBhvr>
                                    </p:animEffect>
                                  </p:childTnLst>
                                </p:cTn>
                              </p:par>
                              <p:par>
                                <p:cTn id="74" presetID="22" presetClass="entr" presetSubtype="8" fill="hold" grpId="0" nodeType="withEffect">
                                  <p:stCondLst>
                                    <p:cond delay="1110"/>
                                  </p:stCondLst>
                                  <p:childTnLst>
                                    <p:set>
                                      <p:cBhvr>
                                        <p:cTn id="75" dur="1" fill="hold">
                                          <p:stCondLst>
                                            <p:cond delay="0"/>
                                          </p:stCondLst>
                                        </p:cTn>
                                        <p:tgtEl>
                                          <p:spTgt spid="24"/>
                                        </p:tgtEl>
                                        <p:attrNameLst>
                                          <p:attrName>style.visibility</p:attrName>
                                        </p:attrNameLst>
                                      </p:cBhvr>
                                      <p:to>
                                        <p:strVal val="visible"/>
                                      </p:to>
                                    </p:set>
                                    <p:animEffect transition="in" filter="wipe(left)">
                                      <p:cBhvr>
                                        <p:cTn id="76" dur="600"/>
                                        <p:tgtEl>
                                          <p:spTgt spid="24"/>
                                        </p:tgtEl>
                                      </p:cBhvr>
                                    </p:animEffect>
                                  </p:childTnLst>
                                </p:cTn>
                              </p:par>
                              <p:par>
                                <p:cTn id="77" presetID="10" presetClass="entr" presetSubtype="0" fill="hold" grpId="0" nodeType="withEffect">
                                  <p:stCondLst>
                                    <p:cond delay="124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600"/>
                                        <p:tgtEl>
                                          <p:spTgt spid="25"/>
                                        </p:tgtEl>
                                      </p:cBhvr>
                                    </p:animEffect>
                                  </p:childTnLst>
                                </p:cTn>
                              </p:par>
                              <p:par>
                                <p:cTn id="80" presetID="53" presetClass="entr" presetSubtype="16" fill="hold" grpId="0" nodeType="withEffect">
                                  <p:stCondLst>
                                    <p:cond delay="1240"/>
                                  </p:stCondLst>
                                  <p:childTnLst>
                                    <p:set>
                                      <p:cBhvr>
                                        <p:cTn id="81" dur="1" fill="hold">
                                          <p:stCondLst>
                                            <p:cond delay="0"/>
                                          </p:stCondLst>
                                        </p:cTn>
                                        <p:tgtEl>
                                          <p:spTgt spid="26"/>
                                        </p:tgtEl>
                                        <p:attrNameLst>
                                          <p:attrName>style.visibility</p:attrName>
                                        </p:attrNameLst>
                                      </p:cBhvr>
                                      <p:to>
                                        <p:strVal val="visible"/>
                                      </p:to>
                                    </p:set>
                                    <p:anim calcmode="lin" valueType="num">
                                      <p:cBhvr>
                                        <p:cTn id="82" dur="600" fill="hold"/>
                                        <p:tgtEl>
                                          <p:spTgt spid="26"/>
                                        </p:tgtEl>
                                        <p:attrNameLst>
                                          <p:attrName>ppt_w</p:attrName>
                                        </p:attrNameLst>
                                      </p:cBhvr>
                                      <p:tavLst>
                                        <p:tav tm="0">
                                          <p:val>
                                            <p:fltVal val="0"/>
                                          </p:val>
                                        </p:tav>
                                        <p:tav tm="100000">
                                          <p:val>
                                            <p:strVal val="#ppt_w"/>
                                          </p:val>
                                        </p:tav>
                                      </p:tavLst>
                                    </p:anim>
                                    <p:anim calcmode="lin" valueType="num">
                                      <p:cBhvr>
                                        <p:cTn id="83" dur="600" fill="hold"/>
                                        <p:tgtEl>
                                          <p:spTgt spid="26"/>
                                        </p:tgtEl>
                                        <p:attrNameLst>
                                          <p:attrName>ppt_h</p:attrName>
                                        </p:attrNameLst>
                                      </p:cBhvr>
                                      <p:tavLst>
                                        <p:tav tm="0">
                                          <p:val>
                                            <p:fltVal val="0"/>
                                          </p:val>
                                        </p:tav>
                                        <p:tav tm="100000">
                                          <p:val>
                                            <p:strVal val="#ppt_h"/>
                                          </p:val>
                                        </p:tav>
                                      </p:tavLst>
                                    </p:anim>
                                    <p:animEffect transition="in" filter="fade">
                                      <p:cBhvr>
                                        <p:cTn id="84" dur="600"/>
                                        <p:tgtEl>
                                          <p:spTgt spid="26"/>
                                        </p:tgtEl>
                                      </p:cBhvr>
                                    </p:animEffect>
                                  </p:childTnLst>
                                </p:cTn>
                              </p:par>
                              <p:par>
                                <p:cTn id="85" presetID="53" presetClass="entr" presetSubtype="16" fill="hold" grpId="0" nodeType="withEffect">
                                  <p:stCondLst>
                                    <p:cond delay="1240"/>
                                  </p:stCondLst>
                                  <p:childTnLst>
                                    <p:set>
                                      <p:cBhvr>
                                        <p:cTn id="86" dur="1" fill="hold">
                                          <p:stCondLst>
                                            <p:cond delay="0"/>
                                          </p:stCondLst>
                                        </p:cTn>
                                        <p:tgtEl>
                                          <p:spTgt spid="27"/>
                                        </p:tgtEl>
                                        <p:attrNameLst>
                                          <p:attrName>style.visibility</p:attrName>
                                        </p:attrNameLst>
                                      </p:cBhvr>
                                      <p:to>
                                        <p:strVal val="visible"/>
                                      </p:to>
                                    </p:set>
                                    <p:anim calcmode="lin" valueType="num">
                                      <p:cBhvr>
                                        <p:cTn id="87" dur="600" fill="hold"/>
                                        <p:tgtEl>
                                          <p:spTgt spid="27"/>
                                        </p:tgtEl>
                                        <p:attrNameLst>
                                          <p:attrName>ppt_w</p:attrName>
                                        </p:attrNameLst>
                                      </p:cBhvr>
                                      <p:tavLst>
                                        <p:tav tm="0">
                                          <p:val>
                                            <p:fltVal val="0"/>
                                          </p:val>
                                        </p:tav>
                                        <p:tav tm="100000">
                                          <p:val>
                                            <p:strVal val="#ppt_w"/>
                                          </p:val>
                                        </p:tav>
                                      </p:tavLst>
                                    </p:anim>
                                    <p:anim calcmode="lin" valueType="num">
                                      <p:cBhvr>
                                        <p:cTn id="88" dur="600" fill="hold"/>
                                        <p:tgtEl>
                                          <p:spTgt spid="27"/>
                                        </p:tgtEl>
                                        <p:attrNameLst>
                                          <p:attrName>ppt_h</p:attrName>
                                        </p:attrNameLst>
                                      </p:cBhvr>
                                      <p:tavLst>
                                        <p:tav tm="0">
                                          <p:val>
                                            <p:fltVal val="0"/>
                                          </p:val>
                                        </p:tav>
                                        <p:tav tm="100000">
                                          <p:val>
                                            <p:strVal val="#ppt_h"/>
                                          </p:val>
                                        </p:tav>
                                      </p:tavLst>
                                    </p:anim>
                                    <p:animEffect transition="in" filter="fade">
                                      <p:cBhvr>
                                        <p:cTn id="89" dur="600"/>
                                        <p:tgtEl>
                                          <p:spTgt spid="27"/>
                                        </p:tgtEl>
                                      </p:cBhvr>
                                    </p:animEffect>
                                  </p:childTnLst>
                                </p:cTn>
                              </p:par>
                              <p:par>
                                <p:cTn id="90" presetID="10" presetClass="entr" presetSubtype="0" fill="hold" grpId="0" nodeType="withEffect">
                                  <p:stCondLst>
                                    <p:cond delay="124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600"/>
                                        <p:tgtEl>
                                          <p:spTgt spid="28"/>
                                        </p:tgtEl>
                                      </p:cBhvr>
                                    </p:animEffect>
                                  </p:childTnLst>
                                </p:cTn>
                              </p:par>
                              <p:par>
                                <p:cTn id="93" presetID="10" presetClass="entr" presetSubtype="0" fill="hold" grpId="0" nodeType="withEffect">
                                  <p:stCondLst>
                                    <p:cond delay="124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600"/>
                                        <p:tgtEl>
                                          <p:spTgt spid="29"/>
                                        </p:tgtEl>
                                      </p:cBhvr>
                                    </p:animEffect>
                                  </p:childTnLst>
                                </p:cTn>
                              </p:par>
                              <p:par>
                                <p:cTn id="96" presetID="22" presetClass="entr" presetSubtype="8" fill="hold" grpId="0" nodeType="withEffect">
                                  <p:stCondLst>
                                    <p:cond delay="1440"/>
                                  </p:stCondLst>
                                  <p:childTnLst>
                                    <p:set>
                                      <p:cBhvr>
                                        <p:cTn id="97" dur="1" fill="hold">
                                          <p:stCondLst>
                                            <p:cond delay="0"/>
                                          </p:stCondLst>
                                        </p:cTn>
                                        <p:tgtEl>
                                          <p:spTgt spid="53"/>
                                        </p:tgtEl>
                                        <p:attrNameLst>
                                          <p:attrName>style.visibility</p:attrName>
                                        </p:attrNameLst>
                                      </p:cBhvr>
                                      <p:to>
                                        <p:strVal val="visible"/>
                                      </p:to>
                                    </p:set>
                                    <p:animEffect transition="in" filter="wipe(left)">
                                      <p:cBhvr>
                                        <p:cTn id="98" dur="600"/>
                                        <p:tgtEl>
                                          <p:spTgt spid="53"/>
                                        </p:tgtEl>
                                      </p:cBhvr>
                                    </p:animEffect>
                                  </p:childTnLst>
                                </p:cTn>
                              </p:par>
                              <p:par>
                                <p:cTn id="99" presetID="10" presetClass="entr" presetSubtype="0" fill="hold" grpId="0" nodeType="withEffect">
                                  <p:stCondLst>
                                    <p:cond delay="1570"/>
                                  </p:stCondLst>
                                  <p:childTnLst>
                                    <p:set>
                                      <p:cBhvr>
                                        <p:cTn id="100" dur="1" fill="hold">
                                          <p:stCondLst>
                                            <p:cond delay="0"/>
                                          </p:stCondLst>
                                        </p:cTn>
                                        <p:tgtEl>
                                          <p:spTgt spid="30"/>
                                        </p:tgtEl>
                                        <p:attrNameLst>
                                          <p:attrName>style.visibility</p:attrName>
                                        </p:attrNameLst>
                                      </p:cBhvr>
                                      <p:to>
                                        <p:strVal val="visible"/>
                                      </p:to>
                                    </p:set>
                                    <p:animEffect transition="in" filter="fade">
                                      <p:cBhvr>
                                        <p:cTn id="101" dur="600"/>
                                        <p:tgtEl>
                                          <p:spTgt spid="30"/>
                                        </p:tgtEl>
                                      </p:cBhvr>
                                    </p:animEffect>
                                  </p:childTnLst>
                                </p:cTn>
                              </p:par>
                              <p:par>
                                <p:cTn id="102" presetID="53" presetClass="entr" presetSubtype="16" fill="hold" grpId="0" nodeType="withEffect">
                                  <p:stCondLst>
                                    <p:cond delay="1570"/>
                                  </p:stCondLst>
                                  <p:childTnLst>
                                    <p:set>
                                      <p:cBhvr>
                                        <p:cTn id="103" dur="1" fill="hold">
                                          <p:stCondLst>
                                            <p:cond delay="0"/>
                                          </p:stCondLst>
                                        </p:cTn>
                                        <p:tgtEl>
                                          <p:spTgt spid="31"/>
                                        </p:tgtEl>
                                        <p:attrNameLst>
                                          <p:attrName>style.visibility</p:attrName>
                                        </p:attrNameLst>
                                      </p:cBhvr>
                                      <p:to>
                                        <p:strVal val="visible"/>
                                      </p:to>
                                    </p:set>
                                    <p:anim calcmode="lin" valueType="num">
                                      <p:cBhvr>
                                        <p:cTn id="104" dur="600" fill="hold"/>
                                        <p:tgtEl>
                                          <p:spTgt spid="31"/>
                                        </p:tgtEl>
                                        <p:attrNameLst>
                                          <p:attrName>ppt_w</p:attrName>
                                        </p:attrNameLst>
                                      </p:cBhvr>
                                      <p:tavLst>
                                        <p:tav tm="0">
                                          <p:val>
                                            <p:fltVal val="0"/>
                                          </p:val>
                                        </p:tav>
                                        <p:tav tm="100000">
                                          <p:val>
                                            <p:strVal val="#ppt_w"/>
                                          </p:val>
                                        </p:tav>
                                      </p:tavLst>
                                    </p:anim>
                                    <p:anim calcmode="lin" valueType="num">
                                      <p:cBhvr>
                                        <p:cTn id="105" dur="600" fill="hold"/>
                                        <p:tgtEl>
                                          <p:spTgt spid="31"/>
                                        </p:tgtEl>
                                        <p:attrNameLst>
                                          <p:attrName>ppt_h</p:attrName>
                                        </p:attrNameLst>
                                      </p:cBhvr>
                                      <p:tavLst>
                                        <p:tav tm="0">
                                          <p:val>
                                            <p:fltVal val="0"/>
                                          </p:val>
                                        </p:tav>
                                        <p:tav tm="100000">
                                          <p:val>
                                            <p:strVal val="#ppt_h"/>
                                          </p:val>
                                        </p:tav>
                                      </p:tavLst>
                                    </p:anim>
                                    <p:animEffect transition="in" filter="fade">
                                      <p:cBhvr>
                                        <p:cTn id="106" dur="600"/>
                                        <p:tgtEl>
                                          <p:spTgt spid="31"/>
                                        </p:tgtEl>
                                      </p:cBhvr>
                                    </p:animEffect>
                                  </p:childTnLst>
                                </p:cTn>
                              </p:par>
                              <p:par>
                                <p:cTn id="107" presetID="53" presetClass="entr" presetSubtype="16" fill="hold" grpId="0" nodeType="withEffect">
                                  <p:stCondLst>
                                    <p:cond delay="1570"/>
                                  </p:stCondLst>
                                  <p:childTnLst>
                                    <p:set>
                                      <p:cBhvr>
                                        <p:cTn id="108" dur="1" fill="hold">
                                          <p:stCondLst>
                                            <p:cond delay="0"/>
                                          </p:stCondLst>
                                        </p:cTn>
                                        <p:tgtEl>
                                          <p:spTgt spid="32"/>
                                        </p:tgtEl>
                                        <p:attrNameLst>
                                          <p:attrName>style.visibility</p:attrName>
                                        </p:attrNameLst>
                                      </p:cBhvr>
                                      <p:to>
                                        <p:strVal val="visible"/>
                                      </p:to>
                                    </p:set>
                                    <p:anim calcmode="lin" valueType="num">
                                      <p:cBhvr>
                                        <p:cTn id="109" dur="600" fill="hold"/>
                                        <p:tgtEl>
                                          <p:spTgt spid="32"/>
                                        </p:tgtEl>
                                        <p:attrNameLst>
                                          <p:attrName>ppt_w</p:attrName>
                                        </p:attrNameLst>
                                      </p:cBhvr>
                                      <p:tavLst>
                                        <p:tav tm="0">
                                          <p:val>
                                            <p:fltVal val="0"/>
                                          </p:val>
                                        </p:tav>
                                        <p:tav tm="100000">
                                          <p:val>
                                            <p:strVal val="#ppt_w"/>
                                          </p:val>
                                        </p:tav>
                                      </p:tavLst>
                                    </p:anim>
                                    <p:anim calcmode="lin" valueType="num">
                                      <p:cBhvr>
                                        <p:cTn id="110" dur="600" fill="hold"/>
                                        <p:tgtEl>
                                          <p:spTgt spid="32"/>
                                        </p:tgtEl>
                                        <p:attrNameLst>
                                          <p:attrName>ppt_h</p:attrName>
                                        </p:attrNameLst>
                                      </p:cBhvr>
                                      <p:tavLst>
                                        <p:tav tm="0">
                                          <p:val>
                                            <p:fltVal val="0"/>
                                          </p:val>
                                        </p:tav>
                                        <p:tav tm="100000">
                                          <p:val>
                                            <p:strVal val="#ppt_h"/>
                                          </p:val>
                                        </p:tav>
                                      </p:tavLst>
                                    </p:anim>
                                    <p:animEffect transition="in" filter="fade">
                                      <p:cBhvr>
                                        <p:cTn id="111" dur="600"/>
                                        <p:tgtEl>
                                          <p:spTgt spid="32"/>
                                        </p:tgtEl>
                                      </p:cBhvr>
                                    </p:animEffect>
                                  </p:childTnLst>
                                </p:cTn>
                              </p:par>
                              <p:par>
                                <p:cTn id="112" presetID="10" presetClass="entr" presetSubtype="0" fill="hold" grpId="0" nodeType="withEffect">
                                  <p:stCondLst>
                                    <p:cond delay="157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4" dur="600"/>
                                        <p:tgtEl>
                                          <p:spTgt spid="33"/>
                                        </p:tgtEl>
                                      </p:cBhvr>
                                    </p:animEffect>
                                  </p:childTnLst>
                                </p:cTn>
                              </p:par>
                              <p:par>
                                <p:cTn id="115" presetID="10" presetClass="entr" presetSubtype="0" fill="hold" grpId="0" nodeType="withEffect">
                                  <p:stCondLst>
                                    <p:cond delay="1570"/>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600"/>
                                        <p:tgtEl>
                                          <p:spTgt spid="34"/>
                                        </p:tgtEl>
                                      </p:cBhvr>
                                    </p:animEffect>
                                  </p:childTnLst>
                                </p:cTn>
                              </p:par>
                              <p:par>
                                <p:cTn id="118" presetID="22" presetClass="entr" presetSubtype="8" fill="hold" grpId="0" nodeType="withEffect">
                                  <p:stCondLst>
                                    <p:cond delay="1770"/>
                                  </p:stCondLst>
                                  <p:childTnLst>
                                    <p:set>
                                      <p:cBhvr>
                                        <p:cTn id="119" dur="1" fill="hold">
                                          <p:stCondLst>
                                            <p:cond delay="0"/>
                                          </p:stCondLst>
                                        </p:cTn>
                                        <p:tgtEl>
                                          <p:spTgt spid="35"/>
                                        </p:tgtEl>
                                        <p:attrNameLst>
                                          <p:attrName>style.visibility</p:attrName>
                                        </p:attrNameLst>
                                      </p:cBhvr>
                                      <p:to>
                                        <p:strVal val="visible"/>
                                      </p:to>
                                    </p:set>
                                    <p:animEffect transition="in" filter="wipe(left)">
                                      <p:cBhvr>
                                        <p:cTn id="120" dur="600"/>
                                        <p:tgtEl>
                                          <p:spTgt spid="35"/>
                                        </p:tgtEl>
                                      </p:cBhvr>
                                    </p:animEffect>
                                  </p:childTnLst>
                                </p:cTn>
                              </p:par>
                              <p:par>
                                <p:cTn id="121" presetID="10" presetClass="entr" presetSubtype="0" fill="hold" grpId="0" nodeType="withEffect">
                                  <p:stCondLst>
                                    <p:cond delay="190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600"/>
                                        <p:tgtEl>
                                          <p:spTgt spid="36"/>
                                        </p:tgtEl>
                                      </p:cBhvr>
                                    </p:animEffect>
                                  </p:childTnLst>
                                </p:cTn>
                              </p:par>
                              <p:par>
                                <p:cTn id="124" presetID="53" presetClass="entr" presetSubtype="16" fill="hold" grpId="0" nodeType="withEffect">
                                  <p:stCondLst>
                                    <p:cond delay="1900"/>
                                  </p:stCondLst>
                                  <p:childTnLst>
                                    <p:set>
                                      <p:cBhvr>
                                        <p:cTn id="125" dur="1" fill="hold">
                                          <p:stCondLst>
                                            <p:cond delay="0"/>
                                          </p:stCondLst>
                                        </p:cTn>
                                        <p:tgtEl>
                                          <p:spTgt spid="37"/>
                                        </p:tgtEl>
                                        <p:attrNameLst>
                                          <p:attrName>style.visibility</p:attrName>
                                        </p:attrNameLst>
                                      </p:cBhvr>
                                      <p:to>
                                        <p:strVal val="visible"/>
                                      </p:to>
                                    </p:set>
                                    <p:anim calcmode="lin" valueType="num">
                                      <p:cBhvr>
                                        <p:cTn id="126" dur="600" fill="hold"/>
                                        <p:tgtEl>
                                          <p:spTgt spid="37"/>
                                        </p:tgtEl>
                                        <p:attrNameLst>
                                          <p:attrName>ppt_w</p:attrName>
                                        </p:attrNameLst>
                                      </p:cBhvr>
                                      <p:tavLst>
                                        <p:tav tm="0">
                                          <p:val>
                                            <p:fltVal val="0"/>
                                          </p:val>
                                        </p:tav>
                                        <p:tav tm="100000">
                                          <p:val>
                                            <p:strVal val="#ppt_w"/>
                                          </p:val>
                                        </p:tav>
                                      </p:tavLst>
                                    </p:anim>
                                    <p:anim calcmode="lin" valueType="num">
                                      <p:cBhvr>
                                        <p:cTn id="127" dur="600" fill="hold"/>
                                        <p:tgtEl>
                                          <p:spTgt spid="37"/>
                                        </p:tgtEl>
                                        <p:attrNameLst>
                                          <p:attrName>ppt_h</p:attrName>
                                        </p:attrNameLst>
                                      </p:cBhvr>
                                      <p:tavLst>
                                        <p:tav tm="0">
                                          <p:val>
                                            <p:fltVal val="0"/>
                                          </p:val>
                                        </p:tav>
                                        <p:tav tm="100000">
                                          <p:val>
                                            <p:strVal val="#ppt_h"/>
                                          </p:val>
                                        </p:tav>
                                      </p:tavLst>
                                    </p:anim>
                                    <p:animEffect transition="in" filter="fade">
                                      <p:cBhvr>
                                        <p:cTn id="128" dur="600"/>
                                        <p:tgtEl>
                                          <p:spTgt spid="37"/>
                                        </p:tgtEl>
                                      </p:cBhvr>
                                    </p:animEffect>
                                  </p:childTnLst>
                                </p:cTn>
                              </p:par>
                              <p:par>
                                <p:cTn id="129" presetID="53" presetClass="entr" presetSubtype="16" fill="hold" grpId="0" nodeType="withEffect">
                                  <p:stCondLst>
                                    <p:cond delay="1900"/>
                                  </p:stCondLst>
                                  <p:childTnLst>
                                    <p:set>
                                      <p:cBhvr>
                                        <p:cTn id="130" dur="1" fill="hold">
                                          <p:stCondLst>
                                            <p:cond delay="0"/>
                                          </p:stCondLst>
                                        </p:cTn>
                                        <p:tgtEl>
                                          <p:spTgt spid="38"/>
                                        </p:tgtEl>
                                        <p:attrNameLst>
                                          <p:attrName>style.visibility</p:attrName>
                                        </p:attrNameLst>
                                      </p:cBhvr>
                                      <p:to>
                                        <p:strVal val="visible"/>
                                      </p:to>
                                    </p:set>
                                    <p:anim calcmode="lin" valueType="num">
                                      <p:cBhvr>
                                        <p:cTn id="131" dur="600" fill="hold"/>
                                        <p:tgtEl>
                                          <p:spTgt spid="38"/>
                                        </p:tgtEl>
                                        <p:attrNameLst>
                                          <p:attrName>ppt_w</p:attrName>
                                        </p:attrNameLst>
                                      </p:cBhvr>
                                      <p:tavLst>
                                        <p:tav tm="0">
                                          <p:val>
                                            <p:fltVal val="0"/>
                                          </p:val>
                                        </p:tav>
                                        <p:tav tm="100000">
                                          <p:val>
                                            <p:strVal val="#ppt_w"/>
                                          </p:val>
                                        </p:tav>
                                      </p:tavLst>
                                    </p:anim>
                                    <p:anim calcmode="lin" valueType="num">
                                      <p:cBhvr>
                                        <p:cTn id="132" dur="600" fill="hold"/>
                                        <p:tgtEl>
                                          <p:spTgt spid="38"/>
                                        </p:tgtEl>
                                        <p:attrNameLst>
                                          <p:attrName>ppt_h</p:attrName>
                                        </p:attrNameLst>
                                      </p:cBhvr>
                                      <p:tavLst>
                                        <p:tav tm="0">
                                          <p:val>
                                            <p:fltVal val="0"/>
                                          </p:val>
                                        </p:tav>
                                        <p:tav tm="100000">
                                          <p:val>
                                            <p:strVal val="#ppt_h"/>
                                          </p:val>
                                        </p:tav>
                                      </p:tavLst>
                                    </p:anim>
                                    <p:animEffect transition="in" filter="fade">
                                      <p:cBhvr>
                                        <p:cTn id="133" dur="600"/>
                                        <p:tgtEl>
                                          <p:spTgt spid="38"/>
                                        </p:tgtEl>
                                      </p:cBhvr>
                                    </p:animEffect>
                                  </p:childTnLst>
                                </p:cTn>
                              </p:par>
                              <p:par>
                                <p:cTn id="134" presetID="10" presetClass="entr" presetSubtype="0" fill="hold" grpId="0" nodeType="withEffect">
                                  <p:stCondLst>
                                    <p:cond delay="1900"/>
                                  </p:stCondLst>
                                  <p:childTnLst>
                                    <p:set>
                                      <p:cBhvr>
                                        <p:cTn id="135" dur="1" fill="hold">
                                          <p:stCondLst>
                                            <p:cond delay="0"/>
                                          </p:stCondLst>
                                        </p:cTn>
                                        <p:tgtEl>
                                          <p:spTgt spid="39"/>
                                        </p:tgtEl>
                                        <p:attrNameLst>
                                          <p:attrName>style.visibility</p:attrName>
                                        </p:attrNameLst>
                                      </p:cBhvr>
                                      <p:to>
                                        <p:strVal val="visible"/>
                                      </p:to>
                                    </p:set>
                                    <p:animEffect transition="in" filter="fade">
                                      <p:cBhvr>
                                        <p:cTn id="136" dur="600"/>
                                        <p:tgtEl>
                                          <p:spTgt spid="39"/>
                                        </p:tgtEl>
                                      </p:cBhvr>
                                    </p:animEffect>
                                  </p:childTnLst>
                                </p:cTn>
                              </p:par>
                              <p:par>
                                <p:cTn id="137" presetID="10" presetClass="entr" presetSubtype="0" fill="hold" grpId="0" nodeType="withEffect">
                                  <p:stCondLst>
                                    <p:cond delay="190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600"/>
                                        <p:tgtEl>
                                          <p:spTgt spid="40"/>
                                        </p:tgtEl>
                                      </p:cBhvr>
                                    </p:animEffect>
                                  </p:childTnLst>
                                </p:cTn>
                              </p:par>
                              <p:par>
                                <p:cTn id="140" presetID="22" presetClass="entr" presetSubtype="8" fill="hold" grpId="0" nodeType="withEffect">
                                  <p:stCondLst>
                                    <p:cond delay="2100"/>
                                  </p:stCondLst>
                                  <p:childTnLst>
                                    <p:set>
                                      <p:cBhvr>
                                        <p:cTn id="141" dur="1" fill="hold">
                                          <p:stCondLst>
                                            <p:cond delay="0"/>
                                          </p:stCondLst>
                                        </p:cTn>
                                        <p:tgtEl>
                                          <p:spTgt spid="41"/>
                                        </p:tgtEl>
                                        <p:attrNameLst>
                                          <p:attrName>style.visibility</p:attrName>
                                        </p:attrNameLst>
                                      </p:cBhvr>
                                      <p:to>
                                        <p:strVal val="visible"/>
                                      </p:to>
                                    </p:set>
                                    <p:animEffect transition="in" filter="wipe(left)">
                                      <p:cBhvr>
                                        <p:cTn id="142" dur="600"/>
                                        <p:tgtEl>
                                          <p:spTgt spid="41"/>
                                        </p:tgtEl>
                                      </p:cBhvr>
                                    </p:animEffect>
                                  </p:childTnLst>
                                </p:cTn>
                              </p:par>
                              <p:par>
                                <p:cTn id="143" presetID="10" presetClass="entr" presetSubtype="0" fill="hold" grpId="0" nodeType="withEffect">
                                  <p:stCondLst>
                                    <p:cond delay="2230"/>
                                  </p:stCondLst>
                                  <p:childTnLst>
                                    <p:set>
                                      <p:cBhvr>
                                        <p:cTn id="144" dur="1" fill="hold">
                                          <p:stCondLst>
                                            <p:cond delay="0"/>
                                          </p:stCondLst>
                                        </p:cTn>
                                        <p:tgtEl>
                                          <p:spTgt spid="42"/>
                                        </p:tgtEl>
                                        <p:attrNameLst>
                                          <p:attrName>style.visibility</p:attrName>
                                        </p:attrNameLst>
                                      </p:cBhvr>
                                      <p:to>
                                        <p:strVal val="visible"/>
                                      </p:to>
                                    </p:set>
                                    <p:animEffect transition="in" filter="fade">
                                      <p:cBhvr>
                                        <p:cTn id="145" dur="600"/>
                                        <p:tgtEl>
                                          <p:spTgt spid="42"/>
                                        </p:tgtEl>
                                      </p:cBhvr>
                                    </p:animEffect>
                                  </p:childTnLst>
                                </p:cTn>
                              </p:par>
                              <p:par>
                                <p:cTn id="146" presetID="53" presetClass="entr" presetSubtype="16" fill="hold" grpId="0" nodeType="withEffect">
                                  <p:stCondLst>
                                    <p:cond delay="2230"/>
                                  </p:stCondLst>
                                  <p:childTnLst>
                                    <p:set>
                                      <p:cBhvr>
                                        <p:cTn id="147" dur="1" fill="hold">
                                          <p:stCondLst>
                                            <p:cond delay="0"/>
                                          </p:stCondLst>
                                        </p:cTn>
                                        <p:tgtEl>
                                          <p:spTgt spid="43"/>
                                        </p:tgtEl>
                                        <p:attrNameLst>
                                          <p:attrName>style.visibility</p:attrName>
                                        </p:attrNameLst>
                                      </p:cBhvr>
                                      <p:to>
                                        <p:strVal val="visible"/>
                                      </p:to>
                                    </p:set>
                                    <p:anim calcmode="lin" valueType="num">
                                      <p:cBhvr>
                                        <p:cTn id="148" dur="600" fill="hold"/>
                                        <p:tgtEl>
                                          <p:spTgt spid="43"/>
                                        </p:tgtEl>
                                        <p:attrNameLst>
                                          <p:attrName>ppt_w</p:attrName>
                                        </p:attrNameLst>
                                      </p:cBhvr>
                                      <p:tavLst>
                                        <p:tav tm="0">
                                          <p:val>
                                            <p:fltVal val="0"/>
                                          </p:val>
                                        </p:tav>
                                        <p:tav tm="100000">
                                          <p:val>
                                            <p:strVal val="#ppt_w"/>
                                          </p:val>
                                        </p:tav>
                                      </p:tavLst>
                                    </p:anim>
                                    <p:anim calcmode="lin" valueType="num">
                                      <p:cBhvr>
                                        <p:cTn id="149" dur="600" fill="hold"/>
                                        <p:tgtEl>
                                          <p:spTgt spid="43"/>
                                        </p:tgtEl>
                                        <p:attrNameLst>
                                          <p:attrName>ppt_h</p:attrName>
                                        </p:attrNameLst>
                                      </p:cBhvr>
                                      <p:tavLst>
                                        <p:tav tm="0">
                                          <p:val>
                                            <p:fltVal val="0"/>
                                          </p:val>
                                        </p:tav>
                                        <p:tav tm="100000">
                                          <p:val>
                                            <p:strVal val="#ppt_h"/>
                                          </p:val>
                                        </p:tav>
                                      </p:tavLst>
                                    </p:anim>
                                    <p:animEffect transition="in" filter="fade">
                                      <p:cBhvr>
                                        <p:cTn id="150" dur="600"/>
                                        <p:tgtEl>
                                          <p:spTgt spid="43"/>
                                        </p:tgtEl>
                                      </p:cBhvr>
                                    </p:animEffect>
                                  </p:childTnLst>
                                </p:cTn>
                              </p:par>
                              <p:par>
                                <p:cTn id="151" presetID="53" presetClass="entr" presetSubtype="16" fill="hold" grpId="0" nodeType="withEffect">
                                  <p:stCondLst>
                                    <p:cond delay="2230"/>
                                  </p:stCondLst>
                                  <p:childTnLst>
                                    <p:set>
                                      <p:cBhvr>
                                        <p:cTn id="152" dur="1" fill="hold">
                                          <p:stCondLst>
                                            <p:cond delay="0"/>
                                          </p:stCondLst>
                                        </p:cTn>
                                        <p:tgtEl>
                                          <p:spTgt spid="44"/>
                                        </p:tgtEl>
                                        <p:attrNameLst>
                                          <p:attrName>style.visibility</p:attrName>
                                        </p:attrNameLst>
                                      </p:cBhvr>
                                      <p:to>
                                        <p:strVal val="visible"/>
                                      </p:to>
                                    </p:set>
                                    <p:anim calcmode="lin" valueType="num">
                                      <p:cBhvr>
                                        <p:cTn id="153" dur="600" fill="hold"/>
                                        <p:tgtEl>
                                          <p:spTgt spid="44"/>
                                        </p:tgtEl>
                                        <p:attrNameLst>
                                          <p:attrName>ppt_w</p:attrName>
                                        </p:attrNameLst>
                                      </p:cBhvr>
                                      <p:tavLst>
                                        <p:tav tm="0">
                                          <p:val>
                                            <p:fltVal val="0"/>
                                          </p:val>
                                        </p:tav>
                                        <p:tav tm="100000">
                                          <p:val>
                                            <p:strVal val="#ppt_w"/>
                                          </p:val>
                                        </p:tav>
                                      </p:tavLst>
                                    </p:anim>
                                    <p:anim calcmode="lin" valueType="num">
                                      <p:cBhvr>
                                        <p:cTn id="154" dur="600" fill="hold"/>
                                        <p:tgtEl>
                                          <p:spTgt spid="44"/>
                                        </p:tgtEl>
                                        <p:attrNameLst>
                                          <p:attrName>ppt_h</p:attrName>
                                        </p:attrNameLst>
                                      </p:cBhvr>
                                      <p:tavLst>
                                        <p:tav tm="0">
                                          <p:val>
                                            <p:fltVal val="0"/>
                                          </p:val>
                                        </p:tav>
                                        <p:tav tm="100000">
                                          <p:val>
                                            <p:strVal val="#ppt_h"/>
                                          </p:val>
                                        </p:tav>
                                      </p:tavLst>
                                    </p:anim>
                                    <p:animEffect transition="in" filter="fade">
                                      <p:cBhvr>
                                        <p:cTn id="155" dur="600"/>
                                        <p:tgtEl>
                                          <p:spTgt spid="44"/>
                                        </p:tgtEl>
                                      </p:cBhvr>
                                    </p:animEffect>
                                  </p:childTnLst>
                                </p:cTn>
                              </p:par>
                              <p:par>
                                <p:cTn id="156" presetID="10" presetClass="entr" presetSubtype="0" fill="hold" grpId="0" nodeType="withEffect">
                                  <p:stCondLst>
                                    <p:cond delay="2230"/>
                                  </p:stCondLst>
                                  <p:childTnLst>
                                    <p:set>
                                      <p:cBhvr>
                                        <p:cTn id="157" dur="1" fill="hold">
                                          <p:stCondLst>
                                            <p:cond delay="0"/>
                                          </p:stCondLst>
                                        </p:cTn>
                                        <p:tgtEl>
                                          <p:spTgt spid="45"/>
                                        </p:tgtEl>
                                        <p:attrNameLst>
                                          <p:attrName>style.visibility</p:attrName>
                                        </p:attrNameLst>
                                      </p:cBhvr>
                                      <p:to>
                                        <p:strVal val="visible"/>
                                      </p:to>
                                    </p:set>
                                    <p:animEffect transition="in" filter="fade">
                                      <p:cBhvr>
                                        <p:cTn id="158" dur="600"/>
                                        <p:tgtEl>
                                          <p:spTgt spid="45"/>
                                        </p:tgtEl>
                                      </p:cBhvr>
                                    </p:animEffect>
                                  </p:childTnLst>
                                </p:cTn>
                              </p:par>
                              <p:par>
                                <p:cTn id="159" presetID="10" presetClass="entr" presetSubtype="0" fill="hold" grpId="0" nodeType="withEffect">
                                  <p:stCondLst>
                                    <p:cond delay="2230"/>
                                  </p:stCondLst>
                                  <p:childTnLst>
                                    <p:set>
                                      <p:cBhvr>
                                        <p:cTn id="160" dur="1" fill="hold">
                                          <p:stCondLst>
                                            <p:cond delay="0"/>
                                          </p:stCondLst>
                                        </p:cTn>
                                        <p:tgtEl>
                                          <p:spTgt spid="46"/>
                                        </p:tgtEl>
                                        <p:attrNameLst>
                                          <p:attrName>style.visibility</p:attrName>
                                        </p:attrNameLst>
                                      </p:cBhvr>
                                      <p:to>
                                        <p:strVal val="visible"/>
                                      </p:to>
                                    </p:set>
                                    <p:animEffect transition="in" filter="fade">
                                      <p:cBhvr>
                                        <p:cTn id="161" dur="600"/>
                                        <p:tgtEl>
                                          <p:spTgt spid="46"/>
                                        </p:tgtEl>
                                      </p:cBhvr>
                                    </p:animEffect>
                                  </p:childTnLst>
                                </p:cTn>
                              </p:par>
                              <p:par>
                                <p:cTn id="162" presetID="22" presetClass="entr" presetSubtype="8" fill="hold" grpId="0" nodeType="withEffect">
                                  <p:stCondLst>
                                    <p:cond delay="2430"/>
                                  </p:stCondLst>
                                  <p:childTnLst>
                                    <p:set>
                                      <p:cBhvr>
                                        <p:cTn id="163" dur="1" fill="hold">
                                          <p:stCondLst>
                                            <p:cond delay="0"/>
                                          </p:stCondLst>
                                        </p:cTn>
                                        <p:tgtEl>
                                          <p:spTgt spid="47"/>
                                        </p:tgtEl>
                                        <p:attrNameLst>
                                          <p:attrName>style.visibility</p:attrName>
                                        </p:attrNameLst>
                                      </p:cBhvr>
                                      <p:to>
                                        <p:strVal val="visible"/>
                                      </p:to>
                                    </p:set>
                                    <p:animEffect transition="in" filter="wipe(left)">
                                      <p:cBhvr>
                                        <p:cTn id="164" dur="600"/>
                                        <p:tgtEl>
                                          <p:spTgt spid="47"/>
                                        </p:tgtEl>
                                      </p:cBhvr>
                                    </p:animEffect>
                                  </p:childTnLst>
                                </p:cTn>
                              </p:par>
                              <p:par>
                                <p:cTn id="165" presetID="10" presetClass="entr" presetSubtype="0" fill="hold" grpId="0" nodeType="withEffect">
                                  <p:stCondLst>
                                    <p:cond delay="2560"/>
                                  </p:stCondLst>
                                  <p:childTnLst>
                                    <p:set>
                                      <p:cBhvr>
                                        <p:cTn id="166" dur="1" fill="hold">
                                          <p:stCondLst>
                                            <p:cond delay="0"/>
                                          </p:stCondLst>
                                        </p:cTn>
                                        <p:tgtEl>
                                          <p:spTgt spid="48"/>
                                        </p:tgtEl>
                                        <p:attrNameLst>
                                          <p:attrName>style.visibility</p:attrName>
                                        </p:attrNameLst>
                                      </p:cBhvr>
                                      <p:to>
                                        <p:strVal val="visible"/>
                                      </p:to>
                                    </p:set>
                                    <p:animEffect transition="in" filter="fade">
                                      <p:cBhvr>
                                        <p:cTn id="167" dur="600"/>
                                        <p:tgtEl>
                                          <p:spTgt spid="48"/>
                                        </p:tgtEl>
                                      </p:cBhvr>
                                    </p:animEffect>
                                  </p:childTnLst>
                                </p:cTn>
                              </p:par>
                              <p:par>
                                <p:cTn id="168" presetID="53" presetClass="entr" presetSubtype="16" fill="hold" grpId="0" nodeType="withEffect">
                                  <p:stCondLst>
                                    <p:cond delay="2560"/>
                                  </p:stCondLst>
                                  <p:childTnLst>
                                    <p:set>
                                      <p:cBhvr>
                                        <p:cTn id="169" dur="1" fill="hold">
                                          <p:stCondLst>
                                            <p:cond delay="0"/>
                                          </p:stCondLst>
                                        </p:cTn>
                                        <p:tgtEl>
                                          <p:spTgt spid="49"/>
                                        </p:tgtEl>
                                        <p:attrNameLst>
                                          <p:attrName>style.visibility</p:attrName>
                                        </p:attrNameLst>
                                      </p:cBhvr>
                                      <p:to>
                                        <p:strVal val="visible"/>
                                      </p:to>
                                    </p:set>
                                    <p:anim calcmode="lin" valueType="num">
                                      <p:cBhvr>
                                        <p:cTn id="170" dur="600" fill="hold"/>
                                        <p:tgtEl>
                                          <p:spTgt spid="49"/>
                                        </p:tgtEl>
                                        <p:attrNameLst>
                                          <p:attrName>ppt_w</p:attrName>
                                        </p:attrNameLst>
                                      </p:cBhvr>
                                      <p:tavLst>
                                        <p:tav tm="0">
                                          <p:val>
                                            <p:fltVal val="0"/>
                                          </p:val>
                                        </p:tav>
                                        <p:tav tm="100000">
                                          <p:val>
                                            <p:strVal val="#ppt_w"/>
                                          </p:val>
                                        </p:tav>
                                      </p:tavLst>
                                    </p:anim>
                                    <p:anim calcmode="lin" valueType="num">
                                      <p:cBhvr>
                                        <p:cTn id="171" dur="600" fill="hold"/>
                                        <p:tgtEl>
                                          <p:spTgt spid="49"/>
                                        </p:tgtEl>
                                        <p:attrNameLst>
                                          <p:attrName>ppt_h</p:attrName>
                                        </p:attrNameLst>
                                      </p:cBhvr>
                                      <p:tavLst>
                                        <p:tav tm="0">
                                          <p:val>
                                            <p:fltVal val="0"/>
                                          </p:val>
                                        </p:tav>
                                        <p:tav tm="100000">
                                          <p:val>
                                            <p:strVal val="#ppt_h"/>
                                          </p:val>
                                        </p:tav>
                                      </p:tavLst>
                                    </p:anim>
                                    <p:animEffect transition="in" filter="fade">
                                      <p:cBhvr>
                                        <p:cTn id="172" dur="600"/>
                                        <p:tgtEl>
                                          <p:spTgt spid="49"/>
                                        </p:tgtEl>
                                      </p:cBhvr>
                                    </p:animEffect>
                                  </p:childTnLst>
                                </p:cTn>
                              </p:par>
                              <p:par>
                                <p:cTn id="173" presetID="53" presetClass="entr" presetSubtype="16" fill="hold" grpId="0" nodeType="withEffect">
                                  <p:stCondLst>
                                    <p:cond delay="2560"/>
                                  </p:stCondLst>
                                  <p:childTnLst>
                                    <p:set>
                                      <p:cBhvr>
                                        <p:cTn id="174" dur="1" fill="hold">
                                          <p:stCondLst>
                                            <p:cond delay="0"/>
                                          </p:stCondLst>
                                        </p:cTn>
                                        <p:tgtEl>
                                          <p:spTgt spid="50"/>
                                        </p:tgtEl>
                                        <p:attrNameLst>
                                          <p:attrName>style.visibility</p:attrName>
                                        </p:attrNameLst>
                                      </p:cBhvr>
                                      <p:to>
                                        <p:strVal val="visible"/>
                                      </p:to>
                                    </p:set>
                                    <p:anim calcmode="lin" valueType="num">
                                      <p:cBhvr>
                                        <p:cTn id="175" dur="600" fill="hold"/>
                                        <p:tgtEl>
                                          <p:spTgt spid="50"/>
                                        </p:tgtEl>
                                        <p:attrNameLst>
                                          <p:attrName>ppt_w</p:attrName>
                                        </p:attrNameLst>
                                      </p:cBhvr>
                                      <p:tavLst>
                                        <p:tav tm="0">
                                          <p:val>
                                            <p:fltVal val="0"/>
                                          </p:val>
                                        </p:tav>
                                        <p:tav tm="100000">
                                          <p:val>
                                            <p:strVal val="#ppt_w"/>
                                          </p:val>
                                        </p:tav>
                                      </p:tavLst>
                                    </p:anim>
                                    <p:anim calcmode="lin" valueType="num">
                                      <p:cBhvr>
                                        <p:cTn id="176" dur="600" fill="hold"/>
                                        <p:tgtEl>
                                          <p:spTgt spid="50"/>
                                        </p:tgtEl>
                                        <p:attrNameLst>
                                          <p:attrName>ppt_h</p:attrName>
                                        </p:attrNameLst>
                                      </p:cBhvr>
                                      <p:tavLst>
                                        <p:tav tm="0">
                                          <p:val>
                                            <p:fltVal val="0"/>
                                          </p:val>
                                        </p:tav>
                                        <p:tav tm="100000">
                                          <p:val>
                                            <p:strVal val="#ppt_h"/>
                                          </p:val>
                                        </p:tav>
                                      </p:tavLst>
                                    </p:anim>
                                    <p:animEffect transition="in" filter="fade">
                                      <p:cBhvr>
                                        <p:cTn id="177" dur="600"/>
                                        <p:tgtEl>
                                          <p:spTgt spid="50"/>
                                        </p:tgtEl>
                                      </p:cBhvr>
                                    </p:animEffect>
                                  </p:childTnLst>
                                </p:cTn>
                              </p:par>
                              <p:par>
                                <p:cTn id="178" presetID="10" presetClass="entr" presetSubtype="0" fill="hold" grpId="0" nodeType="withEffect">
                                  <p:stCondLst>
                                    <p:cond delay="2560"/>
                                  </p:stCondLst>
                                  <p:childTnLst>
                                    <p:set>
                                      <p:cBhvr>
                                        <p:cTn id="179" dur="1" fill="hold">
                                          <p:stCondLst>
                                            <p:cond delay="0"/>
                                          </p:stCondLst>
                                        </p:cTn>
                                        <p:tgtEl>
                                          <p:spTgt spid="51"/>
                                        </p:tgtEl>
                                        <p:attrNameLst>
                                          <p:attrName>style.visibility</p:attrName>
                                        </p:attrNameLst>
                                      </p:cBhvr>
                                      <p:to>
                                        <p:strVal val="visible"/>
                                      </p:to>
                                    </p:set>
                                    <p:animEffect transition="in" filter="fade">
                                      <p:cBhvr>
                                        <p:cTn id="180" dur="600"/>
                                        <p:tgtEl>
                                          <p:spTgt spid="51"/>
                                        </p:tgtEl>
                                      </p:cBhvr>
                                    </p:animEffect>
                                  </p:childTnLst>
                                </p:cTn>
                              </p:par>
                              <p:par>
                                <p:cTn id="181" presetID="10" presetClass="entr" presetSubtype="0" fill="hold" grpId="0" nodeType="withEffect">
                                  <p:stCondLst>
                                    <p:cond delay="2560"/>
                                  </p:stCondLst>
                                  <p:childTnLst>
                                    <p:set>
                                      <p:cBhvr>
                                        <p:cTn id="182" dur="1" fill="hold">
                                          <p:stCondLst>
                                            <p:cond delay="0"/>
                                          </p:stCondLst>
                                        </p:cTn>
                                        <p:tgtEl>
                                          <p:spTgt spid="52"/>
                                        </p:tgtEl>
                                        <p:attrNameLst>
                                          <p:attrName>style.visibility</p:attrName>
                                        </p:attrNameLst>
                                      </p:cBhvr>
                                      <p:to>
                                        <p:strVal val="visible"/>
                                      </p:to>
                                    </p:set>
                                    <p:animEffect transition="in" filter="fade">
                                      <p:cBhvr>
                                        <p:cTn id="183" dur="6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11" grpId="0" animBg="1"/>
      <p:bldP spid="16" grpId="0" animBg="1"/>
      <p:bldP spid="17" grpId="0" animBg="1"/>
      <p:bldP spid="22" grpId="0" animBg="1"/>
      <p:bldP spid="23" grpId="0" animBg="1"/>
      <p:bldP spid="28" grpId="0" animBg="1"/>
      <p:bldP spid="29" grpId="0" animBg="1"/>
      <p:bldP spid="33" grpId="0" animBg="1"/>
      <p:bldP spid="34" grpId="0" animBg="1"/>
      <p:bldP spid="39" grpId="0" animBg="1"/>
      <p:bldP spid="40" grpId="0" animBg="1"/>
      <p:bldP spid="45" grpId="0" animBg="1"/>
      <p:bldP spid="46" grpId="0" animBg="1"/>
      <p:bldP spid="51" grpId="0" animBg="1"/>
      <p:bldP spid="5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7589520" y="3931920"/>
            <a:ext cx="2926080" cy="2926080"/>
          </a:xfrm>
          <a:prstGeom prst="ellipse">
            <a:avLst/>
          </a:prstGeom>
          <a:solidFill>
            <a:srgbClr val="1B3F9E"/>
          </a:solidFill>
          <a:ln w="12700">
            <a:solidFill>
              <a:srgbClr val="1B3F9E"/>
            </a:solidFill>
            <a:prstDash val="solid"/>
          </a:ln>
        </p:spPr>
      </p:sp>
      <p:sp>
        <p:nvSpPr>
          <p:cNvPr id="3" name="!!orbG"/>
          <p:cNvSpPr/>
          <p:nvPr/>
        </p:nvSpPr>
        <p:spPr>
          <a:xfrm>
            <a:off x="11597335" y="-689458"/>
            <a:ext cx="1188720" cy="1188720"/>
          </a:xfrm>
          <a:prstGeom prst="ellipse">
            <a:avLst/>
          </a:prstGeom>
          <a:solidFill>
            <a:srgbClr val="00923A"/>
          </a:solidFill>
          <a:ln w="12700">
            <a:solidFill>
              <a:srgbClr val="00923A"/>
            </a:solidFill>
            <a:prstDash val="solid"/>
          </a:ln>
        </p:spPr>
      </p:sp>
      <p:sp>
        <p:nvSpPr>
          <p:cNvPr id="4" name="!!orbY"/>
          <p:cNvSpPr/>
          <p:nvPr/>
        </p:nvSpPr>
        <p:spPr>
          <a:xfrm>
            <a:off x="6949440" y="5852160"/>
            <a:ext cx="914400" cy="914400"/>
          </a:xfrm>
          <a:prstGeom prst="ellipse">
            <a:avLst/>
          </a:prstGeom>
          <a:solidFill>
            <a:srgbClr val="FFFFFF">
              <a:alpha val="0"/>
            </a:srgbClr>
          </a:solidFill>
          <a:ln w="7620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PROBLÉMATIQUE</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Un circuit organisé… mais est-il efficace ?</a:t>
            </a:r>
            <a:endParaRPr lang="fr-FR" sz="3200" dirty="0"/>
          </a:p>
        </p:txBody>
      </p:sp>
      <p:sp>
        <p:nvSpPr>
          <p:cNvPr id="7" name="qbar"/>
          <p:cNvSpPr/>
          <p:nvPr/>
        </p:nvSpPr>
        <p:spPr>
          <a:xfrm>
            <a:off x="640080" y="2011680"/>
            <a:ext cx="78593" cy="1737360"/>
          </a:xfrm>
          <a:prstGeom prst="rect">
            <a:avLst/>
          </a:prstGeom>
          <a:solidFill>
            <a:srgbClr val="FCC600"/>
          </a:solidFill>
          <a:ln w="12700">
            <a:solidFill>
              <a:srgbClr val="FCC600"/>
            </a:solidFill>
            <a:prstDash val="solid"/>
          </a:ln>
        </p:spPr>
      </p:sp>
      <p:sp>
        <p:nvSpPr>
          <p:cNvPr id="8" name="q"/>
          <p:cNvSpPr txBox="1"/>
          <p:nvPr/>
        </p:nvSpPr>
        <p:spPr>
          <a:xfrm>
            <a:off x="945718" y="1965960"/>
            <a:ext cx="7160666" cy="1828800"/>
          </a:xfrm>
          <a:prstGeom prst="rect">
            <a:avLst/>
          </a:prstGeom>
          <a:noFill/>
          <a:ln/>
        </p:spPr>
        <p:txBody>
          <a:bodyPr wrap="square" lIns="0" tIns="0" rIns="0" bIns="0" rtlCol="0" anchor="t"/>
          <a:lstStyle/>
          <a:p>
            <a:pPr indent="0" marL="0">
              <a:buNone/>
            </a:pPr>
            <a:r>
              <a:rPr lang="fr-FR" altLang="en-US" sz="2600" i="1" dirty="0">
                <a:solidFill>
                  <a:srgbClr val="0E1C46"/>
                </a:solidFill>
                <a:latin typeface="Cambria" pitchFamily="34" charset="0"/>
                <a:ea typeface="Cambria" pitchFamily="34" charset="-122"/>
                <a:cs typeface="Cambria" pitchFamily="34" charset="-120"/>
              </a:rPr>
              <a:t>Dans quelle mesure le système de gestion des courriers de la Mairie de Doumassessé permet-il un traitement rapide, fiable et traçable de l’information ?</a:t>
            </a:r>
            <a:endParaRPr lang="fr-FR" sz="2600" dirty="0"/>
          </a:p>
        </p:txBody>
      </p:sp>
      <p:sp>
        <p:nvSpPr>
          <p:cNvPr id="9" name="obs"/>
          <p:cNvSpPr txBox="1"/>
          <p:nvPr/>
        </p:nvSpPr>
        <p:spPr>
          <a:xfrm>
            <a:off x="640080" y="4206240"/>
            <a:ext cx="6986016" cy="274320"/>
          </a:xfrm>
          <a:prstGeom prst="rect">
            <a:avLst/>
          </a:prstGeom>
          <a:noFill/>
          <a:ln/>
        </p:spPr>
        <p:txBody>
          <a:bodyPr wrap="square" lIns="0" tIns="0" rIns="0" bIns="0" rtlCol="0" anchor="t"/>
          <a:lstStyle/>
          <a:p>
            <a:pPr indent="0" marL="0">
              <a:buNone/>
            </a:pPr>
            <a:r>
              <a:rPr lang="fr-FR" altLang="en-US" sz="1200" b="1" spc="200" kern="0" dirty="0">
                <a:solidFill>
                  <a:srgbClr val="00923A"/>
                </a:solidFill>
                <a:latin typeface="Calibri" pitchFamily="34" charset="0"/>
                <a:ea typeface="Calibri" pitchFamily="34" charset="-122"/>
                <a:cs typeface="Calibri" pitchFamily="34" charset="-120"/>
              </a:rPr>
              <a:t>DIFFICULTÉS OBSERVÉES PENDANT LE STAGE</a:t>
            </a:r>
            <a:endParaRPr lang="fr-FR" sz="1200" dirty="0"/>
          </a:p>
        </p:txBody>
      </p:sp>
      <p:sp>
        <p:nvSpPr>
          <p:cNvPr id="10" name="ob0c"/>
          <p:cNvSpPr/>
          <p:nvPr/>
        </p:nvSpPr>
        <p:spPr>
          <a:xfrm>
            <a:off x="640080" y="4617720"/>
            <a:ext cx="392963" cy="411480"/>
          </a:xfrm>
          <a:prstGeom prst="ellipse">
            <a:avLst/>
          </a:prstGeom>
          <a:solidFill>
            <a:srgbClr val="1B3F9E"/>
          </a:solidFill>
          <a:ln w="12700">
            <a:solidFill>
              <a:srgbClr val="1B3F9E"/>
            </a:solidFill>
            <a:prstDash val="solid"/>
          </a:ln>
        </p:spPr>
      </p:sp>
      <p:pic>
        <p:nvPicPr>
          <p:cNvPr id="11" name="ob0i" descr="preencoded.png">    </p:cNvPr>
          <p:cNvPicPr>
            <a:picLocks noChangeAspect="1"/>
          </p:cNvPicPr>
          <p:nvPr/>
        </p:nvPicPr>
        <p:blipFill>
          <a:blip r:embed="rId1"/>
          <a:stretch>
            <a:fillRect/>
          </a:stretch>
        </p:blipFill>
        <p:spPr>
          <a:xfrm>
            <a:off x="742250" y="4724705"/>
            <a:ext cx="188622" cy="197510"/>
          </a:xfrm>
          <a:prstGeom prst="rect">
            <a:avLst/>
          </a:prstGeom>
        </p:spPr>
      </p:pic>
      <p:sp>
        <p:nvSpPr>
          <p:cNvPr id="12" name="obt0"/>
          <p:cNvSpPr txBox="1"/>
          <p:nvPr/>
        </p:nvSpPr>
        <p:spPr>
          <a:xfrm>
            <a:off x="1207694" y="4672584"/>
            <a:ext cx="6112764" cy="32004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Des délais avant signature</a:t>
            </a:r>
            <a:endParaRPr lang="fr-FR" sz="1600" dirty="0"/>
          </a:p>
        </p:txBody>
      </p:sp>
      <p:sp>
        <p:nvSpPr>
          <p:cNvPr id="13" name="ob1c"/>
          <p:cNvSpPr/>
          <p:nvPr/>
        </p:nvSpPr>
        <p:spPr>
          <a:xfrm>
            <a:off x="640080" y="5166360"/>
            <a:ext cx="392963" cy="411480"/>
          </a:xfrm>
          <a:prstGeom prst="ellipse">
            <a:avLst/>
          </a:prstGeom>
          <a:solidFill>
            <a:srgbClr val="00923A"/>
          </a:solidFill>
          <a:ln w="12700">
            <a:solidFill>
              <a:srgbClr val="00923A"/>
            </a:solidFill>
            <a:prstDash val="solid"/>
          </a:ln>
        </p:spPr>
      </p:sp>
      <p:pic>
        <p:nvPicPr>
          <p:cNvPr id="14" name="ob1i" descr="preencoded.png">    </p:cNvPr>
          <p:cNvPicPr>
            <a:picLocks noChangeAspect="1"/>
          </p:cNvPicPr>
          <p:nvPr/>
        </p:nvPicPr>
        <p:blipFill>
          <a:blip r:embed="rId2"/>
          <a:stretch>
            <a:fillRect/>
          </a:stretch>
        </p:blipFill>
        <p:spPr>
          <a:xfrm>
            <a:off x="742250" y="5273345"/>
            <a:ext cx="188622" cy="197510"/>
          </a:xfrm>
          <a:prstGeom prst="rect">
            <a:avLst/>
          </a:prstGeom>
        </p:spPr>
      </p:pic>
      <p:sp>
        <p:nvSpPr>
          <p:cNvPr id="15" name="obt1"/>
          <p:cNvSpPr txBox="1"/>
          <p:nvPr/>
        </p:nvSpPr>
        <p:spPr>
          <a:xfrm>
            <a:off x="1207694" y="5221224"/>
            <a:ext cx="6112764" cy="32004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Un suivi entièrement manuel</a:t>
            </a:r>
            <a:endParaRPr lang="fr-FR" sz="1600" dirty="0"/>
          </a:p>
        </p:txBody>
      </p:sp>
      <p:sp>
        <p:nvSpPr>
          <p:cNvPr id="16" name="ob2c"/>
          <p:cNvSpPr/>
          <p:nvPr/>
        </p:nvSpPr>
        <p:spPr>
          <a:xfrm>
            <a:off x="640080" y="5715000"/>
            <a:ext cx="392963" cy="411480"/>
          </a:xfrm>
          <a:prstGeom prst="ellipse">
            <a:avLst/>
          </a:prstGeom>
          <a:solidFill>
            <a:srgbClr val="E2A400"/>
          </a:solidFill>
          <a:ln w="12700">
            <a:solidFill>
              <a:srgbClr val="E2A400"/>
            </a:solidFill>
            <a:prstDash val="solid"/>
          </a:ln>
        </p:spPr>
      </p:sp>
      <p:pic>
        <p:nvPicPr>
          <p:cNvPr id="17" name="ob2i" descr="preencoded.png">    </p:cNvPr>
          <p:cNvPicPr>
            <a:picLocks noChangeAspect="1"/>
          </p:cNvPicPr>
          <p:nvPr/>
        </p:nvPicPr>
        <p:blipFill>
          <a:blip r:embed="rId3"/>
          <a:stretch>
            <a:fillRect/>
          </a:stretch>
        </p:blipFill>
        <p:spPr>
          <a:xfrm>
            <a:off x="742250" y="5821985"/>
            <a:ext cx="188622" cy="197510"/>
          </a:xfrm>
          <a:prstGeom prst="rect">
            <a:avLst/>
          </a:prstGeom>
        </p:spPr>
      </p:pic>
      <p:sp>
        <p:nvSpPr>
          <p:cNvPr id="18" name="obt2"/>
          <p:cNvSpPr txBox="1"/>
          <p:nvPr/>
        </p:nvSpPr>
        <p:spPr>
          <a:xfrm>
            <a:off x="1207694" y="5769864"/>
            <a:ext cx="6112764" cy="32004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La dépendance envers quelques responsables</a:t>
            </a:r>
            <a:endParaRPr lang="fr-FR" sz="1600" dirty="0"/>
          </a:p>
        </p:txBody>
      </p:sp>
      <p:pic>
        <p:nvPicPr>
          <p:cNvPr id="19" name="!!flogo" descr="preencoded.png">    </p:cNvPr>
          <p:cNvPicPr>
            <a:picLocks noChangeAspect="1"/>
          </p:cNvPicPr>
          <p:nvPr/>
        </p:nvPicPr>
        <p:blipFill>
          <a:blip r:embed="rId4"/>
          <a:stretch>
            <a:fillRect/>
          </a:stretch>
        </p:blipFill>
        <p:spPr>
          <a:xfrm>
            <a:off x="640080" y="6382512"/>
            <a:ext cx="329184" cy="274320"/>
          </a:xfrm>
          <a:prstGeom prst="rect">
            <a:avLst/>
          </a:prstGeom>
        </p:spPr>
      </p:pic>
      <p:sp>
        <p:nvSpPr>
          <p:cNvPr id="20"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1"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11 / 22</a:t>
            </a:r>
            <a:endParaRPr lang="fr-FR" sz="1000" dirty="0"/>
          </a:p>
        </p:txBody>
      </p:sp>
      <p:sp>
        <p:nvSpPr>
          <p:cNvPr id="22"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3" name="!!railline"/>
          <p:cNvSpPr/>
          <p:nvPr/>
        </p:nvSpPr>
        <p:spPr>
          <a:xfrm>
            <a:off x="11795760" y="1600200"/>
            <a:ext cx="914" cy="3383280"/>
          </a:xfrm>
          <a:prstGeom prst="line">
            <a:avLst/>
          </a:prstGeom>
          <a:noFill/>
          <a:ln w="25400">
            <a:solidFill>
              <a:srgbClr val="DDE3EE"/>
            </a:solidFill>
            <a:prstDash val="solid"/>
          </a:ln>
        </p:spPr>
      </p:sp>
      <p:sp>
        <p:nvSpPr>
          <p:cNvPr id="24" name="!!railprog"/>
          <p:cNvSpPr/>
          <p:nvPr/>
        </p:nvSpPr>
        <p:spPr>
          <a:xfrm>
            <a:off x="11795760" y="1600200"/>
            <a:ext cx="914" cy="2029968"/>
          </a:xfrm>
          <a:prstGeom prst="line">
            <a:avLst/>
          </a:prstGeom>
          <a:noFill/>
          <a:ln w="38100">
            <a:solidFill>
              <a:srgbClr val="00923A"/>
            </a:solidFill>
            <a:prstDash val="solid"/>
          </a:ln>
        </p:spPr>
      </p:sp>
      <p:sp>
        <p:nvSpPr>
          <p:cNvPr id="25" name="!!mact"/>
          <p:cNvSpPr/>
          <p:nvPr/>
        </p:nvSpPr>
        <p:spPr>
          <a:xfrm>
            <a:off x="11494008" y="3328416"/>
            <a:ext cx="603504" cy="603504"/>
          </a:xfrm>
          <a:prstGeom prst="ellipse">
            <a:avLst/>
          </a:prstGeom>
          <a:solidFill>
            <a:srgbClr val="FFFFFF">
              <a:alpha val="0"/>
            </a:srgbClr>
          </a:solidFill>
          <a:ln w="38100">
            <a:solidFill>
              <a:srgbClr val="FCC600"/>
            </a:solidFill>
            <a:prstDash val="solid"/>
          </a:ln>
        </p:spPr>
      </p:sp>
      <p:sp>
        <p:nvSpPr>
          <p:cNvPr id="26"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27" name="!!mt1">
            <a:hlinkClick r:id="rId5"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28"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29" name="!!mt2">
            <a:hlinkClick r:id="rId6"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0"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31" name="!!mt3">
            <a:hlinkClick r:id="rId7"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2" name="!!m4"/>
          <p:cNvSpPr/>
          <p:nvPr/>
        </p:nvSpPr>
        <p:spPr>
          <a:xfrm>
            <a:off x="11594592" y="3429000"/>
            <a:ext cx="402336" cy="402336"/>
          </a:xfrm>
          <a:prstGeom prst="ellipse">
            <a:avLst/>
          </a:prstGeom>
          <a:solidFill>
            <a:srgbClr val="1B3F9E"/>
          </a:solidFill>
          <a:ln w="19050">
            <a:solidFill>
              <a:srgbClr val="1B3F9E"/>
            </a:solidFill>
            <a:prstDash val="solid"/>
          </a:ln>
        </p:spPr>
      </p:sp>
      <p:sp>
        <p:nvSpPr>
          <p:cNvPr id="33" name="!!mt4"/>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4"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35" name="!!mt5">
            <a:hlinkClick r:id="rId8"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8"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36"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37" name="!!mt6">
            <a:hlinkClick r:id="rId9"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38"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OBJET D’ÉTUDE</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22" presetClass="entr" presetSubtype="8"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600"/>
                                        <p:tgtEl>
                                          <p:spTgt spid="7"/>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10" presetClass="entr" presetSubtype="0" fill="hold" grpId="0" nodeType="withEffect">
                                  <p:stCondLst>
                                    <p:cond delay="8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600"/>
                                        <p:tgtEl>
                                          <p:spTgt spid="9"/>
                                        </p:tgtEl>
                                      </p:cBhvr>
                                    </p:animEffect>
                                  </p:childTnLst>
                                </p:cTn>
                              </p:par>
                              <p:par>
                                <p:cTn id="20" presetID="53" presetClass="entr" presetSubtype="16" fill="hold" grpId="0" nodeType="withEffect">
                                  <p:stCondLst>
                                    <p:cond delay="10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fltVal val="0"/>
                                          </p:val>
                                        </p:tav>
                                        <p:tav tm="100000">
                                          <p:val>
                                            <p:strVal val="#ppt_w"/>
                                          </p:val>
                                        </p:tav>
                                      </p:tavLst>
                                    </p:anim>
                                    <p:anim calcmode="lin" valueType="num">
                                      <p:cBhvr>
                                        <p:cTn id="23" dur="600" fill="hold"/>
                                        <p:tgtEl>
                                          <p:spTgt spid="10"/>
                                        </p:tgtEl>
                                        <p:attrNameLst>
                                          <p:attrName>ppt_h</p:attrName>
                                        </p:attrNameLst>
                                      </p:cBhvr>
                                      <p:tavLst>
                                        <p:tav tm="0">
                                          <p:val>
                                            <p:fltVal val="0"/>
                                          </p:val>
                                        </p:tav>
                                        <p:tav tm="100000">
                                          <p:val>
                                            <p:strVal val="#ppt_h"/>
                                          </p:val>
                                        </p:tav>
                                      </p:tavLst>
                                    </p:anim>
                                    <p:animEffect transition="in" filter="fade">
                                      <p:cBhvr>
                                        <p:cTn id="24" dur="600"/>
                                        <p:tgtEl>
                                          <p:spTgt spid="10"/>
                                        </p:tgtEl>
                                      </p:cBhvr>
                                    </p:animEffect>
                                  </p:childTnLst>
                                </p:cTn>
                              </p:par>
                              <p:par>
                                <p:cTn id="25" presetID="53" presetClass="entr" presetSubtype="16" fill="hold" grpId="0" nodeType="withEffect">
                                  <p:stCondLst>
                                    <p:cond delay="1000"/>
                                  </p:stCondLst>
                                  <p:childTnLst>
                                    <p:set>
                                      <p:cBhvr>
                                        <p:cTn id="26" dur="1" fill="hold">
                                          <p:stCondLst>
                                            <p:cond delay="0"/>
                                          </p:stCondLst>
                                        </p:cTn>
                                        <p:tgtEl>
                                          <p:spTgt spid="11"/>
                                        </p:tgtEl>
                                        <p:attrNameLst>
                                          <p:attrName>style.visibility</p:attrName>
                                        </p:attrNameLst>
                                      </p:cBhvr>
                                      <p:to>
                                        <p:strVal val="visible"/>
                                      </p:to>
                                    </p:set>
                                    <p:anim calcmode="lin" valueType="num">
                                      <p:cBhvr>
                                        <p:cTn id="27" dur="600" fill="hold"/>
                                        <p:tgtEl>
                                          <p:spTgt spid="11"/>
                                        </p:tgtEl>
                                        <p:attrNameLst>
                                          <p:attrName>ppt_w</p:attrName>
                                        </p:attrNameLst>
                                      </p:cBhvr>
                                      <p:tavLst>
                                        <p:tav tm="0">
                                          <p:val>
                                            <p:fltVal val="0"/>
                                          </p:val>
                                        </p:tav>
                                        <p:tav tm="100000">
                                          <p:val>
                                            <p:strVal val="#ppt_w"/>
                                          </p:val>
                                        </p:tav>
                                      </p:tavLst>
                                    </p:anim>
                                    <p:anim calcmode="lin" valueType="num">
                                      <p:cBhvr>
                                        <p:cTn id="28" dur="600" fill="hold"/>
                                        <p:tgtEl>
                                          <p:spTgt spid="11"/>
                                        </p:tgtEl>
                                        <p:attrNameLst>
                                          <p:attrName>ppt_h</p:attrName>
                                        </p:attrNameLst>
                                      </p:cBhvr>
                                      <p:tavLst>
                                        <p:tav tm="0">
                                          <p:val>
                                            <p:fltVal val="0"/>
                                          </p:val>
                                        </p:tav>
                                        <p:tav tm="100000">
                                          <p:val>
                                            <p:strVal val="#ppt_h"/>
                                          </p:val>
                                        </p:tav>
                                      </p:tavLst>
                                    </p:anim>
                                    <p:animEffect transition="in" filter="fade">
                                      <p:cBhvr>
                                        <p:cTn id="29" dur="600"/>
                                        <p:tgtEl>
                                          <p:spTgt spid="11"/>
                                        </p:tgtEl>
                                      </p:cBhvr>
                                    </p:animEffect>
                                  </p:childTnLst>
                                </p:cTn>
                              </p:par>
                              <p:par>
                                <p:cTn id="30" presetID="10" presetClass="entr" presetSubtype="0" fill="hold" grpId="0" nodeType="withEffect">
                                  <p:stCondLst>
                                    <p:cond delay="10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p:tgtEl>
                                          <p:spTgt spid="12"/>
                                        </p:tgtEl>
                                      </p:cBhvr>
                                    </p:animEffect>
                                  </p:childTnLst>
                                </p:cTn>
                              </p:par>
                              <p:par>
                                <p:cTn id="33" presetID="53" presetClass="entr" presetSubtype="16" fill="hold" grpId="0" nodeType="withEffect">
                                  <p:stCondLst>
                                    <p:cond delay="1250"/>
                                  </p:stCondLst>
                                  <p:childTnLst>
                                    <p:set>
                                      <p:cBhvr>
                                        <p:cTn id="34" dur="1" fill="hold">
                                          <p:stCondLst>
                                            <p:cond delay="0"/>
                                          </p:stCondLst>
                                        </p:cTn>
                                        <p:tgtEl>
                                          <p:spTgt spid="13"/>
                                        </p:tgtEl>
                                        <p:attrNameLst>
                                          <p:attrName>style.visibility</p:attrName>
                                        </p:attrNameLst>
                                      </p:cBhvr>
                                      <p:to>
                                        <p:strVal val="visible"/>
                                      </p:to>
                                    </p:set>
                                    <p:anim calcmode="lin" valueType="num">
                                      <p:cBhvr>
                                        <p:cTn id="35" dur="600" fill="hold"/>
                                        <p:tgtEl>
                                          <p:spTgt spid="13"/>
                                        </p:tgtEl>
                                        <p:attrNameLst>
                                          <p:attrName>ppt_w</p:attrName>
                                        </p:attrNameLst>
                                      </p:cBhvr>
                                      <p:tavLst>
                                        <p:tav tm="0">
                                          <p:val>
                                            <p:fltVal val="0"/>
                                          </p:val>
                                        </p:tav>
                                        <p:tav tm="100000">
                                          <p:val>
                                            <p:strVal val="#ppt_w"/>
                                          </p:val>
                                        </p:tav>
                                      </p:tavLst>
                                    </p:anim>
                                    <p:anim calcmode="lin" valueType="num">
                                      <p:cBhvr>
                                        <p:cTn id="36" dur="600" fill="hold"/>
                                        <p:tgtEl>
                                          <p:spTgt spid="13"/>
                                        </p:tgtEl>
                                        <p:attrNameLst>
                                          <p:attrName>ppt_h</p:attrName>
                                        </p:attrNameLst>
                                      </p:cBhvr>
                                      <p:tavLst>
                                        <p:tav tm="0">
                                          <p:val>
                                            <p:fltVal val="0"/>
                                          </p:val>
                                        </p:tav>
                                        <p:tav tm="100000">
                                          <p:val>
                                            <p:strVal val="#ppt_h"/>
                                          </p:val>
                                        </p:tav>
                                      </p:tavLst>
                                    </p:anim>
                                    <p:animEffect transition="in" filter="fade">
                                      <p:cBhvr>
                                        <p:cTn id="37" dur="600"/>
                                        <p:tgtEl>
                                          <p:spTgt spid="13"/>
                                        </p:tgtEl>
                                      </p:cBhvr>
                                    </p:animEffect>
                                  </p:childTnLst>
                                </p:cTn>
                              </p:par>
                              <p:par>
                                <p:cTn id="38" presetID="53" presetClass="entr" presetSubtype="16" fill="hold" grpId="0" nodeType="withEffect">
                                  <p:stCondLst>
                                    <p:cond delay="1250"/>
                                  </p:stCondLst>
                                  <p:childTnLst>
                                    <p:set>
                                      <p:cBhvr>
                                        <p:cTn id="39" dur="1" fill="hold">
                                          <p:stCondLst>
                                            <p:cond delay="0"/>
                                          </p:stCondLst>
                                        </p:cTn>
                                        <p:tgtEl>
                                          <p:spTgt spid="14"/>
                                        </p:tgtEl>
                                        <p:attrNameLst>
                                          <p:attrName>style.visibility</p:attrName>
                                        </p:attrNameLst>
                                      </p:cBhvr>
                                      <p:to>
                                        <p:strVal val="visible"/>
                                      </p:to>
                                    </p:set>
                                    <p:anim calcmode="lin" valueType="num">
                                      <p:cBhvr>
                                        <p:cTn id="40" dur="600" fill="hold"/>
                                        <p:tgtEl>
                                          <p:spTgt spid="14"/>
                                        </p:tgtEl>
                                        <p:attrNameLst>
                                          <p:attrName>ppt_w</p:attrName>
                                        </p:attrNameLst>
                                      </p:cBhvr>
                                      <p:tavLst>
                                        <p:tav tm="0">
                                          <p:val>
                                            <p:fltVal val="0"/>
                                          </p:val>
                                        </p:tav>
                                        <p:tav tm="100000">
                                          <p:val>
                                            <p:strVal val="#ppt_w"/>
                                          </p:val>
                                        </p:tav>
                                      </p:tavLst>
                                    </p:anim>
                                    <p:anim calcmode="lin" valueType="num">
                                      <p:cBhvr>
                                        <p:cTn id="41" dur="600" fill="hold"/>
                                        <p:tgtEl>
                                          <p:spTgt spid="14"/>
                                        </p:tgtEl>
                                        <p:attrNameLst>
                                          <p:attrName>ppt_h</p:attrName>
                                        </p:attrNameLst>
                                      </p:cBhvr>
                                      <p:tavLst>
                                        <p:tav tm="0">
                                          <p:val>
                                            <p:fltVal val="0"/>
                                          </p:val>
                                        </p:tav>
                                        <p:tav tm="100000">
                                          <p:val>
                                            <p:strVal val="#ppt_h"/>
                                          </p:val>
                                        </p:tav>
                                      </p:tavLst>
                                    </p:anim>
                                    <p:animEffect transition="in" filter="fade">
                                      <p:cBhvr>
                                        <p:cTn id="42" dur="600"/>
                                        <p:tgtEl>
                                          <p:spTgt spid="14"/>
                                        </p:tgtEl>
                                      </p:cBhvr>
                                    </p:animEffect>
                                  </p:childTnLst>
                                </p:cTn>
                              </p:par>
                              <p:par>
                                <p:cTn id="43" presetID="10" presetClass="entr" presetSubtype="0" fill="hold" grpId="0" nodeType="withEffect">
                                  <p:stCondLst>
                                    <p:cond delay="13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00"/>
                                        <p:tgtEl>
                                          <p:spTgt spid="15"/>
                                        </p:tgtEl>
                                      </p:cBhvr>
                                    </p:animEffect>
                                  </p:childTnLst>
                                </p:cTn>
                              </p:par>
                              <p:par>
                                <p:cTn id="46" presetID="53" presetClass="entr" presetSubtype="16" fill="hold" grpId="0" nodeType="withEffect">
                                  <p:stCondLst>
                                    <p:cond delay="1500"/>
                                  </p:stCondLst>
                                  <p:childTnLst>
                                    <p:set>
                                      <p:cBhvr>
                                        <p:cTn id="47" dur="1" fill="hold">
                                          <p:stCondLst>
                                            <p:cond delay="0"/>
                                          </p:stCondLst>
                                        </p:cTn>
                                        <p:tgtEl>
                                          <p:spTgt spid="16"/>
                                        </p:tgtEl>
                                        <p:attrNameLst>
                                          <p:attrName>style.visibility</p:attrName>
                                        </p:attrNameLst>
                                      </p:cBhvr>
                                      <p:to>
                                        <p:strVal val="visible"/>
                                      </p:to>
                                    </p:set>
                                    <p:anim calcmode="lin" valueType="num">
                                      <p:cBhvr>
                                        <p:cTn id="48" dur="600" fill="hold"/>
                                        <p:tgtEl>
                                          <p:spTgt spid="16"/>
                                        </p:tgtEl>
                                        <p:attrNameLst>
                                          <p:attrName>ppt_w</p:attrName>
                                        </p:attrNameLst>
                                      </p:cBhvr>
                                      <p:tavLst>
                                        <p:tav tm="0">
                                          <p:val>
                                            <p:fltVal val="0"/>
                                          </p:val>
                                        </p:tav>
                                        <p:tav tm="100000">
                                          <p:val>
                                            <p:strVal val="#ppt_w"/>
                                          </p:val>
                                        </p:tav>
                                      </p:tavLst>
                                    </p:anim>
                                    <p:anim calcmode="lin" valueType="num">
                                      <p:cBhvr>
                                        <p:cTn id="49" dur="600" fill="hold"/>
                                        <p:tgtEl>
                                          <p:spTgt spid="16"/>
                                        </p:tgtEl>
                                        <p:attrNameLst>
                                          <p:attrName>ppt_h</p:attrName>
                                        </p:attrNameLst>
                                      </p:cBhvr>
                                      <p:tavLst>
                                        <p:tav tm="0">
                                          <p:val>
                                            <p:fltVal val="0"/>
                                          </p:val>
                                        </p:tav>
                                        <p:tav tm="100000">
                                          <p:val>
                                            <p:strVal val="#ppt_h"/>
                                          </p:val>
                                        </p:tav>
                                      </p:tavLst>
                                    </p:anim>
                                    <p:animEffect transition="in" filter="fade">
                                      <p:cBhvr>
                                        <p:cTn id="50" dur="600"/>
                                        <p:tgtEl>
                                          <p:spTgt spid="16"/>
                                        </p:tgtEl>
                                      </p:cBhvr>
                                    </p:animEffect>
                                  </p:childTnLst>
                                </p:cTn>
                              </p:par>
                              <p:par>
                                <p:cTn id="51" presetID="53" presetClass="entr" presetSubtype="16" fill="hold" grpId="0" nodeType="withEffect">
                                  <p:stCondLst>
                                    <p:cond delay="1500"/>
                                  </p:stCondLst>
                                  <p:childTnLst>
                                    <p:set>
                                      <p:cBhvr>
                                        <p:cTn id="52" dur="1" fill="hold">
                                          <p:stCondLst>
                                            <p:cond delay="0"/>
                                          </p:stCondLst>
                                        </p:cTn>
                                        <p:tgtEl>
                                          <p:spTgt spid="17"/>
                                        </p:tgtEl>
                                        <p:attrNameLst>
                                          <p:attrName>style.visibility</p:attrName>
                                        </p:attrNameLst>
                                      </p:cBhvr>
                                      <p:to>
                                        <p:strVal val="visible"/>
                                      </p:to>
                                    </p:set>
                                    <p:anim calcmode="lin" valueType="num">
                                      <p:cBhvr>
                                        <p:cTn id="53" dur="600" fill="hold"/>
                                        <p:tgtEl>
                                          <p:spTgt spid="17"/>
                                        </p:tgtEl>
                                        <p:attrNameLst>
                                          <p:attrName>ppt_w</p:attrName>
                                        </p:attrNameLst>
                                      </p:cBhvr>
                                      <p:tavLst>
                                        <p:tav tm="0">
                                          <p:val>
                                            <p:fltVal val="0"/>
                                          </p:val>
                                        </p:tav>
                                        <p:tav tm="100000">
                                          <p:val>
                                            <p:strVal val="#ppt_w"/>
                                          </p:val>
                                        </p:tav>
                                      </p:tavLst>
                                    </p:anim>
                                    <p:anim calcmode="lin" valueType="num">
                                      <p:cBhvr>
                                        <p:cTn id="54" dur="600" fill="hold"/>
                                        <p:tgtEl>
                                          <p:spTgt spid="17"/>
                                        </p:tgtEl>
                                        <p:attrNameLst>
                                          <p:attrName>ppt_h</p:attrName>
                                        </p:attrNameLst>
                                      </p:cBhvr>
                                      <p:tavLst>
                                        <p:tav tm="0">
                                          <p:val>
                                            <p:fltVal val="0"/>
                                          </p:val>
                                        </p:tav>
                                        <p:tav tm="100000">
                                          <p:val>
                                            <p:strVal val="#ppt_h"/>
                                          </p:val>
                                        </p:tav>
                                      </p:tavLst>
                                    </p:anim>
                                    <p:animEffect transition="in" filter="fade">
                                      <p:cBhvr>
                                        <p:cTn id="55" dur="600"/>
                                        <p:tgtEl>
                                          <p:spTgt spid="17"/>
                                        </p:tgtEl>
                                      </p:cBhvr>
                                    </p:animEffect>
                                  </p:childTnLst>
                                </p:cTn>
                              </p:par>
                              <p:par>
                                <p:cTn id="56" presetID="10" presetClass="entr" presetSubtype="0" fill="hold" grpId="0" nodeType="withEffect">
                                  <p:stCondLst>
                                    <p:cond delay="15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2" grpId="0" animBg="1"/>
      <p:bldP spid="15" grpId="0" animBg="1"/>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247120" y="-1097280"/>
            <a:ext cx="1828800" cy="1828800"/>
          </a:xfrm>
          <a:prstGeom prst="ellipse">
            <a:avLst/>
          </a:prstGeom>
          <a:solidFill>
            <a:srgbClr val="1B3F9E"/>
          </a:solidFill>
          <a:ln w="12700">
            <a:solidFill>
              <a:srgbClr val="1B3F9E"/>
            </a:solidFill>
            <a:prstDash val="solid"/>
          </a:ln>
        </p:spPr>
      </p:sp>
      <p:sp>
        <p:nvSpPr>
          <p:cNvPr id="3" name="!!orbG"/>
          <p:cNvSpPr/>
          <p:nvPr/>
        </p:nvSpPr>
        <p:spPr>
          <a:xfrm>
            <a:off x="11643055" y="-636422"/>
            <a:ext cx="1097280" cy="1097280"/>
          </a:xfrm>
          <a:prstGeom prst="ellipse">
            <a:avLst/>
          </a:prstGeom>
          <a:solidFill>
            <a:srgbClr val="00923A"/>
          </a:solidFill>
          <a:ln w="12700">
            <a:solidFill>
              <a:srgbClr val="00923A"/>
            </a:solidFill>
            <a:prstDash val="solid"/>
          </a:ln>
        </p:spPr>
      </p:sp>
      <p:sp>
        <p:nvSpPr>
          <p:cNvPr id="4" name="!!orbY"/>
          <p:cNvSpPr/>
          <p:nvPr/>
        </p:nvSpPr>
        <p:spPr>
          <a:xfrm>
            <a:off x="-548640" y="6263640"/>
            <a:ext cx="822960" cy="822960"/>
          </a:xfrm>
          <a:prstGeom prst="ellipse">
            <a:avLst/>
          </a:prstGeom>
          <a:solidFill>
            <a:srgbClr val="FFFFFF">
              <a:alpha val="0"/>
            </a:srgbClr>
          </a:solidFill>
          <a:ln w="6858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HYPOTHÈSES DE RECHERCHE</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Trois hypothèses à vérifier sur le terrain</a:t>
            </a:r>
            <a:endParaRPr lang="fr-FR" sz="3200" dirty="0"/>
          </a:p>
        </p:txBody>
      </p:sp>
      <p:sp>
        <p:nvSpPr>
          <p:cNvPr id="7" name="h0"/>
          <p:cNvSpPr/>
          <p:nvPr/>
        </p:nvSpPr>
        <p:spPr>
          <a:xfrm>
            <a:off x="640080" y="1920240"/>
            <a:ext cx="3318358" cy="3291840"/>
          </a:xfrm>
          <a:prstGeom prst="roundRect">
            <a:avLst>
              <a:gd name="adj" fmla="val 3333"/>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hi0c"/>
          <p:cNvSpPr/>
          <p:nvPr/>
        </p:nvSpPr>
        <p:spPr>
          <a:xfrm>
            <a:off x="945718" y="2240280"/>
            <a:ext cx="742264" cy="777240"/>
          </a:xfrm>
          <a:prstGeom prst="ellipse">
            <a:avLst/>
          </a:prstGeom>
          <a:solidFill>
            <a:srgbClr val="1B3F9E"/>
          </a:solidFill>
          <a:ln w="12700">
            <a:solidFill>
              <a:srgbClr val="1B3F9E"/>
            </a:solidFill>
            <a:prstDash val="solid"/>
          </a:ln>
        </p:spPr>
      </p:sp>
      <p:pic>
        <p:nvPicPr>
          <p:cNvPr id="9" name="hi0i" descr="preencoded.png">    </p:cNvPr>
          <p:cNvPicPr>
            <a:picLocks noChangeAspect="1"/>
          </p:cNvPicPr>
          <p:nvPr/>
        </p:nvPicPr>
        <p:blipFill>
          <a:blip r:embed="rId1"/>
          <a:stretch>
            <a:fillRect/>
          </a:stretch>
        </p:blipFill>
        <p:spPr>
          <a:xfrm>
            <a:off x="1138707" y="2442362"/>
            <a:ext cx="356287" cy="373075"/>
          </a:xfrm>
          <a:prstGeom prst="rect">
            <a:avLst/>
          </a:prstGeom>
        </p:spPr>
      </p:pic>
      <p:sp>
        <p:nvSpPr>
          <p:cNvPr id="10" name="hc0"/>
          <p:cNvSpPr txBox="1"/>
          <p:nvPr/>
        </p:nvSpPr>
        <p:spPr>
          <a:xfrm>
            <a:off x="1862633" y="2395728"/>
            <a:ext cx="1746504" cy="457200"/>
          </a:xfrm>
          <a:prstGeom prst="rect">
            <a:avLst/>
          </a:prstGeom>
          <a:noFill/>
          <a:ln/>
        </p:spPr>
        <p:txBody>
          <a:bodyPr wrap="square" lIns="0" tIns="0" rIns="0" bIns="0" rtlCol="0" anchor="t"/>
          <a:lstStyle/>
          <a:p>
            <a:pPr indent="0" marL="0">
              <a:buNone/>
            </a:pPr>
            <a:r>
              <a:rPr lang="fr-FR" altLang="en-US" sz="2600" b="1" dirty="0">
                <a:solidFill>
                  <a:srgbClr val="1B3F9E"/>
                </a:solidFill>
                <a:latin typeface="Calibri" pitchFamily="34" charset="0"/>
                <a:ea typeface="Calibri" pitchFamily="34" charset="-122"/>
                <a:cs typeface="Calibri" pitchFamily="34" charset="-120"/>
              </a:rPr>
              <a:t>HS1</a:t>
            </a:r>
            <a:endParaRPr lang="fr-FR" sz="2600" dirty="0"/>
          </a:p>
        </p:txBody>
      </p:sp>
      <p:sp>
        <p:nvSpPr>
          <p:cNvPr id="11" name="ht0"/>
          <p:cNvSpPr txBox="1"/>
          <p:nvPr/>
        </p:nvSpPr>
        <p:spPr>
          <a:xfrm>
            <a:off x="945718" y="3246120"/>
            <a:ext cx="2750744" cy="182880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Le circuit est formellement structuré, mais son application dépend de la disponibilité des responsables habilités à signer.</a:t>
            </a:r>
            <a:endParaRPr lang="fr-FR" sz="1600" dirty="0"/>
          </a:p>
        </p:txBody>
      </p:sp>
      <p:sp>
        <p:nvSpPr>
          <p:cNvPr id="12" name="h1"/>
          <p:cNvSpPr/>
          <p:nvPr/>
        </p:nvSpPr>
        <p:spPr>
          <a:xfrm>
            <a:off x="4220413" y="1920240"/>
            <a:ext cx="3318358" cy="3291840"/>
          </a:xfrm>
          <a:prstGeom prst="roundRect">
            <a:avLst>
              <a:gd name="adj" fmla="val 3333"/>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3" name="hi1c"/>
          <p:cNvSpPr/>
          <p:nvPr/>
        </p:nvSpPr>
        <p:spPr>
          <a:xfrm>
            <a:off x="4526051" y="2240280"/>
            <a:ext cx="742264" cy="777240"/>
          </a:xfrm>
          <a:prstGeom prst="ellipse">
            <a:avLst/>
          </a:prstGeom>
          <a:solidFill>
            <a:srgbClr val="00923A"/>
          </a:solidFill>
          <a:ln w="12700">
            <a:solidFill>
              <a:srgbClr val="00923A"/>
            </a:solidFill>
            <a:prstDash val="solid"/>
          </a:ln>
        </p:spPr>
      </p:sp>
      <p:pic>
        <p:nvPicPr>
          <p:cNvPr id="14" name="hi1i" descr="preencoded.png">    </p:cNvPr>
          <p:cNvPicPr>
            <a:picLocks noChangeAspect="1"/>
          </p:cNvPicPr>
          <p:nvPr/>
        </p:nvPicPr>
        <p:blipFill>
          <a:blip r:embed="rId2"/>
          <a:stretch>
            <a:fillRect/>
          </a:stretch>
        </p:blipFill>
        <p:spPr>
          <a:xfrm>
            <a:off x="4719040" y="2442362"/>
            <a:ext cx="356287" cy="373075"/>
          </a:xfrm>
          <a:prstGeom prst="rect">
            <a:avLst/>
          </a:prstGeom>
        </p:spPr>
      </p:pic>
      <p:sp>
        <p:nvSpPr>
          <p:cNvPr id="15" name="hc1"/>
          <p:cNvSpPr txBox="1"/>
          <p:nvPr/>
        </p:nvSpPr>
        <p:spPr>
          <a:xfrm>
            <a:off x="5442966" y="2395728"/>
            <a:ext cx="1746504" cy="457200"/>
          </a:xfrm>
          <a:prstGeom prst="rect">
            <a:avLst/>
          </a:prstGeom>
          <a:noFill/>
          <a:ln/>
        </p:spPr>
        <p:txBody>
          <a:bodyPr wrap="square" lIns="0" tIns="0" rIns="0" bIns="0" rtlCol="0" anchor="t"/>
          <a:lstStyle/>
          <a:p>
            <a:pPr indent="0" marL="0">
              <a:buNone/>
            </a:pPr>
            <a:r>
              <a:rPr lang="fr-FR" altLang="en-US" sz="2600" b="1" dirty="0">
                <a:solidFill>
                  <a:srgbClr val="00923A"/>
                </a:solidFill>
                <a:latin typeface="Calibri" pitchFamily="34" charset="0"/>
                <a:ea typeface="Calibri" pitchFamily="34" charset="-122"/>
                <a:cs typeface="Calibri" pitchFamily="34" charset="-120"/>
              </a:rPr>
              <a:t>HS2</a:t>
            </a:r>
            <a:endParaRPr lang="fr-FR" sz="2600" dirty="0"/>
          </a:p>
        </p:txBody>
      </p:sp>
      <p:sp>
        <p:nvSpPr>
          <p:cNvPr id="16" name="ht1"/>
          <p:cNvSpPr txBox="1"/>
          <p:nvPr/>
        </p:nvSpPr>
        <p:spPr>
          <a:xfrm>
            <a:off x="4526051" y="3246120"/>
            <a:ext cx="2750744" cy="182880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L’insuffisance des moyens matériels et logistiques ralentit le traitement et le suivi des courriers.</a:t>
            </a:r>
            <a:endParaRPr lang="fr-FR" sz="1600" dirty="0"/>
          </a:p>
        </p:txBody>
      </p:sp>
      <p:sp>
        <p:nvSpPr>
          <p:cNvPr id="17" name="h2"/>
          <p:cNvSpPr/>
          <p:nvPr/>
        </p:nvSpPr>
        <p:spPr>
          <a:xfrm>
            <a:off x="7800746" y="1920240"/>
            <a:ext cx="3318358" cy="3291840"/>
          </a:xfrm>
          <a:prstGeom prst="roundRect">
            <a:avLst>
              <a:gd name="adj" fmla="val 3333"/>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8" name="hi2c"/>
          <p:cNvSpPr/>
          <p:nvPr/>
        </p:nvSpPr>
        <p:spPr>
          <a:xfrm>
            <a:off x="8106385" y="2240280"/>
            <a:ext cx="742264" cy="777240"/>
          </a:xfrm>
          <a:prstGeom prst="ellipse">
            <a:avLst/>
          </a:prstGeom>
          <a:solidFill>
            <a:srgbClr val="E2A400"/>
          </a:solidFill>
          <a:ln w="12700">
            <a:solidFill>
              <a:srgbClr val="E2A400"/>
            </a:solidFill>
            <a:prstDash val="solid"/>
          </a:ln>
        </p:spPr>
      </p:sp>
      <p:pic>
        <p:nvPicPr>
          <p:cNvPr id="19" name="hi2i" descr="preencoded.png">    </p:cNvPr>
          <p:cNvPicPr>
            <a:picLocks noChangeAspect="1"/>
          </p:cNvPicPr>
          <p:nvPr/>
        </p:nvPicPr>
        <p:blipFill>
          <a:blip r:embed="rId3"/>
          <a:stretch>
            <a:fillRect/>
          </a:stretch>
        </p:blipFill>
        <p:spPr>
          <a:xfrm>
            <a:off x="8299373" y="2442362"/>
            <a:ext cx="356287" cy="373075"/>
          </a:xfrm>
          <a:prstGeom prst="rect">
            <a:avLst/>
          </a:prstGeom>
        </p:spPr>
      </p:pic>
      <p:sp>
        <p:nvSpPr>
          <p:cNvPr id="20" name="hc2"/>
          <p:cNvSpPr txBox="1"/>
          <p:nvPr/>
        </p:nvSpPr>
        <p:spPr>
          <a:xfrm>
            <a:off x="9023299" y="2395728"/>
            <a:ext cx="1746504" cy="457200"/>
          </a:xfrm>
          <a:prstGeom prst="rect">
            <a:avLst/>
          </a:prstGeom>
          <a:noFill/>
          <a:ln/>
        </p:spPr>
        <p:txBody>
          <a:bodyPr wrap="square" lIns="0" tIns="0" rIns="0" bIns="0" rtlCol="0" anchor="t"/>
          <a:lstStyle/>
          <a:p>
            <a:pPr indent="0" marL="0">
              <a:buNone/>
            </a:pPr>
            <a:r>
              <a:rPr lang="fr-FR" altLang="en-US" sz="2600" b="1" dirty="0">
                <a:solidFill>
                  <a:srgbClr val="9A6A00"/>
                </a:solidFill>
                <a:latin typeface="Calibri" pitchFamily="34" charset="0"/>
                <a:ea typeface="Calibri" pitchFamily="34" charset="-122"/>
                <a:cs typeface="Calibri" pitchFamily="34" charset="-120"/>
              </a:rPr>
              <a:t>HS3</a:t>
            </a:r>
            <a:endParaRPr lang="fr-FR" sz="2600" dirty="0"/>
          </a:p>
        </p:txBody>
      </p:sp>
      <p:sp>
        <p:nvSpPr>
          <p:cNvPr id="21" name="ht2"/>
          <p:cNvSpPr txBox="1"/>
          <p:nvPr/>
        </p:nvSpPr>
        <p:spPr>
          <a:xfrm>
            <a:off x="8106385" y="3246120"/>
            <a:ext cx="2750744" cy="182880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L’absence d’un outil numérique formalisé et de procédures écrites limite la traçabilité et l’harmonisation.</a:t>
            </a:r>
            <a:endParaRPr lang="fr-FR" sz="1600" dirty="0"/>
          </a:p>
        </p:txBody>
      </p:sp>
      <p:sp>
        <p:nvSpPr>
          <p:cNvPr id="22" name="og"/>
          <p:cNvSpPr/>
          <p:nvPr/>
        </p:nvSpPr>
        <p:spPr>
          <a:xfrm>
            <a:off x="640080" y="5440680"/>
            <a:ext cx="10479024" cy="685800"/>
          </a:xfrm>
          <a:prstGeom prst="roundRect">
            <a:avLst>
              <a:gd name="adj" fmla="val 16000"/>
            </a:avLst>
          </a:prstGeom>
          <a:solidFill>
            <a:srgbClr val="EEF2FB"/>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3" name="ogt"/>
          <p:cNvSpPr txBox="1"/>
          <p:nvPr/>
        </p:nvSpPr>
        <p:spPr>
          <a:xfrm>
            <a:off x="902056" y="5577840"/>
            <a:ext cx="10042398" cy="411480"/>
          </a:xfrm>
          <a:prstGeom prst="rect">
            <a:avLst/>
          </a:prstGeom>
          <a:noFill/>
          <a:ln/>
        </p:spPr>
        <p:txBody>
          <a:bodyPr wrap="square" lIns="0" tIns="0" rIns="0" bIns="0" rtlCol="0" anchor="ctr"/>
          <a:lstStyle/>
          <a:p>
            <a:pPr indent="0" marL="0">
              <a:buNone/>
            </a:pPr>
            <a:r>
              <a:rPr lang="fr-FR" altLang="en-US" sz="1500" b="1" dirty="0">
                <a:solidFill>
                  <a:srgbClr val="1B3F9E"/>
                </a:solidFill>
                <a:latin typeface="Calibri" pitchFamily="34" charset="0"/>
                <a:ea typeface="Calibri" pitchFamily="34" charset="-122"/>
                <a:cs typeface="Calibri" pitchFamily="34" charset="-120"/>
              </a:rPr>
              <a:t>Objectif général : </a:t>
            </a:r>
            <a:pPr indent="0" marL="0">
              <a:buNone/>
            </a:pPr>
            <a:r>
              <a:rPr lang="fr-FR" altLang="en-US" sz="1500" dirty="0">
                <a:solidFill>
                  <a:srgbClr val="0E1C46"/>
                </a:solidFill>
                <a:latin typeface="Calibri" pitchFamily="34" charset="0"/>
                <a:ea typeface="Calibri" pitchFamily="34" charset="-122"/>
                <a:cs typeface="Calibri" pitchFamily="34" charset="-120"/>
              </a:rPr>
              <a:t>analyser le fonctionnement du système, en identifier les forces et les faiblesses, et proposer des pistes d’amélioration.</a:t>
            </a:r>
            <a:endParaRPr lang="fr-FR" sz="1500" dirty="0"/>
          </a:p>
        </p:txBody>
      </p:sp>
      <p:pic>
        <p:nvPicPr>
          <p:cNvPr id="24" name="!!flogo" descr="preencoded.png">    </p:cNvPr>
          <p:cNvPicPr>
            <a:picLocks noChangeAspect="1"/>
          </p:cNvPicPr>
          <p:nvPr/>
        </p:nvPicPr>
        <p:blipFill>
          <a:blip r:embed="rId4"/>
          <a:stretch>
            <a:fillRect/>
          </a:stretch>
        </p:blipFill>
        <p:spPr>
          <a:xfrm>
            <a:off x="640080" y="6382512"/>
            <a:ext cx="329184" cy="274320"/>
          </a:xfrm>
          <a:prstGeom prst="rect">
            <a:avLst/>
          </a:prstGeom>
        </p:spPr>
      </p:pic>
      <p:sp>
        <p:nvSpPr>
          <p:cNvPr id="25"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6"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12 / 22</a:t>
            </a:r>
            <a:endParaRPr lang="fr-FR" sz="1000" dirty="0"/>
          </a:p>
        </p:txBody>
      </p:sp>
      <p:sp>
        <p:nvSpPr>
          <p:cNvPr id="27"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8" name="!!railline"/>
          <p:cNvSpPr/>
          <p:nvPr/>
        </p:nvSpPr>
        <p:spPr>
          <a:xfrm>
            <a:off x="11795760" y="1600200"/>
            <a:ext cx="914" cy="3383280"/>
          </a:xfrm>
          <a:prstGeom prst="line">
            <a:avLst/>
          </a:prstGeom>
          <a:noFill/>
          <a:ln w="25400">
            <a:solidFill>
              <a:srgbClr val="DDE3EE"/>
            </a:solidFill>
            <a:prstDash val="solid"/>
          </a:ln>
        </p:spPr>
      </p:sp>
      <p:sp>
        <p:nvSpPr>
          <p:cNvPr id="29" name="!!railprog"/>
          <p:cNvSpPr/>
          <p:nvPr/>
        </p:nvSpPr>
        <p:spPr>
          <a:xfrm>
            <a:off x="11795760" y="1600200"/>
            <a:ext cx="914" cy="2029968"/>
          </a:xfrm>
          <a:prstGeom prst="line">
            <a:avLst/>
          </a:prstGeom>
          <a:noFill/>
          <a:ln w="38100">
            <a:solidFill>
              <a:srgbClr val="00923A"/>
            </a:solidFill>
            <a:prstDash val="solid"/>
          </a:ln>
        </p:spPr>
      </p:sp>
      <p:sp>
        <p:nvSpPr>
          <p:cNvPr id="30" name="!!mact"/>
          <p:cNvSpPr/>
          <p:nvPr/>
        </p:nvSpPr>
        <p:spPr>
          <a:xfrm>
            <a:off x="11494008" y="3328416"/>
            <a:ext cx="603504" cy="603504"/>
          </a:xfrm>
          <a:prstGeom prst="ellipse">
            <a:avLst/>
          </a:prstGeom>
          <a:solidFill>
            <a:srgbClr val="FFFFFF">
              <a:alpha val="0"/>
            </a:srgbClr>
          </a:solidFill>
          <a:ln w="38100">
            <a:solidFill>
              <a:srgbClr val="FCC600"/>
            </a:solidFill>
            <a:prstDash val="solid"/>
          </a:ln>
        </p:spPr>
      </p:sp>
      <p:sp>
        <p:nvSpPr>
          <p:cNvPr id="31"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2" name="!!mt1">
            <a:hlinkClick r:id="rId5"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3"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34" name="!!mt2">
            <a:hlinkClick r:id="rId6"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5"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36" name="!!mt3">
            <a:hlinkClick r:id="rId7"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7" name="!!m4"/>
          <p:cNvSpPr/>
          <p:nvPr/>
        </p:nvSpPr>
        <p:spPr>
          <a:xfrm>
            <a:off x="11594592" y="3429000"/>
            <a:ext cx="402336" cy="402336"/>
          </a:xfrm>
          <a:prstGeom prst="ellipse">
            <a:avLst/>
          </a:prstGeom>
          <a:solidFill>
            <a:srgbClr val="1B3F9E"/>
          </a:solidFill>
          <a:ln w="19050">
            <a:solidFill>
              <a:srgbClr val="1B3F9E"/>
            </a:solidFill>
            <a:prstDash val="solid"/>
          </a:ln>
        </p:spPr>
      </p:sp>
      <p:sp>
        <p:nvSpPr>
          <p:cNvPr id="38" name="!!mt4">
            <a:hlinkClick r:id="rId8"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8"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39"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40" name="!!mt5">
            <a:hlinkClick r:id="rId9"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1"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2" name="!!mt6">
            <a:hlinkClick r:id="rId10"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0"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3"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OBJET D’ÉTUDE</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53" presetClass="entr" presetSubtype="16" fill="hold" grpId="0" nodeType="withEffect">
                                  <p:stCondLst>
                                    <p:cond delay="250"/>
                                  </p:stCondLst>
                                  <p:childTnLst>
                                    <p:set>
                                      <p:cBhvr>
                                        <p:cTn id="12" dur="1" fill="hold">
                                          <p:stCondLst>
                                            <p:cond delay="0"/>
                                          </p:stCondLst>
                                        </p:cTn>
                                        <p:tgtEl>
                                          <p:spTgt spid="7"/>
                                        </p:tgtEl>
                                        <p:attrNameLst>
                                          <p:attrName>style.visibility</p:attrName>
                                        </p:attrNameLst>
                                      </p:cBhvr>
                                      <p:to>
                                        <p:strVal val="visible"/>
                                      </p:to>
                                    </p:set>
                                    <p:anim calcmode="lin" valueType="num">
                                      <p:cBhvr>
                                        <p:cTn id="13" dur="600" fill="hold"/>
                                        <p:tgtEl>
                                          <p:spTgt spid="7"/>
                                        </p:tgtEl>
                                        <p:attrNameLst>
                                          <p:attrName>ppt_w</p:attrName>
                                        </p:attrNameLst>
                                      </p:cBhvr>
                                      <p:tavLst>
                                        <p:tav tm="0">
                                          <p:val>
                                            <p:fltVal val="0"/>
                                          </p:val>
                                        </p:tav>
                                        <p:tav tm="100000">
                                          <p:val>
                                            <p:strVal val="#ppt_w"/>
                                          </p:val>
                                        </p:tav>
                                      </p:tavLst>
                                    </p:anim>
                                    <p:anim calcmode="lin" valueType="num">
                                      <p:cBhvr>
                                        <p:cTn id="14" dur="600" fill="hold"/>
                                        <p:tgtEl>
                                          <p:spTgt spid="7"/>
                                        </p:tgtEl>
                                        <p:attrNameLst>
                                          <p:attrName>ppt_h</p:attrName>
                                        </p:attrNameLst>
                                      </p:cBhvr>
                                      <p:tavLst>
                                        <p:tav tm="0">
                                          <p:val>
                                            <p:fltVal val="0"/>
                                          </p:val>
                                        </p:tav>
                                        <p:tav tm="100000">
                                          <p:val>
                                            <p:strVal val="#ppt_h"/>
                                          </p:val>
                                        </p:tav>
                                      </p:tavLst>
                                    </p:anim>
                                    <p:animEffect transition="in" filter="fade">
                                      <p:cBhvr>
                                        <p:cTn id="15" dur="600"/>
                                        <p:tgtEl>
                                          <p:spTgt spid="7"/>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19" presetID="10" presetClass="entr" presetSubtype="0" fill="hold" grpId="0" nodeType="withEffect">
                                  <p:stCondLst>
                                    <p:cond delay="2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10" presetClass="entr" presetSubtype="0" fill="hold" grpId="0" nodeType="withEffect">
                                  <p:stCondLst>
                                    <p:cond delay="25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600"/>
                                        <p:tgtEl>
                                          <p:spTgt spid="10"/>
                                        </p:tgtEl>
                                      </p:cBhvr>
                                    </p:animEffect>
                                  </p:childTnLst>
                                </p:cTn>
                              </p:par>
                              <p:par>
                                <p:cTn id="25" presetID="10" presetClass="entr" presetSubtype="0" fill="hold" grpId="0" nodeType="withEffect">
                                  <p:stCondLst>
                                    <p:cond delay="2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00"/>
                                        <p:tgtEl>
                                          <p:spTgt spid="11"/>
                                        </p:tgtEl>
                                      </p:cBhvr>
                                    </p:animEffect>
                                  </p:childTnLst>
                                </p:cTn>
                              </p:par>
                              <p:par>
                                <p:cTn id="28" presetID="53" presetClass="entr" presetSubtype="16" fill="hold" grpId="0" nodeType="withEffect">
                                  <p:stCondLst>
                                    <p:cond delay="600"/>
                                  </p:stCondLst>
                                  <p:childTnLst>
                                    <p:set>
                                      <p:cBhvr>
                                        <p:cTn id="29" dur="1" fill="hold">
                                          <p:stCondLst>
                                            <p:cond delay="0"/>
                                          </p:stCondLst>
                                        </p:cTn>
                                        <p:tgtEl>
                                          <p:spTgt spid="12"/>
                                        </p:tgtEl>
                                        <p:attrNameLst>
                                          <p:attrName>style.visibility</p:attrName>
                                        </p:attrNameLst>
                                      </p:cBhvr>
                                      <p:to>
                                        <p:strVal val="visible"/>
                                      </p:to>
                                    </p:set>
                                    <p:anim calcmode="lin" valueType="num">
                                      <p:cBhvr>
                                        <p:cTn id="30" dur="600" fill="hold"/>
                                        <p:tgtEl>
                                          <p:spTgt spid="12"/>
                                        </p:tgtEl>
                                        <p:attrNameLst>
                                          <p:attrName>ppt_w</p:attrName>
                                        </p:attrNameLst>
                                      </p:cBhvr>
                                      <p:tavLst>
                                        <p:tav tm="0">
                                          <p:val>
                                            <p:fltVal val="0"/>
                                          </p:val>
                                        </p:tav>
                                        <p:tav tm="100000">
                                          <p:val>
                                            <p:strVal val="#ppt_w"/>
                                          </p:val>
                                        </p:tav>
                                      </p:tavLst>
                                    </p:anim>
                                    <p:anim calcmode="lin" valueType="num">
                                      <p:cBhvr>
                                        <p:cTn id="31" dur="600" fill="hold"/>
                                        <p:tgtEl>
                                          <p:spTgt spid="12"/>
                                        </p:tgtEl>
                                        <p:attrNameLst>
                                          <p:attrName>ppt_h</p:attrName>
                                        </p:attrNameLst>
                                      </p:cBhvr>
                                      <p:tavLst>
                                        <p:tav tm="0">
                                          <p:val>
                                            <p:fltVal val="0"/>
                                          </p:val>
                                        </p:tav>
                                        <p:tav tm="100000">
                                          <p:val>
                                            <p:strVal val="#ppt_h"/>
                                          </p:val>
                                        </p:tav>
                                      </p:tavLst>
                                    </p:anim>
                                    <p:animEffect transition="in" filter="fade">
                                      <p:cBhvr>
                                        <p:cTn id="32" dur="600"/>
                                        <p:tgtEl>
                                          <p:spTgt spid="12"/>
                                        </p:tgtEl>
                                      </p:cBhvr>
                                    </p:animEffect>
                                  </p:childTnLst>
                                </p:cTn>
                              </p:par>
                              <p:par>
                                <p:cTn id="33" presetID="10" presetClass="entr" presetSubtype="0" fill="hold" grpId="0" nodeType="withEffect">
                                  <p:stCondLst>
                                    <p:cond delay="6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600"/>
                                        <p:tgtEl>
                                          <p:spTgt spid="13"/>
                                        </p:tgtEl>
                                      </p:cBhvr>
                                    </p:animEffect>
                                  </p:childTnLst>
                                </p:cTn>
                              </p:par>
                              <p:par>
                                <p:cTn id="36" presetID="10" presetClass="entr" presetSubtype="0" fill="hold" grpId="0" nodeType="withEffect">
                                  <p:stCondLst>
                                    <p:cond delay="60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childTnLst>
                                </p:cTn>
                              </p:par>
                              <p:par>
                                <p:cTn id="39" presetID="10" presetClass="entr" presetSubtype="0" fill="hold" grpId="0" nodeType="withEffect">
                                  <p:stCondLst>
                                    <p:cond delay="6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600"/>
                                        <p:tgtEl>
                                          <p:spTgt spid="15"/>
                                        </p:tgtEl>
                                      </p:cBhvr>
                                    </p:animEffect>
                                  </p:childTnLst>
                                </p:cTn>
                              </p:par>
                              <p:par>
                                <p:cTn id="42" presetID="10" presetClass="entr" presetSubtype="0" fill="hold" grpId="0" nodeType="withEffect">
                                  <p:stCondLst>
                                    <p:cond delay="6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600"/>
                                        <p:tgtEl>
                                          <p:spTgt spid="16"/>
                                        </p:tgtEl>
                                      </p:cBhvr>
                                    </p:animEffect>
                                  </p:childTnLst>
                                </p:cTn>
                              </p:par>
                              <p:par>
                                <p:cTn id="45" presetID="53" presetClass="entr" presetSubtype="16" fill="hold" grpId="0" nodeType="withEffect">
                                  <p:stCondLst>
                                    <p:cond delay="950"/>
                                  </p:stCondLst>
                                  <p:childTnLst>
                                    <p:set>
                                      <p:cBhvr>
                                        <p:cTn id="46" dur="1" fill="hold">
                                          <p:stCondLst>
                                            <p:cond delay="0"/>
                                          </p:stCondLst>
                                        </p:cTn>
                                        <p:tgtEl>
                                          <p:spTgt spid="17"/>
                                        </p:tgtEl>
                                        <p:attrNameLst>
                                          <p:attrName>style.visibility</p:attrName>
                                        </p:attrNameLst>
                                      </p:cBhvr>
                                      <p:to>
                                        <p:strVal val="visible"/>
                                      </p:to>
                                    </p:set>
                                    <p:anim calcmode="lin" valueType="num">
                                      <p:cBhvr>
                                        <p:cTn id="47" dur="600" fill="hold"/>
                                        <p:tgtEl>
                                          <p:spTgt spid="17"/>
                                        </p:tgtEl>
                                        <p:attrNameLst>
                                          <p:attrName>ppt_w</p:attrName>
                                        </p:attrNameLst>
                                      </p:cBhvr>
                                      <p:tavLst>
                                        <p:tav tm="0">
                                          <p:val>
                                            <p:fltVal val="0"/>
                                          </p:val>
                                        </p:tav>
                                        <p:tav tm="100000">
                                          <p:val>
                                            <p:strVal val="#ppt_w"/>
                                          </p:val>
                                        </p:tav>
                                      </p:tavLst>
                                    </p:anim>
                                    <p:anim calcmode="lin" valueType="num">
                                      <p:cBhvr>
                                        <p:cTn id="48" dur="600" fill="hold"/>
                                        <p:tgtEl>
                                          <p:spTgt spid="17"/>
                                        </p:tgtEl>
                                        <p:attrNameLst>
                                          <p:attrName>ppt_h</p:attrName>
                                        </p:attrNameLst>
                                      </p:cBhvr>
                                      <p:tavLst>
                                        <p:tav tm="0">
                                          <p:val>
                                            <p:fltVal val="0"/>
                                          </p:val>
                                        </p:tav>
                                        <p:tav tm="100000">
                                          <p:val>
                                            <p:strVal val="#ppt_h"/>
                                          </p:val>
                                        </p:tav>
                                      </p:tavLst>
                                    </p:anim>
                                    <p:animEffect transition="in" filter="fade">
                                      <p:cBhvr>
                                        <p:cTn id="49" dur="600"/>
                                        <p:tgtEl>
                                          <p:spTgt spid="17"/>
                                        </p:tgtEl>
                                      </p:cBhvr>
                                    </p:animEffect>
                                  </p:childTnLst>
                                </p:cTn>
                              </p:par>
                              <p:par>
                                <p:cTn id="50" presetID="10" presetClass="entr" presetSubtype="0" fill="hold" grpId="0" nodeType="withEffect">
                                  <p:stCondLst>
                                    <p:cond delay="95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600"/>
                                        <p:tgtEl>
                                          <p:spTgt spid="18"/>
                                        </p:tgtEl>
                                      </p:cBhvr>
                                    </p:animEffect>
                                  </p:childTnLst>
                                </p:cTn>
                              </p:par>
                              <p:par>
                                <p:cTn id="53" presetID="10" presetClass="entr" presetSubtype="0" fill="hold" grpId="0" nodeType="withEffect">
                                  <p:stCondLst>
                                    <p:cond delay="95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600"/>
                                        <p:tgtEl>
                                          <p:spTgt spid="19"/>
                                        </p:tgtEl>
                                      </p:cBhvr>
                                    </p:animEffect>
                                  </p:childTnLst>
                                </p:cTn>
                              </p:par>
                              <p:par>
                                <p:cTn id="56" presetID="10" presetClass="entr" presetSubtype="0" fill="hold" grpId="0" nodeType="withEffect">
                                  <p:stCondLst>
                                    <p:cond delay="95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600"/>
                                        <p:tgtEl>
                                          <p:spTgt spid="20"/>
                                        </p:tgtEl>
                                      </p:cBhvr>
                                    </p:animEffect>
                                  </p:childTnLst>
                                </p:cTn>
                              </p:par>
                              <p:par>
                                <p:cTn id="59" presetID="10" presetClass="entr" presetSubtype="0" fill="hold" grpId="0" nodeType="withEffect">
                                  <p:stCondLst>
                                    <p:cond delay="95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600"/>
                                        <p:tgtEl>
                                          <p:spTgt spid="21"/>
                                        </p:tgtEl>
                                      </p:cBhvr>
                                    </p:animEffect>
                                  </p:childTnLst>
                                </p:cTn>
                              </p:par>
                              <p:par>
                                <p:cTn id="62" presetID="22" presetClass="entr" presetSubtype="8" fill="hold" grpId="0" nodeType="withEffect">
                                  <p:stCondLst>
                                    <p:cond delay="1400"/>
                                  </p:stCondLst>
                                  <p:childTnLst>
                                    <p:set>
                                      <p:cBhvr>
                                        <p:cTn id="63" dur="1" fill="hold">
                                          <p:stCondLst>
                                            <p:cond delay="0"/>
                                          </p:stCondLst>
                                        </p:cTn>
                                        <p:tgtEl>
                                          <p:spTgt spid="22"/>
                                        </p:tgtEl>
                                        <p:attrNameLst>
                                          <p:attrName>style.visibility</p:attrName>
                                        </p:attrNameLst>
                                      </p:cBhvr>
                                      <p:to>
                                        <p:strVal val="visible"/>
                                      </p:to>
                                    </p:set>
                                    <p:animEffect transition="in" filter="wipe(left)">
                                      <p:cBhvr>
                                        <p:cTn id="64" dur="600"/>
                                        <p:tgtEl>
                                          <p:spTgt spid="22"/>
                                        </p:tgtEl>
                                      </p:cBhvr>
                                    </p:animEffect>
                                  </p:childTnLst>
                                </p:cTn>
                              </p:par>
                              <p:par>
                                <p:cTn id="65" presetID="10" presetClass="entr" presetSubtype="0" fill="hold" grpId="0" nodeType="withEffect">
                                  <p:stCondLst>
                                    <p:cond delay="145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11" grpId="0" animBg="1"/>
      <p:bldP spid="15" grpId="0" animBg="1"/>
      <p:bldP spid="16" grpId="0" animBg="1"/>
      <p:bldP spid="20" grpId="0" animBg="1"/>
      <p:bldP spid="21" grpId="0" animBg="1"/>
      <p:bldP spid="2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094415" y="-1272845"/>
            <a:ext cx="2194560" cy="2194560"/>
          </a:xfrm>
          <a:prstGeom prst="ellipse">
            <a:avLst/>
          </a:prstGeom>
          <a:solidFill>
            <a:srgbClr val="1B3F9E"/>
          </a:solidFill>
          <a:ln w="12700">
            <a:solidFill>
              <a:srgbClr val="1B3F9E"/>
            </a:solidFill>
            <a:prstDash val="solid"/>
          </a:ln>
        </p:spPr>
      </p:sp>
      <p:sp>
        <p:nvSpPr>
          <p:cNvPr id="3" name="!!orbG"/>
          <p:cNvSpPr/>
          <p:nvPr/>
        </p:nvSpPr>
        <p:spPr>
          <a:xfrm>
            <a:off x="11155680" y="-822960"/>
            <a:ext cx="1463040" cy="1463040"/>
          </a:xfrm>
          <a:prstGeom prst="ellipse">
            <a:avLst/>
          </a:prstGeom>
          <a:solidFill>
            <a:srgbClr val="00923A"/>
          </a:solidFill>
          <a:ln w="12700">
            <a:solidFill>
              <a:srgbClr val="00923A"/>
            </a:solidFill>
            <a:prstDash val="solid"/>
          </a:ln>
        </p:spPr>
      </p:sp>
      <p:sp>
        <p:nvSpPr>
          <p:cNvPr id="4" name="!!orbY"/>
          <p:cNvSpPr/>
          <p:nvPr/>
        </p:nvSpPr>
        <p:spPr>
          <a:xfrm>
            <a:off x="-548640" y="6217920"/>
            <a:ext cx="914400" cy="914400"/>
          </a:xfrm>
          <a:prstGeom prst="ellipse">
            <a:avLst/>
          </a:prstGeom>
          <a:solidFill>
            <a:srgbClr val="FFFFFF">
              <a:alpha val="0"/>
            </a:srgbClr>
          </a:solidFill>
          <a:ln w="7620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MÉTHODOLOGIE</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Une approche qualitative et trois sources croisées</a:t>
            </a:r>
            <a:endParaRPr lang="fr-FR" sz="3200" dirty="0"/>
          </a:p>
        </p:txBody>
      </p:sp>
      <p:sp>
        <p:nvSpPr>
          <p:cNvPr id="7" name="m0"/>
          <p:cNvSpPr/>
          <p:nvPr/>
        </p:nvSpPr>
        <p:spPr>
          <a:xfrm>
            <a:off x="640080" y="1920240"/>
            <a:ext cx="6636715" cy="1051560"/>
          </a:xfrm>
          <a:prstGeom prst="roundRect">
            <a:avLst>
              <a:gd name="adj" fmla="val 1043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mi0c"/>
          <p:cNvSpPr/>
          <p:nvPr/>
        </p:nvSpPr>
        <p:spPr>
          <a:xfrm>
            <a:off x="858393" y="2103120"/>
            <a:ext cx="654939" cy="685800"/>
          </a:xfrm>
          <a:prstGeom prst="ellipse">
            <a:avLst/>
          </a:prstGeom>
          <a:solidFill>
            <a:srgbClr val="1B3F9E"/>
          </a:solidFill>
          <a:ln w="12700">
            <a:solidFill>
              <a:srgbClr val="1B3F9E"/>
            </a:solidFill>
            <a:prstDash val="solid"/>
          </a:ln>
        </p:spPr>
      </p:sp>
      <p:pic>
        <p:nvPicPr>
          <p:cNvPr id="9" name="mi0i" descr="preencoded.png">    </p:cNvPr>
          <p:cNvPicPr>
            <a:picLocks noChangeAspect="1"/>
          </p:cNvPicPr>
          <p:nvPr/>
        </p:nvPicPr>
        <p:blipFill>
          <a:blip r:embed="rId1"/>
          <a:stretch>
            <a:fillRect/>
          </a:stretch>
        </p:blipFill>
        <p:spPr>
          <a:xfrm>
            <a:off x="1028677" y="2281428"/>
            <a:ext cx="314371" cy="329184"/>
          </a:xfrm>
          <a:prstGeom prst="rect">
            <a:avLst/>
          </a:prstGeom>
        </p:spPr>
      </p:pic>
      <p:sp>
        <p:nvSpPr>
          <p:cNvPr id="10" name="mt0"/>
          <p:cNvSpPr txBox="1"/>
          <p:nvPr/>
        </p:nvSpPr>
        <p:spPr>
          <a:xfrm>
            <a:off x="1731645" y="2075688"/>
            <a:ext cx="5326837" cy="777240"/>
          </a:xfrm>
          <a:prstGeom prst="rect">
            <a:avLst/>
          </a:prstGeom>
          <a:noFill/>
          <a:ln/>
        </p:spPr>
        <p:txBody>
          <a:bodyPr wrap="square" lIns="0" tIns="0" rIns="0" bIns="0" rtlCol="0" anchor="t"/>
          <a:lstStyle/>
          <a:p>
            <a:pPr indent="0" marL="0">
              <a:buNone/>
            </a:pPr>
            <a:r>
              <a:rPr lang="fr-FR" altLang="en-US" sz="1800" b="1" dirty="0">
                <a:solidFill>
                  <a:srgbClr val="0E1C46"/>
                </a:solidFill>
                <a:latin typeface="Calibri" pitchFamily="34" charset="0"/>
                <a:ea typeface="Calibri" pitchFamily="34" charset="-122"/>
                <a:cs typeface="Calibri" pitchFamily="34" charset="-120"/>
              </a:rPr>
              <a:t>Observation participante</a:t>
            </a:r>
            <a:endParaRPr lang="fr-FR" sz="1800" dirty="0"/>
          </a:p>
          <a:p>
            <a:pPr indent="0" marL="0">
              <a:buNone/>
            </a:pPr>
            <a:r>
              <a:rPr lang="fr-FR" altLang="en-US" sz="1400" dirty="0">
                <a:solidFill>
                  <a:srgbClr val="56617C"/>
                </a:solidFill>
                <a:latin typeface="Calibri" pitchFamily="34" charset="0"/>
                <a:ea typeface="Calibri" pitchFamily="34" charset="-122"/>
                <a:cs typeface="Calibri" pitchFamily="34" charset="-120"/>
              </a:rPr>
              <a:t>3 mois au secrétariat général, consignés dans un journal de bord.</a:t>
            </a:r>
            <a:endParaRPr lang="fr-FR" sz="1800" dirty="0"/>
          </a:p>
        </p:txBody>
      </p:sp>
      <p:sp>
        <p:nvSpPr>
          <p:cNvPr id="11" name="m1"/>
          <p:cNvSpPr/>
          <p:nvPr/>
        </p:nvSpPr>
        <p:spPr>
          <a:xfrm>
            <a:off x="640080" y="3154680"/>
            <a:ext cx="6636715" cy="1051560"/>
          </a:xfrm>
          <a:prstGeom prst="roundRect">
            <a:avLst>
              <a:gd name="adj" fmla="val 1043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2" name="mi1c"/>
          <p:cNvSpPr/>
          <p:nvPr/>
        </p:nvSpPr>
        <p:spPr>
          <a:xfrm>
            <a:off x="858393" y="3337560"/>
            <a:ext cx="654939" cy="685800"/>
          </a:xfrm>
          <a:prstGeom prst="ellipse">
            <a:avLst/>
          </a:prstGeom>
          <a:solidFill>
            <a:srgbClr val="00923A"/>
          </a:solidFill>
          <a:ln w="12700">
            <a:solidFill>
              <a:srgbClr val="00923A"/>
            </a:solidFill>
            <a:prstDash val="solid"/>
          </a:ln>
        </p:spPr>
      </p:sp>
      <p:pic>
        <p:nvPicPr>
          <p:cNvPr id="13" name="mi1i" descr="preencoded.png">    </p:cNvPr>
          <p:cNvPicPr>
            <a:picLocks noChangeAspect="1"/>
          </p:cNvPicPr>
          <p:nvPr/>
        </p:nvPicPr>
        <p:blipFill>
          <a:blip r:embed="rId2"/>
          <a:stretch>
            <a:fillRect/>
          </a:stretch>
        </p:blipFill>
        <p:spPr>
          <a:xfrm>
            <a:off x="1028677" y="3515868"/>
            <a:ext cx="314371" cy="329184"/>
          </a:xfrm>
          <a:prstGeom prst="rect">
            <a:avLst/>
          </a:prstGeom>
        </p:spPr>
      </p:pic>
      <p:sp>
        <p:nvSpPr>
          <p:cNvPr id="14" name="mt1"/>
          <p:cNvSpPr txBox="1"/>
          <p:nvPr/>
        </p:nvSpPr>
        <p:spPr>
          <a:xfrm>
            <a:off x="1731645" y="3310128"/>
            <a:ext cx="5326837" cy="777240"/>
          </a:xfrm>
          <a:prstGeom prst="rect">
            <a:avLst/>
          </a:prstGeom>
          <a:noFill/>
          <a:ln/>
        </p:spPr>
        <p:txBody>
          <a:bodyPr wrap="square" lIns="0" tIns="0" rIns="0" bIns="0" rtlCol="0" anchor="t"/>
          <a:lstStyle/>
          <a:p>
            <a:pPr indent="0" marL="0">
              <a:buNone/>
            </a:pPr>
            <a:r>
              <a:rPr lang="fr-FR" altLang="en-US" sz="1800" b="1" dirty="0">
                <a:solidFill>
                  <a:srgbClr val="0E1C46"/>
                </a:solidFill>
                <a:latin typeface="Calibri" pitchFamily="34" charset="0"/>
                <a:ea typeface="Calibri" pitchFamily="34" charset="-122"/>
                <a:cs typeface="Calibri" pitchFamily="34" charset="-120"/>
              </a:rPr>
              <a:t>Entretiens semi-directifs</a:t>
            </a:r>
            <a:endParaRPr lang="fr-FR" sz="1800" dirty="0"/>
          </a:p>
          <a:p>
            <a:pPr indent="0" marL="0">
              <a:buNone/>
            </a:pPr>
            <a:r>
              <a:rPr lang="fr-FR" altLang="en-US" sz="1400" dirty="0">
                <a:solidFill>
                  <a:srgbClr val="56617C"/>
                </a:solidFill>
                <a:latin typeface="Calibri" pitchFamily="34" charset="0"/>
                <a:ea typeface="Calibri" pitchFamily="34" charset="-122"/>
                <a:cs typeface="Calibri" pitchFamily="34" charset="-120"/>
              </a:rPr>
              <a:t>6 personnes : 3 agents (SG, DST, DPDPS) et 3 usagers.</a:t>
            </a:r>
            <a:endParaRPr lang="fr-FR" sz="1800" dirty="0"/>
          </a:p>
        </p:txBody>
      </p:sp>
      <p:sp>
        <p:nvSpPr>
          <p:cNvPr id="15" name="m2"/>
          <p:cNvSpPr/>
          <p:nvPr/>
        </p:nvSpPr>
        <p:spPr>
          <a:xfrm>
            <a:off x="640080" y="4389120"/>
            <a:ext cx="6636715" cy="1051560"/>
          </a:xfrm>
          <a:prstGeom prst="roundRect">
            <a:avLst>
              <a:gd name="adj" fmla="val 10435"/>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6" name="mi2c"/>
          <p:cNvSpPr/>
          <p:nvPr/>
        </p:nvSpPr>
        <p:spPr>
          <a:xfrm>
            <a:off x="858393" y="4572000"/>
            <a:ext cx="654939" cy="685800"/>
          </a:xfrm>
          <a:prstGeom prst="ellipse">
            <a:avLst/>
          </a:prstGeom>
          <a:solidFill>
            <a:srgbClr val="E2A400"/>
          </a:solidFill>
          <a:ln w="12700">
            <a:solidFill>
              <a:srgbClr val="E2A400"/>
            </a:solidFill>
            <a:prstDash val="solid"/>
          </a:ln>
        </p:spPr>
      </p:sp>
      <p:pic>
        <p:nvPicPr>
          <p:cNvPr id="17" name="mi2i" descr="preencoded.png">    </p:cNvPr>
          <p:cNvPicPr>
            <a:picLocks noChangeAspect="1"/>
          </p:cNvPicPr>
          <p:nvPr/>
        </p:nvPicPr>
        <p:blipFill>
          <a:blip r:embed="rId3"/>
          <a:stretch>
            <a:fillRect/>
          </a:stretch>
        </p:blipFill>
        <p:spPr>
          <a:xfrm>
            <a:off x="1028677" y="4750308"/>
            <a:ext cx="314371" cy="329184"/>
          </a:xfrm>
          <a:prstGeom prst="rect">
            <a:avLst/>
          </a:prstGeom>
        </p:spPr>
      </p:pic>
      <p:sp>
        <p:nvSpPr>
          <p:cNvPr id="18" name="mt2"/>
          <p:cNvSpPr txBox="1"/>
          <p:nvPr/>
        </p:nvSpPr>
        <p:spPr>
          <a:xfrm>
            <a:off x="1731645" y="4544568"/>
            <a:ext cx="5326837" cy="777240"/>
          </a:xfrm>
          <a:prstGeom prst="rect">
            <a:avLst/>
          </a:prstGeom>
          <a:noFill/>
          <a:ln/>
        </p:spPr>
        <p:txBody>
          <a:bodyPr wrap="square" lIns="0" tIns="0" rIns="0" bIns="0" rtlCol="0" anchor="t"/>
          <a:lstStyle/>
          <a:p>
            <a:pPr indent="0" marL="0">
              <a:buNone/>
            </a:pPr>
            <a:r>
              <a:rPr lang="fr-FR" altLang="en-US" sz="1800" b="1" dirty="0">
                <a:solidFill>
                  <a:srgbClr val="0E1C46"/>
                </a:solidFill>
                <a:latin typeface="Calibri" pitchFamily="34" charset="0"/>
                <a:ea typeface="Calibri" pitchFamily="34" charset="-122"/>
                <a:cs typeface="Calibri" pitchFamily="34" charset="-120"/>
              </a:rPr>
              <a:t>Analyse documentaire</a:t>
            </a:r>
            <a:endParaRPr lang="fr-FR" sz="1800" dirty="0"/>
          </a:p>
          <a:p>
            <a:pPr indent="0" marL="0">
              <a:buNone/>
            </a:pPr>
            <a:r>
              <a:rPr lang="fr-FR" altLang="en-US" sz="1400" dirty="0">
                <a:solidFill>
                  <a:srgbClr val="56617C"/>
                </a:solidFill>
                <a:latin typeface="Calibri" pitchFamily="34" charset="0"/>
                <a:ea typeface="Calibri" pitchFamily="34" charset="-122"/>
                <a:cs typeface="Calibri" pitchFamily="34" charset="-120"/>
              </a:rPr>
              <a:t>Registres arrivé, départ, transmission et fiches d’affectation.</a:t>
            </a:r>
            <a:endParaRPr lang="fr-FR" sz="1800" dirty="0"/>
          </a:p>
        </p:txBody>
      </p:sp>
      <p:sp>
        <p:nvSpPr>
          <p:cNvPr id="19" name="tri"/>
          <p:cNvSpPr/>
          <p:nvPr/>
        </p:nvSpPr>
        <p:spPr>
          <a:xfrm>
            <a:off x="7713421" y="1920240"/>
            <a:ext cx="3362020" cy="3520440"/>
          </a:xfrm>
          <a:prstGeom prst="roundRect">
            <a:avLst>
              <a:gd name="adj" fmla="val 3264"/>
            </a:avLst>
          </a:prstGeom>
          <a:solidFill>
            <a:srgbClr val="EEF2FB"/>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0" name="trit"/>
          <p:cNvSpPr txBox="1"/>
          <p:nvPr/>
        </p:nvSpPr>
        <p:spPr>
          <a:xfrm>
            <a:off x="8019059" y="2148840"/>
            <a:ext cx="2794406" cy="3108960"/>
          </a:xfrm>
          <a:prstGeom prst="rect">
            <a:avLst/>
          </a:prstGeom>
          <a:noFill/>
          <a:ln/>
        </p:spPr>
        <p:txBody>
          <a:bodyPr wrap="square" lIns="0" tIns="0" rIns="0" bIns="0" rtlCol="0" anchor="ctr"/>
          <a:lstStyle/>
          <a:p>
            <a:pPr indent="0" marL="0">
              <a:buNone/>
            </a:pPr>
            <a:r>
              <a:rPr lang="fr-FR" altLang="en-US" sz="7200" b="1" dirty="0">
                <a:solidFill>
                  <a:srgbClr val="1B3F9E"/>
                </a:solidFill>
                <a:latin typeface="Calibri" pitchFamily="34" charset="0"/>
                <a:ea typeface="Calibri" pitchFamily="34" charset="-122"/>
                <a:cs typeface="Calibri" pitchFamily="34" charset="-120"/>
              </a:rPr>
              <a:t>6</a:t>
            </a:r>
            <a:endParaRPr lang="fr-FR" sz="7200" dirty="0"/>
          </a:p>
          <a:p>
            <a:pPr indent="0" marL="0">
              <a:buNone/>
            </a:pPr>
            <a:r>
              <a:rPr lang="fr-FR" altLang="en-US" sz="1800" b="1" dirty="0">
                <a:solidFill>
                  <a:srgbClr val="0E1C46"/>
                </a:solidFill>
                <a:latin typeface="Calibri" pitchFamily="34" charset="0"/>
                <a:ea typeface="Calibri" pitchFamily="34" charset="-122"/>
                <a:cs typeface="Calibri" pitchFamily="34" charset="-120"/>
              </a:rPr>
              <a:t>personnes interrogées</a:t>
            </a:r>
            <a:endParaRPr lang="fr-FR" sz="7200" dirty="0"/>
          </a:p>
          <a:p>
            <a:pPr indent="0" marL="0">
              <a:buNone/>
            </a:pPr>
            <a:r>
              <a:rPr lang="fr-FR" altLang="en-US" sz="1400" dirty="0">
                <a:solidFill>
                  <a:srgbClr val="56617C"/>
                </a:solidFill>
                <a:latin typeface="Calibri" pitchFamily="34" charset="0"/>
                <a:ea typeface="Calibri" pitchFamily="34" charset="-122"/>
                <a:cs typeface="Calibri" pitchFamily="34" charset="-120"/>
              </a:rPr>
              <a:t>Échantillon raisonné, analyse de contenu et triangulation des données.</a:t>
            </a:r>
            <a:endParaRPr lang="fr-FR" sz="7200" dirty="0"/>
          </a:p>
        </p:txBody>
      </p:sp>
      <p:pic>
        <p:nvPicPr>
          <p:cNvPr id="21" name="!!flogo" descr="preencoded.png">    </p:cNvPr>
          <p:cNvPicPr>
            <a:picLocks noChangeAspect="1"/>
          </p:cNvPicPr>
          <p:nvPr/>
        </p:nvPicPr>
        <p:blipFill>
          <a:blip r:embed="rId4"/>
          <a:stretch>
            <a:fillRect/>
          </a:stretch>
        </p:blipFill>
        <p:spPr>
          <a:xfrm>
            <a:off x="640080" y="6382512"/>
            <a:ext cx="329184" cy="274320"/>
          </a:xfrm>
          <a:prstGeom prst="rect">
            <a:avLst/>
          </a:prstGeom>
        </p:spPr>
      </p:pic>
      <p:sp>
        <p:nvSpPr>
          <p:cNvPr id="22"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3"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13 / 22</a:t>
            </a:r>
            <a:endParaRPr lang="fr-FR" sz="1000" dirty="0"/>
          </a:p>
        </p:txBody>
      </p:sp>
      <p:sp>
        <p:nvSpPr>
          <p:cNvPr id="24"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5" name="!!railline"/>
          <p:cNvSpPr/>
          <p:nvPr/>
        </p:nvSpPr>
        <p:spPr>
          <a:xfrm>
            <a:off x="11795760" y="1600200"/>
            <a:ext cx="914" cy="3383280"/>
          </a:xfrm>
          <a:prstGeom prst="line">
            <a:avLst/>
          </a:prstGeom>
          <a:noFill/>
          <a:ln w="25400">
            <a:solidFill>
              <a:srgbClr val="DDE3EE"/>
            </a:solidFill>
            <a:prstDash val="solid"/>
          </a:ln>
        </p:spPr>
      </p:sp>
      <p:sp>
        <p:nvSpPr>
          <p:cNvPr id="26" name="!!railprog"/>
          <p:cNvSpPr/>
          <p:nvPr/>
        </p:nvSpPr>
        <p:spPr>
          <a:xfrm>
            <a:off x="11795760" y="1600200"/>
            <a:ext cx="914" cy="2029968"/>
          </a:xfrm>
          <a:prstGeom prst="line">
            <a:avLst/>
          </a:prstGeom>
          <a:noFill/>
          <a:ln w="38100">
            <a:solidFill>
              <a:srgbClr val="00923A"/>
            </a:solidFill>
            <a:prstDash val="solid"/>
          </a:ln>
        </p:spPr>
      </p:sp>
      <p:sp>
        <p:nvSpPr>
          <p:cNvPr id="27" name="!!mact"/>
          <p:cNvSpPr/>
          <p:nvPr/>
        </p:nvSpPr>
        <p:spPr>
          <a:xfrm>
            <a:off x="11494008" y="3328416"/>
            <a:ext cx="603504" cy="603504"/>
          </a:xfrm>
          <a:prstGeom prst="ellipse">
            <a:avLst/>
          </a:prstGeom>
          <a:solidFill>
            <a:srgbClr val="FFFFFF">
              <a:alpha val="0"/>
            </a:srgbClr>
          </a:solidFill>
          <a:ln w="38100">
            <a:solidFill>
              <a:srgbClr val="FCC600"/>
            </a:solidFill>
            <a:prstDash val="solid"/>
          </a:ln>
        </p:spPr>
      </p:sp>
      <p:sp>
        <p:nvSpPr>
          <p:cNvPr id="28"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29" name="!!mt1">
            <a:hlinkClick r:id="rId5"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0"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31" name="!!mt2">
            <a:hlinkClick r:id="rId6"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2"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33" name="!!mt3">
            <a:hlinkClick r:id="rId7"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4" name="!!m4"/>
          <p:cNvSpPr/>
          <p:nvPr/>
        </p:nvSpPr>
        <p:spPr>
          <a:xfrm>
            <a:off x="11594592" y="3429000"/>
            <a:ext cx="402336" cy="402336"/>
          </a:xfrm>
          <a:prstGeom prst="ellipse">
            <a:avLst/>
          </a:prstGeom>
          <a:solidFill>
            <a:srgbClr val="1B3F9E"/>
          </a:solidFill>
          <a:ln w="19050">
            <a:solidFill>
              <a:srgbClr val="1B3F9E"/>
            </a:solidFill>
            <a:prstDash val="solid"/>
          </a:ln>
        </p:spPr>
      </p:sp>
      <p:sp>
        <p:nvSpPr>
          <p:cNvPr id="35" name="!!mt4">
            <a:hlinkClick r:id="rId8"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8"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36" name="!!m5"/>
          <p:cNvSpPr/>
          <p:nvPr/>
        </p:nvSpPr>
        <p:spPr>
          <a:xfrm>
            <a:off x="11594592" y="4105656"/>
            <a:ext cx="402336" cy="402336"/>
          </a:xfrm>
          <a:prstGeom prst="ellipse">
            <a:avLst/>
          </a:prstGeom>
          <a:solidFill>
            <a:srgbClr val="FFFFFF"/>
          </a:solidFill>
          <a:ln w="19050">
            <a:solidFill>
              <a:srgbClr val="C9D2E3"/>
            </a:solidFill>
            <a:prstDash val="solid"/>
          </a:ln>
        </p:spPr>
      </p:sp>
      <p:sp>
        <p:nvSpPr>
          <p:cNvPr id="37" name="!!mt5">
            <a:hlinkClick r:id="rId9"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9"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38"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39" name="!!mt6">
            <a:hlinkClick r:id="rId10"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0"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0"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OBJET D’ÉTUDE</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53" presetClass="entr" presetSubtype="16" fill="hold" grpId="0" nodeType="withEffect">
                                  <p:stCondLst>
                                    <p:cond delay="250"/>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p:tgtEl>
                                          <p:spTgt spid="8"/>
                                        </p:tgtEl>
                                        <p:attrNameLst>
                                          <p:attrName>ppt_w</p:attrName>
                                        </p:attrNameLst>
                                      </p:cBhvr>
                                      <p:tavLst>
                                        <p:tav tm="0">
                                          <p:val>
                                            <p:fltVal val="0"/>
                                          </p:val>
                                        </p:tav>
                                        <p:tav tm="100000">
                                          <p:val>
                                            <p:strVal val="#ppt_w"/>
                                          </p:val>
                                        </p:tav>
                                      </p:tavLst>
                                    </p:anim>
                                    <p:anim calcmode="lin" valueType="num">
                                      <p:cBhvr>
                                        <p:cTn id="17" dur="600" fill="hold"/>
                                        <p:tgtEl>
                                          <p:spTgt spid="8"/>
                                        </p:tgtEl>
                                        <p:attrNameLst>
                                          <p:attrName>ppt_h</p:attrName>
                                        </p:attrNameLst>
                                      </p:cBhvr>
                                      <p:tavLst>
                                        <p:tav tm="0">
                                          <p:val>
                                            <p:fltVal val="0"/>
                                          </p:val>
                                        </p:tav>
                                        <p:tav tm="100000">
                                          <p:val>
                                            <p:strVal val="#ppt_h"/>
                                          </p:val>
                                        </p:tav>
                                      </p:tavLst>
                                    </p:anim>
                                    <p:animEffect transition="in" filter="fade">
                                      <p:cBhvr>
                                        <p:cTn id="18" dur="600"/>
                                        <p:tgtEl>
                                          <p:spTgt spid="8"/>
                                        </p:tgtEl>
                                      </p:cBhvr>
                                    </p:animEffect>
                                  </p:childTnLst>
                                </p:cTn>
                              </p:par>
                              <p:par>
                                <p:cTn id="19" presetID="53" presetClass="entr" presetSubtype="16" fill="hold" grpId="0" nodeType="withEffect">
                                  <p:stCondLst>
                                    <p:cond delay="250"/>
                                  </p:stCondLst>
                                  <p:childTnLst>
                                    <p:set>
                                      <p:cBhvr>
                                        <p:cTn id="20" dur="1" fill="hold">
                                          <p:stCondLst>
                                            <p:cond delay="0"/>
                                          </p:stCondLst>
                                        </p:cTn>
                                        <p:tgtEl>
                                          <p:spTgt spid="9"/>
                                        </p:tgtEl>
                                        <p:attrNameLst>
                                          <p:attrName>style.visibility</p:attrName>
                                        </p:attrNameLst>
                                      </p:cBhvr>
                                      <p:to>
                                        <p:strVal val="visible"/>
                                      </p:to>
                                    </p:set>
                                    <p:anim calcmode="lin" valueType="num">
                                      <p:cBhvr>
                                        <p:cTn id="21" dur="600" fill="hold"/>
                                        <p:tgtEl>
                                          <p:spTgt spid="9"/>
                                        </p:tgtEl>
                                        <p:attrNameLst>
                                          <p:attrName>ppt_w</p:attrName>
                                        </p:attrNameLst>
                                      </p:cBhvr>
                                      <p:tavLst>
                                        <p:tav tm="0">
                                          <p:val>
                                            <p:fltVal val="0"/>
                                          </p:val>
                                        </p:tav>
                                        <p:tav tm="100000">
                                          <p:val>
                                            <p:strVal val="#ppt_w"/>
                                          </p:val>
                                        </p:tav>
                                      </p:tavLst>
                                    </p:anim>
                                    <p:anim calcmode="lin" valueType="num">
                                      <p:cBhvr>
                                        <p:cTn id="22" dur="600" fill="hold"/>
                                        <p:tgtEl>
                                          <p:spTgt spid="9"/>
                                        </p:tgtEl>
                                        <p:attrNameLst>
                                          <p:attrName>ppt_h</p:attrName>
                                        </p:attrNameLst>
                                      </p:cBhvr>
                                      <p:tavLst>
                                        <p:tav tm="0">
                                          <p:val>
                                            <p:fltVal val="0"/>
                                          </p:val>
                                        </p:tav>
                                        <p:tav tm="100000">
                                          <p:val>
                                            <p:strVal val="#ppt_h"/>
                                          </p:val>
                                        </p:tav>
                                      </p:tavLst>
                                    </p:anim>
                                    <p:animEffect transition="in" filter="fade">
                                      <p:cBhvr>
                                        <p:cTn id="23" dur="600"/>
                                        <p:tgtEl>
                                          <p:spTgt spid="9"/>
                                        </p:tgtEl>
                                      </p:cBhvr>
                                    </p:animEffect>
                                  </p:childTnLst>
                                </p:cTn>
                              </p:par>
                              <p:par>
                                <p:cTn id="24" presetID="10" presetClass="entr" presetSubtype="0" fill="hold" grpId="0" nodeType="withEffect">
                                  <p:stCondLst>
                                    <p:cond delay="25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p:tgtEl>
                                          <p:spTgt spid="10"/>
                                        </p:tgtEl>
                                      </p:cBhvr>
                                    </p:animEffect>
                                  </p:childTnLst>
                                </p:cTn>
                              </p:par>
                              <p:par>
                                <p:cTn id="27" presetID="10" presetClass="entr" presetSubtype="0" fill="hold" grpId="0" nodeType="withEffect">
                                  <p:stCondLst>
                                    <p:cond delay="55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53" presetClass="entr" presetSubtype="16" fill="hold" grpId="0" nodeType="withEffect">
                                  <p:stCondLst>
                                    <p:cond delay="550"/>
                                  </p:stCondLst>
                                  <p:childTnLst>
                                    <p:set>
                                      <p:cBhvr>
                                        <p:cTn id="31" dur="1" fill="hold">
                                          <p:stCondLst>
                                            <p:cond delay="0"/>
                                          </p:stCondLst>
                                        </p:cTn>
                                        <p:tgtEl>
                                          <p:spTgt spid="12"/>
                                        </p:tgtEl>
                                        <p:attrNameLst>
                                          <p:attrName>style.visibility</p:attrName>
                                        </p:attrNameLst>
                                      </p:cBhvr>
                                      <p:to>
                                        <p:strVal val="visible"/>
                                      </p:to>
                                    </p:set>
                                    <p:anim calcmode="lin" valueType="num">
                                      <p:cBhvr>
                                        <p:cTn id="32" dur="600" fill="hold"/>
                                        <p:tgtEl>
                                          <p:spTgt spid="12"/>
                                        </p:tgtEl>
                                        <p:attrNameLst>
                                          <p:attrName>ppt_w</p:attrName>
                                        </p:attrNameLst>
                                      </p:cBhvr>
                                      <p:tavLst>
                                        <p:tav tm="0">
                                          <p:val>
                                            <p:fltVal val="0"/>
                                          </p:val>
                                        </p:tav>
                                        <p:tav tm="100000">
                                          <p:val>
                                            <p:strVal val="#ppt_w"/>
                                          </p:val>
                                        </p:tav>
                                      </p:tavLst>
                                    </p:anim>
                                    <p:anim calcmode="lin" valueType="num">
                                      <p:cBhvr>
                                        <p:cTn id="33" dur="600" fill="hold"/>
                                        <p:tgtEl>
                                          <p:spTgt spid="12"/>
                                        </p:tgtEl>
                                        <p:attrNameLst>
                                          <p:attrName>ppt_h</p:attrName>
                                        </p:attrNameLst>
                                      </p:cBhvr>
                                      <p:tavLst>
                                        <p:tav tm="0">
                                          <p:val>
                                            <p:fltVal val="0"/>
                                          </p:val>
                                        </p:tav>
                                        <p:tav tm="100000">
                                          <p:val>
                                            <p:strVal val="#ppt_h"/>
                                          </p:val>
                                        </p:tav>
                                      </p:tavLst>
                                    </p:anim>
                                    <p:animEffect transition="in" filter="fade">
                                      <p:cBhvr>
                                        <p:cTn id="34" dur="600"/>
                                        <p:tgtEl>
                                          <p:spTgt spid="12"/>
                                        </p:tgtEl>
                                      </p:cBhvr>
                                    </p:animEffect>
                                  </p:childTnLst>
                                </p:cTn>
                              </p:par>
                              <p:par>
                                <p:cTn id="35" presetID="53" presetClass="entr" presetSubtype="16" fill="hold" grpId="0" nodeType="withEffect">
                                  <p:stCondLst>
                                    <p:cond delay="550"/>
                                  </p:stCondLst>
                                  <p:childTnLst>
                                    <p:set>
                                      <p:cBhvr>
                                        <p:cTn id="36" dur="1" fill="hold">
                                          <p:stCondLst>
                                            <p:cond delay="0"/>
                                          </p:stCondLst>
                                        </p:cTn>
                                        <p:tgtEl>
                                          <p:spTgt spid="13"/>
                                        </p:tgtEl>
                                        <p:attrNameLst>
                                          <p:attrName>style.visibility</p:attrName>
                                        </p:attrNameLst>
                                      </p:cBhvr>
                                      <p:to>
                                        <p:strVal val="visible"/>
                                      </p:to>
                                    </p:set>
                                    <p:anim calcmode="lin" valueType="num">
                                      <p:cBhvr>
                                        <p:cTn id="37" dur="600" fill="hold"/>
                                        <p:tgtEl>
                                          <p:spTgt spid="13"/>
                                        </p:tgtEl>
                                        <p:attrNameLst>
                                          <p:attrName>ppt_w</p:attrName>
                                        </p:attrNameLst>
                                      </p:cBhvr>
                                      <p:tavLst>
                                        <p:tav tm="0">
                                          <p:val>
                                            <p:fltVal val="0"/>
                                          </p:val>
                                        </p:tav>
                                        <p:tav tm="100000">
                                          <p:val>
                                            <p:strVal val="#ppt_w"/>
                                          </p:val>
                                        </p:tav>
                                      </p:tavLst>
                                    </p:anim>
                                    <p:anim calcmode="lin" valueType="num">
                                      <p:cBhvr>
                                        <p:cTn id="38" dur="600" fill="hold"/>
                                        <p:tgtEl>
                                          <p:spTgt spid="13"/>
                                        </p:tgtEl>
                                        <p:attrNameLst>
                                          <p:attrName>ppt_h</p:attrName>
                                        </p:attrNameLst>
                                      </p:cBhvr>
                                      <p:tavLst>
                                        <p:tav tm="0">
                                          <p:val>
                                            <p:fltVal val="0"/>
                                          </p:val>
                                        </p:tav>
                                        <p:tav tm="100000">
                                          <p:val>
                                            <p:strVal val="#ppt_h"/>
                                          </p:val>
                                        </p:tav>
                                      </p:tavLst>
                                    </p:anim>
                                    <p:animEffect transition="in" filter="fade">
                                      <p:cBhvr>
                                        <p:cTn id="39" dur="600"/>
                                        <p:tgtEl>
                                          <p:spTgt spid="13"/>
                                        </p:tgtEl>
                                      </p:cBhvr>
                                    </p:animEffect>
                                  </p:childTnLst>
                                </p:cTn>
                              </p:par>
                              <p:par>
                                <p:cTn id="40" presetID="10" presetClass="entr" presetSubtype="0" fill="hold" grpId="0" nodeType="withEffect">
                                  <p:stCondLst>
                                    <p:cond delay="55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600"/>
                                        <p:tgtEl>
                                          <p:spTgt spid="14"/>
                                        </p:tgtEl>
                                      </p:cBhvr>
                                    </p:animEffect>
                                  </p:childTnLst>
                                </p:cTn>
                              </p:par>
                              <p:par>
                                <p:cTn id="43" presetID="10" presetClass="entr" presetSubtype="0" fill="hold" grpId="0" nodeType="withEffect">
                                  <p:stCondLst>
                                    <p:cond delay="85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00"/>
                                        <p:tgtEl>
                                          <p:spTgt spid="15"/>
                                        </p:tgtEl>
                                      </p:cBhvr>
                                    </p:animEffect>
                                  </p:childTnLst>
                                </p:cTn>
                              </p:par>
                              <p:par>
                                <p:cTn id="46" presetID="53" presetClass="entr" presetSubtype="16" fill="hold" grpId="0" nodeType="withEffect">
                                  <p:stCondLst>
                                    <p:cond delay="850"/>
                                  </p:stCondLst>
                                  <p:childTnLst>
                                    <p:set>
                                      <p:cBhvr>
                                        <p:cTn id="47" dur="1" fill="hold">
                                          <p:stCondLst>
                                            <p:cond delay="0"/>
                                          </p:stCondLst>
                                        </p:cTn>
                                        <p:tgtEl>
                                          <p:spTgt spid="16"/>
                                        </p:tgtEl>
                                        <p:attrNameLst>
                                          <p:attrName>style.visibility</p:attrName>
                                        </p:attrNameLst>
                                      </p:cBhvr>
                                      <p:to>
                                        <p:strVal val="visible"/>
                                      </p:to>
                                    </p:set>
                                    <p:anim calcmode="lin" valueType="num">
                                      <p:cBhvr>
                                        <p:cTn id="48" dur="600" fill="hold"/>
                                        <p:tgtEl>
                                          <p:spTgt spid="16"/>
                                        </p:tgtEl>
                                        <p:attrNameLst>
                                          <p:attrName>ppt_w</p:attrName>
                                        </p:attrNameLst>
                                      </p:cBhvr>
                                      <p:tavLst>
                                        <p:tav tm="0">
                                          <p:val>
                                            <p:fltVal val="0"/>
                                          </p:val>
                                        </p:tav>
                                        <p:tav tm="100000">
                                          <p:val>
                                            <p:strVal val="#ppt_w"/>
                                          </p:val>
                                        </p:tav>
                                      </p:tavLst>
                                    </p:anim>
                                    <p:anim calcmode="lin" valueType="num">
                                      <p:cBhvr>
                                        <p:cTn id="49" dur="600" fill="hold"/>
                                        <p:tgtEl>
                                          <p:spTgt spid="16"/>
                                        </p:tgtEl>
                                        <p:attrNameLst>
                                          <p:attrName>ppt_h</p:attrName>
                                        </p:attrNameLst>
                                      </p:cBhvr>
                                      <p:tavLst>
                                        <p:tav tm="0">
                                          <p:val>
                                            <p:fltVal val="0"/>
                                          </p:val>
                                        </p:tav>
                                        <p:tav tm="100000">
                                          <p:val>
                                            <p:strVal val="#ppt_h"/>
                                          </p:val>
                                        </p:tav>
                                      </p:tavLst>
                                    </p:anim>
                                    <p:animEffect transition="in" filter="fade">
                                      <p:cBhvr>
                                        <p:cTn id="50" dur="600"/>
                                        <p:tgtEl>
                                          <p:spTgt spid="16"/>
                                        </p:tgtEl>
                                      </p:cBhvr>
                                    </p:animEffect>
                                  </p:childTnLst>
                                </p:cTn>
                              </p:par>
                              <p:par>
                                <p:cTn id="51" presetID="53" presetClass="entr" presetSubtype="16" fill="hold" grpId="0" nodeType="withEffect">
                                  <p:stCondLst>
                                    <p:cond delay="850"/>
                                  </p:stCondLst>
                                  <p:childTnLst>
                                    <p:set>
                                      <p:cBhvr>
                                        <p:cTn id="52" dur="1" fill="hold">
                                          <p:stCondLst>
                                            <p:cond delay="0"/>
                                          </p:stCondLst>
                                        </p:cTn>
                                        <p:tgtEl>
                                          <p:spTgt spid="17"/>
                                        </p:tgtEl>
                                        <p:attrNameLst>
                                          <p:attrName>style.visibility</p:attrName>
                                        </p:attrNameLst>
                                      </p:cBhvr>
                                      <p:to>
                                        <p:strVal val="visible"/>
                                      </p:to>
                                    </p:set>
                                    <p:anim calcmode="lin" valueType="num">
                                      <p:cBhvr>
                                        <p:cTn id="53" dur="600" fill="hold"/>
                                        <p:tgtEl>
                                          <p:spTgt spid="17"/>
                                        </p:tgtEl>
                                        <p:attrNameLst>
                                          <p:attrName>ppt_w</p:attrName>
                                        </p:attrNameLst>
                                      </p:cBhvr>
                                      <p:tavLst>
                                        <p:tav tm="0">
                                          <p:val>
                                            <p:fltVal val="0"/>
                                          </p:val>
                                        </p:tav>
                                        <p:tav tm="100000">
                                          <p:val>
                                            <p:strVal val="#ppt_w"/>
                                          </p:val>
                                        </p:tav>
                                      </p:tavLst>
                                    </p:anim>
                                    <p:anim calcmode="lin" valueType="num">
                                      <p:cBhvr>
                                        <p:cTn id="54" dur="600" fill="hold"/>
                                        <p:tgtEl>
                                          <p:spTgt spid="17"/>
                                        </p:tgtEl>
                                        <p:attrNameLst>
                                          <p:attrName>ppt_h</p:attrName>
                                        </p:attrNameLst>
                                      </p:cBhvr>
                                      <p:tavLst>
                                        <p:tav tm="0">
                                          <p:val>
                                            <p:fltVal val="0"/>
                                          </p:val>
                                        </p:tav>
                                        <p:tav tm="100000">
                                          <p:val>
                                            <p:strVal val="#ppt_h"/>
                                          </p:val>
                                        </p:tav>
                                      </p:tavLst>
                                    </p:anim>
                                    <p:animEffect transition="in" filter="fade">
                                      <p:cBhvr>
                                        <p:cTn id="55" dur="600"/>
                                        <p:tgtEl>
                                          <p:spTgt spid="17"/>
                                        </p:tgtEl>
                                      </p:cBhvr>
                                    </p:animEffect>
                                  </p:childTnLst>
                                </p:cTn>
                              </p:par>
                              <p:par>
                                <p:cTn id="56" presetID="10" presetClass="entr" presetSubtype="0" fill="hold" grpId="0" nodeType="withEffect">
                                  <p:stCondLst>
                                    <p:cond delay="8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par>
                                <p:cTn id="59" presetID="53" presetClass="entr" presetSubtype="16" fill="hold" grpId="0" nodeType="withEffect">
                                  <p:stCondLst>
                                    <p:cond delay="1100"/>
                                  </p:stCondLst>
                                  <p:childTnLst>
                                    <p:set>
                                      <p:cBhvr>
                                        <p:cTn id="60" dur="1" fill="hold">
                                          <p:stCondLst>
                                            <p:cond delay="0"/>
                                          </p:stCondLst>
                                        </p:cTn>
                                        <p:tgtEl>
                                          <p:spTgt spid="19"/>
                                        </p:tgtEl>
                                        <p:attrNameLst>
                                          <p:attrName>style.visibility</p:attrName>
                                        </p:attrNameLst>
                                      </p:cBhvr>
                                      <p:to>
                                        <p:strVal val="visible"/>
                                      </p:to>
                                    </p:set>
                                    <p:anim calcmode="lin" valueType="num">
                                      <p:cBhvr>
                                        <p:cTn id="61" dur="600" fill="hold"/>
                                        <p:tgtEl>
                                          <p:spTgt spid="19"/>
                                        </p:tgtEl>
                                        <p:attrNameLst>
                                          <p:attrName>ppt_w</p:attrName>
                                        </p:attrNameLst>
                                      </p:cBhvr>
                                      <p:tavLst>
                                        <p:tav tm="0">
                                          <p:val>
                                            <p:fltVal val="0"/>
                                          </p:val>
                                        </p:tav>
                                        <p:tav tm="100000">
                                          <p:val>
                                            <p:strVal val="#ppt_w"/>
                                          </p:val>
                                        </p:tav>
                                      </p:tavLst>
                                    </p:anim>
                                    <p:anim calcmode="lin" valueType="num">
                                      <p:cBhvr>
                                        <p:cTn id="62" dur="600" fill="hold"/>
                                        <p:tgtEl>
                                          <p:spTgt spid="19"/>
                                        </p:tgtEl>
                                        <p:attrNameLst>
                                          <p:attrName>ppt_h</p:attrName>
                                        </p:attrNameLst>
                                      </p:cBhvr>
                                      <p:tavLst>
                                        <p:tav tm="0">
                                          <p:val>
                                            <p:fltVal val="0"/>
                                          </p:val>
                                        </p:tav>
                                        <p:tav tm="100000">
                                          <p:val>
                                            <p:strVal val="#ppt_h"/>
                                          </p:val>
                                        </p:tav>
                                      </p:tavLst>
                                    </p:anim>
                                    <p:animEffect transition="in" filter="fade">
                                      <p:cBhvr>
                                        <p:cTn id="63" dur="600"/>
                                        <p:tgtEl>
                                          <p:spTgt spid="19"/>
                                        </p:tgtEl>
                                      </p:cBhvr>
                                    </p:animEffect>
                                  </p:childTnLst>
                                </p:cTn>
                              </p:par>
                              <p:par>
                                <p:cTn id="64" presetID="53" presetClass="entr" presetSubtype="16" fill="hold" grpId="0" nodeType="withEffect">
                                  <p:stCondLst>
                                    <p:cond delay="1150"/>
                                  </p:stCondLst>
                                  <p:childTnLst>
                                    <p:set>
                                      <p:cBhvr>
                                        <p:cTn id="65" dur="1" fill="hold">
                                          <p:stCondLst>
                                            <p:cond delay="0"/>
                                          </p:stCondLst>
                                        </p:cTn>
                                        <p:tgtEl>
                                          <p:spTgt spid="20"/>
                                        </p:tgtEl>
                                        <p:attrNameLst>
                                          <p:attrName>style.visibility</p:attrName>
                                        </p:attrNameLst>
                                      </p:cBhvr>
                                      <p:to>
                                        <p:strVal val="visible"/>
                                      </p:to>
                                    </p:set>
                                    <p:anim calcmode="lin" valueType="num">
                                      <p:cBhvr>
                                        <p:cTn id="66" dur="600" fill="hold"/>
                                        <p:tgtEl>
                                          <p:spTgt spid="20"/>
                                        </p:tgtEl>
                                        <p:attrNameLst>
                                          <p:attrName>ppt_w</p:attrName>
                                        </p:attrNameLst>
                                      </p:cBhvr>
                                      <p:tavLst>
                                        <p:tav tm="0">
                                          <p:val>
                                            <p:fltVal val="0"/>
                                          </p:val>
                                        </p:tav>
                                        <p:tav tm="100000">
                                          <p:val>
                                            <p:strVal val="#ppt_w"/>
                                          </p:val>
                                        </p:tav>
                                      </p:tavLst>
                                    </p:anim>
                                    <p:anim calcmode="lin" valueType="num">
                                      <p:cBhvr>
                                        <p:cTn id="67" dur="600" fill="hold"/>
                                        <p:tgtEl>
                                          <p:spTgt spid="20"/>
                                        </p:tgtEl>
                                        <p:attrNameLst>
                                          <p:attrName>ppt_h</p:attrName>
                                        </p:attrNameLst>
                                      </p:cBhvr>
                                      <p:tavLst>
                                        <p:tav tm="0">
                                          <p:val>
                                            <p:fltVal val="0"/>
                                          </p:val>
                                        </p:tav>
                                        <p:tav tm="100000">
                                          <p:val>
                                            <p:strVal val="#ppt_h"/>
                                          </p:val>
                                        </p:tav>
                                      </p:tavLst>
                                    </p:anim>
                                    <p:animEffect transition="in" filter="fade">
                                      <p:cBhvr>
                                        <p:cTn id="68"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14" grpId="0" animBg="1"/>
      <p:bldP spid="18" grpId="0" animBg="1"/>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88720" y="5852160"/>
            <a:ext cx="1737360" cy="1737360"/>
          </a:xfrm>
          <a:prstGeom prst="ellipse">
            <a:avLst/>
          </a:prstGeom>
          <a:solidFill>
            <a:srgbClr val="1B3F9E"/>
          </a:solidFill>
          <a:ln w="12700">
            <a:solidFill>
              <a:srgbClr val="1B3F9E"/>
            </a:solidFill>
            <a:prstDash val="solid"/>
          </a:ln>
        </p:spPr>
      </p:sp>
      <p:sp>
        <p:nvSpPr>
          <p:cNvPr id="3" name="!!orbG"/>
          <p:cNvSpPr/>
          <p:nvPr/>
        </p:nvSpPr>
        <p:spPr>
          <a:xfrm>
            <a:off x="11338560" y="-914400"/>
            <a:ext cx="1645920" cy="1645920"/>
          </a:xfrm>
          <a:prstGeom prst="ellipse">
            <a:avLst/>
          </a:prstGeom>
          <a:solidFill>
            <a:srgbClr val="00923A"/>
          </a:solidFill>
          <a:ln w="12700">
            <a:solidFill>
              <a:srgbClr val="00923A"/>
            </a:solidFill>
            <a:prstDash val="solid"/>
          </a:ln>
        </p:spPr>
      </p:sp>
      <p:sp>
        <p:nvSpPr>
          <p:cNvPr id="4" name="!!orbY"/>
          <p:cNvSpPr/>
          <p:nvPr/>
        </p:nvSpPr>
        <p:spPr>
          <a:xfrm>
            <a:off x="8778240" y="6569964"/>
            <a:ext cx="640080" cy="640080"/>
          </a:xfrm>
          <a:prstGeom prst="ellipse">
            <a:avLst/>
          </a:prstGeom>
          <a:solidFill>
            <a:srgbClr val="FFFFFF">
              <a:alpha val="0"/>
            </a:srgbClr>
          </a:solidFill>
          <a:ln w="5334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RÉSULTATS OBTENUS</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Ce que montrent les entretiens et l’observation</a:t>
            </a:r>
            <a:endParaRPr lang="fr-FR" sz="3200" dirty="0"/>
          </a:p>
        </p:txBody>
      </p:sp>
      <p:sp>
        <p:nvSpPr>
          <p:cNvPr id="7" name="k0"/>
          <p:cNvSpPr/>
          <p:nvPr/>
        </p:nvSpPr>
        <p:spPr>
          <a:xfrm>
            <a:off x="640080" y="1874520"/>
            <a:ext cx="2445106" cy="1783080"/>
          </a:xfrm>
          <a:prstGeom prst="roundRect">
            <a:avLst>
              <a:gd name="adj" fmla="val 6154"/>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kn0"/>
          <p:cNvSpPr txBox="1"/>
          <p:nvPr/>
        </p:nvSpPr>
        <p:spPr>
          <a:xfrm>
            <a:off x="858393" y="2057400"/>
            <a:ext cx="2095805" cy="822960"/>
          </a:xfrm>
          <a:prstGeom prst="rect">
            <a:avLst/>
          </a:prstGeom>
          <a:noFill/>
          <a:ln/>
        </p:spPr>
        <p:txBody>
          <a:bodyPr wrap="square" lIns="0" tIns="0" rIns="0" bIns="0" rtlCol="0" anchor="t"/>
          <a:lstStyle/>
          <a:p>
            <a:pPr indent="0" marL="0">
              <a:buNone/>
            </a:pPr>
            <a:r>
              <a:rPr lang="fr-FR" altLang="en-US" sz="4000" b="1" dirty="0">
                <a:solidFill>
                  <a:srgbClr val="00923A"/>
                </a:solidFill>
                <a:latin typeface="Calibri" pitchFamily="34" charset="0"/>
                <a:ea typeface="Calibri" pitchFamily="34" charset="-122"/>
                <a:cs typeface="Calibri" pitchFamily="34" charset="-120"/>
              </a:rPr>
              <a:t>0</a:t>
            </a:r>
            <a:endParaRPr lang="fr-FR" sz="4000" dirty="0"/>
          </a:p>
        </p:txBody>
      </p:sp>
      <p:sp>
        <p:nvSpPr>
          <p:cNvPr id="9" name="kl0"/>
          <p:cNvSpPr txBox="1"/>
          <p:nvPr/>
        </p:nvSpPr>
        <p:spPr>
          <a:xfrm>
            <a:off x="858393" y="2898648"/>
            <a:ext cx="2052142" cy="64008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courrier perdu ou mal classé en 3 mois</a:t>
            </a:r>
            <a:endParaRPr lang="fr-FR" sz="1300" dirty="0"/>
          </a:p>
        </p:txBody>
      </p:sp>
      <p:sp>
        <p:nvSpPr>
          <p:cNvPr id="10" name="k1"/>
          <p:cNvSpPr/>
          <p:nvPr/>
        </p:nvSpPr>
        <p:spPr>
          <a:xfrm>
            <a:off x="3303499" y="1874520"/>
            <a:ext cx="2445106" cy="1783080"/>
          </a:xfrm>
          <a:prstGeom prst="roundRect">
            <a:avLst>
              <a:gd name="adj" fmla="val 6154"/>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1" name="kn1"/>
          <p:cNvSpPr txBox="1"/>
          <p:nvPr/>
        </p:nvSpPr>
        <p:spPr>
          <a:xfrm>
            <a:off x="3521812" y="2057400"/>
            <a:ext cx="2095805" cy="822960"/>
          </a:xfrm>
          <a:prstGeom prst="rect">
            <a:avLst/>
          </a:prstGeom>
          <a:noFill/>
          <a:ln/>
        </p:spPr>
        <p:txBody>
          <a:bodyPr wrap="square" lIns="0" tIns="0" rIns="0" bIns="0" rtlCol="0" anchor="t"/>
          <a:lstStyle/>
          <a:p>
            <a:pPr indent="0" marL="0">
              <a:buNone/>
            </a:pPr>
            <a:r>
              <a:rPr lang="fr-FR" altLang="en-US" sz="4000" b="1" dirty="0">
                <a:solidFill>
                  <a:srgbClr val="1B3F9E"/>
                </a:solidFill>
                <a:latin typeface="Calibri" pitchFamily="34" charset="0"/>
                <a:ea typeface="Calibri" pitchFamily="34" charset="-122"/>
                <a:cs typeface="Calibri" pitchFamily="34" charset="-120"/>
              </a:rPr>
              <a:t>1 à 3 j</a:t>
            </a:r>
            <a:endParaRPr lang="fr-FR" sz="4000" dirty="0"/>
          </a:p>
        </p:txBody>
      </p:sp>
      <p:sp>
        <p:nvSpPr>
          <p:cNvPr id="12" name="kl1"/>
          <p:cNvSpPr txBox="1"/>
          <p:nvPr/>
        </p:nvSpPr>
        <p:spPr>
          <a:xfrm>
            <a:off x="3521812" y="2898648"/>
            <a:ext cx="2052142" cy="64008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avant signature, selon les signataires</a:t>
            </a:r>
            <a:endParaRPr lang="fr-FR" sz="1300" dirty="0"/>
          </a:p>
        </p:txBody>
      </p:sp>
      <p:sp>
        <p:nvSpPr>
          <p:cNvPr id="13" name="k2"/>
          <p:cNvSpPr/>
          <p:nvPr/>
        </p:nvSpPr>
        <p:spPr>
          <a:xfrm>
            <a:off x="640080" y="3886200"/>
            <a:ext cx="2445106" cy="1783080"/>
          </a:xfrm>
          <a:prstGeom prst="roundRect">
            <a:avLst>
              <a:gd name="adj" fmla="val 6154"/>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4" name="kn2"/>
          <p:cNvSpPr txBox="1"/>
          <p:nvPr/>
        </p:nvSpPr>
        <p:spPr>
          <a:xfrm>
            <a:off x="858393" y="4069080"/>
            <a:ext cx="2095805" cy="822960"/>
          </a:xfrm>
          <a:prstGeom prst="rect">
            <a:avLst/>
          </a:prstGeom>
          <a:noFill/>
          <a:ln/>
        </p:spPr>
        <p:txBody>
          <a:bodyPr wrap="square" lIns="0" tIns="0" rIns="0" bIns="0" rtlCol="0" anchor="t"/>
          <a:lstStyle/>
          <a:p>
            <a:pPr indent="0" marL="0">
              <a:buNone/>
            </a:pPr>
            <a:r>
              <a:rPr lang="fr-FR" altLang="en-US" sz="4000" b="1" dirty="0">
                <a:solidFill>
                  <a:srgbClr val="9A6A00"/>
                </a:solidFill>
                <a:latin typeface="Calibri" pitchFamily="34" charset="0"/>
                <a:ea typeface="Calibri" pitchFamily="34" charset="-122"/>
                <a:cs typeface="Calibri" pitchFamily="34" charset="-120"/>
              </a:rPr>
              <a:t>2</a:t>
            </a:r>
            <a:endParaRPr lang="fr-FR" sz="4000" dirty="0"/>
          </a:p>
        </p:txBody>
      </p:sp>
      <p:sp>
        <p:nvSpPr>
          <p:cNvPr id="15" name="kl2"/>
          <p:cNvSpPr txBox="1"/>
          <p:nvPr/>
        </p:nvSpPr>
        <p:spPr>
          <a:xfrm>
            <a:off x="858393" y="4910328"/>
            <a:ext cx="2052142" cy="64008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agents titulaires au secrétariat</a:t>
            </a:r>
            <a:endParaRPr lang="fr-FR" sz="1300" dirty="0"/>
          </a:p>
        </p:txBody>
      </p:sp>
      <p:sp>
        <p:nvSpPr>
          <p:cNvPr id="16" name="k3"/>
          <p:cNvSpPr/>
          <p:nvPr/>
        </p:nvSpPr>
        <p:spPr>
          <a:xfrm>
            <a:off x="3303499" y="3886200"/>
            <a:ext cx="2445106" cy="1783080"/>
          </a:xfrm>
          <a:prstGeom prst="roundRect">
            <a:avLst>
              <a:gd name="adj" fmla="val 6154"/>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7" name="kn3"/>
          <p:cNvSpPr txBox="1"/>
          <p:nvPr/>
        </p:nvSpPr>
        <p:spPr>
          <a:xfrm>
            <a:off x="3521812" y="4069080"/>
            <a:ext cx="2095805" cy="822960"/>
          </a:xfrm>
          <a:prstGeom prst="rect">
            <a:avLst/>
          </a:prstGeom>
          <a:noFill/>
          <a:ln/>
        </p:spPr>
        <p:txBody>
          <a:bodyPr wrap="square" lIns="0" tIns="0" rIns="0" bIns="0" rtlCol="0" anchor="t"/>
          <a:lstStyle/>
          <a:p>
            <a:pPr indent="0" marL="0">
              <a:buNone/>
            </a:pPr>
            <a:r>
              <a:rPr lang="fr-FR" altLang="en-US" sz="4000" b="1" dirty="0">
                <a:solidFill>
                  <a:srgbClr val="1B3F9E"/>
                </a:solidFill>
                <a:latin typeface="Calibri" pitchFamily="34" charset="0"/>
                <a:ea typeface="Calibri" pitchFamily="34" charset="-122"/>
                <a:cs typeface="Calibri" pitchFamily="34" charset="-120"/>
              </a:rPr>
              <a:t>3 / 3</a:t>
            </a:r>
            <a:endParaRPr lang="fr-FR" sz="4000" dirty="0"/>
          </a:p>
        </p:txBody>
      </p:sp>
      <p:sp>
        <p:nvSpPr>
          <p:cNvPr id="18" name="kl3"/>
          <p:cNvSpPr txBox="1"/>
          <p:nvPr/>
        </p:nvSpPr>
        <p:spPr>
          <a:xfrm>
            <a:off x="3521812" y="4910328"/>
            <a:ext cx="2052142" cy="64008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agents favorables à un outil numérique</a:t>
            </a:r>
            <a:endParaRPr lang="fr-FR" sz="1300" dirty="0"/>
          </a:p>
        </p:txBody>
      </p:sp>
      <p:sp>
        <p:nvSpPr>
          <p:cNvPr id="19" name="chartcard"/>
          <p:cNvSpPr/>
          <p:nvPr/>
        </p:nvSpPr>
        <p:spPr>
          <a:xfrm>
            <a:off x="6185230" y="1874520"/>
            <a:ext cx="4890211" cy="4206240"/>
          </a:xfrm>
          <a:prstGeom prst="roundRect">
            <a:avLst>
              <a:gd name="adj" fmla="val 2609"/>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0" name="charttitle"/>
          <p:cNvSpPr txBox="1"/>
          <p:nvPr/>
        </p:nvSpPr>
        <p:spPr>
          <a:xfrm>
            <a:off x="6403543" y="2011680"/>
            <a:ext cx="4453585" cy="32004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Volume traité et ancienneté des agents interrogés</a:t>
            </a:r>
            <a:endParaRPr lang="fr-FR" sz="1400" dirty="0"/>
          </a:p>
        </p:txBody>
      </p:sp>
      <p:graphicFrame>
        <p:nvGraphicFramePr>
          <p:cNvPr id="21" name="chart" descr=""/>
          <p:cNvGraphicFramePr/>
          <p:nvPr/>
        </p:nvGraphicFramePr>
        <p:xfrm>
          <a:off x="6359881" y="2377440"/>
          <a:ext cx="4540910" cy="3017520"/>
        </p:xfrm>
        <a:graphic xmlns:a="http://schemas.openxmlformats.org/drawingml/2006/main">
          <a:graphicData uri="http://schemas.openxmlformats.org/drawingml/2006/chart">
            <c:chart xmlns:c="http://schemas.openxmlformats.org/drawingml/2006/chart" r:id="rId1"/>
          </a:graphicData>
        </a:graphic>
      </p:graphicFrame>
      <p:sp>
        <p:nvSpPr>
          <p:cNvPr id="22" name="lg0"/>
          <p:cNvSpPr/>
          <p:nvPr/>
        </p:nvSpPr>
        <p:spPr>
          <a:xfrm>
            <a:off x="6447206" y="5596128"/>
            <a:ext cx="261976" cy="274320"/>
          </a:xfrm>
          <a:prstGeom prst="roundRect">
            <a:avLst>
              <a:gd name="adj" fmla="val 20942"/>
            </a:avLst>
          </a:prstGeom>
          <a:solidFill>
            <a:srgbClr val="1B3F9E"/>
          </a:solidFill>
          <a:ln w="12700">
            <a:solidFill>
              <a:srgbClr val="1B3F9E"/>
            </a:solidFill>
            <a:prstDash val="solid"/>
          </a:ln>
        </p:spPr>
      </p:sp>
      <p:sp>
        <p:nvSpPr>
          <p:cNvPr id="23" name="lgt0"/>
          <p:cNvSpPr txBox="1"/>
          <p:nvPr/>
        </p:nvSpPr>
        <p:spPr>
          <a:xfrm>
            <a:off x="6796507" y="5577840"/>
            <a:ext cx="2008480" cy="310896"/>
          </a:xfrm>
          <a:prstGeom prst="rect">
            <a:avLst/>
          </a:prstGeom>
          <a:noFill/>
          <a:ln/>
        </p:spPr>
        <p:txBody>
          <a:bodyPr wrap="square" lIns="0" tIns="0" rIns="0" bIns="0" rtlCol="0" anchor="ctr"/>
          <a:lstStyle/>
          <a:p>
            <a:pPr indent="0" marL="0">
              <a:buNone/>
            </a:pPr>
            <a:r>
              <a:rPr lang="fr-FR" altLang="en-US" sz="1200" dirty="0">
                <a:solidFill>
                  <a:srgbClr val="0E1C46"/>
                </a:solidFill>
                <a:latin typeface="Calibri" pitchFamily="34" charset="0"/>
                <a:ea typeface="Calibri" pitchFamily="34" charset="-122"/>
                <a:cs typeface="Calibri" pitchFamily="34" charset="-120"/>
              </a:rPr>
              <a:t>Courriers traités par jour</a:t>
            </a:r>
            <a:endParaRPr lang="fr-FR" sz="1200" dirty="0"/>
          </a:p>
        </p:txBody>
      </p:sp>
      <p:sp>
        <p:nvSpPr>
          <p:cNvPr id="24" name="lg1"/>
          <p:cNvSpPr/>
          <p:nvPr/>
        </p:nvSpPr>
        <p:spPr>
          <a:xfrm>
            <a:off x="8717661" y="5596128"/>
            <a:ext cx="261976" cy="274320"/>
          </a:xfrm>
          <a:prstGeom prst="roundRect">
            <a:avLst>
              <a:gd name="adj" fmla="val 20942"/>
            </a:avLst>
          </a:prstGeom>
          <a:solidFill>
            <a:srgbClr val="00923A"/>
          </a:solidFill>
          <a:ln w="12700">
            <a:solidFill>
              <a:srgbClr val="00923A"/>
            </a:solidFill>
            <a:prstDash val="solid"/>
          </a:ln>
        </p:spPr>
      </p:sp>
      <p:sp>
        <p:nvSpPr>
          <p:cNvPr id="25" name="lgt1"/>
          <p:cNvSpPr txBox="1"/>
          <p:nvPr/>
        </p:nvSpPr>
        <p:spPr>
          <a:xfrm>
            <a:off x="9066962" y="5577840"/>
            <a:ext cx="2008480" cy="310896"/>
          </a:xfrm>
          <a:prstGeom prst="rect">
            <a:avLst/>
          </a:prstGeom>
          <a:noFill/>
          <a:ln/>
        </p:spPr>
        <p:txBody>
          <a:bodyPr wrap="square" lIns="0" tIns="0" rIns="0" bIns="0" rtlCol="0" anchor="ctr"/>
          <a:lstStyle/>
          <a:p>
            <a:pPr indent="0" marL="0">
              <a:buNone/>
            </a:pPr>
            <a:r>
              <a:rPr lang="fr-FR" altLang="en-US" sz="1200" dirty="0">
                <a:solidFill>
                  <a:srgbClr val="0E1C46"/>
                </a:solidFill>
                <a:latin typeface="Calibri" pitchFamily="34" charset="0"/>
                <a:ea typeface="Calibri" pitchFamily="34" charset="-122"/>
                <a:cs typeface="Calibri" pitchFamily="34" charset="-120"/>
              </a:rPr>
              <a:t>Ancienneté de l’agent (années)</a:t>
            </a:r>
            <a:endParaRPr lang="fr-FR" sz="1200" dirty="0"/>
          </a:p>
        </p:txBody>
      </p:sp>
      <p:pic>
        <p:nvPicPr>
          <p:cNvPr id="26" name="!!flogo" descr="preencoded.png">    </p:cNvPr>
          <p:cNvPicPr>
            <a:picLocks noChangeAspect="1"/>
          </p:cNvPicPr>
          <p:nvPr/>
        </p:nvPicPr>
        <p:blipFill>
          <a:blip r:embed="rId2"/>
          <a:stretch>
            <a:fillRect/>
          </a:stretch>
        </p:blipFill>
        <p:spPr>
          <a:xfrm>
            <a:off x="640080" y="6382512"/>
            <a:ext cx="329184" cy="274320"/>
          </a:xfrm>
          <a:prstGeom prst="rect">
            <a:avLst/>
          </a:prstGeom>
        </p:spPr>
      </p:pic>
      <p:sp>
        <p:nvSpPr>
          <p:cNvPr id="27"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8"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14 / 22</a:t>
            </a:r>
            <a:endParaRPr lang="fr-FR" sz="1000" dirty="0"/>
          </a:p>
        </p:txBody>
      </p:sp>
      <p:sp>
        <p:nvSpPr>
          <p:cNvPr id="29"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30" name="!!railline"/>
          <p:cNvSpPr/>
          <p:nvPr/>
        </p:nvSpPr>
        <p:spPr>
          <a:xfrm>
            <a:off x="11795760" y="1600200"/>
            <a:ext cx="914" cy="3383280"/>
          </a:xfrm>
          <a:prstGeom prst="line">
            <a:avLst/>
          </a:prstGeom>
          <a:noFill/>
          <a:ln w="25400">
            <a:solidFill>
              <a:srgbClr val="DDE3EE"/>
            </a:solidFill>
            <a:prstDash val="solid"/>
          </a:ln>
        </p:spPr>
      </p:sp>
      <p:sp>
        <p:nvSpPr>
          <p:cNvPr id="31" name="!!railprog"/>
          <p:cNvSpPr/>
          <p:nvPr/>
        </p:nvSpPr>
        <p:spPr>
          <a:xfrm>
            <a:off x="11795760" y="1600200"/>
            <a:ext cx="914" cy="2706624"/>
          </a:xfrm>
          <a:prstGeom prst="line">
            <a:avLst/>
          </a:prstGeom>
          <a:noFill/>
          <a:ln w="38100">
            <a:solidFill>
              <a:srgbClr val="00923A"/>
            </a:solidFill>
            <a:prstDash val="solid"/>
          </a:ln>
        </p:spPr>
      </p:sp>
      <p:sp>
        <p:nvSpPr>
          <p:cNvPr id="32" name="!!mact"/>
          <p:cNvSpPr/>
          <p:nvPr/>
        </p:nvSpPr>
        <p:spPr>
          <a:xfrm>
            <a:off x="11494008" y="4005072"/>
            <a:ext cx="603504" cy="603504"/>
          </a:xfrm>
          <a:prstGeom prst="ellipse">
            <a:avLst/>
          </a:prstGeom>
          <a:solidFill>
            <a:srgbClr val="FFFFFF">
              <a:alpha val="0"/>
            </a:srgbClr>
          </a:solidFill>
          <a:ln w="38100">
            <a:solidFill>
              <a:srgbClr val="FCC600"/>
            </a:solidFill>
            <a:prstDash val="solid"/>
          </a:ln>
        </p:spPr>
      </p:sp>
      <p:sp>
        <p:nvSpPr>
          <p:cNvPr id="33"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4" name="!!mt1">
            <a:hlinkClick r:id="rId3"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3"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5"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36" name="!!mt2">
            <a:hlinkClick r:id="rId4"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4"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7"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38" name="!!mt3">
            <a:hlinkClick r:id="rId5"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9"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40" name="!!mt4">
            <a:hlinkClick r:id="rId6"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1" name="!!m5"/>
          <p:cNvSpPr/>
          <p:nvPr/>
        </p:nvSpPr>
        <p:spPr>
          <a:xfrm>
            <a:off x="11594592" y="4105656"/>
            <a:ext cx="402336" cy="402336"/>
          </a:xfrm>
          <a:prstGeom prst="ellipse">
            <a:avLst/>
          </a:prstGeom>
          <a:solidFill>
            <a:srgbClr val="1B3F9E"/>
          </a:solidFill>
          <a:ln w="19050">
            <a:solidFill>
              <a:srgbClr val="1B3F9E"/>
            </a:solidFill>
            <a:prstDash val="solid"/>
          </a:ln>
        </p:spPr>
      </p:sp>
      <p:sp>
        <p:nvSpPr>
          <p:cNvPr id="42" name="!!mt5"/>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3"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4" name="!!mt6">
            <a:hlinkClick r:id="rId7"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7"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5"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RÉSULTATS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53" presetClass="entr" presetSubtype="16" fill="hold" grpId="0" nodeType="withEffect">
                                  <p:stCondLst>
                                    <p:cond delay="250"/>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p:tgtEl>
                                          <p:spTgt spid="8"/>
                                        </p:tgtEl>
                                        <p:attrNameLst>
                                          <p:attrName>ppt_w</p:attrName>
                                        </p:attrNameLst>
                                      </p:cBhvr>
                                      <p:tavLst>
                                        <p:tav tm="0">
                                          <p:val>
                                            <p:fltVal val="0"/>
                                          </p:val>
                                        </p:tav>
                                        <p:tav tm="100000">
                                          <p:val>
                                            <p:strVal val="#ppt_w"/>
                                          </p:val>
                                        </p:tav>
                                      </p:tavLst>
                                    </p:anim>
                                    <p:anim calcmode="lin" valueType="num">
                                      <p:cBhvr>
                                        <p:cTn id="17" dur="600" fill="hold"/>
                                        <p:tgtEl>
                                          <p:spTgt spid="8"/>
                                        </p:tgtEl>
                                        <p:attrNameLst>
                                          <p:attrName>ppt_h</p:attrName>
                                        </p:attrNameLst>
                                      </p:cBhvr>
                                      <p:tavLst>
                                        <p:tav tm="0">
                                          <p:val>
                                            <p:fltVal val="0"/>
                                          </p:val>
                                        </p:tav>
                                        <p:tav tm="100000">
                                          <p:val>
                                            <p:strVal val="#ppt_h"/>
                                          </p:val>
                                        </p:tav>
                                      </p:tavLst>
                                    </p:anim>
                                    <p:animEffect transition="in" filter="fade">
                                      <p:cBhvr>
                                        <p:cTn id="18" dur="600"/>
                                        <p:tgtEl>
                                          <p:spTgt spid="8"/>
                                        </p:tgtEl>
                                      </p:cBhvr>
                                    </p:animEffect>
                                  </p:childTnLst>
                                </p:cTn>
                              </p:par>
                              <p:par>
                                <p:cTn id="19" presetID="10" presetClass="entr" presetSubtype="0" fill="hold" grpId="0" nodeType="withEffect">
                                  <p:stCondLst>
                                    <p:cond delay="2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10" presetClass="entr" presetSubtype="0" fill="hold" grpId="0" nodeType="withEffect">
                                  <p:stCondLst>
                                    <p:cond delay="5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600"/>
                                        <p:tgtEl>
                                          <p:spTgt spid="10"/>
                                        </p:tgtEl>
                                      </p:cBhvr>
                                    </p:animEffect>
                                  </p:childTnLst>
                                </p:cTn>
                              </p:par>
                              <p:par>
                                <p:cTn id="25" presetID="53" presetClass="entr" presetSubtype="16" fill="hold" grpId="0" nodeType="withEffect">
                                  <p:stCondLst>
                                    <p:cond delay="500"/>
                                  </p:stCondLst>
                                  <p:childTnLst>
                                    <p:set>
                                      <p:cBhvr>
                                        <p:cTn id="26" dur="1" fill="hold">
                                          <p:stCondLst>
                                            <p:cond delay="0"/>
                                          </p:stCondLst>
                                        </p:cTn>
                                        <p:tgtEl>
                                          <p:spTgt spid="11"/>
                                        </p:tgtEl>
                                        <p:attrNameLst>
                                          <p:attrName>style.visibility</p:attrName>
                                        </p:attrNameLst>
                                      </p:cBhvr>
                                      <p:to>
                                        <p:strVal val="visible"/>
                                      </p:to>
                                    </p:set>
                                    <p:anim calcmode="lin" valueType="num">
                                      <p:cBhvr>
                                        <p:cTn id="27" dur="600" fill="hold"/>
                                        <p:tgtEl>
                                          <p:spTgt spid="11"/>
                                        </p:tgtEl>
                                        <p:attrNameLst>
                                          <p:attrName>ppt_w</p:attrName>
                                        </p:attrNameLst>
                                      </p:cBhvr>
                                      <p:tavLst>
                                        <p:tav tm="0">
                                          <p:val>
                                            <p:fltVal val="0"/>
                                          </p:val>
                                        </p:tav>
                                        <p:tav tm="100000">
                                          <p:val>
                                            <p:strVal val="#ppt_w"/>
                                          </p:val>
                                        </p:tav>
                                      </p:tavLst>
                                    </p:anim>
                                    <p:anim calcmode="lin" valueType="num">
                                      <p:cBhvr>
                                        <p:cTn id="28" dur="600" fill="hold"/>
                                        <p:tgtEl>
                                          <p:spTgt spid="11"/>
                                        </p:tgtEl>
                                        <p:attrNameLst>
                                          <p:attrName>ppt_h</p:attrName>
                                        </p:attrNameLst>
                                      </p:cBhvr>
                                      <p:tavLst>
                                        <p:tav tm="0">
                                          <p:val>
                                            <p:fltVal val="0"/>
                                          </p:val>
                                        </p:tav>
                                        <p:tav tm="100000">
                                          <p:val>
                                            <p:strVal val="#ppt_h"/>
                                          </p:val>
                                        </p:tav>
                                      </p:tavLst>
                                    </p:anim>
                                    <p:animEffect transition="in" filter="fade">
                                      <p:cBhvr>
                                        <p:cTn id="29" dur="600"/>
                                        <p:tgtEl>
                                          <p:spTgt spid="11"/>
                                        </p:tgtEl>
                                      </p:cBhvr>
                                    </p:animEffect>
                                  </p:childTnLst>
                                </p:cTn>
                              </p:par>
                              <p:par>
                                <p:cTn id="30" presetID="10" presetClass="entr" presetSubtype="0" fill="hold" grpId="0" nodeType="withEffect">
                                  <p:stCondLst>
                                    <p:cond delay="5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p:tgtEl>
                                          <p:spTgt spid="12"/>
                                        </p:tgtEl>
                                      </p:cBhvr>
                                    </p:animEffect>
                                  </p:childTnLst>
                                </p:cTn>
                              </p:par>
                              <p:par>
                                <p:cTn id="33" presetID="10" presetClass="entr" presetSubtype="0" fill="hold" grpId="0"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600"/>
                                        <p:tgtEl>
                                          <p:spTgt spid="13"/>
                                        </p:tgtEl>
                                      </p:cBhvr>
                                    </p:animEffect>
                                  </p:childTnLst>
                                </p:cTn>
                              </p:par>
                              <p:par>
                                <p:cTn id="36" presetID="53" presetClass="entr" presetSubtype="16" fill="hold" grpId="0" nodeType="withEffect">
                                  <p:stCondLst>
                                    <p:cond delay="750"/>
                                  </p:stCondLst>
                                  <p:childTnLst>
                                    <p:set>
                                      <p:cBhvr>
                                        <p:cTn id="37" dur="1" fill="hold">
                                          <p:stCondLst>
                                            <p:cond delay="0"/>
                                          </p:stCondLst>
                                        </p:cTn>
                                        <p:tgtEl>
                                          <p:spTgt spid="14"/>
                                        </p:tgtEl>
                                        <p:attrNameLst>
                                          <p:attrName>style.visibility</p:attrName>
                                        </p:attrNameLst>
                                      </p:cBhvr>
                                      <p:to>
                                        <p:strVal val="visible"/>
                                      </p:to>
                                    </p:set>
                                    <p:anim calcmode="lin" valueType="num">
                                      <p:cBhvr>
                                        <p:cTn id="38" dur="600" fill="hold"/>
                                        <p:tgtEl>
                                          <p:spTgt spid="14"/>
                                        </p:tgtEl>
                                        <p:attrNameLst>
                                          <p:attrName>ppt_w</p:attrName>
                                        </p:attrNameLst>
                                      </p:cBhvr>
                                      <p:tavLst>
                                        <p:tav tm="0">
                                          <p:val>
                                            <p:fltVal val="0"/>
                                          </p:val>
                                        </p:tav>
                                        <p:tav tm="100000">
                                          <p:val>
                                            <p:strVal val="#ppt_w"/>
                                          </p:val>
                                        </p:tav>
                                      </p:tavLst>
                                    </p:anim>
                                    <p:anim calcmode="lin" valueType="num">
                                      <p:cBhvr>
                                        <p:cTn id="39" dur="600" fill="hold"/>
                                        <p:tgtEl>
                                          <p:spTgt spid="14"/>
                                        </p:tgtEl>
                                        <p:attrNameLst>
                                          <p:attrName>ppt_h</p:attrName>
                                        </p:attrNameLst>
                                      </p:cBhvr>
                                      <p:tavLst>
                                        <p:tav tm="0">
                                          <p:val>
                                            <p:fltVal val="0"/>
                                          </p:val>
                                        </p:tav>
                                        <p:tav tm="100000">
                                          <p:val>
                                            <p:strVal val="#ppt_h"/>
                                          </p:val>
                                        </p:tav>
                                      </p:tavLst>
                                    </p:anim>
                                    <p:animEffect transition="in" filter="fade">
                                      <p:cBhvr>
                                        <p:cTn id="40" dur="600"/>
                                        <p:tgtEl>
                                          <p:spTgt spid="14"/>
                                        </p:tgtEl>
                                      </p:cBhvr>
                                    </p:animEffect>
                                  </p:childTnLst>
                                </p:cTn>
                              </p:par>
                              <p:par>
                                <p:cTn id="41" presetID="10" presetClass="entr" presetSubtype="0" fill="hold" grpId="0" nodeType="withEffect">
                                  <p:stCondLst>
                                    <p:cond delay="75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childTnLst>
                                </p:cTn>
                              </p:par>
                              <p:par>
                                <p:cTn id="44" presetID="10" presetClass="entr" presetSubtype="0" fill="hold" grpId="0" nodeType="withEffect">
                                  <p:stCondLst>
                                    <p:cond delay="10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childTnLst>
                                </p:cTn>
                              </p:par>
                              <p:par>
                                <p:cTn id="47" presetID="53" presetClass="entr" presetSubtype="16" fill="hold" grpId="0" nodeType="withEffect">
                                  <p:stCondLst>
                                    <p:cond delay="1000"/>
                                  </p:stCondLst>
                                  <p:childTnLst>
                                    <p:set>
                                      <p:cBhvr>
                                        <p:cTn id="48" dur="1" fill="hold">
                                          <p:stCondLst>
                                            <p:cond delay="0"/>
                                          </p:stCondLst>
                                        </p:cTn>
                                        <p:tgtEl>
                                          <p:spTgt spid="17"/>
                                        </p:tgtEl>
                                        <p:attrNameLst>
                                          <p:attrName>style.visibility</p:attrName>
                                        </p:attrNameLst>
                                      </p:cBhvr>
                                      <p:to>
                                        <p:strVal val="visible"/>
                                      </p:to>
                                    </p:set>
                                    <p:anim calcmode="lin" valueType="num">
                                      <p:cBhvr>
                                        <p:cTn id="49" dur="600" fill="hold"/>
                                        <p:tgtEl>
                                          <p:spTgt spid="17"/>
                                        </p:tgtEl>
                                        <p:attrNameLst>
                                          <p:attrName>ppt_w</p:attrName>
                                        </p:attrNameLst>
                                      </p:cBhvr>
                                      <p:tavLst>
                                        <p:tav tm="0">
                                          <p:val>
                                            <p:fltVal val="0"/>
                                          </p:val>
                                        </p:tav>
                                        <p:tav tm="100000">
                                          <p:val>
                                            <p:strVal val="#ppt_w"/>
                                          </p:val>
                                        </p:tav>
                                      </p:tavLst>
                                    </p:anim>
                                    <p:anim calcmode="lin" valueType="num">
                                      <p:cBhvr>
                                        <p:cTn id="50" dur="600" fill="hold"/>
                                        <p:tgtEl>
                                          <p:spTgt spid="17"/>
                                        </p:tgtEl>
                                        <p:attrNameLst>
                                          <p:attrName>ppt_h</p:attrName>
                                        </p:attrNameLst>
                                      </p:cBhvr>
                                      <p:tavLst>
                                        <p:tav tm="0">
                                          <p:val>
                                            <p:fltVal val="0"/>
                                          </p:val>
                                        </p:tav>
                                        <p:tav tm="100000">
                                          <p:val>
                                            <p:strVal val="#ppt_h"/>
                                          </p:val>
                                        </p:tav>
                                      </p:tavLst>
                                    </p:anim>
                                    <p:animEffect transition="in" filter="fade">
                                      <p:cBhvr>
                                        <p:cTn id="51" dur="600"/>
                                        <p:tgtEl>
                                          <p:spTgt spid="17"/>
                                        </p:tgtEl>
                                      </p:cBhvr>
                                    </p:animEffect>
                                  </p:childTnLst>
                                </p:cTn>
                              </p:par>
                              <p:par>
                                <p:cTn id="52" presetID="10" presetClass="entr" presetSubtype="0" fill="hold" grpId="0" nodeType="withEffect">
                                  <p:stCondLst>
                                    <p:cond delay="10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childTnLst>
                                </p:cTn>
                              </p:par>
                              <p:par>
                                <p:cTn id="55" presetID="53" presetClass="entr" presetSubtype="16" fill="hold" grpId="0" nodeType="withEffect">
                                  <p:stCondLst>
                                    <p:cond delay="1100"/>
                                  </p:stCondLst>
                                  <p:childTnLst>
                                    <p:set>
                                      <p:cBhvr>
                                        <p:cTn id="56" dur="1" fill="hold">
                                          <p:stCondLst>
                                            <p:cond delay="0"/>
                                          </p:stCondLst>
                                        </p:cTn>
                                        <p:tgtEl>
                                          <p:spTgt spid="19"/>
                                        </p:tgtEl>
                                        <p:attrNameLst>
                                          <p:attrName>style.visibility</p:attrName>
                                        </p:attrNameLst>
                                      </p:cBhvr>
                                      <p:to>
                                        <p:strVal val="visible"/>
                                      </p:to>
                                    </p:set>
                                    <p:anim calcmode="lin" valueType="num">
                                      <p:cBhvr>
                                        <p:cTn id="57" dur="600" fill="hold"/>
                                        <p:tgtEl>
                                          <p:spTgt spid="19"/>
                                        </p:tgtEl>
                                        <p:attrNameLst>
                                          <p:attrName>ppt_w</p:attrName>
                                        </p:attrNameLst>
                                      </p:cBhvr>
                                      <p:tavLst>
                                        <p:tav tm="0">
                                          <p:val>
                                            <p:fltVal val="0"/>
                                          </p:val>
                                        </p:tav>
                                        <p:tav tm="100000">
                                          <p:val>
                                            <p:strVal val="#ppt_w"/>
                                          </p:val>
                                        </p:tav>
                                      </p:tavLst>
                                    </p:anim>
                                    <p:anim calcmode="lin" valueType="num">
                                      <p:cBhvr>
                                        <p:cTn id="58" dur="600" fill="hold"/>
                                        <p:tgtEl>
                                          <p:spTgt spid="19"/>
                                        </p:tgtEl>
                                        <p:attrNameLst>
                                          <p:attrName>ppt_h</p:attrName>
                                        </p:attrNameLst>
                                      </p:cBhvr>
                                      <p:tavLst>
                                        <p:tav tm="0">
                                          <p:val>
                                            <p:fltVal val="0"/>
                                          </p:val>
                                        </p:tav>
                                        <p:tav tm="100000">
                                          <p:val>
                                            <p:strVal val="#ppt_h"/>
                                          </p:val>
                                        </p:tav>
                                      </p:tavLst>
                                    </p:anim>
                                    <p:animEffect transition="in" filter="fade">
                                      <p:cBhvr>
                                        <p:cTn id="59" dur="600"/>
                                        <p:tgtEl>
                                          <p:spTgt spid="19"/>
                                        </p:tgtEl>
                                      </p:cBhvr>
                                    </p:animEffect>
                                  </p:childTnLst>
                                </p:cTn>
                              </p:par>
                              <p:par>
                                <p:cTn id="60" presetID="10" presetClass="entr" presetSubtype="0" fill="hold" grpId="0" nodeType="withEffect">
                                  <p:stCondLst>
                                    <p:cond delay="120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childTnLst>
                                </p:cTn>
                              </p:par>
                              <p:par>
                                <p:cTn id="63" presetID="22" presetClass="entr" presetSubtype="4" fill="hold" grpId="0" nodeType="withEffect">
                                  <p:stCondLst>
                                    <p:cond delay="1400"/>
                                  </p:stCondLst>
                                  <p:childTnLst>
                                    <p:set>
                                      <p:cBhvr>
                                        <p:cTn id="64" dur="1" fill="hold">
                                          <p:stCondLst>
                                            <p:cond delay="0"/>
                                          </p:stCondLst>
                                        </p:cTn>
                                        <p:tgtEl>
                                          <p:spTgt spid="21"/>
                                        </p:tgtEl>
                                        <p:attrNameLst>
                                          <p:attrName>style.visibility</p:attrName>
                                        </p:attrNameLst>
                                      </p:cBhvr>
                                      <p:to>
                                        <p:strVal val="visible"/>
                                      </p:to>
                                    </p:set>
                                    <p:animEffect transition="in" filter="wipe(up)">
                                      <p:cBhvr>
                                        <p:cTn id="65" dur="900"/>
                                        <p:tgtEl>
                                          <p:spTgt spid="21"/>
                                        </p:tgtEl>
                                      </p:cBhvr>
                                    </p:animEffect>
                                  </p:childTnLst>
                                </p:cTn>
                              </p:par>
                              <p:par>
                                <p:cTn id="66" presetID="53" presetClass="entr" presetSubtype="16" fill="hold" grpId="0" nodeType="withEffect">
                                  <p:stCondLst>
                                    <p:cond delay="2000"/>
                                  </p:stCondLst>
                                  <p:childTnLst>
                                    <p:set>
                                      <p:cBhvr>
                                        <p:cTn id="67" dur="1" fill="hold">
                                          <p:stCondLst>
                                            <p:cond delay="0"/>
                                          </p:stCondLst>
                                        </p:cTn>
                                        <p:tgtEl>
                                          <p:spTgt spid="22"/>
                                        </p:tgtEl>
                                        <p:attrNameLst>
                                          <p:attrName>style.visibility</p:attrName>
                                        </p:attrNameLst>
                                      </p:cBhvr>
                                      <p:to>
                                        <p:strVal val="visible"/>
                                      </p:to>
                                    </p:set>
                                    <p:anim calcmode="lin" valueType="num">
                                      <p:cBhvr>
                                        <p:cTn id="68" dur="600" fill="hold"/>
                                        <p:tgtEl>
                                          <p:spTgt spid="22"/>
                                        </p:tgtEl>
                                        <p:attrNameLst>
                                          <p:attrName>ppt_w</p:attrName>
                                        </p:attrNameLst>
                                      </p:cBhvr>
                                      <p:tavLst>
                                        <p:tav tm="0">
                                          <p:val>
                                            <p:fltVal val="0"/>
                                          </p:val>
                                        </p:tav>
                                        <p:tav tm="100000">
                                          <p:val>
                                            <p:strVal val="#ppt_w"/>
                                          </p:val>
                                        </p:tav>
                                      </p:tavLst>
                                    </p:anim>
                                    <p:anim calcmode="lin" valueType="num">
                                      <p:cBhvr>
                                        <p:cTn id="69" dur="600" fill="hold"/>
                                        <p:tgtEl>
                                          <p:spTgt spid="22"/>
                                        </p:tgtEl>
                                        <p:attrNameLst>
                                          <p:attrName>ppt_h</p:attrName>
                                        </p:attrNameLst>
                                      </p:cBhvr>
                                      <p:tavLst>
                                        <p:tav tm="0">
                                          <p:val>
                                            <p:fltVal val="0"/>
                                          </p:val>
                                        </p:tav>
                                        <p:tav tm="100000">
                                          <p:val>
                                            <p:strVal val="#ppt_h"/>
                                          </p:val>
                                        </p:tav>
                                      </p:tavLst>
                                    </p:anim>
                                    <p:animEffect transition="in" filter="fade">
                                      <p:cBhvr>
                                        <p:cTn id="70" dur="600"/>
                                        <p:tgtEl>
                                          <p:spTgt spid="22"/>
                                        </p:tgtEl>
                                      </p:cBhvr>
                                    </p:animEffect>
                                  </p:childTnLst>
                                </p:cTn>
                              </p:par>
                              <p:par>
                                <p:cTn id="71" presetID="22" presetClass="entr" presetSubtype="8" fill="hold" grpId="0" nodeType="withEffect">
                                  <p:stCondLst>
                                    <p:cond delay="2050"/>
                                  </p:stCondLst>
                                  <p:childTnLst>
                                    <p:set>
                                      <p:cBhvr>
                                        <p:cTn id="72" dur="1" fill="hold">
                                          <p:stCondLst>
                                            <p:cond delay="0"/>
                                          </p:stCondLst>
                                        </p:cTn>
                                        <p:tgtEl>
                                          <p:spTgt spid="23"/>
                                        </p:tgtEl>
                                        <p:attrNameLst>
                                          <p:attrName>style.visibility</p:attrName>
                                        </p:attrNameLst>
                                      </p:cBhvr>
                                      <p:to>
                                        <p:strVal val="visible"/>
                                      </p:to>
                                    </p:set>
                                    <p:animEffect transition="in" filter="wipe(left)">
                                      <p:cBhvr>
                                        <p:cTn id="73" dur="600"/>
                                        <p:tgtEl>
                                          <p:spTgt spid="23"/>
                                        </p:tgtEl>
                                      </p:cBhvr>
                                    </p:animEffect>
                                  </p:childTnLst>
                                </p:cTn>
                              </p:par>
                              <p:par>
                                <p:cTn id="74" presetID="53" presetClass="entr" presetSubtype="16" fill="hold" grpId="0" nodeType="withEffect">
                                  <p:stCondLst>
                                    <p:cond delay="2300"/>
                                  </p:stCondLst>
                                  <p:childTnLst>
                                    <p:set>
                                      <p:cBhvr>
                                        <p:cTn id="75" dur="1" fill="hold">
                                          <p:stCondLst>
                                            <p:cond delay="0"/>
                                          </p:stCondLst>
                                        </p:cTn>
                                        <p:tgtEl>
                                          <p:spTgt spid="24"/>
                                        </p:tgtEl>
                                        <p:attrNameLst>
                                          <p:attrName>style.visibility</p:attrName>
                                        </p:attrNameLst>
                                      </p:cBhvr>
                                      <p:to>
                                        <p:strVal val="visible"/>
                                      </p:to>
                                    </p:set>
                                    <p:anim calcmode="lin" valueType="num">
                                      <p:cBhvr>
                                        <p:cTn id="76" dur="600" fill="hold"/>
                                        <p:tgtEl>
                                          <p:spTgt spid="24"/>
                                        </p:tgtEl>
                                        <p:attrNameLst>
                                          <p:attrName>ppt_w</p:attrName>
                                        </p:attrNameLst>
                                      </p:cBhvr>
                                      <p:tavLst>
                                        <p:tav tm="0">
                                          <p:val>
                                            <p:fltVal val="0"/>
                                          </p:val>
                                        </p:tav>
                                        <p:tav tm="100000">
                                          <p:val>
                                            <p:strVal val="#ppt_w"/>
                                          </p:val>
                                        </p:tav>
                                      </p:tavLst>
                                    </p:anim>
                                    <p:anim calcmode="lin" valueType="num">
                                      <p:cBhvr>
                                        <p:cTn id="77" dur="600" fill="hold"/>
                                        <p:tgtEl>
                                          <p:spTgt spid="24"/>
                                        </p:tgtEl>
                                        <p:attrNameLst>
                                          <p:attrName>ppt_h</p:attrName>
                                        </p:attrNameLst>
                                      </p:cBhvr>
                                      <p:tavLst>
                                        <p:tav tm="0">
                                          <p:val>
                                            <p:fltVal val="0"/>
                                          </p:val>
                                        </p:tav>
                                        <p:tav tm="100000">
                                          <p:val>
                                            <p:strVal val="#ppt_h"/>
                                          </p:val>
                                        </p:tav>
                                      </p:tavLst>
                                    </p:anim>
                                    <p:animEffect transition="in" filter="fade">
                                      <p:cBhvr>
                                        <p:cTn id="78" dur="600"/>
                                        <p:tgtEl>
                                          <p:spTgt spid="24"/>
                                        </p:tgtEl>
                                      </p:cBhvr>
                                    </p:animEffect>
                                  </p:childTnLst>
                                </p:cTn>
                              </p:par>
                              <p:par>
                                <p:cTn id="79" presetID="22" presetClass="entr" presetSubtype="8" fill="hold" grpId="0" nodeType="withEffect">
                                  <p:stCondLst>
                                    <p:cond delay="2350"/>
                                  </p:stCondLst>
                                  <p:childTnLst>
                                    <p:set>
                                      <p:cBhvr>
                                        <p:cTn id="80" dur="1" fill="hold">
                                          <p:stCondLst>
                                            <p:cond delay="0"/>
                                          </p:stCondLst>
                                        </p:cTn>
                                        <p:tgtEl>
                                          <p:spTgt spid="25"/>
                                        </p:tgtEl>
                                        <p:attrNameLst>
                                          <p:attrName>style.visibility</p:attrName>
                                        </p:attrNameLst>
                                      </p:cBhvr>
                                      <p:to>
                                        <p:strVal val="visible"/>
                                      </p:to>
                                    </p:set>
                                    <p:animEffect transition="in" filter="wipe(left)">
                                      <p:cBhvr>
                                        <p:cTn id="81"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P spid="23" grpId="0" animBg="1"/>
      <p:bldP spid="25" grpId="0" animBg="1"/>
      <p:bldGraphic spid="21" grpId="0">
        <p:bldAsOne/>
      </p:bldGraphic>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277295" y="-1060704"/>
            <a:ext cx="1828800" cy="1828800"/>
          </a:xfrm>
          <a:prstGeom prst="ellipse">
            <a:avLst/>
          </a:prstGeom>
          <a:solidFill>
            <a:srgbClr val="1B3F9E"/>
          </a:solidFill>
          <a:ln w="12700">
            <a:solidFill>
              <a:srgbClr val="1B3F9E"/>
            </a:solidFill>
            <a:prstDash val="solid"/>
          </a:ln>
        </p:spPr>
      </p:sp>
      <p:sp>
        <p:nvSpPr>
          <p:cNvPr id="3" name="!!orbG"/>
          <p:cNvSpPr/>
          <p:nvPr/>
        </p:nvSpPr>
        <p:spPr>
          <a:xfrm>
            <a:off x="11247120" y="-1005840"/>
            <a:ext cx="1554480" cy="1554480"/>
          </a:xfrm>
          <a:prstGeom prst="ellipse">
            <a:avLst/>
          </a:prstGeom>
          <a:solidFill>
            <a:srgbClr val="00923A"/>
          </a:solidFill>
          <a:ln w="12700">
            <a:solidFill>
              <a:srgbClr val="00923A"/>
            </a:solidFill>
            <a:prstDash val="solid"/>
          </a:ln>
        </p:spPr>
      </p:sp>
      <p:sp>
        <p:nvSpPr>
          <p:cNvPr id="4" name="!!orbY"/>
          <p:cNvSpPr/>
          <p:nvPr/>
        </p:nvSpPr>
        <p:spPr>
          <a:xfrm>
            <a:off x="-548640" y="6309360"/>
            <a:ext cx="731520" cy="731520"/>
          </a:xfrm>
          <a:prstGeom prst="ellipse">
            <a:avLst/>
          </a:prstGeom>
          <a:solidFill>
            <a:srgbClr val="FFFFFF">
              <a:alpha val="0"/>
            </a:srgbClr>
          </a:solidFill>
          <a:ln w="6096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VÉRIFICATION DES HYPOTHÈSES</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Un circuit fiable, mais lent et fragile</a:t>
            </a:r>
            <a:endParaRPr lang="fr-FR" sz="3200" dirty="0"/>
          </a:p>
        </p:txBody>
      </p:sp>
      <p:sp>
        <p:nvSpPr>
          <p:cNvPr id="7" name="v0"/>
          <p:cNvSpPr/>
          <p:nvPr/>
        </p:nvSpPr>
        <p:spPr>
          <a:xfrm>
            <a:off x="640080" y="1920240"/>
            <a:ext cx="10435361" cy="868680"/>
          </a:xfrm>
          <a:prstGeom prst="roundRect">
            <a:avLst>
              <a:gd name="adj" fmla="val 12632"/>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vc0"/>
          <p:cNvSpPr txBox="1"/>
          <p:nvPr/>
        </p:nvSpPr>
        <p:spPr>
          <a:xfrm>
            <a:off x="902056" y="2121408"/>
            <a:ext cx="785927" cy="457200"/>
          </a:xfrm>
          <a:prstGeom prst="rect">
            <a:avLst/>
          </a:prstGeom>
          <a:noFill/>
          <a:ln/>
        </p:spPr>
        <p:txBody>
          <a:bodyPr wrap="square" lIns="0" tIns="0" rIns="0" bIns="0" rtlCol="0" anchor="t"/>
          <a:lstStyle/>
          <a:p>
            <a:pPr indent="0" marL="0">
              <a:buNone/>
            </a:pPr>
            <a:r>
              <a:rPr lang="fr-FR" altLang="en-US" sz="2200" b="1" dirty="0">
                <a:solidFill>
                  <a:srgbClr val="1B3F9E"/>
                </a:solidFill>
                <a:latin typeface="Calibri" pitchFamily="34" charset="0"/>
                <a:ea typeface="Calibri" pitchFamily="34" charset="-122"/>
                <a:cs typeface="Calibri" pitchFamily="34" charset="-120"/>
              </a:rPr>
              <a:t>HS1</a:t>
            </a:r>
            <a:endParaRPr lang="fr-FR" sz="2200" dirty="0"/>
          </a:p>
        </p:txBody>
      </p:sp>
      <p:sp>
        <p:nvSpPr>
          <p:cNvPr id="9" name="vt0"/>
          <p:cNvSpPr txBox="1"/>
          <p:nvPr/>
        </p:nvSpPr>
        <p:spPr>
          <a:xfrm>
            <a:off x="1775308" y="2157984"/>
            <a:ext cx="5588813" cy="411480"/>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Application dépendante des signataires</a:t>
            </a:r>
            <a:endParaRPr lang="fr-FR" sz="1700" dirty="0"/>
          </a:p>
        </p:txBody>
      </p:sp>
      <p:sp>
        <p:nvSpPr>
          <p:cNvPr id="10" name="vb0"/>
          <p:cNvSpPr/>
          <p:nvPr/>
        </p:nvSpPr>
        <p:spPr>
          <a:xfrm rot="-120000">
            <a:off x="7669759" y="2103120"/>
            <a:ext cx="3143707" cy="502920"/>
          </a:xfrm>
          <a:prstGeom prst="roundRect">
            <a:avLst>
              <a:gd name="adj" fmla="val 14545"/>
            </a:avLst>
          </a:prstGeom>
          <a:solidFill>
            <a:srgbClr val="E3F5EA"/>
          </a:solidFill>
          <a:ln w="19050">
            <a:solidFill>
              <a:srgbClr val="00923A"/>
            </a:solidFill>
            <a:prstDash val="solid"/>
          </a:ln>
        </p:spPr>
      </p:sp>
      <p:sp>
        <p:nvSpPr>
          <p:cNvPr id="11" name="vbt0"/>
          <p:cNvSpPr txBox="1"/>
          <p:nvPr/>
        </p:nvSpPr>
        <p:spPr>
          <a:xfrm rot="-120000">
            <a:off x="7669759" y="2103120"/>
            <a:ext cx="3143707" cy="502920"/>
          </a:xfrm>
          <a:prstGeom prst="rect">
            <a:avLst/>
          </a:prstGeom>
          <a:noFill/>
          <a:ln/>
        </p:spPr>
        <p:txBody>
          <a:bodyPr wrap="square" lIns="0" tIns="0" rIns="0" bIns="0" rtlCol="0" anchor="ctr"/>
          <a:lstStyle/>
          <a:p>
            <a:pPr algn="ctr" indent="0" marL="0">
              <a:buNone/>
            </a:pPr>
            <a:r>
              <a:rPr lang="fr-FR" altLang="en-US" sz="1400" b="1" spc="100" kern="0" dirty="0">
                <a:solidFill>
                  <a:srgbClr val="00923A"/>
                </a:solidFill>
                <a:latin typeface="Calibri" pitchFamily="34" charset="0"/>
                <a:ea typeface="Calibri" pitchFamily="34" charset="-122"/>
                <a:cs typeface="Calibri" pitchFamily="34" charset="-120"/>
              </a:rPr>
              <a:t>✓  CONFIRMÉE</a:t>
            </a:r>
            <a:endParaRPr lang="fr-FR" sz="1400" dirty="0"/>
          </a:p>
        </p:txBody>
      </p:sp>
      <p:sp>
        <p:nvSpPr>
          <p:cNvPr id="12" name="v1"/>
          <p:cNvSpPr/>
          <p:nvPr/>
        </p:nvSpPr>
        <p:spPr>
          <a:xfrm>
            <a:off x="640080" y="2971800"/>
            <a:ext cx="10435361" cy="868680"/>
          </a:xfrm>
          <a:prstGeom prst="roundRect">
            <a:avLst>
              <a:gd name="adj" fmla="val 12632"/>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3" name="vc1"/>
          <p:cNvSpPr txBox="1"/>
          <p:nvPr/>
        </p:nvSpPr>
        <p:spPr>
          <a:xfrm>
            <a:off x="902056" y="3172968"/>
            <a:ext cx="785927" cy="457200"/>
          </a:xfrm>
          <a:prstGeom prst="rect">
            <a:avLst/>
          </a:prstGeom>
          <a:noFill/>
          <a:ln/>
        </p:spPr>
        <p:txBody>
          <a:bodyPr wrap="square" lIns="0" tIns="0" rIns="0" bIns="0" rtlCol="0" anchor="t"/>
          <a:lstStyle/>
          <a:p>
            <a:pPr indent="0" marL="0">
              <a:buNone/>
            </a:pPr>
            <a:r>
              <a:rPr lang="fr-FR" altLang="en-US" sz="2200" b="1" dirty="0">
                <a:solidFill>
                  <a:srgbClr val="1B3F9E"/>
                </a:solidFill>
                <a:latin typeface="Calibri" pitchFamily="34" charset="0"/>
                <a:ea typeface="Calibri" pitchFamily="34" charset="-122"/>
                <a:cs typeface="Calibri" pitchFamily="34" charset="-120"/>
              </a:rPr>
              <a:t>HS2</a:t>
            </a:r>
            <a:endParaRPr lang="fr-FR" sz="2200" dirty="0"/>
          </a:p>
        </p:txBody>
      </p:sp>
      <p:sp>
        <p:nvSpPr>
          <p:cNvPr id="14" name="vt1"/>
          <p:cNvSpPr txBox="1"/>
          <p:nvPr/>
        </p:nvSpPr>
        <p:spPr>
          <a:xfrm>
            <a:off x="1775308" y="3209544"/>
            <a:ext cx="5588813" cy="411480"/>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Moyens matériels et logistiques insuffisants</a:t>
            </a:r>
            <a:endParaRPr lang="fr-FR" sz="1700" dirty="0"/>
          </a:p>
        </p:txBody>
      </p:sp>
      <p:sp>
        <p:nvSpPr>
          <p:cNvPr id="15" name="vb1"/>
          <p:cNvSpPr/>
          <p:nvPr/>
        </p:nvSpPr>
        <p:spPr>
          <a:xfrm rot="-120000">
            <a:off x="7669759" y="3154680"/>
            <a:ext cx="3143707" cy="502920"/>
          </a:xfrm>
          <a:prstGeom prst="roundRect">
            <a:avLst>
              <a:gd name="adj" fmla="val 14545"/>
            </a:avLst>
          </a:prstGeom>
          <a:solidFill>
            <a:srgbClr val="FFF6D6"/>
          </a:solidFill>
          <a:ln w="19050">
            <a:solidFill>
              <a:srgbClr val="9A6A00"/>
            </a:solidFill>
            <a:prstDash val="solid"/>
          </a:ln>
        </p:spPr>
      </p:sp>
      <p:sp>
        <p:nvSpPr>
          <p:cNvPr id="16" name="vbt1"/>
          <p:cNvSpPr txBox="1"/>
          <p:nvPr/>
        </p:nvSpPr>
        <p:spPr>
          <a:xfrm rot="-120000">
            <a:off x="7669759" y="3154680"/>
            <a:ext cx="3143707" cy="502920"/>
          </a:xfrm>
          <a:prstGeom prst="rect">
            <a:avLst/>
          </a:prstGeom>
          <a:noFill/>
          <a:ln/>
        </p:spPr>
        <p:txBody>
          <a:bodyPr wrap="square" lIns="0" tIns="0" rIns="0" bIns="0" rtlCol="0" anchor="ctr"/>
          <a:lstStyle/>
          <a:p>
            <a:pPr algn="ctr" indent="0" marL="0">
              <a:buNone/>
            </a:pPr>
            <a:r>
              <a:rPr lang="fr-FR" altLang="en-US" sz="1400" b="1" spc="100" kern="0" dirty="0">
                <a:solidFill>
                  <a:srgbClr val="9A6A00"/>
                </a:solidFill>
                <a:latin typeface="Calibri" pitchFamily="34" charset="0"/>
                <a:ea typeface="Calibri" pitchFamily="34" charset="-122"/>
                <a:cs typeface="Calibri" pitchFamily="34" charset="-120"/>
              </a:rPr>
              <a:t>≈  PARTIELLEMENT CONFIRMÉE</a:t>
            </a:r>
            <a:endParaRPr lang="fr-FR" sz="1400" dirty="0"/>
          </a:p>
        </p:txBody>
      </p:sp>
      <p:sp>
        <p:nvSpPr>
          <p:cNvPr id="17" name="v2"/>
          <p:cNvSpPr/>
          <p:nvPr/>
        </p:nvSpPr>
        <p:spPr>
          <a:xfrm>
            <a:off x="640080" y="4023360"/>
            <a:ext cx="10435361" cy="868680"/>
          </a:xfrm>
          <a:prstGeom prst="roundRect">
            <a:avLst>
              <a:gd name="adj" fmla="val 12632"/>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8" name="vc2"/>
          <p:cNvSpPr txBox="1"/>
          <p:nvPr/>
        </p:nvSpPr>
        <p:spPr>
          <a:xfrm>
            <a:off x="902056" y="4224528"/>
            <a:ext cx="785927" cy="457200"/>
          </a:xfrm>
          <a:prstGeom prst="rect">
            <a:avLst/>
          </a:prstGeom>
          <a:noFill/>
          <a:ln/>
        </p:spPr>
        <p:txBody>
          <a:bodyPr wrap="square" lIns="0" tIns="0" rIns="0" bIns="0" rtlCol="0" anchor="t"/>
          <a:lstStyle/>
          <a:p>
            <a:pPr indent="0" marL="0">
              <a:buNone/>
            </a:pPr>
            <a:r>
              <a:rPr lang="fr-FR" altLang="en-US" sz="2200" b="1" dirty="0">
                <a:solidFill>
                  <a:srgbClr val="1B3F9E"/>
                </a:solidFill>
                <a:latin typeface="Calibri" pitchFamily="34" charset="0"/>
                <a:ea typeface="Calibri" pitchFamily="34" charset="-122"/>
                <a:cs typeface="Calibri" pitchFamily="34" charset="-120"/>
              </a:rPr>
              <a:t>HS3</a:t>
            </a:r>
            <a:endParaRPr lang="fr-FR" sz="2200" dirty="0"/>
          </a:p>
        </p:txBody>
      </p:sp>
      <p:sp>
        <p:nvSpPr>
          <p:cNvPr id="19" name="vt2"/>
          <p:cNvSpPr txBox="1"/>
          <p:nvPr/>
        </p:nvSpPr>
        <p:spPr>
          <a:xfrm>
            <a:off x="1775308" y="4261104"/>
            <a:ext cx="5588813" cy="411480"/>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Pas d’outil numérique formalisé ni de procédures écrites</a:t>
            </a:r>
            <a:endParaRPr lang="fr-FR" sz="1700" dirty="0"/>
          </a:p>
        </p:txBody>
      </p:sp>
      <p:sp>
        <p:nvSpPr>
          <p:cNvPr id="20" name="vb2"/>
          <p:cNvSpPr/>
          <p:nvPr/>
        </p:nvSpPr>
        <p:spPr>
          <a:xfrm rot="-120000">
            <a:off x="7669759" y="4206240"/>
            <a:ext cx="3143707" cy="502920"/>
          </a:xfrm>
          <a:prstGeom prst="roundRect">
            <a:avLst>
              <a:gd name="adj" fmla="val 14545"/>
            </a:avLst>
          </a:prstGeom>
          <a:solidFill>
            <a:srgbClr val="E3F5EA"/>
          </a:solidFill>
          <a:ln w="19050">
            <a:solidFill>
              <a:srgbClr val="00923A"/>
            </a:solidFill>
            <a:prstDash val="solid"/>
          </a:ln>
        </p:spPr>
      </p:sp>
      <p:sp>
        <p:nvSpPr>
          <p:cNvPr id="21" name="vbt2"/>
          <p:cNvSpPr txBox="1"/>
          <p:nvPr/>
        </p:nvSpPr>
        <p:spPr>
          <a:xfrm rot="-120000">
            <a:off x="7669759" y="4206240"/>
            <a:ext cx="3143707" cy="502920"/>
          </a:xfrm>
          <a:prstGeom prst="rect">
            <a:avLst/>
          </a:prstGeom>
          <a:noFill/>
          <a:ln/>
        </p:spPr>
        <p:txBody>
          <a:bodyPr wrap="square" lIns="0" tIns="0" rIns="0" bIns="0" rtlCol="0" anchor="ctr"/>
          <a:lstStyle/>
          <a:p>
            <a:pPr algn="ctr" indent="0" marL="0">
              <a:buNone/>
            </a:pPr>
            <a:r>
              <a:rPr lang="fr-FR" altLang="en-US" sz="1400" b="1" spc="100" kern="0" dirty="0">
                <a:solidFill>
                  <a:srgbClr val="00923A"/>
                </a:solidFill>
                <a:latin typeface="Calibri" pitchFamily="34" charset="0"/>
                <a:ea typeface="Calibri" pitchFamily="34" charset="-122"/>
                <a:cs typeface="Calibri" pitchFamily="34" charset="-120"/>
              </a:rPr>
              <a:t>✓  CONFIRMÉE</a:t>
            </a:r>
            <a:endParaRPr lang="fr-FR" sz="1400" dirty="0"/>
          </a:p>
        </p:txBody>
      </p:sp>
      <p:sp>
        <p:nvSpPr>
          <p:cNvPr id="22" name="hp"/>
          <p:cNvSpPr/>
          <p:nvPr/>
        </p:nvSpPr>
        <p:spPr>
          <a:xfrm>
            <a:off x="640080" y="5166360"/>
            <a:ext cx="10435361" cy="960120"/>
          </a:xfrm>
          <a:prstGeom prst="roundRect">
            <a:avLst>
              <a:gd name="adj" fmla="val 11429"/>
            </a:avLst>
          </a:prstGeom>
          <a:solidFill>
            <a:srgbClr val="EEF2FB"/>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3" name="hpt"/>
          <p:cNvSpPr txBox="1"/>
          <p:nvPr/>
        </p:nvSpPr>
        <p:spPr>
          <a:xfrm>
            <a:off x="902056" y="5285232"/>
            <a:ext cx="9955073" cy="749808"/>
          </a:xfrm>
          <a:prstGeom prst="rect">
            <a:avLst/>
          </a:prstGeom>
          <a:noFill/>
          <a:ln/>
        </p:spPr>
        <p:txBody>
          <a:bodyPr wrap="square" lIns="0" tIns="0" rIns="0" bIns="0" rtlCol="0" anchor="ctr"/>
          <a:lstStyle/>
          <a:p>
            <a:pPr indent="0" marL="0">
              <a:buNone/>
            </a:pPr>
            <a:r>
              <a:rPr lang="fr-FR" altLang="en-US" sz="1500" b="1" dirty="0">
                <a:solidFill>
                  <a:srgbClr val="1B3F9E"/>
                </a:solidFill>
                <a:latin typeface="Calibri" pitchFamily="34" charset="0"/>
                <a:ea typeface="Calibri" pitchFamily="34" charset="-122"/>
                <a:cs typeface="Calibri" pitchFamily="34" charset="-120"/>
              </a:rPr>
              <a:t>Hypothèse principale : partiellement confirmée. </a:t>
            </a:r>
            <a:pPr indent="0" marL="0">
              <a:buNone/>
            </a:pPr>
            <a:r>
              <a:rPr lang="fr-FR" altLang="en-US" sz="1500" dirty="0">
                <a:solidFill>
                  <a:srgbClr val="0E1C46"/>
                </a:solidFill>
                <a:latin typeface="Calibri" pitchFamily="34" charset="0"/>
                <a:ea typeface="Calibri" pitchFamily="34" charset="-122"/>
                <a:cs typeface="Calibri" pitchFamily="34" charset="-120"/>
              </a:rPr>
              <a:t>Le système est organisé et assure la traçabilité, mais son efficacité reste limitée par la dépendance envers quelques responsables, des moyens insuffisants et l’absence d’outils numériques formalisés.</a:t>
            </a:r>
            <a:endParaRPr lang="fr-FR" sz="1500" dirty="0"/>
          </a:p>
        </p:txBody>
      </p:sp>
      <p:pic>
        <p:nvPicPr>
          <p:cNvPr id="24" name="!!flogo" descr="preencoded.png">    </p:cNvPr>
          <p:cNvPicPr>
            <a:picLocks noChangeAspect="1"/>
          </p:cNvPicPr>
          <p:nvPr/>
        </p:nvPicPr>
        <p:blipFill>
          <a:blip r:embed="rId1"/>
          <a:stretch>
            <a:fillRect/>
          </a:stretch>
        </p:blipFill>
        <p:spPr>
          <a:xfrm>
            <a:off x="640080" y="6382512"/>
            <a:ext cx="329184" cy="274320"/>
          </a:xfrm>
          <a:prstGeom prst="rect">
            <a:avLst/>
          </a:prstGeom>
        </p:spPr>
      </p:pic>
      <p:sp>
        <p:nvSpPr>
          <p:cNvPr id="25"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6"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15 / 22</a:t>
            </a:r>
            <a:endParaRPr lang="fr-FR" sz="1000" dirty="0"/>
          </a:p>
        </p:txBody>
      </p:sp>
      <p:sp>
        <p:nvSpPr>
          <p:cNvPr id="27"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8" name="!!railline"/>
          <p:cNvSpPr/>
          <p:nvPr/>
        </p:nvSpPr>
        <p:spPr>
          <a:xfrm>
            <a:off x="11795760" y="1600200"/>
            <a:ext cx="914" cy="3383280"/>
          </a:xfrm>
          <a:prstGeom prst="line">
            <a:avLst/>
          </a:prstGeom>
          <a:noFill/>
          <a:ln w="25400">
            <a:solidFill>
              <a:srgbClr val="DDE3EE"/>
            </a:solidFill>
            <a:prstDash val="solid"/>
          </a:ln>
        </p:spPr>
      </p:sp>
      <p:sp>
        <p:nvSpPr>
          <p:cNvPr id="29" name="!!railprog"/>
          <p:cNvSpPr/>
          <p:nvPr/>
        </p:nvSpPr>
        <p:spPr>
          <a:xfrm>
            <a:off x="11795760" y="1600200"/>
            <a:ext cx="914" cy="2706624"/>
          </a:xfrm>
          <a:prstGeom prst="line">
            <a:avLst/>
          </a:prstGeom>
          <a:noFill/>
          <a:ln w="38100">
            <a:solidFill>
              <a:srgbClr val="00923A"/>
            </a:solidFill>
            <a:prstDash val="solid"/>
          </a:ln>
        </p:spPr>
      </p:sp>
      <p:sp>
        <p:nvSpPr>
          <p:cNvPr id="30" name="!!mact"/>
          <p:cNvSpPr/>
          <p:nvPr/>
        </p:nvSpPr>
        <p:spPr>
          <a:xfrm>
            <a:off x="11494008" y="4005072"/>
            <a:ext cx="603504" cy="603504"/>
          </a:xfrm>
          <a:prstGeom prst="ellipse">
            <a:avLst/>
          </a:prstGeom>
          <a:solidFill>
            <a:srgbClr val="FFFFFF">
              <a:alpha val="0"/>
            </a:srgbClr>
          </a:solidFill>
          <a:ln w="38100">
            <a:solidFill>
              <a:srgbClr val="FCC600"/>
            </a:solidFill>
            <a:prstDash val="solid"/>
          </a:ln>
        </p:spPr>
      </p:sp>
      <p:sp>
        <p:nvSpPr>
          <p:cNvPr id="31"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2" name="!!mt1">
            <a:hlinkClick r:id="rId2"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2"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3"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34" name="!!mt2">
            <a:hlinkClick r:id="rId3"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3"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5"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36" name="!!mt3">
            <a:hlinkClick r:id="rId4"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4"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7"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38" name="!!mt4">
            <a:hlinkClick r:id="rId5"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39" name="!!m5"/>
          <p:cNvSpPr/>
          <p:nvPr/>
        </p:nvSpPr>
        <p:spPr>
          <a:xfrm>
            <a:off x="11594592" y="4105656"/>
            <a:ext cx="402336" cy="402336"/>
          </a:xfrm>
          <a:prstGeom prst="ellipse">
            <a:avLst/>
          </a:prstGeom>
          <a:solidFill>
            <a:srgbClr val="1B3F9E"/>
          </a:solidFill>
          <a:ln w="19050">
            <a:solidFill>
              <a:srgbClr val="1B3F9E"/>
            </a:solidFill>
            <a:prstDash val="solid"/>
          </a:ln>
        </p:spPr>
      </p:sp>
      <p:sp>
        <p:nvSpPr>
          <p:cNvPr id="40" name="!!mt5">
            <a:hlinkClick r:id="rId6"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1"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2" name="!!mt6">
            <a:hlinkClick r:id="rId7"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7"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3"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RÉSULTATS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600"/>
                                        <p:tgtEl>
                                          <p:spTgt spid="9"/>
                                        </p:tgtEl>
                                      </p:cBhvr>
                                    </p:animEffect>
                                  </p:childTnLst>
                                </p:cTn>
                              </p:par>
                              <p:par>
                                <p:cTn id="20" presetID="53" presetClass="entr" presetSubtype="16" fill="hold" grpId="0" nodeType="withEffect">
                                  <p:stCondLst>
                                    <p:cond delay="5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fltVal val="0"/>
                                          </p:val>
                                        </p:tav>
                                        <p:tav tm="100000">
                                          <p:val>
                                            <p:strVal val="#ppt_w"/>
                                          </p:val>
                                        </p:tav>
                                      </p:tavLst>
                                    </p:anim>
                                    <p:anim calcmode="lin" valueType="num">
                                      <p:cBhvr>
                                        <p:cTn id="23" dur="600" fill="hold"/>
                                        <p:tgtEl>
                                          <p:spTgt spid="10"/>
                                        </p:tgtEl>
                                        <p:attrNameLst>
                                          <p:attrName>ppt_h</p:attrName>
                                        </p:attrNameLst>
                                      </p:cBhvr>
                                      <p:tavLst>
                                        <p:tav tm="0">
                                          <p:val>
                                            <p:fltVal val="0"/>
                                          </p:val>
                                        </p:tav>
                                        <p:tav tm="100000">
                                          <p:val>
                                            <p:strVal val="#ppt_h"/>
                                          </p:val>
                                        </p:tav>
                                      </p:tavLst>
                                    </p:anim>
                                    <p:animEffect transition="in" filter="fade">
                                      <p:cBhvr>
                                        <p:cTn id="24" dur="600"/>
                                        <p:tgtEl>
                                          <p:spTgt spid="10"/>
                                        </p:tgtEl>
                                      </p:cBhvr>
                                    </p:animEffect>
                                  </p:childTnLst>
                                </p:cTn>
                              </p:par>
                              <p:par>
                                <p:cTn id="25" presetID="53" presetClass="entr" presetSubtype="16" fill="hold" grpId="0" nodeType="withEffect">
                                  <p:stCondLst>
                                    <p:cond delay="500"/>
                                  </p:stCondLst>
                                  <p:childTnLst>
                                    <p:set>
                                      <p:cBhvr>
                                        <p:cTn id="26" dur="1" fill="hold">
                                          <p:stCondLst>
                                            <p:cond delay="0"/>
                                          </p:stCondLst>
                                        </p:cTn>
                                        <p:tgtEl>
                                          <p:spTgt spid="11"/>
                                        </p:tgtEl>
                                        <p:attrNameLst>
                                          <p:attrName>style.visibility</p:attrName>
                                        </p:attrNameLst>
                                      </p:cBhvr>
                                      <p:to>
                                        <p:strVal val="visible"/>
                                      </p:to>
                                    </p:set>
                                    <p:anim calcmode="lin" valueType="num">
                                      <p:cBhvr>
                                        <p:cTn id="27" dur="600" fill="hold"/>
                                        <p:tgtEl>
                                          <p:spTgt spid="11"/>
                                        </p:tgtEl>
                                        <p:attrNameLst>
                                          <p:attrName>ppt_w</p:attrName>
                                        </p:attrNameLst>
                                      </p:cBhvr>
                                      <p:tavLst>
                                        <p:tav tm="0">
                                          <p:val>
                                            <p:fltVal val="0"/>
                                          </p:val>
                                        </p:tav>
                                        <p:tav tm="100000">
                                          <p:val>
                                            <p:strVal val="#ppt_w"/>
                                          </p:val>
                                        </p:tav>
                                      </p:tavLst>
                                    </p:anim>
                                    <p:anim calcmode="lin" valueType="num">
                                      <p:cBhvr>
                                        <p:cTn id="28" dur="600" fill="hold"/>
                                        <p:tgtEl>
                                          <p:spTgt spid="11"/>
                                        </p:tgtEl>
                                        <p:attrNameLst>
                                          <p:attrName>ppt_h</p:attrName>
                                        </p:attrNameLst>
                                      </p:cBhvr>
                                      <p:tavLst>
                                        <p:tav tm="0">
                                          <p:val>
                                            <p:fltVal val="0"/>
                                          </p:val>
                                        </p:tav>
                                        <p:tav tm="100000">
                                          <p:val>
                                            <p:strVal val="#ppt_h"/>
                                          </p:val>
                                        </p:tav>
                                      </p:tavLst>
                                    </p:anim>
                                    <p:animEffect transition="in" filter="fade">
                                      <p:cBhvr>
                                        <p:cTn id="29" dur="600"/>
                                        <p:tgtEl>
                                          <p:spTgt spid="11"/>
                                        </p:tgtEl>
                                      </p:cBhvr>
                                    </p:animEffect>
                                  </p:childTnLst>
                                </p:cTn>
                              </p:par>
                              <p:par>
                                <p:cTn id="30" presetID="10" presetClass="entr" presetSubtype="0" fill="hold" grpId="0" nodeType="withEffect">
                                  <p:stCondLst>
                                    <p:cond delay="6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p:tgtEl>
                                          <p:spTgt spid="12"/>
                                        </p:tgtEl>
                                      </p:cBhvr>
                                    </p:animEffect>
                                  </p:childTnLst>
                                </p:cTn>
                              </p:par>
                              <p:par>
                                <p:cTn id="33" presetID="10" presetClass="entr" presetSubtype="0" fill="hold" grpId="0" nodeType="withEffect">
                                  <p:stCondLst>
                                    <p:cond delay="6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600"/>
                                        <p:tgtEl>
                                          <p:spTgt spid="13"/>
                                        </p:tgtEl>
                                      </p:cBhvr>
                                    </p:animEffect>
                                  </p:childTnLst>
                                </p:cTn>
                              </p:par>
                              <p:par>
                                <p:cTn id="36" presetID="10" presetClass="entr" presetSubtype="0" fill="hold" grpId="0" nodeType="withEffect">
                                  <p:stCondLst>
                                    <p:cond delay="6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childTnLst>
                                </p:cTn>
                              </p:par>
                              <p:par>
                                <p:cTn id="39" presetID="53" presetClass="entr" presetSubtype="16" fill="hold" grpId="0" nodeType="withEffect">
                                  <p:stCondLst>
                                    <p:cond delay="950"/>
                                  </p:stCondLst>
                                  <p:childTnLst>
                                    <p:set>
                                      <p:cBhvr>
                                        <p:cTn id="40" dur="1" fill="hold">
                                          <p:stCondLst>
                                            <p:cond delay="0"/>
                                          </p:stCondLst>
                                        </p:cTn>
                                        <p:tgtEl>
                                          <p:spTgt spid="15"/>
                                        </p:tgtEl>
                                        <p:attrNameLst>
                                          <p:attrName>style.visibility</p:attrName>
                                        </p:attrNameLst>
                                      </p:cBhvr>
                                      <p:to>
                                        <p:strVal val="visible"/>
                                      </p:to>
                                    </p:set>
                                    <p:anim calcmode="lin" valueType="num">
                                      <p:cBhvr>
                                        <p:cTn id="41" dur="600" fill="hold"/>
                                        <p:tgtEl>
                                          <p:spTgt spid="15"/>
                                        </p:tgtEl>
                                        <p:attrNameLst>
                                          <p:attrName>ppt_w</p:attrName>
                                        </p:attrNameLst>
                                      </p:cBhvr>
                                      <p:tavLst>
                                        <p:tav tm="0">
                                          <p:val>
                                            <p:fltVal val="0"/>
                                          </p:val>
                                        </p:tav>
                                        <p:tav tm="100000">
                                          <p:val>
                                            <p:strVal val="#ppt_w"/>
                                          </p:val>
                                        </p:tav>
                                      </p:tavLst>
                                    </p:anim>
                                    <p:anim calcmode="lin" valueType="num">
                                      <p:cBhvr>
                                        <p:cTn id="42" dur="600" fill="hold"/>
                                        <p:tgtEl>
                                          <p:spTgt spid="15"/>
                                        </p:tgtEl>
                                        <p:attrNameLst>
                                          <p:attrName>ppt_h</p:attrName>
                                        </p:attrNameLst>
                                      </p:cBhvr>
                                      <p:tavLst>
                                        <p:tav tm="0">
                                          <p:val>
                                            <p:fltVal val="0"/>
                                          </p:val>
                                        </p:tav>
                                        <p:tav tm="100000">
                                          <p:val>
                                            <p:strVal val="#ppt_h"/>
                                          </p:val>
                                        </p:tav>
                                      </p:tavLst>
                                    </p:anim>
                                    <p:animEffect transition="in" filter="fade">
                                      <p:cBhvr>
                                        <p:cTn id="43" dur="600"/>
                                        <p:tgtEl>
                                          <p:spTgt spid="15"/>
                                        </p:tgtEl>
                                      </p:cBhvr>
                                    </p:animEffect>
                                  </p:childTnLst>
                                </p:cTn>
                              </p:par>
                              <p:par>
                                <p:cTn id="44" presetID="53" presetClass="entr" presetSubtype="16" fill="hold" grpId="0" nodeType="withEffect">
                                  <p:stCondLst>
                                    <p:cond delay="950"/>
                                  </p:stCondLst>
                                  <p:childTnLst>
                                    <p:set>
                                      <p:cBhvr>
                                        <p:cTn id="45" dur="1" fill="hold">
                                          <p:stCondLst>
                                            <p:cond delay="0"/>
                                          </p:stCondLst>
                                        </p:cTn>
                                        <p:tgtEl>
                                          <p:spTgt spid="16"/>
                                        </p:tgtEl>
                                        <p:attrNameLst>
                                          <p:attrName>style.visibility</p:attrName>
                                        </p:attrNameLst>
                                      </p:cBhvr>
                                      <p:to>
                                        <p:strVal val="visible"/>
                                      </p:to>
                                    </p:set>
                                    <p:anim calcmode="lin" valueType="num">
                                      <p:cBhvr>
                                        <p:cTn id="46" dur="600" fill="hold"/>
                                        <p:tgtEl>
                                          <p:spTgt spid="16"/>
                                        </p:tgtEl>
                                        <p:attrNameLst>
                                          <p:attrName>ppt_w</p:attrName>
                                        </p:attrNameLst>
                                      </p:cBhvr>
                                      <p:tavLst>
                                        <p:tav tm="0">
                                          <p:val>
                                            <p:fltVal val="0"/>
                                          </p:val>
                                        </p:tav>
                                        <p:tav tm="100000">
                                          <p:val>
                                            <p:strVal val="#ppt_w"/>
                                          </p:val>
                                        </p:tav>
                                      </p:tavLst>
                                    </p:anim>
                                    <p:anim calcmode="lin" valueType="num">
                                      <p:cBhvr>
                                        <p:cTn id="47" dur="600" fill="hold"/>
                                        <p:tgtEl>
                                          <p:spTgt spid="16"/>
                                        </p:tgtEl>
                                        <p:attrNameLst>
                                          <p:attrName>ppt_h</p:attrName>
                                        </p:attrNameLst>
                                      </p:cBhvr>
                                      <p:tavLst>
                                        <p:tav tm="0">
                                          <p:val>
                                            <p:fltVal val="0"/>
                                          </p:val>
                                        </p:tav>
                                        <p:tav tm="100000">
                                          <p:val>
                                            <p:strVal val="#ppt_h"/>
                                          </p:val>
                                        </p:tav>
                                      </p:tavLst>
                                    </p:anim>
                                    <p:animEffect transition="in" filter="fade">
                                      <p:cBhvr>
                                        <p:cTn id="48" dur="600"/>
                                        <p:tgtEl>
                                          <p:spTgt spid="16"/>
                                        </p:tgtEl>
                                      </p:cBhvr>
                                    </p:animEffect>
                                  </p:childTnLst>
                                </p:cTn>
                              </p:par>
                              <p:par>
                                <p:cTn id="49" presetID="10" presetClass="entr" presetSubtype="0" fill="hold" grpId="0" nodeType="withEffect">
                                  <p:stCondLst>
                                    <p:cond delay="11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600"/>
                                        <p:tgtEl>
                                          <p:spTgt spid="17"/>
                                        </p:tgtEl>
                                      </p:cBhvr>
                                    </p:animEffect>
                                  </p:childTnLst>
                                </p:cTn>
                              </p:par>
                              <p:par>
                                <p:cTn id="52" presetID="10" presetClass="entr" presetSubtype="0" fill="hold" grpId="0" nodeType="withEffect">
                                  <p:stCondLst>
                                    <p:cond delay="11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childTnLst>
                                </p:cTn>
                              </p:par>
                              <p:par>
                                <p:cTn id="55" presetID="10" presetClass="entr" presetSubtype="0" fill="hold" grpId="0" nodeType="withEffect">
                                  <p:stCondLst>
                                    <p:cond delay="11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600"/>
                                        <p:tgtEl>
                                          <p:spTgt spid="19"/>
                                        </p:tgtEl>
                                      </p:cBhvr>
                                    </p:animEffect>
                                  </p:childTnLst>
                                </p:cTn>
                              </p:par>
                              <p:par>
                                <p:cTn id="58" presetID="53" presetClass="entr" presetSubtype="16" fill="hold" grpId="0" nodeType="withEffect">
                                  <p:stCondLst>
                                    <p:cond delay="1400"/>
                                  </p:stCondLst>
                                  <p:childTnLst>
                                    <p:set>
                                      <p:cBhvr>
                                        <p:cTn id="59" dur="1" fill="hold">
                                          <p:stCondLst>
                                            <p:cond delay="0"/>
                                          </p:stCondLst>
                                        </p:cTn>
                                        <p:tgtEl>
                                          <p:spTgt spid="20"/>
                                        </p:tgtEl>
                                        <p:attrNameLst>
                                          <p:attrName>style.visibility</p:attrName>
                                        </p:attrNameLst>
                                      </p:cBhvr>
                                      <p:to>
                                        <p:strVal val="visible"/>
                                      </p:to>
                                    </p:set>
                                    <p:anim calcmode="lin" valueType="num">
                                      <p:cBhvr>
                                        <p:cTn id="60" dur="600" fill="hold"/>
                                        <p:tgtEl>
                                          <p:spTgt spid="20"/>
                                        </p:tgtEl>
                                        <p:attrNameLst>
                                          <p:attrName>ppt_w</p:attrName>
                                        </p:attrNameLst>
                                      </p:cBhvr>
                                      <p:tavLst>
                                        <p:tav tm="0">
                                          <p:val>
                                            <p:fltVal val="0"/>
                                          </p:val>
                                        </p:tav>
                                        <p:tav tm="100000">
                                          <p:val>
                                            <p:strVal val="#ppt_w"/>
                                          </p:val>
                                        </p:tav>
                                      </p:tavLst>
                                    </p:anim>
                                    <p:anim calcmode="lin" valueType="num">
                                      <p:cBhvr>
                                        <p:cTn id="61" dur="600" fill="hold"/>
                                        <p:tgtEl>
                                          <p:spTgt spid="20"/>
                                        </p:tgtEl>
                                        <p:attrNameLst>
                                          <p:attrName>ppt_h</p:attrName>
                                        </p:attrNameLst>
                                      </p:cBhvr>
                                      <p:tavLst>
                                        <p:tav tm="0">
                                          <p:val>
                                            <p:fltVal val="0"/>
                                          </p:val>
                                        </p:tav>
                                        <p:tav tm="100000">
                                          <p:val>
                                            <p:strVal val="#ppt_h"/>
                                          </p:val>
                                        </p:tav>
                                      </p:tavLst>
                                    </p:anim>
                                    <p:animEffect transition="in" filter="fade">
                                      <p:cBhvr>
                                        <p:cTn id="62" dur="600"/>
                                        <p:tgtEl>
                                          <p:spTgt spid="20"/>
                                        </p:tgtEl>
                                      </p:cBhvr>
                                    </p:animEffect>
                                  </p:childTnLst>
                                </p:cTn>
                              </p:par>
                              <p:par>
                                <p:cTn id="63" presetID="53" presetClass="entr" presetSubtype="16" fill="hold" grpId="0" nodeType="withEffect">
                                  <p:stCondLst>
                                    <p:cond delay="1400"/>
                                  </p:stCondLst>
                                  <p:childTnLst>
                                    <p:set>
                                      <p:cBhvr>
                                        <p:cTn id="64" dur="1" fill="hold">
                                          <p:stCondLst>
                                            <p:cond delay="0"/>
                                          </p:stCondLst>
                                        </p:cTn>
                                        <p:tgtEl>
                                          <p:spTgt spid="21"/>
                                        </p:tgtEl>
                                        <p:attrNameLst>
                                          <p:attrName>style.visibility</p:attrName>
                                        </p:attrNameLst>
                                      </p:cBhvr>
                                      <p:to>
                                        <p:strVal val="visible"/>
                                      </p:to>
                                    </p:set>
                                    <p:anim calcmode="lin" valueType="num">
                                      <p:cBhvr>
                                        <p:cTn id="65" dur="600" fill="hold"/>
                                        <p:tgtEl>
                                          <p:spTgt spid="21"/>
                                        </p:tgtEl>
                                        <p:attrNameLst>
                                          <p:attrName>ppt_w</p:attrName>
                                        </p:attrNameLst>
                                      </p:cBhvr>
                                      <p:tavLst>
                                        <p:tav tm="0">
                                          <p:val>
                                            <p:fltVal val="0"/>
                                          </p:val>
                                        </p:tav>
                                        <p:tav tm="100000">
                                          <p:val>
                                            <p:strVal val="#ppt_w"/>
                                          </p:val>
                                        </p:tav>
                                      </p:tavLst>
                                    </p:anim>
                                    <p:anim calcmode="lin" valueType="num">
                                      <p:cBhvr>
                                        <p:cTn id="66" dur="600" fill="hold"/>
                                        <p:tgtEl>
                                          <p:spTgt spid="21"/>
                                        </p:tgtEl>
                                        <p:attrNameLst>
                                          <p:attrName>ppt_h</p:attrName>
                                        </p:attrNameLst>
                                      </p:cBhvr>
                                      <p:tavLst>
                                        <p:tav tm="0">
                                          <p:val>
                                            <p:fltVal val="0"/>
                                          </p:val>
                                        </p:tav>
                                        <p:tav tm="100000">
                                          <p:val>
                                            <p:strVal val="#ppt_h"/>
                                          </p:val>
                                        </p:tav>
                                      </p:tavLst>
                                    </p:anim>
                                    <p:animEffect transition="in" filter="fade">
                                      <p:cBhvr>
                                        <p:cTn id="67" dur="600"/>
                                        <p:tgtEl>
                                          <p:spTgt spid="21"/>
                                        </p:tgtEl>
                                      </p:cBhvr>
                                    </p:animEffect>
                                  </p:childTnLst>
                                </p:cTn>
                              </p:par>
                              <p:par>
                                <p:cTn id="68" presetID="22" presetClass="entr" presetSubtype="8" fill="hold" grpId="0" nodeType="withEffect">
                                  <p:stCondLst>
                                    <p:cond delay="17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600"/>
                                        <p:tgtEl>
                                          <p:spTgt spid="22"/>
                                        </p:tgtEl>
                                      </p:cBhvr>
                                    </p:animEffect>
                                  </p:childTnLst>
                                </p:cTn>
                              </p:par>
                              <p:par>
                                <p:cTn id="71" presetID="10" presetClass="entr" presetSubtype="0" fill="hold" grpId="0" nodeType="withEffect">
                                  <p:stCondLst>
                                    <p:cond delay="175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3" grpId="0" animBg="1"/>
      <p:bldP spid="14" grpId="0" animBg="1"/>
      <p:bldP spid="16" grpId="0" animBg="1"/>
      <p:bldP spid="18" grpId="0" animBg="1"/>
      <p:bldP spid="19" grpId="0" animBg="1"/>
      <p:bldP spid="21"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155680" y="-1097280"/>
            <a:ext cx="2011680" cy="2011680"/>
          </a:xfrm>
          <a:prstGeom prst="ellipse">
            <a:avLst/>
          </a:prstGeom>
          <a:solidFill>
            <a:srgbClr val="1B3F9E"/>
          </a:solidFill>
          <a:ln w="12700">
            <a:solidFill>
              <a:srgbClr val="1B3F9E"/>
            </a:solidFill>
            <a:prstDash val="solid"/>
          </a:ln>
        </p:spPr>
      </p:sp>
      <p:sp>
        <p:nvSpPr>
          <p:cNvPr id="3" name="!!orbG"/>
          <p:cNvSpPr/>
          <p:nvPr/>
        </p:nvSpPr>
        <p:spPr>
          <a:xfrm>
            <a:off x="11551615" y="-742493"/>
            <a:ext cx="1280160" cy="1280160"/>
          </a:xfrm>
          <a:prstGeom prst="ellipse">
            <a:avLst/>
          </a:prstGeom>
          <a:solidFill>
            <a:srgbClr val="00923A"/>
          </a:solidFill>
          <a:ln w="12700">
            <a:solidFill>
              <a:srgbClr val="00923A"/>
            </a:solidFill>
            <a:prstDash val="solid"/>
          </a:ln>
        </p:spPr>
      </p:sp>
      <p:sp>
        <p:nvSpPr>
          <p:cNvPr id="4" name="!!orbY"/>
          <p:cNvSpPr/>
          <p:nvPr/>
        </p:nvSpPr>
        <p:spPr>
          <a:xfrm>
            <a:off x="-548640" y="6126480"/>
            <a:ext cx="914400" cy="914400"/>
          </a:xfrm>
          <a:prstGeom prst="ellipse">
            <a:avLst/>
          </a:prstGeom>
          <a:solidFill>
            <a:srgbClr val="FFFFFF">
              <a:alpha val="0"/>
            </a:srgbClr>
          </a:solidFill>
          <a:ln w="7620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LIMITES ET DÉFIS DE L’INSTITUTION</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Trois contraintes freinent le circuit</a:t>
            </a:r>
            <a:endParaRPr lang="fr-FR" sz="3200" dirty="0"/>
          </a:p>
        </p:txBody>
      </p:sp>
      <p:sp>
        <p:nvSpPr>
          <p:cNvPr id="7" name="lm0"/>
          <p:cNvSpPr/>
          <p:nvPr/>
        </p:nvSpPr>
        <p:spPr>
          <a:xfrm>
            <a:off x="640080" y="1920240"/>
            <a:ext cx="3318358" cy="3931920"/>
          </a:xfrm>
          <a:prstGeom prst="roundRect">
            <a:avLst>
              <a:gd name="adj" fmla="val 330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lmi0c"/>
          <p:cNvSpPr/>
          <p:nvPr/>
        </p:nvSpPr>
        <p:spPr>
          <a:xfrm>
            <a:off x="945718" y="2240280"/>
            <a:ext cx="829589" cy="868680"/>
          </a:xfrm>
          <a:prstGeom prst="ellipse">
            <a:avLst/>
          </a:prstGeom>
          <a:solidFill>
            <a:srgbClr val="1B3F9E"/>
          </a:solidFill>
          <a:ln w="12700">
            <a:solidFill>
              <a:srgbClr val="1B3F9E"/>
            </a:solidFill>
            <a:prstDash val="solid"/>
          </a:ln>
        </p:spPr>
      </p:sp>
      <p:pic>
        <p:nvPicPr>
          <p:cNvPr id="9" name="lmi0i" descr="preencoded.png">    </p:cNvPr>
          <p:cNvPicPr>
            <a:picLocks noChangeAspect="1"/>
          </p:cNvPicPr>
          <p:nvPr/>
        </p:nvPicPr>
        <p:blipFill>
          <a:blip r:embed="rId1"/>
          <a:stretch>
            <a:fillRect/>
          </a:stretch>
        </p:blipFill>
        <p:spPr>
          <a:xfrm>
            <a:off x="1161411" y="2466137"/>
            <a:ext cx="398203" cy="416966"/>
          </a:xfrm>
          <a:prstGeom prst="rect">
            <a:avLst/>
          </a:prstGeom>
        </p:spPr>
      </p:pic>
      <p:sp>
        <p:nvSpPr>
          <p:cNvPr id="10" name="lmt0"/>
          <p:cNvSpPr txBox="1"/>
          <p:nvPr/>
        </p:nvSpPr>
        <p:spPr>
          <a:xfrm>
            <a:off x="945718" y="3337560"/>
            <a:ext cx="2794406" cy="45720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Gestion et transmission</a:t>
            </a:r>
            <a:endParaRPr lang="fr-FR" sz="2000" dirty="0"/>
          </a:p>
        </p:txBody>
      </p:sp>
      <p:sp>
        <p:nvSpPr>
          <p:cNvPr id="11" name="lmd0"/>
          <p:cNvSpPr txBox="1"/>
          <p:nvPr/>
        </p:nvSpPr>
        <p:spPr>
          <a:xfrm>
            <a:off x="945718" y="3886200"/>
            <a:ext cx="2750744" cy="1737360"/>
          </a:xfrm>
          <a:prstGeom prst="rect">
            <a:avLst/>
          </a:prstGeom>
          <a:noFill/>
          <a:ln/>
        </p:spPr>
        <p:txBody>
          <a:bodyPr wrap="square" lIns="0" tIns="0" rIns="0" bIns="0" rtlCol="0" anchor="t"/>
          <a:lstStyle/>
          <a:p>
            <a:pPr indent="0" marL="0">
              <a:buNone/>
            </a:pPr>
            <a:r>
              <a:rPr lang="fr-FR" altLang="en-US" sz="1500" dirty="0">
                <a:solidFill>
                  <a:srgbClr val="56617C"/>
                </a:solidFill>
                <a:latin typeface="Calibri" pitchFamily="34" charset="0"/>
                <a:ea typeface="Calibri" pitchFamily="34" charset="-122"/>
                <a:cs typeface="Calibri" pitchFamily="34" charset="-120"/>
              </a:rPr>
              <a:t>Pas de GED, registres manuscrits, peu de concertation entre services, pratiques hétérogènes.</a:t>
            </a:r>
            <a:endParaRPr lang="fr-FR" sz="1500" dirty="0"/>
          </a:p>
        </p:txBody>
      </p:sp>
      <p:sp>
        <p:nvSpPr>
          <p:cNvPr id="12" name="lm1"/>
          <p:cNvSpPr/>
          <p:nvPr/>
        </p:nvSpPr>
        <p:spPr>
          <a:xfrm>
            <a:off x="4220413" y="1920240"/>
            <a:ext cx="3318358" cy="3931920"/>
          </a:xfrm>
          <a:prstGeom prst="roundRect">
            <a:avLst>
              <a:gd name="adj" fmla="val 330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3" name="lmi1c"/>
          <p:cNvSpPr/>
          <p:nvPr/>
        </p:nvSpPr>
        <p:spPr>
          <a:xfrm>
            <a:off x="4526051" y="2240280"/>
            <a:ext cx="829589" cy="868680"/>
          </a:xfrm>
          <a:prstGeom prst="ellipse">
            <a:avLst/>
          </a:prstGeom>
          <a:solidFill>
            <a:srgbClr val="00923A"/>
          </a:solidFill>
          <a:ln w="12700">
            <a:solidFill>
              <a:srgbClr val="00923A"/>
            </a:solidFill>
            <a:prstDash val="solid"/>
          </a:ln>
        </p:spPr>
      </p:sp>
      <p:pic>
        <p:nvPicPr>
          <p:cNvPr id="14" name="lmi1i" descr="preencoded.png">    </p:cNvPr>
          <p:cNvPicPr>
            <a:picLocks noChangeAspect="1"/>
          </p:cNvPicPr>
          <p:nvPr/>
        </p:nvPicPr>
        <p:blipFill>
          <a:blip r:embed="rId2"/>
          <a:stretch>
            <a:fillRect/>
          </a:stretch>
        </p:blipFill>
        <p:spPr>
          <a:xfrm>
            <a:off x="4741745" y="2466137"/>
            <a:ext cx="398203" cy="416966"/>
          </a:xfrm>
          <a:prstGeom prst="rect">
            <a:avLst/>
          </a:prstGeom>
        </p:spPr>
      </p:pic>
      <p:sp>
        <p:nvSpPr>
          <p:cNvPr id="15" name="lmt1"/>
          <p:cNvSpPr txBox="1"/>
          <p:nvPr/>
        </p:nvSpPr>
        <p:spPr>
          <a:xfrm>
            <a:off x="4526051" y="3337560"/>
            <a:ext cx="2794406" cy="45720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Moyens et organisation</a:t>
            </a:r>
            <a:endParaRPr lang="fr-FR" sz="2000" dirty="0"/>
          </a:p>
        </p:txBody>
      </p:sp>
      <p:sp>
        <p:nvSpPr>
          <p:cNvPr id="16" name="lmd1"/>
          <p:cNvSpPr txBox="1"/>
          <p:nvPr/>
        </p:nvSpPr>
        <p:spPr>
          <a:xfrm>
            <a:off x="4526051" y="3886200"/>
            <a:ext cx="2750744" cy="1737360"/>
          </a:xfrm>
          <a:prstGeom prst="rect">
            <a:avLst/>
          </a:prstGeom>
          <a:noFill/>
          <a:ln/>
        </p:spPr>
        <p:txBody>
          <a:bodyPr wrap="square" lIns="0" tIns="0" rIns="0" bIns="0" rtlCol="0" anchor="t"/>
          <a:lstStyle/>
          <a:p>
            <a:pPr indent="0" marL="0">
              <a:buNone/>
            </a:pPr>
            <a:r>
              <a:rPr lang="fr-FR" altLang="en-US" sz="1500" dirty="0">
                <a:solidFill>
                  <a:srgbClr val="56617C"/>
                </a:solidFill>
                <a:latin typeface="Calibri" pitchFamily="34" charset="0"/>
                <a:ea typeface="Calibri" pitchFamily="34" charset="-122"/>
                <a:cs typeface="Calibri" pitchFamily="34" charset="-120"/>
              </a:rPr>
              <a:t>2 ordinateurs, 1 photocopieur, ruptures de fournitures, effectif réduit, véhicule indisponible.</a:t>
            </a:r>
            <a:endParaRPr lang="fr-FR" sz="1500" dirty="0"/>
          </a:p>
        </p:txBody>
      </p:sp>
      <p:sp>
        <p:nvSpPr>
          <p:cNvPr id="17" name="lm2"/>
          <p:cNvSpPr/>
          <p:nvPr/>
        </p:nvSpPr>
        <p:spPr>
          <a:xfrm>
            <a:off x="7800746" y="1920240"/>
            <a:ext cx="3318358" cy="3931920"/>
          </a:xfrm>
          <a:prstGeom prst="roundRect">
            <a:avLst>
              <a:gd name="adj" fmla="val 3307"/>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8" name="lmi2c"/>
          <p:cNvSpPr/>
          <p:nvPr/>
        </p:nvSpPr>
        <p:spPr>
          <a:xfrm>
            <a:off x="8106385" y="2240280"/>
            <a:ext cx="829589" cy="868680"/>
          </a:xfrm>
          <a:prstGeom prst="ellipse">
            <a:avLst/>
          </a:prstGeom>
          <a:solidFill>
            <a:srgbClr val="E2A400"/>
          </a:solidFill>
          <a:ln w="12700">
            <a:solidFill>
              <a:srgbClr val="E2A400"/>
            </a:solidFill>
            <a:prstDash val="solid"/>
          </a:ln>
        </p:spPr>
      </p:sp>
      <p:pic>
        <p:nvPicPr>
          <p:cNvPr id="19" name="lmi2i" descr="preencoded.png">    </p:cNvPr>
          <p:cNvPicPr>
            <a:picLocks noChangeAspect="1"/>
          </p:cNvPicPr>
          <p:nvPr/>
        </p:nvPicPr>
        <p:blipFill>
          <a:blip r:embed="rId3"/>
          <a:stretch>
            <a:fillRect/>
          </a:stretch>
        </p:blipFill>
        <p:spPr>
          <a:xfrm>
            <a:off x="8322078" y="2466137"/>
            <a:ext cx="398203" cy="416966"/>
          </a:xfrm>
          <a:prstGeom prst="rect">
            <a:avLst/>
          </a:prstGeom>
        </p:spPr>
      </p:pic>
      <p:sp>
        <p:nvSpPr>
          <p:cNvPr id="20" name="lmt2"/>
          <p:cNvSpPr txBox="1"/>
          <p:nvPr/>
        </p:nvSpPr>
        <p:spPr>
          <a:xfrm>
            <a:off x="8106385" y="3337560"/>
            <a:ext cx="2794406" cy="45720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Exiguïté des bureaux</a:t>
            </a:r>
            <a:endParaRPr lang="fr-FR" sz="2000" dirty="0"/>
          </a:p>
        </p:txBody>
      </p:sp>
      <p:sp>
        <p:nvSpPr>
          <p:cNvPr id="21" name="lmd2"/>
          <p:cNvSpPr txBox="1"/>
          <p:nvPr/>
        </p:nvSpPr>
        <p:spPr>
          <a:xfrm>
            <a:off x="8106385" y="3886200"/>
            <a:ext cx="2750744" cy="1737360"/>
          </a:xfrm>
          <a:prstGeom prst="rect">
            <a:avLst/>
          </a:prstGeom>
          <a:noFill/>
          <a:ln/>
        </p:spPr>
        <p:txBody>
          <a:bodyPr wrap="square" lIns="0" tIns="0" rIns="0" bIns="0" rtlCol="0" anchor="t"/>
          <a:lstStyle/>
          <a:p>
            <a:pPr indent="0" marL="0">
              <a:buNone/>
            </a:pPr>
            <a:r>
              <a:rPr lang="fr-FR" altLang="en-US" sz="1500" dirty="0">
                <a:solidFill>
                  <a:srgbClr val="56617C"/>
                </a:solidFill>
                <a:latin typeface="Calibri" pitchFamily="34" charset="0"/>
                <a:ea typeface="Calibri" pitchFamily="34" charset="-122"/>
                <a:cs typeface="Calibri" pitchFamily="34" charset="-120"/>
              </a:rPr>
              <a:t>Secrétariat encombré ; plus de six agents dans un même bureau à la DPDPS.</a:t>
            </a:r>
            <a:endParaRPr lang="fr-FR" sz="1500" dirty="0"/>
          </a:p>
        </p:txBody>
      </p:sp>
      <p:pic>
        <p:nvPicPr>
          <p:cNvPr id="22" name="!!flogo" descr="preencoded.png">    </p:cNvPr>
          <p:cNvPicPr>
            <a:picLocks noChangeAspect="1"/>
          </p:cNvPicPr>
          <p:nvPr/>
        </p:nvPicPr>
        <p:blipFill>
          <a:blip r:embed="rId4"/>
          <a:stretch>
            <a:fillRect/>
          </a:stretch>
        </p:blipFill>
        <p:spPr>
          <a:xfrm>
            <a:off x="640080" y="6382512"/>
            <a:ext cx="329184" cy="274320"/>
          </a:xfrm>
          <a:prstGeom prst="rect">
            <a:avLst/>
          </a:prstGeom>
        </p:spPr>
      </p:pic>
      <p:sp>
        <p:nvSpPr>
          <p:cNvPr id="23"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4"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16 / 22</a:t>
            </a:r>
            <a:endParaRPr lang="fr-FR" sz="1000" dirty="0"/>
          </a:p>
        </p:txBody>
      </p:sp>
      <p:sp>
        <p:nvSpPr>
          <p:cNvPr id="25"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6" name="!!railline"/>
          <p:cNvSpPr/>
          <p:nvPr/>
        </p:nvSpPr>
        <p:spPr>
          <a:xfrm>
            <a:off x="11795760" y="1600200"/>
            <a:ext cx="914" cy="3383280"/>
          </a:xfrm>
          <a:prstGeom prst="line">
            <a:avLst/>
          </a:prstGeom>
          <a:noFill/>
          <a:ln w="25400">
            <a:solidFill>
              <a:srgbClr val="DDE3EE"/>
            </a:solidFill>
            <a:prstDash val="solid"/>
          </a:ln>
        </p:spPr>
      </p:sp>
      <p:sp>
        <p:nvSpPr>
          <p:cNvPr id="27" name="!!railprog"/>
          <p:cNvSpPr/>
          <p:nvPr/>
        </p:nvSpPr>
        <p:spPr>
          <a:xfrm>
            <a:off x="11795760" y="1600200"/>
            <a:ext cx="914" cy="2706624"/>
          </a:xfrm>
          <a:prstGeom prst="line">
            <a:avLst/>
          </a:prstGeom>
          <a:noFill/>
          <a:ln w="38100">
            <a:solidFill>
              <a:srgbClr val="00923A"/>
            </a:solidFill>
            <a:prstDash val="solid"/>
          </a:ln>
        </p:spPr>
      </p:sp>
      <p:sp>
        <p:nvSpPr>
          <p:cNvPr id="28" name="!!mact"/>
          <p:cNvSpPr/>
          <p:nvPr/>
        </p:nvSpPr>
        <p:spPr>
          <a:xfrm>
            <a:off x="11494008" y="4005072"/>
            <a:ext cx="603504" cy="603504"/>
          </a:xfrm>
          <a:prstGeom prst="ellipse">
            <a:avLst/>
          </a:prstGeom>
          <a:solidFill>
            <a:srgbClr val="FFFFFF">
              <a:alpha val="0"/>
            </a:srgbClr>
          </a:solidFill>
          <a:ln w="38100">
            <a:solidFill>
              <a:srgbClr val="FCC600"/>
            </a:solidFill>
            <a:prstDash val="solid"/>
          </a:ln>
        </p:spPr>
      </p:sp>
      <p:sp>
        <p:nvSpPr>
          <p:cNvPr id="29"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0" name="!!mt1">
            <a:hlinkClick r:id="rId5"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1"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32" name="!!mt2">
            <a:hlinkClick r:id="rId6"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3"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34" name="!!mt3">
            <a:hlinkClick r:id="rId7"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5"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36" name="!!mt4">
            <a:hlinkClick r:id="rId8"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8"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37" name="!!m5"/>
          <p:cNvSpPr/>
          <p:nvPr/>
        </p:nvSpPr>
        <p:spPr>
          <a:xfrm>
            <a:off x="11594592" y="4105656"/>
            <a:ext cx="402336" cy="402336"/>
          </a:xfrm>
          <a:prstGeom prst="ellipse">
            <a:avLst/>
          </a:prstGeom>
          <a:solidFill>
            <a:srgbClr val="1B3F9E"/>
          </a:solidFill>
          <a:ln w="19050">
            <a:solidFill>
              <a:srgbClr val="1B3F9E"/>
            </a:solidFill>
            <a:prstDash val="solid"/>
          </a:ln>
        </p:spPr>
      </p:sp>
      <p:sp>
        <p:nvSpPr>
          <p:cNvPr id="38" name="!!mt5">
            <a:hlinkClick r:id="rId9"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9"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39" name="!!m6"/>
          <p:cNvSpPr/>
          <p:nvPr/>
        </p:nvSpPr>
        <p:spPr>
          <a:xfrm>
            <a:off x="11594592" y="4782312"/>
            <a:ext cx="402336" cy="402336"/>
          </a:xfrm>
          <a:prstGeom prst="ellipse">
            <a:avLst/>
          </a:prstGeom>
          <a:solidFill>
            <a:srgbClr val="FFFFFF"/>
          </a:solidFill>
          <a:ln w="19050">
            <a:solidFill>
              <a:srgbClr val="C9D2E3"/>
            </a:solidFill>
            <a:prstDash val="solid"/>
          </a:ln>
        </p:spPr>
      </p:sp>
      <p:sp>
        <p:nvSpPr>
          <p:cNvPr id="40" name="!!mt6">
            <a:hlinkClick r:id="rId10"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56617C"/>
                </a:solidFill>
                <a:latin typeface="Calibri" pitchFamily="34" charset="0"/>
                <a:ea typeface="Calibri" pitchFamily="34" charset="-122"/>
                <a:cs typeface="Calibri" pitchFamily="34" charset="-120"/>
                <a:hlinkClick r:id="rId10"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1"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RÉSULTATS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53" presetClass="entr" presetSubtype="16" fill="hold" grpId="0" nodeType="withEffect">
                                  <p:stCondLst>
                                    <p:cond delay="250"/>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p:tgtEl>
                                          <p:spTgt spid="8"/>
                                        </p:tgtEl>
                                        <p:attrNameLst>
                                          <p:attrName>ppt_w</p:attrName>
                                        </p:attrNameLst>
                                      </p:cBhvr>
                                      <p:tavLst>
                                        <p:tav tm="0">
                                          <p:val>
                                            <p:fltVal val="0"/>
                                          </p:val>
                                        </p:tav>
                                        <p:tav tm="100000">
                                          <p:val>
                                            <p:strVal val="#ppt_w"/>
                                          </p:val>
                                        </p:tav>
                                      </p:tavLst>
                                    </p:anim>
                                    <p:anim calcmode="lin" valueType="num">
                                      <p:cBhvr>
                                        <p:cTn id="17" dur="600" fill="hold"/>
                                        <p:tgtEl>
                                          <p:spTgt spid="8"/>
                                        </p:tgtEl>
                                        <p:attrNameLst>
                                          <p:attrName>ppt_h</p:attrName>
                                        </p:attrNameLst>
                                      </p:cBhvr>
                                      <p:tavLst>
                                        <p:tav tm="0">
                                          <p:val>
                                            <p:fltVal val="0"/>
                                          </p:val>
                                        </p:tav>
                                        <p:tav tm="100000">
                                          <p:val>
                                            <p:strVal val="#ppt_h"/>
                                          </p:val>
                                        </p:tav>
                                      </p:tavLst>
                                    </p:anim>
                                    <p:animEffect transition="in" filter="fade">
                                      <p:cBhvr>
                                        <p:cTn id="18" dur="600"/>
                                        <p:tgtEl>
                                          <p:spTgt spid="8"/>
                                        </p:tgtEl>
                                      </p:cBhvr>
                                    </p:animEffect>
                                  </p:childTnLst>
                                </p:cTn>
                              </p:par>
                              <p:par>
                                <p:cTn id="19" presetID="53" presetClass="entr" presetSubtype="16" fill="hold" grpId="0" nodeType="withEffect">
                                  <p:stCondLst>
                                    <p:cond delay="250"/>
                                  </p:stCondLst>
                                  <p:childTnLst>
                                    <p:set>
                                      <p:cBhvr>
                                        <p:cTn id="20" dur="1" fill="hold">
                                          <p:stCondLst>
                                            <p:cond delay="0"/>
                                          </p:stCondLst>
                                        </p:cTn>
                                        <p:tgtEl>
                                          <p:spTgt spid="9"/>
                                        </p:tgtEl>
                                        <p:attrNameLst>
                                          <p:attrName>style.visibility</p:attrName>
                                        </p:attrNameLst>
                                      </p:cBhvr>
                                      <p:to>
                                        <p:strVal val="visible"/>
                                      </p:to>
                                    </p:set>
                                    <p:anim calcmode="lin" valueType="num">
                                      <p:cBhvr>
                                        <p:cTn id="21" dur="600" fill="hold"/>
                                        <p:tgtEl>
                                          <p:spTgt spid="9"/>
                                        </p:tgtEl>
                                        <p:attrNameLst>
                                          <p:attrName>ppt_w</p:attrName>
                                        </p:attrNameLst>
                                      </p:cBhvr>
                                      <p:tavLst>
                                        <p:tav tm="0">
                                          <p:val>
                                            <p:fltVal val="0"/>
                                          </p:val>
                                        </p:tav>
                                        <p:tav tm="100000">
                                          <p:val>
                                            <p:strVal val="#ppt_w"/>
                                          </p:val>
                                        </p:tav>
                                      </p:tavLst>
                                    </p:anim>
                                    <p:anim calcmode="lin" valueType="num">
                                      <p:cBhvr>
                                        <p:cTn id="22" dur="600" fill="hold"/>
                                        <p:tgtEl>
                                          <p:spTgt spid="9"/>
                                        </p:tgtEl>
                                        <p:attrNameLst>
                                          <p:attrName>ppt_h</p:attrName>
                                        </p:attrNameLst>
                                      </p:cBhvr>
                                      <p:tavLst>
                                        <p:tav tm="0">
                                          <p:val>
                                            <p:fltVal val="0"/>
                                          </p:val>
                                        </p:tav>
                                        <p:tav tm="100000">
                                          <p:val>
                                            <p:strVal val="#ppt_h"/>
                                          </p:val>
                                        </p:tav>
                                      </p:tavLst>
                                    </p:anim>
                                    <p:animEffect transition="in" filter="fade">
                                      <p:cBhvr>
                                        <p:cTn id="23" dur="600"/>
                                        <p:tgtEl>
                                          <p:spTgt spid="9"/>
                                        </p:tgtEl>
                                      </p:cBhvr>
                                    </p:animEffect>
                                  </p:childTnLst>
                                </p:cTn>
                              </p:par>
                              <p:par>
                                <p:cTn id="24" presetID="10" presetClass="entr" presetSubtype="0" fill="hold" grpId="0" nodeType="withEffect">
                                  <p:stCondLst>
                                    <p:cond delay="25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p:tgtEl>
                                          <p:spTgt spid="10"/>
                                        </p:tgtEl>
                                      </p:cBhvr>
                                    </p:animEffect>
                                  </p:childTnLst>
                                </p:cTn>
                              </p:par>
                              <p:par>
                                <p:cTn id="27" presetID="10" presetClass="entr" presetSubtype="0" fill="hold" grpId="0" nodeType="withEffect">
                                  <p:stCondLst>
                                    <p:cond delay="25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10" presetClass="entr" presetSubtype="0" fill="hold" grpId="0" nodeType="withEffect">
                                  <p:stCondLst>
                                    <p:cond delay="6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p:tgtEl>
                                          <p:spTgt spid="12"/>
                                        </p:tgtEl>
                                      </p:cBhvr>
                                    </p:animEffect>
                                  </p:childTnLst>
                                </p:cTn>
                              </p:par>
                              <p:par>
                                <p:cTn id="33" presetID="53" presetClass="entr" presetSubtype="16" fill="hold" grpId="0" nodeType="withEffect">
                                  <p:stCondLst>
                                    <p:cond delay="600"/>
                                  </p:stCondLst>
                                  <p:childTnLst>
                                    <p:set>
                                      <p:cBhvr>
                                        <p:cTn id="34" dur="1" fill="hold">
                                          <p:stCondLst>
                                            <p:cond delay="0"/>
                                          </p:stCondLst>
                                        </p:cTn>
                                        <p:tgtEl>
                                          <p:spTgt spid="13"/>
                                        </p:tgtEl>
                                        <p:attrNameLst>
                                          <p:attrName>style.visibility</p:attrName>
                                        </p:attrNameLst>
                                      </p:cBhvr>
                                      <p:to>
                                        <p:strVal val="visible"/>
                                      </p:to>
                                    </p:set>
                                    <p:anim calcmode="lin" valueType="num">
                                      <p:cBhvr>
                                        <p:cTn id="35" dur="600" fill="hold"/>
                                        <p:tgtEl>
                                          <p:spTgt spid="13"/>
                                        </p:tgtEl>
                                        <p:attrNameLst>
                                          <p:attrName>ppt_w</p:attrName>
                                        </p:attrNameLst>
                                      </p:cBhvr>
                                      <p:tavLst>
                                        <p:tav tm="0">
                                          <p:val>
                                            <p:fltVal val="0"/>
                                          </p:val>
                                        </p:tav>
                                        <p:tav tm="100000">
                                          <p:val>
                                            <p:strVal val="#ppt_w"/>
                                          </p:val>
                                        </p:tav>
                                      </p:tavLst>
                                    </p:anim>
                                    <p:anim calcmode="lin" valueType="num">
                                      <p:cBhvr>
                                        <p:cTn id="36" dur="600" fill="hold"/>
                                        <p:tgtEl>
                                          <p:spTgt spid="13"/>
                                        </p:tgtEl>
                                        <p:attrNameLst>
                                          <p:attrName>ppt_h</p:attrName>
                                        </p:attrNameLst>
                                      </p:cBhvr>
                                      <p:tavLst>
                                        <p:tav tm="0">
                                          <p:val>
                                            <p:fltVal val="0"/>
                                          </p:val>
                                        </p:tav>
                                        <p:tav tm="100000">
                                          <p:val>
                                            <p:strVal val="#ppt_h"/>
                                          </p:val>
                                        </p:tav>
                                      </p:tavLst>
                                    </p:anim>
                                    <p:animEffect transition="in" filter="fade">
                                      <p:cBhvr>
                                        <p:cTn id="37" dur="600"/>
                                        <p:tgtEl>
                                          <p:spTgt spid="13"/>
                                        </p:tgtEl>
                                      </p:cBhvr>
                                    </p:animEffect>
                                  </p:childTnLst>
                                </p:cTn>
                              </p:par>
                              <p:par>
                                <p:cTn id="38" presetID="53" presetClass="entr" presetSubtype="16" fill="hold" grpId="0" nodeType="withEffect">
                                  <p:stCondLst>
                                    <p:cond delay="600"/>
                                  </p:stCondLst>
                                  <p:childTnLst>
                                    <p:set>
                                      <p:cBhvr>
                                        <p:cTn id="39" dur="1" fill="hold">
                                          <p:stCondLst>
                                            <p:cond delay="0"/>
                                          </p:stCondLst>
                                        </p:cTn>
                                        <p:tgtEl>
                                          <p:spTgt spid="14"/>
                                        </p:tgtEl>
                                        <p:attrNameLst>
                                          <p:attrName>style.visibility</p:attrName>
                                        </p:attrNameLst>
                                      </p:cBhvr>
                                      <p:to>
                                        <p:strVal val="visible"/>
                                      </p:to>
                                    </p:set>
                                    <p:anim calcmode="lin" valueType="num">
                                      <p:cBhvr>
                                        <p:cTn id="40" dur="600" fill="hold"/>
                                        <p:tgtEl>
                                          <p:spTgt spid="14"/>
                                        </p:tgtEl>
                                        <p:attrNameLst>
                                          <p:attrName>ppt_w</p:attrName>
                                        </p:attrNameLst>
                                      </p:cBhvr>
                                      <p:tavLst>
                                        <p:tav tm="0">
                                          <p:val>
                                            <p:fltVal val="0"/>
                                          </p:val>
                                        </p:tav>
                                        <p:tav tm="100000">
                                          <p:val>
                                            <p:strVal val="#ppt_w"/>
                                          </p:val>
                                        </p:tav>
                                      </p:tavLst>
                                    </p:anim>
                                    <p:anim calcmode="lin" valueType="num">
                                      <p:cBhvr>
                                        <p:cTn id="41" dur="600" fill="hold"/>
                                        <p:tgtEl>
                                          <p:spTgt spid="14"/>
                                        </p:tgtEl>
                                        <p:attrNameLst>
                                          <p:attrName>ppt_h</p:attrName>
                                        </p:attrNameLst>
                                      </p:cBhvr>
                                      <p:tavLst>
                                        <p:tav tm="0">
                                          <p:val>
                                            <p:fltVal val="0"/>
                                          </p:val>
                                        </p:tav>
                                        <p:tav tm="100000">
                                          <p:val>
                                            <p:strVal val="#ppt_h"/>
                                          </p:val>
                                        </p:tav>
                                      </p:tavLst>
                                    </p:anim>
                                    <p:animEffect transition="in" filter="fade">
                                      <p:cBhvr>
                                        <p:cTn id="42" dur="600"/>
                                        <p:tgtEl>
                                          <p:spTgt spid="14"/>
                                        </p:tgtEl>
                                      </p:cBhvr>
                                    </p:animEffect>
                                  </p:childTnLst>
                                </p:cTn>
                              </p:par>
                              <p:par>
                                <p:cTn id="43" presetID="10" presetClass="entr" presetSubtype="0" fill="hold" grpId="0" nodeType="withEffect">
                                  <p:stCondLst>
                                    <p:cond delay="6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00"/>
                                        <p:tgtEl>
                                          <p:spTgt spid="15"/>
                                        </p:tgtEl>
                                      </p:cBhvr>
                                    </p:animEffect>
                                  </p:childTnLst>
                                </p:cTn>
                              </p:par>
                              <p:par>
                                <p:cTn id="46" presetID="10" presetClass="entr" presetSubtype="0"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600"/>
                                        <p:tgtEl>
                                          <p:spTgt spid="16"/>
                                        </p:tgtEl>
                                      </p:cBhvr>
                                    </p:animEffect>
                                  </p:childTnLst>
                                </p:cTn>
                              </p:par>
                              <p:par>
                                <p:cTn id="49" presetID="10" presetClass="entr" presetSubtype="0" fill="hold" grpId="0" nodeType="withEffect">
                                  <p:stCondLst>
                                    <p:cond delay="95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600"/>
                                        <p:tgtEl>
                                          <p:spTgt spid="17"/>
                                        </p:tgtEl>
                                      </p:cBhvr>
                                    </p:animEffect>
                                  </p:childTnLst>
                                </p:cTn>
                              </p:par>
                              <p:par>
                                <p:cTn id="52" presetID="53" presetClass="entr" presetSubtype="16" fill="hold" grpId="0" nodeType="withEffect">
                                  <p:stCondLst>
                                    <p:cond delay="950"/>
                                  </p:stCondLst>
                                  <p:childTnLst>
                                    <p:set>
                                      <p:cBhvr>
                                        <p:cTn id="53" dur="1" fill="hold">
                                          <p:stCondLst>
                                            <p:cond delay="0"/>
                                          </p:stCondLst>
                                        </p:cTn>
                                        <p:tgtEl>
                                          <p:spTgt spid="18"/>
                                        </p:tgtEl>
                                        <p:attrNameLst>
                                          <p:attrName>style.visibility</p:attrName>
                                        </p:attrNameLst>
                                      </p:cBhvr>
                                      <p:to>
                                        <p:strVal val="visible"/>
                                      </p:to>
                                    </p:set>
                                    <p:anim calcmode="lin" valueType="num">
                                      <p:cBhvr>
                                        <p:cTn id="54" dur="600" fill="hold"/>
                                        <p:tgtEl>
                                          <p:spTgt spid="18"/>
                                        </p:tgtEl>
                                        <p:attrNameLst>
                                          <p:attrName>ppt_w</p:attrName>
                                        </p:attrNameLst>
                                      </p:cBhvr>
                                      <p:tavLst>
                                        <p:tav tm="0">
                                          <p:val>
                                            <p:fltVal val="0"/>
                                          </p:val>
                                        </p:tav>
                                        <p:tav tm="100000">
                                          <p:val>
                                            <p:strVal val="#ppt_w"/>
                                          </p:val>
                                        </p:tav>
                                      </p:tavLst>
                                    </p:anim>
                                    <p:anim calcmode="lin" valueType="num">
                                      <p:cBhvr>
                                        <p:cTn id="55" dur="600" fill="hold"/>
                                        <p:tgtEl>
                                          <p:spTgt spid="18"/>
                                        </p:tgtEl>
                                        <p:attrNameLst>
                                          <p:attrName>ppt_h</p:attrName>
                                        </p:attrNameLst>
                                      </p:cBhvr>
                                      <p:tavLst>
                                        <p:tav tm="0">
                                          <p:val>
                                            <p:fltVal val="0"/>
                                          </p:val>
                                        </p:tav>
                                        <p:tav tm="100000">
                                          <p:val>
                                            <p:strVal val="#ppt_h"/>
                                          </p:val>
                                        </p:tav>
                                      </p:tavLst>
                                    </p:anim>
                                    <p:animEffect transition="in" filter="fade">
                                      <p:cBhvr>
                                        <p:cTn id="56" dur="600"/>
                                        <p:tgtEl>
                                          <p:spTgt spid="18"/>
                                        </p:tgtEl>
                                      </p:cBhvr>
                                    </p:animEffect>
                                  </p:childTnLst>
                                </p:cTn>
                              </p:par>
                              <p:par>
                                <p:cTn id="57" presetID="53" presetClass="entr" presetSubtype="16" fill="hold" grpId="0" nodeType="withEffect">
                                  <p:stCondLst>
                                    <p:cond delay="950"/>
                                  </p:stCondLst>
                                  <p:childTnLst>
                                    <p:set>
                                      <p:cBhvr>
                                        <p:cTn id="58" dur="1" fill="hold">
                                          <p:stCondLst>
                                            <p:cond delay="0"/>
                                          </p:stCondLst>
                                        </p:cTn>
                                        <p:tgtEl>
                                          <p:spTgt spid="19"/>
                                        </p:tgtEl>
                                        <p:attrNameLst>
                                          <p:attrName>style.visibility</p:attrName>
                                        </p:attrNameLst>
                                      </p:cBhvr>
                                      <p:to>
                                        <p:strVal val="visible"/>
                                      </p:to>
                                    </p:set>
                                    <p:anim calcmode="lin" valueType="num">
                                      <p:cBhvr>
                                        <p:cTn id="59" dur="600" fill="hold"/>
                                        <p:tgtEl>
                                          <p:spTgt spid="19"/>
                                        </p:tgtEl>
                                        <p:attrNameLst>
                                          <p:attrName>ppt_w</p:attrName>
                                        </p:attrNameLst>
                                      </p:cBhvr>
                                      <p:tavLst>
                                        <p:tav tm="0">
                                          <p:val>
                                            <p:fltVal val="0"/>
                                          </p:val>
                                        </p:tav>
                                        <p:tav tm="100000">
                                          <p:val>
                                            <p:strVal val="#ppt_w"/>
                                          </p:val>
                                        </p:tav>
                                      </p:tavLst>
                                    </p:anim>
                                    <p:anim calcmode="lin" valueType="num">
                                      <p:cBhvr>
                                        <p:cTn id="60" dur="600" fill="hold"/>
                                        <p:tgtEl>
                                          <p:spTgt spid="19"/>
                                        </p:tgtEl>
                                        <p:attrNameLst>
                                          <p:attrName>ppt_h</p:attrName>
                                        </p:attrNameLst>
                                      </p:cBhvr>
                                      <p:tavLst>
                                        <p:tav tm="0">
                                          <p:val>
                                            <p:fltVal val="0"/>
                                          </p:val>
                                        </p:tav>
                                        <p:tav tm="100000">
                                          <p:val>
                                            <p:strVal val="#ppt_h"/>
                                          </p:val>
                                        </p:tav>
                                      </p:tavLst>
                                    </p:anim>
                                    <p:animEffect transition="in" filter="fade">
                                      <p:cBhvr>
                                        <p:cTn id="61" dur="600"/>
                                        <p:tgtEl>
                                          <p:spTgt spid="19"/>
                                        </p:tgtEl>
                                      </p:cBhvr>
                                    </p:animEffect>
                                  </p:childTnLst>
                                </p:cTn>
                              </p:par>
                              <p:par>
                                <p:cTn id="62" presetID="10" presetClass="entr" presetSubtype="0" fill="hold" grpId="0" nodeType="withEffect">
                                  <p:stCondLst>
                                    <p:cond delay="9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600"/>
                                        <p:tgtEl>
                                          <p:spTgt spid="20"/>
                                        </p:tgtEl>
                                      </p:cBhvr>
                                    </p:animEffect>
                                  </p:childTnLst>
                                </p:cTn>
                              </p:par>
                              <p:par>
                                <p:cTn id="65" presetID="10" presetClass="entr" presetSubtype="0" fill="hold" grpId="0" nodeType="withEffect">
                                  <p:stCondLst>
                                    <p:cond delay="95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11" grpId="0" animBg="1"/>
      <p:bldP spid="15" grpId="0" animBg="1"/>
      <p:bldP spid="16" grpId="0" animBg="1"/>
      <p:bldP spid="20" grpId="0" animBg="1"/>
      <p:bldP spid="2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338560" y="-1188720"/>
            <a:ext cx="2011680" cy="2011680"/>
          </a:xfrm>
          <a:prstGeom prst="ellipse">
            <a:avLst/>
          </a:prstGeom>
          <a:solidFill>
            <a:srgbClr val="1B3F9E"/>
          </a:solidFill>
          <a:ln w="12700">
            <a:solidFill>
              <a:srgbClr val="1B3F9E"/>
            </a:solidFill>
            <a:prstDash val="solid"/>
          </a:ln>
        </p:spPr>
      </p:sp>
      <p:sp>
        <p:nvSpPr>
          <p:cNvPr id="3" name="!!orbG"/>
          <p:cNvSpPr/>
          <p:nvPr/>
        </p:nvSpPr>
        <p:spPr>
          <a:xfrm>
            <a:off x="11597335" y="-689458"/>
            <a:ext cx="1188720" cy="1188720"/>
          </a:xfrm>
          <a:prstGeom prst="ellipse">
            <a:avLst/>
          </a:prstGeom>
          <a:solidFill>
            <a:srgbClr val="00923A"/>
          </a:solidFill>
          <a:ln w="12700">
            <a:solidFill>
              <a:srgbClr val="00923A"/>
            </a:solidFill>
            <a:prstDash val="solid"/>
          </a:ln>
        </p:spPr>
      </p:sp>
      <p:sp>
        <p:nvSpPr>
          <p:cNvPr id="4" name="!!orbY"/>
          <p:cNvSpPr/>
          <p:nvPr/>
        </p:nvSpPr>
        <p:spPr>
          <a:xfrm>
            <a:off x="-640080" y="6263640"/>
            <a:ext cx="822960" cy="822960"/>
          </a:xfrm>
          <a:prstGeom prst="ellipse">
            <a:avLst/>
          </a:prstGeom>
          <a:solidFill>
            <a:srgbClr val="FFFFFF">
              <a:alpha val="0"/>
            </a:srgbClr>
          </a:solidFill>
          <a:ln w="6858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RECOMMANDATIONS</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Sept mesures, pour la plupart peu coûteuses</a:t>
            </a:r>
            <a:endParaRPr lang="fr-FR" sz="3200" dirty="0"/>
          </a:p>
        </p:txBody>
      </p:sp>
      <p:sp>
        <p:nvSpPr>
          <p:cNvPr id="7" name="ged"/>
          <p:cNvSpPr/>
          <p:nvPr/>
        </p:nvSpPr>
        <p:spPr>
          <a:xfrm>
            <a:off x="640080" y="1874520"/>
            <a:ext cx="4016959" cy="4206240"/>
          </a:xfrm>
          <a:prstGeom prst="roundRect">
            <a:avLst>
              <a:gd name="adj" fmla="val 2732"/>
            </a:avLst>
          </a:prstGeom>
          <a:solidFill>
            <a:srgbClr val="1B3F9E"/>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gedic"/>
          <p:cNvSpPr/>
          <p:nvPr/>
        </p:nvSpPr>
        <p:spPr>
          <a:xfrm>
            <a:off x="945718" y="2194560"/>
            <a:ext cx="829589" cy="868680"/>
          </a:xfrm>
          <a:prstGeom prst="ellipse">
            <a:avLst/>
          </a:prstGeom>
          <a:solidFill>
            <a:srgbClr val="00923A"/>
          </a:solidFill>
          <a:ln w="12700">
            <a:solidFill>
              <a:srgbClr val="00923A"/>
            </a:solidFill>
            <a:prstDash val="solid"/>
          </a:ln>
        </p:spPr>
      </p:sp>
      <p:pic>
        <p:nvPicPr>
          <p:cNvPr id="9" name="gedii" descr="preencoded.png">    </p:cNvPr>
          <p:cNvPicPr>
            <a:picLocks noChangeAspect="1"/>
          </p:cNvPicPr>
          <p:nvPr/>
        </p:nvPicPr>
        <p:blipFill>
          <a:blip r:embed="rId1"/>
          <a:stretch>
            <a:fillRect/>
          </a:stretch>
        </p:blipFill>
        <p:spPr>
          <a:xfrm>
            <a:off x="1161411" y="2420417"/>
            <a:ext cx="398203" cy="416966"/>
          </a:xfrm>
          <a:prstGeom prst="rect">
            <a:avLst/>
          </a:prstGeom>
        </p:spPr>
      </p:pic>
      <p:sp>
        <p:nvSpPr>
          <p:cNvPr id="10" name="gedt"/>
          <p:cNvSpPr txBox="1"/>
          <p:nvPr/>
        </p:nvSpPr>
        <p:spPr>
          <a:xfrm>
            <a:off x="945718" y="3246120"/>
            <a:ext cx="3449345" cy="2651760"/>
          </a:xfrm>
          <a:prstGeom prst="rect">
            <a:avLst/>
          </a:prstGeom>
          <a:noFill/>
          <a:ln/>
        </p:spPr>
        <p:txBody>
          <a:bodyPr wrap="square" lIns="0" tIns="0" rIns="0" bIns="0" rtlCol="0" anchor="t"/>
          <a:lstStyle/>
          <a:p>
            <a:pPr indent="0" marL="0">
              <a:buNone/>
            </a:pPr>
            <a:r>
              <a:rPr lang="fr-FR" altLang="en-US" sz="1200" b="1" spc="200" kern="0" dirty="0">
                <a:solidFill>
                  <a:srgbClr val="FCC600"/>
                </a:solidFill>
                <a:latin typeface="Calibri" pitchFamily="34" charset="0"/>
                <a:ea typeface="Calibri" pitchFamily="34" charset="-122"/>
                <a:cs typeface="Calibri" pitchFamily="34" charset="-120"/>
              </a:rPr>
              <a:t>PRIORITÉ N° 1</a:t>
            </a:r>
            <a:endParaRPr lang="fr-FR" sz="1200" dirty="0"/>
          </a:p>
          <a:p>
            <a:pPr indent="0" marL="0">
              <a:buNone/>
            </a:pPr>
            <a:r>
              <a:rPr lang="fr-FR" altLang="en-US" sz="2400" b="1" dirty="0">
                <a:solidFill>
                  <a:srgbClr val="FFFFFF"/>
                </a:solidFill>
                <a:latin typeface="Calibri" pitchFamily="34" charset="0"/>
                <a:ea typeface="Calibri" pitchFamily="34" charset="-122"/>
                <a:cs typeface="Calibri" pitchFamily="34" charset="-120"/>
              </a:rPr>
              <a:t>Un registre numérique partagé</a:t>
            </a:r>
            <a:endParaRPr lang="fr-FR" sz="1200" dirty="0"/>
          </a:p>
          <a:p>
            <a:pPr indent="0" marL="0">
              <a:buNone/>
            </a:pPr>
            <a:r>
              <a:rPr lang="fr-FR" altLang="en-US" sz="1500" dirty="0">
                <a:solidFill>
                  <a:srgbClr val="DCE4F7"/>
                </a:solidFill>
                <a:latin typeface="Calibri" pitchFamily="34" charset="0"/>
                <a:ea typeface="Calibri" pitchFamily="34" charset="-122"/>
                <a:cs typeface="Calibri" pitchFamily="34" charset="-120"/>
              </a:rPr>
              <a:t>Chaque courrier enregistré dès son arrivée avec un numéro unique, suivi étape par étape, puis une GED complète avec la DECTN.</a:t>
            </a:r>
            <a:endParaRPr lang="fr-FR" sz="1200" dirty="0"/>
          </a:p>
        </p:txBody>
      </p:sp>
      <p:sp>
        <p:nvSpPr>
          <p:cNvPr id="11" name="r0"/>
          <p:cNvSpPr/>
          <p:nvPr/>
        </p:nvSpPr>
        <p:spPr>
          <a:xfrm>
            <a:off x="4919015" y="1874520"/>
            <a:ext cx="2925394" cy="1280160"/>
          </a:xfrm>
          <a:prstGeom prst="roundRect">
            <a:avLst>
              <a:gd name="adj" fmla="val 8571"/>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2" name="ri0c"/>
          <p:cNvSpPr/>
          <p:nvPr/>
        </p:nvSpPr>
        <p:spPr>
          <a:xfrm>
            <a:off x="5093665" y="2075688"/>
            <a:ext cx="523951" cy="548640"/>
          </a:xfrm>
          <a:prstGeom prst="ellipse">
            <a:avLst/>
          </a:prstGeom>
          <a:solidFill>
            <a:srgbClr val="00923A"/>
          </a:solidFill>
          <a:ln w="12700">
            <a:solidFill>
              <a:srgbClr val="00923A"/>
            </a:solidFill>
            <a:prstDash val="solid"/>
          </a:ln>
        </p:spPr>
      </p:sp>
      <p:pic>
        <p:nvPicPr>
          <p:cNvPr id="13" name="ri0i" descr="preencoded.png">    </p:cNvPr>
          <p:cNvPicPr>
            <a:picLocks noChangeAspect="1"/>
          </p:cNvPicPr>
          <p:nvPr/>
        </p:nvPicPr>
        <p:blipFill>
          <a:blip r:embed="rId2"/>
          <a:stretch>
            <a:fillRect/>
          </a:stretch>
        </p:blipFill>
        <p:spPr>
          <a:xfrm>
            <a:off x="5229893" y="2218334"/>
            <a:ext cx="251497" cy="263347"/>
          </a:xfrm>
          <a:prstGeom prst="rect">
            <a:avLst/>
          </a:prstGeom>
        </p:spPr>
      </p:pic>
      <p:sp>
        <p:nvSpPr>
          <p:cNvPr id="14" name="rt0"/>
          <p:cNvSpPr txBox="1"/>
          <p:nvPr/>
        </p:nvSpPr>
        <p:spPr>
          <a:xfrm>
            <a:off x="5748604" y="2011680"/>
            <a:ext cx="2008480" cy="105156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Formaliser les échanges numériques</a:t>
            </a:r>
            <a:endParaRPr lang="fr-FR" sz="1400" dirty="0"/>
          </a:p>
          <a:p>
            <a:pPr indent="0" marL="0">
              <a:buNone/>
            </a:pPr>
            <a:r>
              <a:rPr lang="fr-FR" altLang="en-US" sz="1200" dirty="0">
                <a:solidFill>
                  <a:srgbClr val="56617C"/>
                </a:solidFill>
                <a:latin typeface="Calibri" pitchFamily="34" charset="0"/>
                <a:ea typeface="Calibri" pitchFamily="34" charset="-122"/>
                <a:cs typeface="Calibri" pitchFamily="34" charset="-120"/>
              </a:rPr>
              <a:t>Une adresse institutionnelle par direction</a:t>
            </a:r>
            <a:endParaRPr lang="fr-FR" sz="1400" dirty="0"/>
          </a:p>
          <a:p>
            <a:pPr indent="0" marL="0">
              <a:buNone/>
            </a:pPr>
            <a:r>
              <a:rPr lang="fr-FR" altLang="en-US" sz="1100" b="1" dirty="0">
                <a:solidFill>
                  <a:srgbClr val="00923A"/>
                </a:solidFill>
                <a:latin typeface="Calibri" pitchFamily="34" charset="0"/>
                <a:ea typeface="Calibri" pitchFamily="34" charset="-122"/>
                <a:cs typeface="Calibri" pitchFamily="34" charset="-120"/>
              </a:rPr>
              <a:t>Court terme · faible</a:t>
            </a:r>
            <a:endParaRPr lang="fr-FR" sz="1400" dirty="0"/>
          </a:p>
        </p:txBody>
      </p:sp>
      <p:sp>
        <p:nvSpPr>
          <p:cNvPr id="15" name="r1"/>
          <p:cNvSpPr/>
          <p:nvPr/>
        </p:nvSpPr>
        <p:spPr>
          <a:xfrm>
            <a:off x="8019059" y="1874520"/>
            <a:ext cx="2925394" cy="1280160"/>
          </a:xfrm>
          <a:prstGeom prst="roundRect">
            <a:avLst>
              <a:gd name="adj" fmla="val 8571"/>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6" name="ri1c"/>
          <p:cNvSpPr/>
          <p:nvPr/>
        </p:nvSpPr>
        <p:spPr>
          <a:xfrm>
            <a:off x="8193710" y="2075688"/>
            <a:ext cx="523951" cy="548640"/>
          </a:xfrm>
          <a:prstGeom prst="ellipse">
            <a:avLst/>
          </a:prstGeom>
          <a:solidFill>
            <a:srgbClr val="1B3F9E"/>
          </a:solidFill>
          <a:ln w="12700">
            <a:solidFill>
              <a:srgbClr val="1B3F9E"/>
            </a:solidFill>
            <a:prstDash val="solid"/>
          </a:ln>
        </p:spPr>
      </p:sp>
      <p:pic>
        <p:nvPicPr>
          <p:cNvPr id="17" name="ri1i" descr="preencoded.png">    </p:cNvPr>
          <p:cNvPicPr>
            <a:picLocks noChangeAspect="1"/>
          </p:cNvPicPr>
          <p:nvPr/>
        </p:nvPicPr>
        <p:blipFill>
          <a:blip r:embed="rId3"/>
          <a:stretch>
            <a:fillRect/>
          </a:stretch>
        </p:blipFill>
        <p:spPr>
          <a:xfrm>
            <a:off x="8329937" y="2218334"/>
            <a:ext cx="251497" cy="263347"/>
          </a:xfrm>
          <a:prstGeom prst="rect">
            <a:avLst/>
          </a:prstGeom>
        </p:spPr>
      </p:pic>
      <p:sp>
        <p:nvSpPr>
          <p:cNvPr id="18" name="rt1"/>
          <p:cNvSpPr txBox="1"/>
          <p:nvPr/>
        </p:nvSpPr>
        <p:spPr>
          <a:xfrm>
            <a:off x="8848649" y="2011680"/>
            <a:ext cx="2008480" cy="105156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Assurer la continuité</a:t>
            </a:r>
            <a:endParaRPr lang="fr-FR" sz="1400" dirty="0"/>
          </a:p>
          <a:p>
            <a:pPr indent="0" marL="0">
              <a:buNone/>
            </a:pPr>
            <a:r>
              <a:rPr lang="fr-FR" altLang="en-US" sz="1200" dirty="0">
                <a:solidFill>
                  <a:srgbClr val="56617C"/>
                </a:solidFill>
                <a:latin typeface="Calibri" pitchFamily="34" charset="0"/>
                <a:ea typeface="Calibri" pitchFamily="34" charset="-122"/>
                <a:cs typeface="Calibri" pitchFamily="34" charset="-120"/>
              </a:rPr>
              <a:t>Suppléants, délégations, guide de procédures</a:t>
            </a:r>
            <a:endParaRPr lang="fr-FR" sz="1400" dirty="0"/>
          </a:p>
          <a:p>
            <a:pPr indent="0" marL="0">
              <a:buNone/>
            </a:pPr>
            <a:r>
              <a:rPr lang="fr-FR" altLang="en-US" sz="1100" b="1" dirty="0">
                <a:solidFill>
                  <a:srgbClr val="00923A"/>
                </a:solidFill>
                <a:latin typeface="Calibri" pitchFamily="34" charset="0"/>
                <a:ea typeface="Calibri" pitchFamily="34" charset="-122"/>
                <a:cs typeface="Calibri" pitchFamily="34" charset="-120"/>
              </a:rPr>
              <a:t>Moyen terme · faible</a:t>
            </a:r>
            <a:endParaRPr lang="fr-FR" sz="1400" dirty="0"/>
          </a:p>
        </p:txBody>
      </p:sp>
      <p:sp>
        <p:nvSpPr>
          <p:cNvPr id="19" name="r2"/>
          <p:cNvSpPr/>
          <p:nvPr/>
        </p:nvSpPr>
        <p:spPr>
          <a:xfrm>
            <a:off x="4919015" y="3291840"/>
            <a:ext cx="2925394" cy="1280160"/>
          </a:xfrm>
          <a:prstGeom prst="roundRect">
            <a:avLst>
              <a:gd name="adj" fmla="val 8571"/>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0" name="ri2c"/>
          <p:cNvSpPr/>
          <p:nvPr/>
        </p:nvSpPr>
        <p:spPr>
          <a:xfrm>
            <a:off x="5093665" y="3493008"/>
            <a:ext cx="523951" cy="548640"/>
          </a:xfrm>
          <a:prstGeom prst="ellipse">
            <a:avLst/>
          </a:prstGeom>
          <a:solidFill>
            <a:srgbClr val="E2A400"/>
          </a:solidFill>
          <a:ln w="12700">
            <a:solidFill>
              <a:srgbClr val="E2A400"/>
            </a:solidFill>
            <a:prstDash val="solid"/>
          </a:ln>
        </p:spPr>
      </p:sp>
      <p:pic>
        <p:nvPicPr>
          <p:cNvPr id="21" name="ri2i" descr="preencoded.png">    </p:cNvPr>
          <p:cNvPicPr>
            <a:picLocks noChangeAspect="1"/>
          </p:cNvPicPr>
          <p:nvPr/>
        </p:nvPicPr>
        <p:blipFill>
          <a:blip r:embed="rId4"/>
          <a:stretch>
            <a:fillRect/>
          </a:stretch>
        </p:blipFill>
        <p:spPr>
          <a:xfrm>
            <a:off x="5229893" y="3635654"/>
            <a:ext cx="251497" cy="263347"/>
          </a:xfrm>
          <a:prstGeom prst="rect">
            <a:avLst/>
          </a:prstGeom>
        </p:spPr>
      </p:pic>
      <p:sp>
        <p:nvSpPr>
          <p:cNvPr id="22" name="rt2"/>
          <p:cNvSpPr txBox="1"/>
          <p:nvPr/>
        </p:nvSpPr>
        <p:spPr>
          <a:xfrm>
            <a:off x="5748604" y="3429000"/>
            <a:ext cx="2008480" cy="105156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Organiser la distribution</a:t>
            </a:r>
            <a:endParaRPr lang="fr-FR" sz="1400" dirty="0"/>
          </a:p>
          <a:p>
            <a:pPr indent="0" marL="0">
              <a:buNone/>
            </a:pPr>
            <a:r>
              <a:rPr lang="fr-FR" altLang="en-US" sz="1200" dirty="0">
                <a:solidFill>
                  <a:srgbClr val="56617C"/>
                </a:solidFill>
                <a:latin typeface="Calibri" pitchFamily="34" charset="0"/>
                <a:ea typeface="Calibri" pitchFamily="34" charset="-122"/>
                <a:cs typeface="Calibri" pitchFamily="34" charset="-120"/>
              </a:rPr>
              <a:t>Un agent de liaison, deux tournées par jour</a:t>
            </a:r>
            <a:endParaRPr lang="fr-FR" sz="1400" dirty="0"/>
          </a:p>
          <a:p>
            <a:pPr indent="0" marL="0">
              <a:buNone/>
            </a:pPr>
            <a:r>
              <a:rPr lang="fr-FR" altLang="en-US" sz="1100" b="1" dirty="0">
                <a:solidFill>
                  <a:srgbClr val="00923A"/>
                </a:solidFill>
                <a:latin typeface="Calibri" pitchFamily="34" charset="0"/>
                <a:ea typeface="Calibri" pitchFamily="34" charset="-122"/>
                <a:cs typeface="Calibri" pitchFamily="34" charset="-120"/>
              </a:rPr>
              <a:t>Court terme · moyen</a:t>
            </a:r>
            <a:endParaRPr lang="fr-FR" sz="1400" dirty="0"/>
          </a:p>
        </p:txBody>
      </p:sp>
      <p:sp>
        <p:nvSpPr>
          <p:cNvPr id="23" name="r3"/>
          <p:cNvSpPr/>
          <p:nvPr/>
        </p:nvSpPr>
        <p:spPr>
          <a:xfrm>
            <a:off x="8019059" y="3291840"/>
            <a:ext cx="2925394" cy="1280160"/>
          </a:xfrm>
          <a:prstGeom prst="roundRect">
            <a:avLst>
              <a:gd name="adj" fmla="val 8571"/>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4" name="ri3c"/>
          <p:cNvSpPr/>
          <p:nvPr/>
        </p:nvSpPr>
        <p:spPr>
          <a:xfrm>
            <a:off x="8193710" y="3493008"/>
            <a:ext cx="523951" cy="548640"/>
          </a:xfrm>
          <a:prstGeom prst="ellipse">
            <a:avLst/>
          </a:prstGeom>
          <a:solidFill>
            <a:srgbClr val="00923A"/>
          </a:solidFill>
          <a:ln w="12700">
            <a:solidFill>
              <a:srgbClr val="00923A"/>
            </a:solidFill>
            <a:prstDash val="solid"/>
          </a:ln>
        </p:spPr>
      </p:sp>
      <p:pic>
        <p:nvPicPr>
          <p:cNvPr id="25" name="ri3i" descr="preencoded.png">    </p:cNvPr>
          <p:cNvPicPr>
            <a:picLocks noChangeAspect="1"/>
          </p:cNvPicPr>
          <p:nvPr/>
        </p:nvPicPr>
        <p:blipFill>
          <a:blip r:embed="rId5"/>
          <a:stretch>
            <a:fillRect/>
          </a:stretch>
        </p:blipFill>
        <p:spPr>
          <a:xfrm>
            <a:off x="8329937" y="3635654"/>
            <a:ext cx="251497" cy="263347"/>
          </a:xfrm>
          <a:prstGeom prst="rect">
            <a:avLst/>
          </a:prstGeom>
        </p:spPr>
      </p:pic>
      <p:sp>
        <p:nvSpPr>
          <p:cNvPr id="26" name="rt3"/>
          <p:cNvSpPr txBox="1"/>
          <p:nvPr/>
        </p:nvSpPr>
        <p:spPr>
          <a:xfrm>
            <a:off x="8848649" y="3429000"/>
            <a:ext cx="2008480" cy="105156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Approvisionner régulièrement</a:t>
            </a:r>
            <a:endParaRPr lang="fr-FR" sz="1400" dirty="0"/>
          </a:p>
          <a:p>
            <a:pPr indent="0" marL="0">
              <a:buNone/>
            </a:pPr>
            <a:r>
              <a:rPr lang="fr-FR" altLang="en-US" sz="1200" dirty="0">
                <a:solidFill>
                  <a:srgbClr val="56617C"/>
                </a:solidFill>
                <a:latin typeface="Calibri" pitchFamily="34" charset="0"/>
                <a:ea typeface="Calibri" pitchFamily="34" charset="-122"/>
                <a:cs typeface="Calibri" pitchFamily="34" charset="-120"/>
              </a:rPr>
              <a:t>État des besoins et stock de sécurité</a:t>
            </a:r>
            <a:endParaRPr lang="fr-FR" sz="1400" dirty="0"/>
          </a:p>
          <a:p>
            <a:pPr indent="0" marL="0">
              <a:buNone/>
            </a:pPr>
            <a:r>
              <a:rPr lang="fr-FR" altLang="en-US" sz="1100" b="1" dirty="0">
                <a:solidFill>
                  <a:srgbClr val="00923A"/>
                </a:solidFill>
                <a:latin typeface="Calibri" pitchFamily="34" charset="0"/>
                <a:ea typeface="Calibri" pitchFamily="34" charset="-122"/>
                <a:cs typeface="Calibri" pitchFamily="34" charset="-120"/>
              </a:rPr>
              <a:t>Court terme · moyen</a:t>
            </a:r>
            <a:endParaRPr lang="fr-FR" sz="1400" dirty="0"/>
          </a:p>
        </p:txBody>
      </p:sp>
      <p:sp>
        <p:nvSpPr>
          <p:cNvPr id="27" name="r4"/>
          <p:cNvSpPr/>
          <p:nvPr/>
        </p:nvSpPr>
        <p:spPr>
          <a:xfrm>
            <a:off x="4919015" y="4709160"/>
            <a:ext cx="2925394" cy="1280160"/>
          </a:xfrm>
          <a:prstGeom prst="roundRect">
            <a:avLst>
              <a:gd name="adj" fmla="val 8571"/>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8" name="ri4c"/>
          <p:cNvSpPr/>
          <p:nvPr/>
        </p:nvSpPr>
        <p:spPr>
          <a:xfrm>
            <a:off x="5093665" y="4910328"/>
            <a:ext cx="523951" cy="548640"/>
          </a:xfrm>
          <a:prstGeom prst="ellipse">
            <a:avLst/>
          </a:prstGeom>
          <a:solidFill>
            <a:srgbClr val="1B3F9E"/>
          </a:solidFill>
          <a:ln w="12700">
            <a:solidFill>
              <a:srgbClr val="1B3F9E"/>
            </a:solidFill>
            <a:prstDash val="solid"/>
          </a:ln>
        </p:spPr>
      </p:sp>
      <p:pic>
        <p:nvPicPr>
          <p:cNvPr id="29" name="ri4i" descr="preencoded.png">    </p:cNvPr>
          <p:cNvPicPr>
            <a:picLocks noChangeAspect="1"/>
          </p:cNvPicPr>
          <p:nvPr/>
        </p:nvPicPr>
        <p:blipFill>
          <a:blip r:embed="rId6"/>
          <a:stretch>
            <a:fillRect/>
          </a:stretch>
        </p:blipFill>
        <p:spPr>
          <a:xfrm>
            <a:off x="5229893" y="5052974"/>
            <a:ext cx="251497" cy="263347"/>
          </a:xfrm>
          <a:prstGeom prst="rect">
            <a:avLst/>
          </a:prstGeom>
        </p:spPr>
      </p:pic>
      <p:sp>
        <p:nvSpPr>
          <p:cNvPr id="30" name="rt4"/>
          <p:cNvSpPr txBox="1"/>
          <p:nvPr/>
        </p:nvSpPr>
        <p:spPr>
          <a:xfrm>
            <a:off x="5748604" y="4846320"/>
            <a:ext cx="2008480" cy="105156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Former le personnel</a:t>
            </a:r>
            <a:endParaRPr lang="fr-FR" sz="1400" dirty="0"/>
          </a:p>
          <a:p>
            <a:pPr indent="0" marL="0">
              <a:buNone/>
            </a:pPr>
            <a:r>
              <a:rPr lang="fr-FR" altLang="en-US" sz="1200" dirty="0">
                <a:solidFill>
                  <a:srgbClr val="56617C"/>
                </a:solidFill>
                <a:latin typeface="Calibri" pitchFamily="34" charset="0"/>
                <a:ea typeface="Calibri" pitchFamily="34" charset="-122"/>
                <a:cs typeface="Calibri" pitchFamily="34" charset="-120"/>
              </a:rPr>
              <a:t>Gestion documentaire et outils numériques</a:t>
            </a:r>
            <a:endParaRPr lang="fr-FR" sz="1400" dirty="0"/>
          </a:p>
          <a:p>
            <a:pPr indent="0" marL="0">
              <a:buNone/>
            </a:pPr>
            <a:r>
              <a:rPr lang="fr-FR" altLang="en-US" sz="1100" b="1" dirty="0">
                <a:solidFill>
                  <a:srgbClr val="00923A"/>
                </a:solidFill>
                <a:latin typeface="Calibri" pitchFamily="34" charset="0"/>
                <a:ea typeface="Calibri" pitchFamily="34" charset="-122"/>
                <a:cs typeface="Calibri" pitchFamily="34" charset="-120"/>
              </a:rPr>
              <a:t>Moyen terme · moyen</a:t>
            </a:r>
            <a:endParaRPr lang="fr-FR" sz="1400" dirty="0"/>
          </a:p>
        </p:txBody>
      </p:sp>
      <p:sp>
        <p:nvSpPr>
          <p:cNvPr id="31" name="r5"/>
          <p:cNvSpPr/>
          <p:nvPr/>
        </p:nvSpPr>
        <p:spPr>
          <a:xfrm>
            <a:off x="8019059" y="4709160"/>
            <a:ext cx="2925394" cy="1280160"/>
          </a:xfrm>
          <a:prstGeom prst="roundRect">
            <a:avLst>
              <a:gd name="adj" fmla="val 8571"/>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32" name="ri5c"/>
          <p:cNvSpPr/>
          <p:nvPr/>
        </p:nvSpPr>
        <p:spPr>
          <a:xfrm>
            <a:off x="8193710" y="4910328"/>
            <a:ext cx="523951" cy="548640"/>
          </a:xfrm>
          <a:prstGeom prst="ellipse">
            <a:avLst/>
          </a:prstGeom>
          <a:solidFill>
            <a:srgbClr val="E2A400"/>
          </a:solidFill>
          <a:ln w="12700">
            <a:solidFill>
              <a:srgbClr val="E2A400"/>
            </a:solidFill>
            <a:prstDash val="solid"/>
          </a:ln>
        </p:spPr>
      </p:sp>
      <p:pic>
        <p:nvPicPr>
          <p:cNvPr id="33" name="ri5i" descr="preencoded.png">    </p:cNvPr>
          <p:cNvPicPr>
            <a:picLocks noChangeAspect="1"/>
          </p:cNvPicPr>
          <p:nvPr/>
        </p:nvPicPr>
        <p:blipFill>
          <a:blip r:embed="rId7"/>
          <a:stretch>
            <a:fillRect/>
          </a:stretch>
        </p:blipFill>
        <p:spPr>
          <a:xfrm>
            <a:off x="8329937" y="5052974"/>
            <a:ext cx="251497" cy="263347"/>
          </a:xfrm>
          <a:prstGeom prst="rect">
            <a:avLst/>
          </a:prstGeom>
        </p:spPr>
      </p:pic>
      <p:sp>
        <p:nvSpPr>
          <p:cNvPr id="34" name="rt5"/>
          <p:cNvSpPr txBox="1"/>
          <p:nvPr/>
        </p:nvSpPr>
        <p:spPr>
          <a:xfrm>
            <a:off x="8848649" y="4846320"/>
            <a:ext cx="2008480" cy="105156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Réaménager les bureaux</a:t>
            </a:r>
            <a:endParaRPr lang="fr-FR" sz="1400" dirty="0"/>
          </a:p>
          <a:p>
            <a:pPr indent="0" marL="0">
              <a:buNone/>
            </a:pPr>
            <a:r>
              <a:rPr lang="fr-FR" altLang="en-US" sz="1200" dirty="0">
                <a:solidFill>
                  <a:srgbClr val="56617C"/>
                </a:solidFill>
                <a:latin typeface="Calibri" pitchFamily="34" charset="0"/>
                <a:ea typeface="Calibri" pitchFamily="34" charset="-122"/>
                <a:cs typeface="Calibri" pitchFamily="34" charset="-120"/>
              </a:rPr>
              <a:t>Local d’archives, extension à terme</a:t>
            </a:r>
            <a:endParaRPr lang="fr-FR" sz="1400" dirty="0"/>
          </a:p>
          <a:p>
            <a:pPr indent="0" marL="0">
              <a:buNone/>
            </a:pPr>
            <a:r>
              <a:rPr lang="fr-FR" altLang="en-US" sz="1100" b="1" dirty="0">
                <a:solidFill>
                  <a:srgbClr val="00923A"/>
                </a:solidFill>
                <a:latin typeface="Calibri" pitchFamily="34" charset="0"/>
                <a:ea typeface="Calibri" pitchFamily="34" charset="-122"/>
                <a:cs typeface="Calibri" pitchFamily="34" charset="-120"/>
              </a:rPr>
              <a:t>Long terme · élevé</a:t>
            </a:r>
            <a:endParaRPr lang="fr-FR" sz="1400" dirty="0"/>
          </a:p>
        </p:txBody>
      </p:sp>
      <p:pic>
        <p:nvPicPr>
          <p:cNvPr id="35" name="!!flogo" descr="preencoded.png">    </p:cNvPr>
          <p:cNvPicPr>
            <a:picLocks noChangeAspect="1"/>
          </p:cNvPicPr>
          <p:nvPr/>
        </p:nvPicPr>
        <p:blipFill>
          <a:blip r:embed="rId8"/>
          <a:stretch>
            <a:fillRect/>
          </a:stretch>
        </p:blipFill>
        <p:spPr>
          <a:xfrm>
            <a:off x="640080" y="6382512"/>
            <a:ext cx="329184" cy="274320"/>
          </a:xfrm>
          <a:prstGeom prst="rect">
            <a:avLst/>
          </a:prstGeom>
        </p:spPr>
      </p:pic>
      <p:sp>
        <p:nvSpPr>
          <p:cNvPr id="36"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37"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17 / 22</a:t>
            </a:r>
            <a:endParaRPr lang="fr-FR" sz="1000" dirty="0"/>
          </a:p>
        </p:txBody>
      </p:sp>
      <p:sp>
        <p:nvSpPr>
          <p:cNvPr id="38"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39" name="!!railline"/>
          <p:cNvSpPr/>
          <p:nvPr/>
        </p:nvSpPr>
        <p:spPr>
          <a:xfrm>
            <a:off x="11795760" y="1600200"/>
            <a:ext cx="914" cy="3383280"/>
          </a:xfrm>
          <a:prstGeom prst="line">
            <a:avLst/>
          </a:prstGeom>
          <a:noFill/>
          <a:ln w="25400">
            <a:solidFill>
              <a:srgbClr val="DDE3EE"/>
            </a:solidFill>
            <a:prstDash val="solid"/>
          </a:ln>
        </p:spPr>
      </p:sp>
      <p:sp>
        <p:nvSpPr>
          <p:cNvPr id="40" name="!!railprog"/>
          <p:cNvSpPr/>
          <p:nvPr/>
        </p:nvSpPr>
        <p:spPr>
          <a:xfrm>
            <a:off x="11795760" y="1600200"/>
            <a:ext cx="914" cy="3383280"/>
          </a:xfrm>
          <a:prstGeom prst="line">
            <a:avLst/>
          </a:prstGeom>
          <a:noFill/>
          <a:ln w="38100">
            <a:solidFill>
              <a:srgbClr val="00923A"/>
            </a:solidFill>
            <a:prstDash val="solid"/>
          </a:ln>
        </p:spPr>
      </p:sp>
      <p:sp>
        <p:nvSpPr>
          <p:cNvPr id="41" name="!!mact"/>
          <p:cNvSpPr/>
          <p:nvPr/>
        </p:nvSpPr>
        <p:spPr>
          <a:xfrm>
            <a:off x="11494008" y="4681728"/>
            <a:ext cx="603504" cy="603504"/>
          </a:xfrm>
          <a:prstGeom prst="ellipse">
            <a:avLst/>
          </a:prstGeom>
          <a:solidFill>
            <a:srgbClr val="FFFFFF">
              <a:alpha val="0"/>
            </a:srgbClr>
          </a:solidFill>
          <a:ln w="38100">
            <a:solidFill>
              <a:srgbClr val="FCC600"/>
            </a:solidFill>
            <a:prstDash val="solid"/>
          </a:ln>
        </p:spPr>
      </p:sp>
      <p:sp>
        <p:nvSpPr>
          <p:cNvPr id="42"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43" name="!!mt1">
            <a:hlinkClick r:id="rId9"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9"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44"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45" name="!!mt2">
            <a:hlinkClick r:id="rId10"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0"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46"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47" name="!!mt3">
            <a:hlinkClick r:id="rId11"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1"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48"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49" name="!!mt4">
            <a:hlinkClick r:id="rId12"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2"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50" name="!!m5"/>
          <p:cNvSpPr/>
          <p:nvPr/>
        </p:nvSpPr>
        <p:spPr>
          <a:xfrm>
            <a:off x="11594592" y="4105656"/>
            <a:ext cx="402336" cy="402336"/>
          </a:xfrm>
          <a:prstGeom prst="ellipse">
            <a:avLst/>
          </a:prstGeom>
          <a:solidFill>
            <a:srgbClr val="00923A"/>
          </a:solidFill>
          <a:ln w="19050">
            <a:solidFill>
              <a:srgbClr val="00923A"/>
            </a:solidFill>
            <a:prstDash val="solid"/>
          </a:ln>
        </p:spPr>
      </p:sp>
      <p:sp>
        <p:nvSpPr>
          <p:cNvPr id="51" name="!!mt5">
            <a:hlinkClick r:id="rId13"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3"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52" name="!!m6"/>
          <p:cNvSpPr/>
          <p:nvPr/>
        </p:nvSpPr>
        <p:spPr>
          <a:xfrm>
            <a:off x="11594592" y="4782312"/>
            <a:ext cx="402336" cy="402336"/>
          </a:xfrm>
          <a:prstGeom prst="ellipse">
            <a:avLst/>
          </a:prstGeom>
          <a:solidFill>
            <a:srgbClr val="1B3F9E"/>
          </a:solidFill>
          <a:ln w="19050">
            <a:solidFill>
              <a:srgbClr val="1B3F9E"/>
            </a:solidFill>
            <a:prstDash val="solid"/>
          </a:ln>
        </p:spPr>
      </p:sp>
      <p:sp>
        <p:nvSpPr>
          <p:cNvPr id="53" name="!!mt6"/>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54"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SOLUTIONS ET CONCLUSION</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53" presetClass="entr" presetSubtype="16"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 calcmode="lin" valueType="num">
                                      <p:cBhvr>
                                        <p:cTn id="13" dur="600" fill="hold"/>
                                        <p:tgtEl>
                                          <p:spTgt spid="7"/>
                                        </p:tgtEl>
                                        <p:attrNameLst>
                                          <p:attrName>ppt_w</p:attrName>
                                        </p:attrNameLst>
                                      </p:cBhvr>
                                      <p:tavLst>
                                        <p:tav tm="0">
                                          <p:val>
                                            <p:fltVal val="0"/>
                                          </p:val>
                                        </p:tav>
                                        <p:tav tm="100000">
                                          <p:val>
                                            <p:strVal val="#ppt_w"/>
                                          </p:val>
                                        </p:tav>
                                      </p:tavLst>
                                    </p:anim>
                                    <p:anim calcmode="lin" valueType="num">
                                      <p:cBhvr>
                                        <p:cTn id="14" dur="600" fill="hold"/>
                                        <p:tgtEl>
                                          <p:spTgt spid="7"/>
                                        </p:tgtEl>
                                        <p:attrNameLst>
                                          <p:attrName>ppt_h</p:attrName>
                                        </p:attrNameLst>
                                      </p:cBhvr>
                                      <p:tavLst>
                                        <p:tav tm="0">
                                          <p:val>
                                            <p:fltVal val="0"/>
                                          </p:val>
                                        </p:tav>
                                        <p:tav tm="100000">
                                          <p:val>
                                            <p:strVal val="#ppt_h"/>
                                          </p:val>
                                        </p:tav>
                                      </p:tavLst>
                                    </p:anim>
                                    <p:animEffect transition="in" filter="fade">
                                      <p:cBhvr>
                                        <p:cTn id="15" dur="600"/>
                                        <p:tgtEl>
                                          <p:spTgt spid="7"/>
                                        </p:tgtEl>
                                      </p:cBhvr>
                                    </p:animEffect>
                                  </p:childTnLst>
                                </p:cTn>
                              </p:par>
                              <p:par>
                                <p:cTn id="16" presetID="53" presetClass="entr" presetSubtype="16" fill="hold" grpId="0" nodeType="withEffect">
                                  <p:stCondLst>
                                    <p:cond delay="400"/>
                                  </p:stCondLst>
                                  <p:childTnLst>
                                    <p:set>
                                      <p:cBhvr>
                                        <p:cTn id="17" dur="1" fill="hold">
                                          <p:stCondLst>
                                            <p:cond delay="0"/>
                                          </p:stCondLst>
                                        </p:cTn>
                                        <p:tgtEl>
                                          <p:spTgt spid="8"/>
                                        </p:tgtEl>
                                        <p:attrNameLst>
                                          <p:attrName>style.visibility</p:attrName>
                                        </p:attrNameLst>
                                      </p:cBhvr>
                                      <p:to>
                                        <p:strVal val="visible"/>
                                      </p:to>
                                    </p:set>
                                    <p:anim calcmode="lin" valueType="num">
                                      <p:cBhvr>
                                        <p:cTn id="18" dur="600" fill="hold"/>
                                        <p:tgtEl>
                                          <p:spTgt spid="8"/>
                                        </p:tgtEl>
                                        <p:attrNameLst>
                                          <p:attrName>ppt_w</p:attrName>
                                        </p:attrNameLst>
                                      </p:cBhvr>
                                      <p:tavLst>
                                        <p:tav tm="0">
                                          <p:val>
                                            <p:fltVal val="0"/>
                                          </p:val>
                                        </p:tav>
                                        <p:tav tm="100000">
                                          <p:val>
                                            <p:strVal val="#ppt_w"/>
                                          </p:val>
                                        </p:tav>
                                      </p:tavLst>
                                    </p:anim>
                                    <p:anim calcmode="lin" valueType="num">
                                      <p:cBhvr>
                                        <p:cTn id="19" dur="600" fill="hold"/>
                                        <p:tgtEl>
                                          <p:spTgt spid="8"/>
                                        </p:tgtEl>
                                        <p:attrNameLst>
                                          <p:attrName>ppt_h</p:attrName>
                                        </p:attrNameLst>
                                      </p:cBhvr>
                                      <p:tavLst>
                                        <p:tav tm="0">
                                          <p:val>
                                            <p:fltVal val="0"/>
                                          </p:val>
                                        </p:tav>
                                        <p:tav tm="100000">
                                          <p:val>
                                            <p:strVal val="#ppt_h"/>
                                          </p:val>
                                        </p:tav>
                                      </p:tavLst>
                                    </p:anim>
                                    <p:animEffect transition="in" filter="fade">
                                      <p:cBhvr>
                                        <p:cTn id="20" dur="600"/>
                                        <p:tgtEl>
                                          <p:spTgt spid="8"/>
                                        </p:tgtEl>
                                      </p:cBhvr>
                                    </p:animEffect>
                                  </p:childTnLst>
                                </p:cTn>
                              </p:par>
                              <p:par>
                                <p:cTn id="21" presetID="53" presetClass="entr" presetSubtype="16" fill="hold" grpId="0" nodeType="withEffect">
                                  <p:stCondLst>
                                    <p:cond delay="400"/>
                                  </p:stCondLst>
                                  <p:childTnLst>
                                    <p:set>
                                      <p:cBhvr>
                                        <p:cTn id="22" dur="1" fill="hold">
                                          <p:stCondLst>
                                            <p:cond delay="0"/>
                                          </p:stCondLst>
                                        </p:cTn>
                                        <p:tgtEl>
                                          <p:spTgt spid="9"/>
                                        </p:tgtEl>
                                        <p:attrNameLst>
                                          <p:attrName>style.visibility</p:attrName>
                                        </p:attrNameLst>
                                      </p:cBhvr>
                                      <p:to>
                                        <p:strVal val="visible"/>
                                      </p:to>
                                    </p:set>
                                    <p:anim calcmode="lin" valueType="num">
                                      <p:cBhvr>
                                        <p:cTn id="23" dur="600" fill="hold"/>
                                        <p:tgtEl>
                                          <p:spTgt spid="9"/>
                                        </p:tgtEl>
                                        <p:attrNameLst>
                                          <p:attrName>ppt_w</p:attrName>
                                        </p:attrNameLst>
                                      </p:cBhvr>
                                      <p:tavLst>
                                        <p:tav tm="0">
                                          <p:val>
                                            <p:fltVal val="0"/>
                                          </p:val>
                                        </p:tav>
                                        <p:tav tm="100000">
                                          <p:val>
                                            <p:strVal val="#ppt_w"/>
                                          </p:val>
                                        </p:tav>
                                      </p:tavLst>
                                    </p:anim>
                                    <p:anim calcmode="lin" valueType="num">
                                      <p:cBhvr>
                                        <p:cTn id="24" dur="600" fill="hold"/>
                                        <p:tgtEl>
                                          <p:spTgt spid="9"/>
                                        </p:tgtEl>
                                        <p:attrNameLst>
                                          <p:attrName>ppt_h</p:attrName>
                                        </p:attrNameLst>
                                      </p:cBhvr>
                                      <p:tavLst>
                                        <p:tav tm="0">
                                          <p:val>
                                            <p:fltVal val="0"/>
                                          </p:val>
                                        </p:tav>
                                        <p:tav tm="100000">
                                          <p:val>
                                            <p:strVal val="#ppt_h"/>
                                          </p:val>
                                        </p:tav>
                                      </p:tavLst>
                                    </p:anim>
                                    <p:animEffect transition="in" filter="fade">
                                      <p:cBhvr>
                                        <p:cTn id="25" dur="600"/>
                                        <p:tgtEl>
                                          <p:spTgt spid="9"/>
                                        </p:tgtEl>
                                      </p:cBhvr>
                                    </p:animEffect>
                                  </p:childTnLst>
                                </p:cTn>
                              </p:par>
                              <p:par>
                                <p:cTn id="26" presetID="10" presetClass="entr" presetSubtype="0" fill="hold" grpId="0" nodeType="withEffect">
                                  <p:stCondLst>
                                    <p:cond delay="4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00"/>
                                        <p:tgtEl>
                                          <p:spTgt spid="10"/>
                                        </p:tgtEl>
                                      </p:cBhvr>
                                    </p:animEffect>
                                  </p:childTnLst>
                                </p:cTn>
                              </p:par>
                              <p:par>
                                <p:cTn id="29" presetID="10" presetClass="entr" presetSubtype="0" fill="hold" grpId="0" nodeType="withEffect">
                                  <p:stCondLst>
                                    <p:cond delay="7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600"/>
                                        <p:tgtEl>
                                          <p:spTgt spid="11"/>
                                        </p:tgtEl>
                                      </p:cBhvr>
                                    </p:animEffect>
                                  </p:childTnLst>
                                </p:cTn>
                              </p:par>
                              <p:par>
                                <p:cTn id="32" presetID="53" presetClass="entr" presetSubtype="16" fill="hold" grpId="0" nodeType="withEffect">
                                  <p:stCondLst>
                                    <p:cond delay="700"/>
                                  </p:stCondLst>
                                  <p:childTnLst>
                                    <p:set>
                                      <p:cBhvr>
                                        <p:cTn id="33" dur="1" fill="hold">
                                          <p:stCondLst>
                                            <p:cond delay="0"/>
                                          </p:stCondLst>
                                        </p:cTn>
                                        <p:tgtEl>
                                          <p:spTgt spid="12"/>
                                        </p:tgtEl>
                                        <p:attrNameLst>
                                          <p:attrName>style.visibility</p:attrName>
                                        </p:attrNameLst>
                                      </p:cBhvr>
                                      <p:to>
                                        <p:strVal val="visible"/>
                                      </p:to>
                                    </p:set>
                                    <p:anim calcmode="lin" valueType="num">
                                      <p:cBhvr>
                                        <p:cTn id="34" dur="600" fill="hold"/>
                                        <p:tgtEl>
                                          <p:spTgt spid="12"/>
                                        </p:tgtEl>
                                        <p:attrNameLst>
                                          <p:attrName>ppt_w</p:attrName>
                                        </p:attrNameLst>
                                      </p:cBhvr>
                                      <p:tavLst>
                                        <p:tav tm="0">
                                          <p:val>
                                            <p:fltVal val="0"/>
                                          </p:val>
                                        </p:tav>
                                        <p:tav tm="100000">
                                          <p:val>
                                            <p:strVal val="#ppt_w"/>
                                          </p:val>
                                        </p:tav>
                                      </p:tavLst>
                                    </p:anim>
                                    <p:anim calcmode="lin" valueType="num">
                                      <p:cBhvr>
                                        <p:cTn id="35" dur="600" fill="hold"/>
                                        <p:tgtEl>
                                          <p:spTgt spid="12"/>
                                        </p:tgtEl>
                                        <p:attrNameLst>
                                          <p:attrName>ppt_h</p:attrName>
                                        </p:attrNameLst>
                                      </p:cBhvr>
                                      <p:tavLst>
                                        <p:tav tm="0">
                                          <p:val>
                                            <p:fltVal val="0"/>
                                          </p:val>
                                        </p:tav>
                                        <p:tav tm="100000">
                                          <p:val>
                                            <p:strVal val="#ppt_h"/>
                                          </p:val>
                                        </p:tav>
                                      </p:tavLst>
                                    </p:anim>
                                    <p:animEffect transition="in" filter="fade">
                                      <p:cBhvr>
                                        <p:cTn id="36" dur="600"/>
                                        <p:tgtEl>
                                          <p:spTgt spid="12"/>
                                        </p:tgtEl>
                                      </p:cBhvr>
                                    </p:animEffect>
                                  </p:childTnLst>
                                </p:cTn>
                              </p:par>
                              <p:par>
                                <p:cTn id="37" presetID="53" presetClass="entr" presetSubtype="16" fill="hold" grpId="0" nodeType="withEffect">
                                  <p:stCondLst>
                                    <p:cond delay="700"/>
                                  </p:stCondLst>
                                  <p:childTnLst>
                                    <p:set>
                                      <p:cBhvr>
                                        <p:cTn id="38" dur="1" fill="hold">
                                          <p:stCondLst>
                                            <p:cond delay="0"/>
                                          </p:stCondLst>
                                        </p:cTn>
                                        <p:tgtEl>
                                          <p:spTgt spid="13"/>
                                        </p:tgtEl>
                                        <p:attrNameLst>
                                          <p:attrName>style.visibility</p:attrName>
                                        </p:attrNameLst>
                                      </p:cBhvr>
                                      <p:to>
                                        <p:strVal val="visible"/>
                                      </p:to>
                                    </p:set>
                                    <p:anim calcmode="lin" valueType="num">
                                      <p:cBhvr>
                                        <p:cTn id="39" dur="600" fill="hold"/>
                                        <p:tgtEl>
                                          <p:spTgt spid="13"/>
                                        </p:tgtEl>
                                        <p:attrNameLst>
                                          <p:attrName>ppt_w</p:attrName>
                                        </p:attrNameLst>
                                      </p:cBhvr>
                                      <p:tavLst>
                                        <p:tav tm="0">
                                          <p:val>
                                            <p:fltVal val="0"/>
                                          </p:val>
                                        </p:tav>
                                        <p:tav tm="100000">
                                          <p:val>
                                            <p:strVal val="#ppt_w"/>
                                          </p:val>
                                        </p:tav>
                                      </p:tavLst>
                                    </p:anim>
                                    <p:anim calcmode="lin" valueType="num">
                                      <p:cBhvr>
                                        <p:cTn id="40" dur="600" fill="hold"/>
                                        <p:tgtEl>
                                          <p:spTgt spid="13"/>
                                        </p:tgtEl>
                                        <p:attrNameLst>
                                          <p:attrName>ppt_h</p:attrName>
                                        </p:attrNameLst>
                                      </p:cBhvr>
                                      <p:tavLst>
                                        <p:tav tm="0">
                                          <p:val>
                                            <p:fltVal val="0"/>
                                          </p:val>
                                        </p:tav>
                                        <p:tav tm="100000">
                                          <p:val>
                                            <p:strVal val="#ppt_h"/>
                                          </p:val>
                                        </p:tav>
                                      </p:tavLst>
                                    </p:anim>
                                    <p:animEffect transition="in" filter="fade">
                                      <p:cBhvr>
                                        <p:cTn id="41" dur="600"/>
                                        <p:tgtEl>
                                          <p:spTgt spid="13"/>
                                        </p:tgtEl>
                                      </p:cBhvr>
                                    </p:animEffect>
                                  </p:childTnLst>
                                </p:cTn>
                              </p:par>
                              <p:par>
                                <p:cTn id="42" presetID="10" presetClass="entr" presetSubtype="0" fill="hold" grpId="0" nodeType="withEffect">
                                  <p:stCondLst>
                                    <p:cond delay="70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10" presetClass="entr" presetSubtype="0" fill="hold" grpId="0" nodeType="withEffect">
                                  <p:stCondLst>
                                    <p:cond delay="92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48" presetID="53" presetClass="entr" presetSubtype="16" fill="hold" grpId="0" nodeType="withEffect">
                                  <p:stCondLst>
                                    <p:cond delay="920"/>
                                  </p:stCondLst>
                                  <p:childTnLst>
                                    <p:set>
                                      <p:cBhvr>
                                        <p:cTn id="49" dur="1" fill="hold">
                                          <p:stCondLst>
                                            <p:cond delay="0"/>
                                          </p:stCondLst>
                                        </p:cTn>
                                        <p:tgtEl>
                                          <p:spTgt spid="16"/>
                                        </p:tgtEl>
                                        <p:attrNameLst>
                                          <p:attrName>style.visibility</p:attrName>
                                        </p:attrNameLst>
                                      </p:cBhvr>
                                      <p:to>
                                        <p:strVal val="visible"/>
                                      </p:to>
                                    </p:set>
                                    <p:anim calcmode="lin" valueType="num">
                                      <p:cBhvr>
                                        <p:cTn id="50" dur="600" fill="hold"/>
                                        <p:tgtEl>
                                          <p:spTgt spid="16"/>
                                        </p:tgtEl>
                                        <p:attrNameLst>
                                          <p:attrName>ppt_w</p:attrName>
                                        </p:attrNameLst>
                                      </p:cBhvr>
                                      <p:tavLst>
                                        <p:tav tm="0">
                                          <p:val>
                                            <p:fltVal val="0"/>
                                          </p:val>
                                        </p:tav>
                                        <p:tav tm="100000">
                                          <p:val>
                                            <p:strVal val="#ppt_w"/>
                                          </p:val>
                                        </p:tav>
                                      </p:tavLst>
                                    </p:anim>
                                    <p:anim calcmode="lin" valueType="num">
                                      <p:cBhvr>
                                        <p:cTn id="51" dur="600" fill="hold"/>
                                        <p:tgtEl>
                                          <p:spTgt spid="16"/>
                                        </p:tgtEl>
                                        <p:attrNameLst>
                                          <p:attrName>ppt_h</p:attrName>
                                        </p:attrNameLst>
                                      </p:cBhvr>
                                      <p:tavLst>
                                        <p:tav tm="0">
                                          <p:val>
                                            <p:fltVal val="0"/>
                                          </p:val>
                                        </p:tav>
                                        <p:tav tm="100000">
                                          <p:val>
                                            <p:strVal val="#ppt_h"/>
                                          </p:val>
                                        </p:tav>
                                      </p:tavLst>
                                    </p:anim>
                                    <p:animEffect transition="in" filter="fade">
                                      <p:cBhvr>
                                        <p:cTn id="52" dur="600"/>
                                        <p:tgtEl>
                                          <p:spTgt spid="16"/>
                                        </p:tgtEl>
                                      </p:cBhvr>
                                    </p:animEffect>
                                  </p:childTnLst>
                                </p:cTn>
                              </p:par>
                              <p:par>
                                <p:cTn id="53" presetID="53" presetClass="entr" presetSubtype="16" fill="hold" grpId="0" nodeType="withEffect">
                                  <p:stCondLst>
                                    <p:cond delay="920"/>
                                  </p:stCondLst>
                                  <p:childTnLst>
                                    <p:set>
                                      <p:cBhvr>
                                        <p:cTn id="54" dur="1" fill="hold">
                                          <p:stCondLst>
                                            <p:cond delay="0"/>
                                          </p:stCondLst>
                                        </p:cTn>
                                        <p:tgtEl>
                                          <p:spTgt spid="17"/>
                                        </p:tgtEl>
                                        <p:attrNameLst>
                                          <p:attrName>style.visibility</p:attrName>
                                        </p:attrNameLst>
                                      </p:cBhvr>
                                      <p:to>
                                        <p:strVal val="visible"/>
                                      </p:to>
                                    </p:set>
                                    <p:anim calcmode="lin" valueType="num">
                                      <p:cBhvr>
                                        <p:cTn id="55" dur="600" fill="hold"/>
                                        <p:tgtEl>
                                          <p:spTgt spid="17"/>
                                        </p:tgtEl>
                                        <p:attrNameLst>
                                          <p:attrName>ppt_w</p:attrName>
                                        </p:attrNameLst>
                                      </p:cBhvr>
                                      <p:tavLst>
                                        <p:tav tm="0">
                                          <p:val>
                                            <p:fltVal val="0"/>
                                          </p:val>
                                        </p:tav>
                                        <p:tav tm="100000">
                                          <p:val>
                                            <p:strVal val="#ppt_w"/>
                                          </p:val>
                                        </p:tav>
                                      </p:tavLst>
                                    </p:anim>
                                    <p:anim calcmode="lin" valueType="num">
                                      <p:cBhvr>
                                        <p:cTn id="56" dur="600" fill="hold"/>
                                        <p:tgtEl>
                                          <p:spTgt spid="17"/>
                                        </p:tgtEl>
                                        <p:attrNameLst>
                                          <p:attrName>ppt_h</p:attrName>
                                        </p:attrNameLst>
                                      </p:cBhvr>
                                      <p:tavLst>
                                        <p:tav tm="0">
                                          <p:val>
                                            <p:fltVal val="0"/>
                                          </p:val>
                                        </p:tav>
                                        <p:tav tm="100000">
                                          <p:val>
                                            <p:strVal val="#ppt_h"/>
                                          </p:val>
                                        </p:tav>
                                      </p:tavLst>
                                    </p:anim>
                                    <p:animEffect transition="in" filter="fade">
                                      <p:cBhvr>
                                        <p:cTn id="57" dur="600"/>
                                        <p:tgtEl>
                                          <p:spTgt spid="17"/>
                                        </p:tgtEl>
                                      </p:cBhvr>
                                    </p:animEffect>
                                  </p:childTnLst>
                                </p:cTn>
                              </p:par>
                              <p:par>
                                <p:cTn id="58" presetID="10" presetClass="entr" presetSubtype="0" fill="hold" grpId="0" nodeType="withEffect">
                                  <p:stCondLst>
                                    <p:cond delay="92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par>
                                <p:cTn id="61" presetID="10" presetClass="entr" presetSubtype="0" fill="hold" grpId="0" nodeType="withEffect">
                                  <p:stCondLst>
                                    <p:cond delay="114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600"/>
                                        <p:tgtEl>
                                          <p:spTgt spid="19"/>
                                        </p:tgtEl>
                                      </p:cBhvr>
                                    </p:animEffect>
                                  </p:childTnLst>
                                </p:cTn>
                              </p:par>
                              <p:par>
                                <p:cTn id="64" presetID="53" presetClass="entr" presetSubtype="16" fill="hold" grpId="0" nodeType="withEffect">
                                  <p:stCondLst>
                                    <p:cond delay="1140"/>
                                  </p:stCondLst>
                                  <p:childTnLst>
                                    <p:set>
                                      <p:cBhvr>
                                        <p:cTn id="65" dur="1" fill="hold">
                                          <p:stCondLst>
                                            <p:cond delay="0"/>
                                          </p:stCondLst>
                                        </p:cTn>
                                        <p:tgtEl>
                                          <p:spTgt spid="20"/>
                                        </p:tgtEl>
                                        <p:attrNameLst>
                                          <p:attrName>style.visibility</p:attrName>
                                        </p:attrNameLst>
                                      </p:cBhvr>
                                      <p:to>
                                        <p:strVal val="visible"/>
                                      </p:to>
                                    </p:set>
                                    <p:anim calcmode="lin" valueType="num">
                                      <p:cBhvr>
                                        <p:cTn id="66" dur="600" fill="hold"/>
                                        <p:tgtEl>
                                          <p:spTgt spid="20"/>
                                        </p:tgtEl>
                                        <p:attrNameLst>
                                          <p:attrName>ppt_w</p:attrName>
                                        </p:attrNameLst>
                                      </p:cBhvr>
                                      <p:tavLst>
                                        <p:tav tm="0">
                                          <p:val>
                                            <p:fltVal val="0"/>
                                          </p:val>
                                        </p:tav>
                                        <p:tav tm="100000">
                                          <p:val>
                                            <p:strVal val="#ppt_w"/>
                                          </p:val>
                                        </p:tav>
                                      </p:tavLst>
                                    </p:anim>
                                    <p:anim calcmode="lin" valueType="num">
                                      <p:cBhvr>
                                        <p:cTn id="67" dur="600" fill="hold"/>
                                        <p:tgtEl>
                                          <p:spTgt spid="20"/>
                                        </p:tgtEl>
                                        <p:attrNameLst>
                                          <p:attrName>ppt_h</p:attrName>
                                        </p:attrNameLst>
                                      </p:cBhvr>
                                      <p:tavLst>
                                        <p:tav tm="0">
                                          <p:val>
                                            <p:fltVal val="0"/>
                                          </p:val>
                                        </p:tav>
                                        <p:tav tm="100000">
                                          <p:val>
                                            <p:strVal val="#ppt_h"/>
                                          </p:val>
                                        </p:tav>
                                      </p:tavLst>
                                    </p:anim>
                                    <p:animEffect transition="in" filter="fade">
                                      <p:cBhvr>
                                        <p:cTn id="68" dur="600"/>
                                        <p:tgtEl>
                                          <p:spTgt spid="20"/>
                                        </p:tgtEl>
                                      </p:cBhvr>
                                    </p:animEffect>
                                  </p:childTnLst>
                                </p:cTn>
                              </p:par>
                              <p:par>
                                <p:cTn id="69" presetID="53" presetClass="entr" presetSubtype="16" fill="hold" grpId="0" nodeType="withEffect">
                                  <p:stCondLst>
                                    <p:cond delay="1140"/>
                                  </p:stCondLst>
                                  <p:childTnLst>
                                    <p:set>
                                      <p:cBhvr>
                                        <p:cTn id="70" dur="1" fill="hold">
                                          <p:stCondLst>
                                            <p:cond delay="0"/>
                                          </p:stCondLst>
                                        </p:cTn>
                                        <p:tgtEl>
                                          <p:spTgt spid="21"/>
                                        </p:tgtEl>
                                        <p:attrNameLst>
                                          <p:attrName>style.visibility</p:attrName>
                                        </p:attrNameLst>
                                      </p:cBhvr>
                                      <p:to>
                                        <p:strVal val="visible"/>
                                      </p:to>
                                    </p:set>
                                    <p:anim calcmode="lin" valueType="num">
                                      <p:cBhvr>
                                        <p:cTn id="71" dur="600" fill="hold"/>
                                        <p:tgtEl>
                                          <p:spTgt spid="21"/>
                                        </p:tgtEl>
                                        <p:attrNameLst>
                                          <p:attrName>ppt_w</p:attrName>
                                        </p:attrNameLst>
                                      </p:cBhvr>
                                      <p:tavLst>
                                        <p:tav tm="0">
                                          <p:val>
                                            <p:fltVal val="0"/>
                                          </p:val>
                                        </p:tav>
                                        <p:tav tm="100000">
                                          <p:val>
                                            <p:strVal val="#ppt_w"/>
                                          </p:val>
                                        </p:tav>
                                      </p:tavLst>
                                    </p:anim>
                                    <p:anim calcmode="lin" valueType="num">
                                      <p:cBhvr>
                                        <p:cTn id="72" dur="600" fill="hold"/>
                                        <p:tgtEl>
                                          <p:spTgt spid="21"/>
                                        </p:tgtEl>
                                        <p:attrNameLst>
                                          <p:attrName>ppt_h</p:attrName>
                                        </p:attrNameLst>
                                      </p:cBhvr>
                                      <p:tavLst>
                                        <p:tav tm="0">
                                          <p:val>
                                            <p:fltVal val="0"/>
                                          </p:val>
                                        </p:tav>
                                        <p:tav tm="100000">
                                          <p:val>
                                            <p:strVal val="#ppt_h"/>
                                          </p:val>
                                        </p:tav>
                                      </p:tavLst>
                                    </p:anim>
                                    <p:animEffect transition="in" filter="fade">
                                      <p:cBhvr>
                                        <p:cTn id="73" dur="600"/>
                                        <p:tgtEl>
                                          <p:spTgt spid="21"/>
                                        </p:tgtEl>
                                      </p:cBhvr>
                                    </p:animEffect>
                                  </p:childTnLst>
                                </p:cTn>
                              </p:par>
                              <p:par>
                                <p:cTn id="74" presetID="10" presetClass="entr" presetSubtype="0" fill="hold" grpId="0" nodeType="withEffect">
                                  <p:stCondLst>
                                    <p:cond delay="114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600"/>
                                        <p:tgtEl>
                                          <p:spTgt spid="22"/>
                                        </p:tgtEl>
                                      </p:cBhvr>
                                    </p:animEffect>
                                  </p:childTnLst>
                                </p:cTn>
                              </p:par>
                              <p:par>
                                <p:cTn id="77" presetID="10" presetClass="entr" presetSubtype="0" fill="hold" grpId="0" nodeType="withEffect">
                                  <p:stCondLst>
                                    <p:cond delay="136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600"/>
                                        <p:tgtEl>
                                          <p:spTgt spid="23"/>
                                        </p:tgtEl>
                                      </p:cBhvr>
                                    </p:animEffect>
                                  </p:childTnLst>
                                </p:cTn>
                              </p:par>
                              <p:par>
                                <p:cTn id="80" presetID="53" presetClass="entr" presetSubtype="16" fill="hold" grpId="0" nodeType="withEffect">
                                  <p:stCondLst>
                                    <p:cond delay="1360"/>
                                  </p:stCondLst>
                                  <p:childTnLst>
                                    <p:set>
                                      <p:cBhvr>
                                        <p:cTn id="81" dur="1" fill="hold">
                                          <p:stCondLst>
                                            <p:cond delay="0"/>
                                          </p:stCondLst>
                                        </p:cTn>
                                        <p:tgtEl>
                                          <p:spTgt spid="24"/>
                                        </p:tgtEl>
                                        <p:attrNameLst>
                                          <p:attrName>style.visibility</p:attrName>
                                        </p:attrNameLst>
                                      </p:cBhvr>
                                      <p:to>
                                        <p:strVal val="visible"/>
                                      </p:to>
                                    </p:set>
                                    <p:anim calcmode="lin" valueType="num">
                                      <p:cBhvr>
                                        <p:cTn id="82" dur="600" fill="hold"/>
                                        <p:tgtEl>
                                          <p:spTgt spid="24"/>
                                        </p:tgtEl>
                                        <p:attrNameLst>
                                          <p:attrName>ppt_w</p:attrName>
                                        </p:attrNameLst>
                                      </p:cBhvr>
                                      <p:tavLst>
                                        <p:tav tm="0">
                                          <p:val>
                                            <p:fltVal val="0"/>
                                          </p:val>
                                        </p:tav>
                                        <p:tav tm="100000">
                                          <p:val>
                                            <p:strVal val="#ppt_w"/>
                                          </p:val>
                                        </p:tav>
                                      </p:tavLst>
                                    </p:anim>
                                    <p:anim calcmode="lin" valueType="num">
                                      <p:cBhvr>
                                        <p:cTn id="83" dur="600" fill="hold"/>
                                        <p:tgtEl>
                                          <p:spTgt spid="24"/>
                                        </p:tgtEl>
                                        <p:attrNameLst>
                                          <p:attrName>ppt_h</p:attrName>
                                        </p:attrNameLst>
                                      </p:cBhvr>
                                      <p:tavLst>
                                        <p:tav tm="0">
                                          <p:val>
                                            <p:fltVal val="0"/>
                                          </p:val>
                                        </p:tav>
                                        <p:tav tm="100000">
                                          <p:val>
                                            <p:strVal val="#ppt_h"/>
                                          </p:val>
                                        </p:tav>
                                      </p:tavLst>
                                    </p:anim>
                                    <p:animEffect transition="in" filter="fade">
                                      <p:cBhvr>
                                        <p:cTn id="84" dur="600"/>
                                        <p:tgtEl>
                                          <p:spTgt spid="24"/>
                                        </p:tgtEl>
                                      </p:cBhvr>
                                    </p:animEffect>
                                  </p:childTnLst>
                                </p:cTn>
                              </p:par>
                              <p:par>
                                <p:cTn id="85" presetID="53" presetClass="entr" presetSubtype="16" fill="hold" grpId="0" nodeType="withEffect">
                                  <p:stCondLst>
                                    <p:cond delay="1360"/>
                                  </p:stCondLst>
                                  <p:childTnLst>
                                    <p:set>
                                      <p:cBhvr>
                                        <p:cTn id="86" dur="1" fill="hold">
                                          <p:stCondLst>
                                            <p:cond delay="0"/>
                                          </p:stCondLst>
                                        </p:cTn>
                                        <p:tgtEl>
                                          <p:spTgt spid="25"/>
                                        </p:tgtEl>
                                        <p:attrNameLst>
                                          <p:attrName>style.visibility</p:attrName>
                                        </p:attrNameLst>
                                      </p:cBhvr>
                                      <p:to>
                                        <p:strVal val="visible"/>
                                      </p:to>
                                    </p:set>
                                    <p:anim calcmode="lin" valueType="num">
                                      <p:cBhvr>
                                        <p:cTn id="87" dur="600" fill="hold"/>
                                        <p:tgtEl>
                                          <p:spTgt spid="25"/>
                                        </p:tgtEl>
                                        <p:attrNameLst>
                                          <p:attrName>ppt_w</p:attrName>
                                        </p:attrNameLst>
                                      </p:cBhvr>
                                      <p:tavLst>
                                        <p:tav tm="0">
                                          <p:val>
                                            <p:fltVal val="0"/>
                                          </p:val>
                                        </p:tav>
                                        <p:tav tm="100000">
                                          <p:val>
                                            <p:strVal val="#ppt_w"/>
                                          </p:val>
                                        </p:tav>
                                      </p:tavLst>
                                    </p:anim>
                                    <p:anim calcmode="lin" valueType="num">
                                      <p:cBhvr>
                                        <p:cTn id="88" dur="600" fill="hold"/>
                                        <p:tgtEl>
                                          <p:spTgt spid="25"/>
                                        </p:tgtEl>
                                        <p:attrNameLst>
                                          <p:attrName>ppt_h</p:attrName>
                                        </p:attrNameLst>
                                      </p:cBhvr>
                                      <p:tavLst>
                                        <p:tav tm="0">
                                          <p:val>
                                            <p:fltVal val="0"/>
                                          </p:val>
                                        </p:tav>
                                        <p:tav tm="100000">
                                          <p:val>
                                            <p:strVal val="#ppt_h"/>
                                          </p:val>
                                        </p:tav>
                                      </p:tavLst>
                                    </p:anim>
                                    <p:animEffect transition="in" filter="fade">
                                      <p:cBhvr>
                                        <p:cTn id="89" dur="600"/>
                                        <p:tgtEl>
                                          <p:spTgt spid="25"/>
                                        </p:tgtEl>
                                      </p:cBhvr>
                                    </p:animEffect>
                                  </p:childTnLst>
                                </p:cTn>
                              </p:par>
                              <p:par>
                                <p:cTn id="90" presetID="10" presetClass="entr" presetSubtype="0" fill="hold" grpId="0" nodeType="withEffect">
                                  <p:stCondLst>
                                    <p:cond delay="1360"/>
                                  </p:stCondLst>
                                  <p:childTnLst>
                                    <p:set>
                                      <p:cBhvr>
                                        <p:cTn id="91" dur="1" fill="hold">
                                          <p:stCondLst>
                                            <p:cond delay="0"/>
                                          </p:stCondLst>
                                        </p:cTn>
                                        <p:tgtEl>
                                          <p:spTgt spid="26"/>
                                        </p:tgtEl>
                                        <p:attrNameLst>
                                          <p:attrName>style.visibility</p:attrName>
                                        </p:attrNameLst>
                                      </p:cBhvr>
                                      <p:to>
                                        <p:strVal val="visible"/>
                                      </p:to>
                                    </p:set>
                                    <p:animEffect transition="in" filter="fade">
                                      <p:cBhvr>
                                        <p:cTn id="92" dur="600"/>
                                        <p:tgtEl>
                                          <p:spTgt spid="26"/>
                                        </p:tgtEl>
                                      </p:cBhvr>
                                    </p:animEffect>
                                  </p:childTnLst>
                                </p:cTn>
                              </p:par>
                              <p:par>
                                <p:cTn id="93" presetID="10" presetClass="entr" presetSubtype="0" fill="hold" grpId="0" nodeType="withEffect">
                                  <p:stCondLst>
                                    <p:cond delay="158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600"/>
                                        <p:tgtEl>
                                          <p:spTgt spid="27"/>
                                        </p:tgtEl>
                                      </p:cBhvr>
                                    </p:animEffect>
                                  </p:childTnLst>
                                </p:cTn>
                              </p:par>
                              <p:par>
                                <p:cTn id="96" presetID="53" presetClass="entr" presetSubtype="16" fill="hold" grpId="0" nodeType="withEffect">
                                  <p:stCondLst>
                                    <p:cond delay="1580"/>
                                  </p:stCondLst>
                                  <p:childTnLst>
                                    <p:set>
                                      <p:cBhvr>
                                        <p:cTn id="97" dur="1" fill="hold">
                                          <p:stCondLst>
                                            <p:cond delay="0"/>
                                          </p:stCondLst>
                                        </p:cTn>
                                        <p:tgtEl>
                                          <p:spTgt spid="28"/>
                                        </p:tgtEl>
                                        <p:attrNameLst>
                                          <p:attrName>style.visibility</p:attrName>
                                        </p:attrNameLst>
                                      </p:cBhvr>
                                      <p:to>
                                        <p:strVal val="visible"/>
                                      </p:to>
                                    </p:set>
                                    <p:anim calcmode="lin" valueType="num">
                                      <p:cBhvr>
                                        <p:cTn id="98" dur="600" fill="hold"/>
                                        <p:tgtEl>
                                          <p:spTgt spid="28"/>
                                        </p:tgtEl>
                                        <p:attrNameLst>
                                          <p:attrName>ppt_w</p:attrName>
                                        </p:attrNameLst>
                                      </p:cBhvr>
                                      <p:tavLst>
                                        <p:tav tm="0">
                                          <p:val>
                                            <p:fltVal val="0"/>
                                          </p:val>
                                        </p:tav>
                                        <p:tav tm="100000">
                                          <p:val>
                                            <p:strVal val="#ppt_w"/>
                                          </p:val>
                                        </p:tav>
                                      </p:tavLst>
                                    </p:anim>
                                    <p:anim calcmode="lin" valueType="num">
                                      <p:cBhvr>
                                        <p:cTn id="99" dur="600" fill="hold"/>
                                        <p:tgtEl>
                                          <p:spTgt spid="28"/>
                                        </p:tgtEl>
                                        <p:attrNameLst>
                                          <p:attrName>ppt_h</p:attrName>
                                        </p:attrNameLst>
                                      </p:cBhvr>
                                      <p:tavLst>
                                        <p:tav tm="0">
                                          <p:val>
                                            <p:fltVal val="0"/>
                                          </p:val>
                                        </p:tav>
                                        <p:tav tm="100000">
                                          <p:val>
                                            <p:strVal val="#ppt_h"/>
                                          </p:val>
                                        </p:tav>
                                      </p:tavLst>
                                    </p:anim>
                                    <p:animEffect transition="in" filter="fade">
                                      <p:cBhvr>
                                        <p:cTn id="100" dur="600"/>
                                        <p:tgtEl>
                                          <p:spTgt spid="28"/>
                                        </p:tgtEl>
                                      </p:cBhvr>
                                    </p:animEffect>
                                  </p:childTnLst>
                                </p:cTn>
                              </p:par>
                              <p:par>
                                <p:cTn id="101" presetID="53" presetClass="entr" presetSubtype="16" fill="hold" grpId="0" nodeType="withEffect">
                                  <p:stCondLst>
                                    <p:cond delay="1580"/>
                                  </p:stCondLst>
                                  <p:childTnLst>
                                    <p:set>
                                      <p:cBhvr>
                                        <p:cTn id="102" dur="1" fill="hold">
                                          <p:stCondLst>
                                            <p:cond delay="0"/>
                                          </p:stCondLst>
                                        </p:cTn>
                                        <p:tgtEl>
                                          <p:spTgt spid="29"/>
                                        </p:tgtEl>
                                        <p:attrNameLst>
                                          <p:attrName>style.visibility</p:attrName>
                                        </p:attrNameLst>
                                      </p:cBhvr>
                                      <p:to>
                                        <p:strVal val="visible"/>
                                      </p:to>
                                    </p:set>
                                    <p:anim calcmode="lin" valueType="num">
                                      <p:cBhvr>
                                        <p:cTn id="103" dur="600" fill="hold"/>
                                        <p:tgtEl>
                                          <p:spTgt spid="29"/>
                                        </p:tgtEl>
                                        <p:attrNameLst>
                                          <p:attrName>ppt_w</p:attrName>
                                        </p:attrNameLst>
                                      </p:cBhvr>
                                      <p:tavLst>
                                        <p:tav tm="0">
                                          <p:val>
                                            <p:fltVal val="0"/>
                                          </p:val>
                                        </p:tav>
                                        <p:tav tm="100000">
                                          <p:val>
                                            <p:strVal val="#ppt_w"/>
                                          </p:val>
                                        </p:tav>
                                      </p:tavLst>
                                    </p:anim>
                                    <p:anim calcmode="lin" valueType="num">
                                      <p:cBhvr>
                                        <p:cTn id="104" dur="600" fill="hold"/>
                                        <p:tgtEl>
                                          <p:spTgt spid="29"/>
                                        </p:tgtEl>
                                        <p:attrNameLst>
                                          <p:attrName>ppt_h</p:attrName>
                                        </p:attrNameLst>
                                      </p:cBhvr>
                                      <p:tavLst>
                                        <p:tav tm="0">
                                          <p:val>
                                            <p:fltVal val="0"/>
                                          </p:val>
                                        </p:tav>
                                        <p:tav tm="100000">
                                          <p:val>
                                            <p:strVal val="#ppt_h"/>
                                          </p:val>
                                        </p:tav>
                                      </p:tavLst>
                                    </p:anim>
                                    <p:animEffect transition="in" filter="fade">
                                      <p:cBhvr>
                                        <p:cTn id="105" dur="600"/>
                                        <p:tgtEl>
                                          <p:spTgt spid="29"/>
                                        </p:tgtEl>
                                      </p:cBhvr>
                                    </p:animEffect>
                                  </p:childTnLst>
                                </p:cTn>
                              </p:par>
                              <p:par>
                                <p:cTn id="106" presetID="10" presetClass="entr" presetSubtype="0" fill="hold" grpId="0" nodeType="withEffect">
                                  <p:stCondLst>
                                    <p:cond delay="1580"/>
                                  </p:stCondLst>
                                  <p:childTnLst>
                                    <p:set>
                                      <p:cBhvr>
                                        <p:cTn id="107" dur="1" fill="hold">
                                          <p:stCondLst>
                                            <p:cond delay="0"/>
                                          </p:stCondLst>
                                        </p:cTn>
                                        <p:tgtEl>
                                          <p:spTgt spid="30"/>
                                        </p:tgtEl>
                                        <p:attrNameLst>
                                          <p:attrName>style.visibility</p:attrName>
                                        </p:attrNameLst>
                                      </p:cBhvr>
                                      <p:to>
                                        <p:strVal val="visible"/>
                                      </p:to>
                                    </p:set>
                                    <p:animEffect transition="in" filter="fade">
                                      <p:cBhvr>
                                        <p:cTn id="108" dur="600"/>
                                        <p:tgtEl>
                                          <p:spTgt spid="30"/>
                                        </p:tgtEl>
                                      </p:cBhvr>
                                    </p:animEffect>
                                  </p:childTnLst>
                                </p:cTn>
                              </p:par>
                              <p:par>
                                <p:cTn id="109" presetID="10" presetClass="entr" presetSubtype="0" fill="hold" grpId="0" nodeType="withEffect">
                                  <p:stCondLst>
                                    <p:cond delay="180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600"/>
                                        <p:tgtEl>
                                          <p:spTgt spid="31"/>
                                        </p:tgtEl>
                                      </p:cBhvr>
                                    </p:animEffect>
                                  </p:childTnLst>
                                </p:cTn>
                              </p:par>
                              <p:par>
                                <p:cTn id="112" presetID="53" presetClass="entr" presetSubtype="16" fill="hold" grpId="0" nodeType="withEffect">
                                  <p:stCondLst>
                                    <p:cond delay="1800"/>
                                  </p:stCondLst>
                                  <p:childTnLst>
                                    <p:set>
                                      <p:cBhvr>
                                        <p:cTn id="113" dur="1" fill="hold">
                                          <p:stCondLst>
                                            <p:cond delay="0"/>
                                          </p:stCondLst>
                                        </p:cTn>
                                        <p:tgtEl>
                                          <p:spTgt spid="32"/>
                                        </p:tgtEl>
                                        <p:attrNameLst>
                                          <p:attrName>style.visibility</p:attrName>
                                        </p:attrNameLst>
                                      </p:cBhvr>
                                      <p:to>
                                        <p:strVal val="visible"/>
                                      </p:to>
                                    </p:set>
                                    <p:anim calcmode="lin" valueType="num">
                                      <p:cBhvr>
                                        <p:cTn id="114" dur="600" fill="hold"/>
                                        <p:tgtEl>
                                          <p:spTgt spid="32"/>
                                        </p:tgtEl>
                                        <p:attrNameLst>
                                          <p:attrName>ppt_w</p:attrName>
                                        </p:attrNameLst>
                                      </p:cBhvr>
                                      <p:tavLst>
                                        <p:tav tm="0">
                                          <p:val>
                                            <p:fltVal val="0"/>
                                          </p:val>
                                        </p:tav>
                                        <p:tav tm="100000">
                                          <p:val>
                                            <p:strVal val="#ppt_w"/>
                                          </p:val>
                                        </p:tav>
                                      </p:tavLst>
                                    </p:anim>
                                    <p:anim calcmode="lin" valueType="num">
                                      <p:cBhvr>
                                        <p:cTn id="115" dur="600" fill="hold"/>
                                        <p:tgtEl>
                                          <p:spTgt spid="32"/>
                                        </p:tgtEl>
                                        <p:attrNameLst>
                                          <p:attrName>ppt_h</p:attrName>
                                        </p:attrNameLst>
                                      </p:cBhvr>
                                      <p:tavLst>
                                        <p:tav tm="0">
                                          <p:val>
                                            <p:fltVal val="0"/>
                                          </p:val>
                                        </p:tav>
                                        <p:tav tm="100000">
                                          <p:val>
                                            <p:strVal val="#ppt_h"/>
                                          </p:val>
                                        </p:tav>
                                      </p:tavLst>
                                    </p:anim>
                                    <p:animEffect transition="in" filter="fade">
                                      <p:cBhvr>
                                        <p:cTn id="116" dur="600"/>
                                        <p:tgtEl>
                                          <p:spTgt spid="32"/>
                                        </p:tgtEl>
                                      </p:cBhvr>
                                    </p:animEffect>
                                  </p:childTnLst>
                                </p:cTn>
                              </p:par>
                              <p:par>
                                <p:cTn id="117" presetID="53" presetClass="entr" presetSubtype="16" fill="hold" grpId="0" nodeType="withEffect">
                                  <p:stCondLst>
                                    <p:cond delay="1800"/>
                                  </p:stCondLst>
                                  <p:childTnLst>
                                    <p:set>
                                      <p:cBhvr>
                                        <p:cTn id="118" dur="1" fill="hold">
                                          <p:stCondLst>
                                            <p:cond delay="0"/>
                                          </p:stCondLst>
                                        </p:cTn>
                                        <p:tgtEl>
                                          <p:spTgt spid="33"/>
                                        </p:tgtEl>
                                        <p:attrNameLst>
                                          <p:attrName>style.visibility</p:attrName>
                                        </p:attrNameLst>
                                      </p:cBhvr>
                                      <p:to>
                                        <p:strVal val="visible"/>
                                      </p:to>
                                    </p:set>
                                    <p:anim calcmode="lin" valueType="num">
                                      <p:cBhvr>
                                        <p:cTn id="119" dur="600" fill="hold"/>
                                        <p:tgtEl>
                                          <p:spTgt spid="33"/>
                                        </p:tgtEl>
                                        <p:attrNameLst>
                                          <p:attrName>ppt_w</p:attrName>
                                        </p:attrNameLst>
                                      </p:cBhvr>
                                      <p:tavLst>
                                        <p:tav tm="0">
                                          <p:val>
                                            <p:fltVal val="0"/>
                                          </p:val>
                                        </p:tav>
                                        <p:tav tm="100000">
                                          <p:val>
                                            <p:strVal val="#ppt_w"/>
                                          </p:val>
                                        </p:tav>
                                      </p:tavLst>
                                    </p:anim>
                                    <p:anim calcmode="lin" valueType="num">
                                      <p:cBhvr>
                                        <p:cTn id="120" dur="600" fill="hold"/>
                                        <p:tgtEl>
                                          <p:spTgt spid="33"/>
                                        </p:tgtEl>
                                        <p:attrNameLst>
                                          <p:attrName>ppt_h</p:attrName>
                                        </p:attrNameLst>
                                      </p:cBhvr>
                                      <p:tavLst>
                                        <p:tav tm="0">
                                          <p:val>
                                            <p:fltVal val="0"/>
                                          </p:val>
                                        </p:tav>
                                        <p:tav tm="100000">
                                          <p:val>
                                            <p:strVal val="#ppt_h"/>
                                          </p:val>
                                        </p:tav>
                                      </p:tavLst>
                                    </p:anim>
                                    <p:animEffect transition="in" filter="fade">
                                      <p:cBhvr>
                                        <p:cTn id="121" dur="600"/>
                                        <p:tgtEl>
                                          <p:spTgt spid="33"/>
                                        </p:tgtEl>
                                      </p:cBhvr>
                                    </p:animEffect>
                                  </p:childTnLst>
                                </p:cTn>
                              </p:par>
                              <p:par>
                                <p:cTn id="122" presetID="10" presetClass="entr" presetSubtype="0" fill="hold" grpId="0" nodeType="withEffect">
                                  <p:stCondLst>
                                    <p:cond delay="180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14" grpId="0" animBg="1"/>
      <p:bldP spid="18" grpId="0" animBg="1"/>
      <p:bldP spid="22" grpId="0" animBg="1"/>
      <p:bldP spid="26" grpId="0" animBg="1"/>
      <p:bldP spid="30" grpId="0" animBg="1"/>
      <p:bldP spid="3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247120" y="-1188720"/>
            <a:ext cx="1828800" cy="1828800"/>
          </a:xfrm>
          <a:prstGeom prst="ellipse">
            <a:avLst/>
          </a:prstGeom>
          <a:solidFill>
            <a:srgbClr val="1B3F9E"/>
          </a:solidFill>
          <a:ln w="12700">
            <a:solidFill>
              <a:srgbClr val="1B3F9E"/>
            </a:solidFill>
            <a:prstDash val="solid"/>
          </a:ln>
        </p:spPr>
      </p:sp>
      <p:sp>
        <p:nvSpPr>
          <p:cNvPr id="3" name="!!orbG"/>
          <p:cNvSpPr/>
          <p:nvPr/>
        </p:nvSpPr>
        <p:spPr>
          <a:xfrm>
            <a:off x="-914400" y="6035040"/>
            <a:ext cx="1463040" cy="1463040"/>
          </a:xfrm>
          <a:prstGeom prst="ellipse">
            <a:avLst/>
          </a:prstGeom>
          <a:solidFill>
            <a:srgbClr val="00923A"/>
          </a:solidFill>
          <a:ln w="12700">
            <a:solidFill>
              <a:srgbClr val="00923A"/>
            </a:solidFill>
            <a:prstDash val="solid"/>
          </a:ln>
        </p:spPr>
      </p:sp>
      <p:sp>
        <p:nvSpPr>
          <p:cNvPr id="4" name="!!orbY"/>
          <p:cNvSpPr/>
          <p:nvPr/>
        </p:nvSpPr>
        <p:spPr>
          <a:xfrm>
            <a:off x="8778240" y="6569964"/>
            <a:ext cx="640080" cy="640080"/>
          </a:xfrm>
          <a:prstGeom prst="ellipse">
            <a:avLst/>
          </a:prstGeom>
          <a:solidFill>
            <a:srgbClr val="FFFFFF">
              <a:alpha val="0"/>
            </a:srgbClr>
          </a:solidFill>
          <a:ln w="5334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LA GESTION ÉLECTRONIQUE DES DOCUMENTS</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Papier ou GED : ce qui change concrètement</a:t>
            </a:r>
            <a:endParaRPr lang="fr-FR" sz="3200" dirty="0"/>
          </a:p>
        </p:txBody>
      </p:sp>
      <p:sp>
        <p:nvSpPr>
          <p:cNvPr id="7" name="th0"/>
          <p:cNvSpPr/>
          <p:nvPr/>
        </p:nvSpPr>
        <p:spPr>
          <a:xfrm>
            <a:off x="640080" y="1783080"/>
            <a:ext cx="2750744" cy="502920"/>
          </a:xfrm>
          <a:prstGeom prst="roundRect">
            <a:avLst>
              <a:gd name="adj" fmla="val 14545"/>
            </a:avLst>
          </a:prstGeom>
          <a:solidFill>
            <a:srgbClr val="EEF2FB"/>
          </a:solidFill>
          <a:ln w="12700">
            <a:solidFill>
              <a:srgbClr val="EEF2FB"/>
            </a:solidFill>
            <a:prstDash val="solid"/>
          </a:ln>
        </p:spPr>
      </p:sp>
      <p:sp>
        <p:nvSpPr>
          <p:cNvPr id="8" name="tht0"/>
          <p:cNvSpPr txBox="1"/>
          <p:nvPr/>
        </p:nvSpPr>
        <p:spPr>
          <a:xfrm>
            <a:off x="814730" y="1783080"/>
            <a:ext cx="2488768" cy="502920"/>
          </a:xfrm>
          <a:prstGeom prst="rect">
            <a:avLst/>
          </a:prstGeom>
          <a:noFill/>
          <a:ln/>
        </p:spPr>
        <p:txBody>
          <a:bodyPr wrap="square" lIns="0" tIns="0" rIns="0" bIns="0" rtlCol="0" anchor="ctr"/>
          <a:lstStyle/>
          <a:p>
            <a:pPr indent="0" marL="0">
              <a:buNone/>
            </a:pPr>
            <a:r>
              <a:rPr lang="fr-FR" altLang="en-US" sz="1400" b="1" dirty="0">
                <a:solidFill>
                  <a:srgbClr val="0E1C46"/>
                </a:solidFill>
                <a:latin typeface="Calibri" pitchFamily="34" charset="0"/>
                <a:ea typeface="Calibri" pitchFamily="34" charset="-122"/>
                <a:cs typeface="Calibri" pitchFamily="34" charset="-120"/>
              </a:rPr>
              <a:t>Situation</a:t>
            </a:r>
            <a:endParaRPr lang="fr-FR" sz="1400" dirty="0"/>
          </a:p>
        </p:txBody>
      </p:sp>
      <p:sp>
        <p:nvSpPr>
          <p:cNvPr id="9" name="th1"/>
          <p:cNvSpPr/>
          <p:nvPr/>
        </p:nvSpPr>
        <p:spPr>
          <a:xfrm>
            <a:off x="3478149" y="1783080"/>
            <a:ext cx="3493008" cy="502920"/>
          </a:xfrm>
          <a:prstGeom prst="roundRect">
            <a:avLst>
              <a:gd name="adj" fmla="val 14545"/>
            </a:avLst>
          </a:prstGeom>
          <a:solidFill>
            <a:srgbClr val="F1F2F5"/>
          </a:solidFill>
          <a:ln w="12700">
            <a:solidFill>
              <a:srgbClr val="F1F2F5"/>
            </a:solidFill>
            <a:prstDash val="solid"/>
          </a:ln>
        </p:spPr>
      </p:sp>
      <p:sp>
        <p:nvSpPr>
          <p:cNvPr id="10" name="tht1"/>
          <p:cNvSpPr txBox="1"/>
          <p:nvPr/>
        </p:nvSpPr>
        <p:spPr>
          <a:xfrm>
            <a:off x="3652799" y="1783080"/>
            <a:ext cx="3231032" cy="502920"/>
          </a:xfrm>
          <a:prstGeom prst="rect">
            <a:avLst/>
          </a:prstGeom>
          <a:noFill/>
          <a:ln/>
        </p:spPr>
        <p:txBody>
          <a:bodyPr wrap="square" lIns="0" tIns="0" rIns="0" bIns="0" rtlCol="0" anchor="ctr"/>
          <a:lstStyle/>
          <a:p>
            <a:pPr indent="0" marL="0">
              <a:buNone/>
            </a:pPr>
            <a:r>
              <a:rPr lang="fr-FR" altLang="en-US" sz="1400" b="1" dirty="0">
                <a:solidFill>
                  <a:srgbClr val="56617C"/>
                </a:solidFill>
                <a:latin typeface="Calibri" pitchFamily="34" charset="0"/>
                <a:ea typeface="Calibri" pitchFamily="34" charset="-122"/>
                <a:cs typeface="Calibri" pitchFamily="34" charset="-120"/>
              </a:rPr>
              <a:t>Aujourd’hui · registres papier</a:t>
            </a:r>
            <a:endParaRPr lang="fr-FR" sz="1400" dirty="0"/>
          </a:p>
        </p:txBody>
      </p:sp>
      <p:sp>
        <p:nvSpPr>
          <p:cNvPr id="11" name="th2"/>
          <p:cNvSpPr/>
          <p:nvPr/>
        </p:nvSpPr>
        <p:spPr>
          <a:xfrm>
            <a:off x="7058482" y="1783080"/>
            <a:ext cx="4016959" cy="502920"/>
          </a:xfrm>
          <a:prstGeom prst="roundRect">
            <a:avLst>
              <a:gd name="adj" fmla="val 14545"/>
            </a:avLst>
          </a:prstGeom>
          <a:solidFill>
            <a:srgbClr val="00923A"/>
          </a:solidFill>
          <a:ln w="12700">
            <a:solidFill>
              <a:srgbClr val="00923A"/>
            </a:solidFill>
            <a:prstDash val="solid"/>
          </a:ln>
        </p:spPr>
      </p:sp>
      <p:sp>
        <p:nvSpPr>
          <p:cNvPr id="12" name="tht2"/>
          <p:cNvSpPr txBox="1"/>
          <p:nvPr/>
        </p:nvSpPr>
        <p:spPr>
          <a:xfrm>
            <a:off x="7233133" y="1783080"/>
            <a:ext cx="3754984" cy="502920"/>
          </a:xfrm>
          <a:prstGeom prst="rect">
            <a:avLst/>
          </a:prstGeom>
          <a:noFill/>
          <a:ln/>
        </p:spPr>
        <p:txBody>
          <a:bodyPr wrap="square" lIns="0" tIns="0" rIns="0" bIns="0" rtlCol="0" anchor="ctr"/>
          <a:lstStyle/>
          <a:p>
            <a:pPr indent="0" marL="0">
              <a:buNone/>
            </a:pPr>
            <a:r>
              <a:rPr lang="fr-FR" altLang="en-US" sz="1400" b="1" dirty="0">
                <a:solidFill>
                  <a:srgbClr val="FFFFFF"/>
                </a:solidFill>
                <a:latin typeface="Calibri" pitchFamily="34" charset="0"/>
                <a:ea typeface="Calibri" pitchFamily="34" charset="-122"/>
                <a:cs typeface="Calibri" pitchFamily="34" charset="-120"/>
              </a:rPr>
              <a:t>Avec la GED</a:t>
            </a:r>
            <a:endParaRPr lang="fr-FR" sz="1400" dirty="0"/>
          </a:p>
        </p:txBody>
      </p:sp>
      <p:sp>
        <p:nvSpPr>
          <p:cNvPr id="13" name="tr0c0"/>
          <p:cNvSpPr/>
          <p:nvPr/>
        </p:nvSpPr>
        <p:spPr>
          <a:xfrm>
            <a:off x="640080" y="2377440"/>
            <a:ext cx="2750744" cy="548640"/>
          </a:xfrm>
          <a:prstGeom prst="rect">
            <a:avLst/>
          </a:prstGeom>
          <a:solidFill>
            <a:srgbClr val="FFFFFF"/>
          </a:solidFill>
          <a:ln w="9525">
            <a:solidFill>
              <a:srgbClr val="E6EAF2"/>
            </a:solidFill>
            <a:prstDash val="solid"/>
          </a:ln>
        </p:spPr>
      </p:sp>
      <p:sp>
        <p:nvSpPr>
          <p:cNvPr id="14" name="tt0c0"/>
          <p:cNvSpPr txBox="1"/>
          <p:nvPr/>
        </p:nvSpPr>
        <p:spPr>
          <a:xfrm>
            <a:off x="814730" y="2377440"/>
            <a:ext cx="2488768"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Retrouver un ancien courrier</a:t>
            </a:r>
            <a:endParaRPr lang="fr-FR" sz="1300" dirty="0"/>
          </a:p>
        </p:txBody>
      </p:sp>
      <p:sp>
        <p:nvSpPr>
          <p:cNvPr id="15" name="tr0c1"/>
          <p:cNvSpPr/>
          <p:nvPr/>
        </p:nvSpPr>
        <p:spPr>
          <a:xfrm>
            <a:off x="3478149" y="2377440"/>
            <a:ext cx="3493008" cy="548640"/>
          </a:xfrm>
          <a:prstGeom prst="rect">
            <a:avLst/>
          </a:prstGeom>
          <a:solidFill>
            <a:srgbClr val="FFFFFF"/>
          </a:solidFill>
          <a:ln w="9525">
            <a:solidFill>
              <a:srgbClr val="E6EAF2"/>
            </a:solidFill>
            <a:prstDash val="solid"/>
          </a:ln>
        </p:spPr>
      </p:sp>
      <p:sp>
        <p:nvSpPr>
          <p:cNvPr id="16" name="tt0c1"/>
          <p:cNvSpPr txBox="1"/>
          <p:nvPr/>
        </p:nvSpPr>
        <p:spPr>
          <a:xfrm>
            <a:off x="3652799" y="2377440"/>
            <a:ext cx="3231032"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Feuilleter les registres page par page</a:t>
            </a:r>
            <a:endParaRPr lang="fr-FR" sz="1300" dirty="0"/>
          </a:p>
        </p:txBody>
      </p:sp>
      <p:sp>
        <p:nvSpPr>
          <p:cNvPr id="17" name="tr0c2"/>
          <p:cNvSpPr/>
          <p:nvPr/>
        </p:nvSpPr>
        <p:spPr>
          <a:xfrm>
            <a:off x="7058482" y="2377440"/>
            <a:ext cx="4016959" cy="548640"/>
          </a:xfrm>
          <a:prstGeom prst="rect">
            <a:avLst/>
          </a:prstGeom>
          <a:solidFill>
            <a:srgbClr val="E9F6EE"/>
          </a:solidFill>
          <a:ln w="9525">
            <a:solidFill>
              <a:srgbClr val="E6EAF2"/>
            </a:solidFill>
            <a:prstDash val="solid"/>
          </a:ln>
        </p:spPr>
      </p:sp>
      <p:sp>
        <p:nvSpPr>
          <p:cNvPr id="18" name="tt0c2"/>
          <p:cNvSpPr txBox="1"/>
          <p:nvPr/>
        </p:nvSpPr>
        <p:spPr>
          <a:xfrm>
            <a:off x="7233133" y="2377440"/>
            <a:ext cx="3754984"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  Recherche par numéro, nom ou mot-clé</a:t>
            </a:r>
            <a:endParaRPr lang="fr-FR" sz="1300" dirty="0"/>
          </a:p>
        </p:txBody>
      </p:sp>
      <p:sp>
        <p:nvSpPr>
          <p:cNvPr id="19" name="tr1c0"/>
          <p:cNvSpPr/>
          <p:nvPr/>
        </p:nvSpPr>
        <p:spPr>
          <a:xfrm>
            <a:off x="640080" y="2980944"/>
            <a:ext cx="2750744" cy="548640"/>
          </a:xfrm>
          <a:prstGeom prst="rect">
            <a:avLst/>
          </a:prstGeom>
          <a:solidFill>
            <a:srgbClr val="F7F9FD"/>
          </a:solidFill>
          <a:ln w="9525">
            <a:solidFill>
              <a:srgbClr val="E6EAF2"/>
            </a:solidFill>
            <a:prstDash val="solid"/>
          </a:ln>
        </p:spPr>
      </p:sp>
      <p:sp>
        <p:nvSpPr>
          <p:cNvPr id="20" name="tt1c0"/>
          <p:cNvSpPr txBox="1"/>
          <p:nvPr/>
        </p:nvSpPr>
        <p:spPr>
          <a:xfrm>
            <a:off x="814730" y="2980944"/>
            <a:ext cx="2488768"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Savoir où en est un dossier</a:t>
            </a:r>
            <a:endParaRPr lang="fr-FR" sz="1300" dirty="0"/>
          </a:p>
        </p:txBody>
      </p:sp>
      <p:sp>
        <p:nvSpPr>
          <p:cNvPr id="21" name="tr1c1"/>
          <p:cNvSpPr/>
          <p:nvPr/>
        </p:nvSpPr>
        <p:spPr>
          <a:xfrm>
            <a:off x="3478149" y="2980944"/>
            <a:ext cx="3493008" cy="548640"/>
          </a:xfrm>
          <a:prstGeom prst="rect">
            <a:avLst/>
          </a:prstGeom>
          <a:solidFill>
            <a:srgbClr val="F7F9FD"/>
          </a:solidFill>
          <a:ln w="9525">
            <a:solidFill>
              <a:srgbClr val="E6EAF2"/>
            </a:solidFill>
            <a:prstDash val="solid"/>
          </a:ln>
        </p:spPr>
      </p:sp>
      <p:sp>
        <p:nvSpPr>
          <p:cNvPr id="22" name="tt1c1"/>
          <p:cNvSpPr txBox="1"/>
          <p:nvPr/>
        </p:nvSpPr>
        <p:spPr>
          <a:xfrm>
            <a:off x="3652799" y="2980944"/>
            <a:ext cx="3231032"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Demander de bureau en bureau</a:t>
            </a:r>
            <a:endParaRPr lang="fr-FR" sz="1300" dirty="0"/>
          </a:p>
        </p:txBody>
      </p:sp>
      <p:sp>
        <p:nvSpPr>
          <p:cNvPr id="23" name="tr1c2"/>
          <p:cNvSpPr/>
          <p:nvPr/>
        </p:nvSpPr>
        <p:spPr>
          <a:xfrm>
            <a:off x="7058482" y="2980944"/>
            <a:ext cx="4016959" cy="548640"/>
          </a:xfrm>
          <a:prstGeom prst="rect">
            <a:avLst/>
          </a:prstGeom>
          <a:solidFill>
            <a:srgbClr val="E9F6EE"/>
          </a:solidFill>
          <a:ln w="9525">
            <a:solidFill>
              <a:srgbClr val="E6EAF2"/>
            </a:solidFill>
            <a:prstDash val="solid"/>
          </a:ln>
        </p:spPr>
      </p:sp>
      <p:sp>
        <p:nvSpPr>
          <p:cNvPr id="24" name="tt1c2"/>
          <p:cNvSpPr txBox="1"/>
          <p:nvPr/>
        </p:nvSpPr>
        <p:spPr>
          <a:xfrm>
            <a:off x="7233133" y="2980944"/>
            <a:ext cx="3754984"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  L’étape et la date s’affichent à l’écran</a:t>
            </a:r>
            <a:endParaRPr lang="fr-FR" sz="1300" dirty="0"/>
          </a:p>
        </p:txBody>
      </p:sp>
      <p:sp>
        <p:nvSpPr>
          <p:cNvPr id="25" name="tr2c0"/>
          <p:cNvSpPr/>
          <p:nvPr/>
        </p:nvSpPr>
        <p:spPr>
          <a:xfrm>
            <a:off x="640080" y="3584448"/>
            <a:ext cx="2750744" cy="548640"/>
          </a:xfrm>
          <a:prstGeom prst="rect">
            <a:avLst/>
          </a:prstGeom>
          <a:solidFill>
            <a:srgbClr val="FFFFFF"/>
          </a:solidFill>
          <a:ln w="9525">
            <a:solidFill>
              <a:srgbClr val="E6EAF2"/>
            </a:solidFill>
            <a:prstDash val="solid"/>
          </a:ln>
        </p:spPr>
      </p:sp>
      <p:sp>
        <p:nvSpPr>
          <p:cNvPr id="26" name="tt2c0"/>
          <p:cNvSpPr txBox="1"/>
          <p:nvPr/>
        </p:nvSpPr>
        <p:spPr>
          <a:xfrm>
            <a:off x="814730" y="3584448"/>
            <a:ext cx="2488768"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Transmettre à une direction</a:t>
            </a:r>
            <a:endParaRPr lang="fr-FR" sz="1300" dirty="0"/>
          </a:p>
        </p:txBody>
      </p:sp>
      <p:sp>
        <p:nvSpPr>
          <p:cNvPr id="27" name="tr2c1"/>
          <p:cNvSpPr/>
          <p:nvPr/>
        </p:nvSpPr>
        <p:spPr>
          <a:xfrm>
            <a:off x="3478149" y="3584448"/>
            <a:ext cx="3493008" cy="548640"/>
          </a:xfrm>
          <a:prstGeom prst="rect">
            <a:avLst/>
          </a:prstGeom>
          <a:solidFill>
            <a:srgbClr val="FFFFFF"/>
          </a:solidFill>
          <a:ln w="9525">
            <a:solidFill>
              <a:srgbClr val="E6EAF2"/>
            </a:solidFill>
            <a:prstDash val="solid"/>
          </a:ln>
        </p:spPr>
      </p:sp>
      <p:sp>
        <p:nvSpPr>
          <p:cNvPr id="28" name="tt2c1"/>
          <p:cNvSpPr txBox="1"/>
          <p:nvPr/>
        </p:nvSpPr>
        <p:spPr>
          <a:xfrm>
            <a:off x="3652799" y="3584448"/>
            <a:ext cx="3231032"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Déplacement physique et registre de transmission</a:t>
            </a:r>
            <a:endParaRPr lang="fr-FR" sz="1300" dirty="0"/>
          </a:p>
        </p:txBody>
      </p:sp>
      <p:sp>
        <p:nvSpPr>
          <p:cNvPr id="29" name="tr2c2"/>
          <p:cNvSpPr/>
          <p:nvPr/>
        </p:nvSpPr>
        <p:spPr>
          <a:xfrm>
            <a:off x="7058482" y="3584448"/>
            <a:ext cx="4016959" cy="548640"/>
          </a:xfrm>
          <a:prstGeom prst="rect">
            <a:avLst/>
          </a:prstGeom>
          <a:solidFill>
            <a:srgbClr val="E9F6EE"/>
          </a:solidFill>
          <a:ln w="9525">
            <a:solidFill>
              <a:srgbClr val="E6EAF2"/>
            </a:solidFill>
            <a:prstDash val="solid"/>
          </a:ln>
        </p:spPr>
      </p:sp>
      <p:sp>
        <p:nvSpPr>
          <p:cNvPr id="30" name="tt2c2"/>
          <p:cNvSpPr txBox="1"/>
          <p:nvPr/>
        </p:nvSpPr>
        <p:spPr>
          <a:xfrm>
            <a:off x="7233133" y="3584448"/>
            <a:ext cx="3754984"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  Envoi immédiat et accusé de réception</a:t>
            </a:r>
            <a:endParaRPr lang="fr-FR" sz="1300" dirty="0"/>
          </a:p>
        </p:txBody>
      </p:sp>
      <p:sp>
        <p:nvSpPr>
          <p:cNvPr id="31" name="tr3c0"/>
          <p:cNvSpPr/>
          <p:nvPr/>
        </p:nvSpPr>
        <p:spPr>
          <a:xfrm>
            <a:off x="640080" y="4187952"/>
            <a:ext cx="2750744" cy="548640"/>
          </a:xfrm>
          <a:prstGeom prst="rect">
            <a:avLst/>
          </a:prstGeom>
          <a:solidFill>
            <a:srgbClr val="F7F9FD"/>
          </a:solidFill>
          <a:ln w="9525">
            <a:solidFill>
              <a:srgbClr val="E6EAF2"/>
            </a:solidFill>
            <a:prstDash val="solid"/>
          </a:ln>
        </p:spPr>
      </p:sp>
      <p:sp>
        <p:nvSpPr>
          <p:cNvPr id="32" name="tt3c0"/>
          <p:cNvSpPr txBox="1"/>
          <p:nvPr/>
        </p:nvSpPr>
        <p:spPr>
          <a:xfrm>
            <a:off x="814730" y="4187952"/>
            <a:ext cx="2488768"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Signataire absent</a:t>
            </a:r>
            <a:endParaRPr lang="fr-FR" sz="1300" dirty="0"/>
          </a:p>
        </p:txBody>
      </p:sp>
      <p:sp>
        <p:nvSpPr>
          <p:cNvPr id="33" name="tr3c1"/>
          <p:cNvSpPr/>
          <p:nvPr/>
        </p:nvSpPr>
        <p:spPr>
          <a:xfrm>
            <a:off x="3478149" y="4187952"/>
            <a:ext cx="3493008" cy="548640"/>
          </a:xfrm>
          <a:prstGeom prst="rect">
            <a:avLst/>
          </a:prstGeom>
          <a:solidFill>
            <a:srgbClr val="F7F9FD"/>
          </a:solidFill>
          <a:ln w="9525">
            <a:solidFill>
              <a:srgbClr val="E6EAF2"/>
            </a:solidFill>
            <a:prstDash val="solid"/>
          </a:ln>
        </p:spPr>
      </p:sp>
      <p:sp>
        <p:nvSpPr>
          <p:cNvPr id="34" name="tt3c1"/>
          <p:cNvSpPr txBox="1"/>
          <p:nvPr/>
        </p:nvSpPr>
        <p:spPr>
          <a:xfrm>
            <a:off x="3652799" y="4187952"/>
            <a:ext cx="3231032"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Le parapheur attend son retour (1 à 3 jours)</a:t>
            </a:r>
            <a:endParaRPr lang="fr-FR" sz="1300" dirty="0"/>
          </a:p>
        </p:txBody>
      </p:sp>
      <p:sp>
        <p:nvSpPr>
          <p:cNvPr id="35" name="tr3c2"/>
          <p:cNvSpPr/>
          <p:nvPr/>
        </p:nvSpPr>
        <p:spPr>
          <a:xfrm>
            <a:off x="7058482" y="4187952"/>
            <a:ext cx="4016959" cy="548640"/>
          </a:xfrm>
          <a:prstGeom prst="rect">
            <a:avLst/>
          </a:prstGeom>
          <a:solidFill>
            <a:srgbClr val="E9F6EE"/>
          </a:solidFill>
          <a:ln w="9525">
            <a:solidFill>
              <a:srgbClr val="E6EAF2"/>
            </a:solidFill>
            <a:prstDash val="solid"/>
          </a:ln>
        </p:spPr>
      </p:sp>
      <p:sp>
        <p:nvSpPr>
          <p:cNvPr id="36" name="tt3c2"/>
          <p:cNvSpPr txBox="1"/>
          <p:nvPr/>
        </p:nvSpPr>
        <p:spPr>
          <a:xfrm>
            <a:off x="7233133" y="4187952"/>
            <a:ext cx="3754984"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  Visa à distance ou suppléant désigné</a:t>
            </a:r>
            <a:endParaRPr lang="fr-FR" sz="1300" dirty="0"/>
          </a:p>
        </p:txBody>
      </p:sp>
      <p:sp>
        <p:nvSpPr>
          <p:cNvPr id="37" name="tr4c0"/>
          <p:cNvSpPr/>
          <p:nvPr/>
        </p:nvSpPr>
        <p:spPr>
          <a:xfrm>
            <a:off x="640080" y="4791456"/>
            <a:ext cx="2750744" cy="548640"/>
          </a:xfrm>
          <a:prstGeom prst="rect">
            <a:avLst/>
          </a:prstGeom>
          <a:solidFill>
            <a:srgbClr val="FFFFFF"/>
          </a:solidFill>
          <a:ln w="9525">
            <a:solidFill>
              <a:srgbClr val="E6EAF2"/>
            </a:solidFill>
            <a:prstDash val="solid"/>
          </a:ln>
        </p:spPr>
      </p:sp>
      <p:sp>
        <p:nvSpPr>
          <p:cNvPr id="38" name="tt4c0"/>
          <p:cNvSpPr txBox="1"/>
          <p:nvPr/>
        </p:nvSpPr>
        <p:spPr>
          <a:xfrm>
            <a:off x="814730" y="4791456"/>
            <a:ext cx="2488768"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Échanges urgents</a:t>
            </a:r>
            <a:endParaRPr lang="fr-FR" sz="1300" dirty="0"/>
          </a:p>
        </p:txBody>
      </p:sp>
      <p:sp>
        <p:nvSpPr>
          <p:cNvPr id="39" name="tr4c1"/>
          <p:cNvSpPr/>
          <p:nvPr/>
        </p:nvSpPr>
        <p:spPr>
          <a:xfrm>
            <a:off x="3478149" y="4791456"/>
            <a:ext cx="3493008" cy="548640"/>
          </a:xfrm>
          <a:prstGeom prst="rect">
            <a:avLst/>
          </a:prstGeom>
          <a:solidFill>
            <a:srgbClr val="FFFFFF"/>
          </a:solidFill>
          <a:ln w="9525">
            <a:solidFill>
              <a:srgbClr val="E6EAF2"/>
            </a:solidFill>
            <a:prstDash val="solid"/>
          </a:ln>
        </p:spPr>
      </p:sp>
      <p:sp>
        <p:nvSpPr>
          <p:cNvPr id="40" name="tt4c1"/>
          <p:cNvSpPr txBox="1"/>
          <p:nvPr/>
        </p:nvSpPr>
        <p:spPr>
          <a:xfrm>
            <a:off x="3652799" y="4791456"/>
            <a:ext cx="3231032"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WhatsApp sans trace, puis envoi papier en double</a:t>
            </a:r>
            <a:endParaRPr lang="fr-FR" sz="1300" dirty="0"/>
          </a:p>
        </p:txBody>
      </p:sp>
      <p:sp>
        <p:nvSpPr>
          <p:cNvPr id="41" name="tr4c2"/>
          <p:cNvSpPr/>
          <p:nvPr/>
        </p:nvSpPr>
        <p:spPr>
          <a:xfrm>
            <a:off x="7058482" y="4791456"/>
            <a:ext cx="4016959" cy="548640"/>
          </a:xfrm>
          <a:prstGeom prst="rect">
            <a:avLst/>
          </a:prstGeom>
          <a:solidFill>
            <a:srgbClr val="E9F6EE"/>
          </a:solidFill>
          <a:ln w="9525">
            <a:solidFill>
              <a:srgbClr val="E6EAF2"/>
            </a:solidFill>
            <a:prstDash val="solid"/>
          </a:ln>
        </p:spPr>
      </p:sp>
      <p:sp>
        <p:nvSpPr>
          <p:cNvPr id="42" name="tt4c2"/>
          <p:cNvSpPr txBox="1"/>
          <p:nvPr/>
        </p:nvSpPr>
        <p:spPr>
          <a:xfrm>
            <a:off x="7233133" y="4791456"/>
            <a:ext cx="3754984"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  Un seul canal officiel et tracé</a:t>
            </a:r>
            <a:endParaRPr lang="fr-FR" sz="1300" dirty="0"/>
          </a:p>
        </p:txBody>
      </p:sp>
      <p:sp>
        <p:nvSpPr>
          <p:cNvPr id="43" name="tr5c0"/>
          <p:cNvSpPr/>
          <p:nvPr/>
        </p:nvSpPr>
        <p:spPr>
          <a:xfrm>
            <a:off x="640080" y="5394960"/>
            <a:ext cx="2750744" cy="548640"/>
          </a:xfrm>
          <a:prstGeom prst="rect">
            <a:avLst/>
          </a:prstGeom>
          <a:solidFill>
            <a:srgbClr val="F7F9FD"/>
          </a:solidFill>
          <a:ln w="9525">
            <a:solidFill>
              <a:srgbClr val="E6EAF2"/>
            </a:solidFill>
            <a:prstDash val="solid"/>
          </a:ln>
        </p:spPr>
      </p:sp>
      <p:sp>
        <p:nvSpPr>
          <p:cNvPr id="44" name="tt5c0"/>
          <p:cNvSpPr txBox="1"/>
          <p:nvPr/>
        </p:nvSpPr>
        <p:spPr>
          <a:xfrm>
            <a:off x="814730" y="5394960"/>
            <a:ext cx="2488768"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Conservation et pilotage</a:t>
            </a:r>
            <a:endParaRPr lang="fr-FR" sz="1300" dirty="0"/>
          </a:p>
        </p:txBody>
      </p:sp>
      <p:sp>
        <p:nvSpPr>
          <p:cNvPr id="45" name="tr5c1"/>
          <p:cNvSpPr/>
          <p:nvPr/>
        </p:nvSpPr>
        <p:spPr>
          <a:xfrm>
            <a:off x="3478149" y="5394960"/>
            <a:ext cx="3493008" cy="548640"/>
          </a:xfrm>
          <a:prstGeom prst="rect">
            <a:avLst/>
          </a:prstGeom>
          <a:solidFill>
            <a:srgbClr val="F7F9FD"/>
          </a:solidFill>
          <a:ln w="9525">
            <a:solidFill>
              <a:srgbClr val="E6EAF2"/>
            </a:solidFill>
            <a:prstDash val="solid"/>
          </a:ln>
        </p:spPr>
      </p:sp>
      <p:sp>
        <p:nvSpPr>
          <p:cNvPr id="46" name="tt5c1"/>
          <p:cNvSpPr txBox="1"/>
          <p:nvPr/>
        </p:nvSpPr>
        <p:spPr>
          <a:xfrm>
            <a:off x="3652799" y="5394960"/>
            <a:ext cx="3231032"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Classeurs encombrants, aucune vue d’ensemble</a:t>
            </a:r>
            <a:endParaRPr lang="fr-FR" sz="1300" dirty="0"/>
          </a:p>
        </p:txBody>
      </p:sp>
      <p:sp>
        <p:nvSpPr>
          <p:cNvPr id="47" name="tr5c2"/>
          <p:cNvSpPr/>
          <p:nvPr/>
        </p:nvSpPr>
        <p:spPr>
          <a:xfrm>
            <a:off x="7058482" y="5394960"/>
            <a:ext cx="4016959" cy="548640"/>
          </a:xfrm>
          <a:prstGeom prst="rect">
            <a:avLst/>
          </a:prstGeom>
          <a:solidFill>
            <a:srgbClr val="E9F6EE"/>
          </a:solidFill>
          <a:ln w="9525">
            <a:solidFill>
              <a:srgbClr val="E6EAF2"/>
            </a:solidFill>
            <a:prstDash val="solid"/>
          </a:ln>
        </p:spPr>
      </p:sp>
      <p:sp>
        <p:nvSpPr>
          <p:cNvPr id="48" name="tt5c2"/>
          <p:cNvSpPr txBox="1"/>
          <p:nvPr/>
        </p:nvSpPr>
        <p:spPr>
          <a:xfrm>
            <a:off x="7233133" y="5394960"/>
            <a:ext cx="3754984"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  Archives sauvegardées et tableau de bord</a:t>
            </a:r>
            <a:endParaRPr lang="fr-FR" sz="1300" dirty="0"/>
          </a:p>
        </p:txBody>
      </p:sp>
      <p:pic>
        <p:nvPicPr>
          <p:cNvPr id="49" name="!!flogo" descr="preencoded.png">    </p:cNvPr>
          <p:cNvPicPr>
            <a:picLocks noChangeAspect="1"/>
          </p:cNvPicPr>
          <p:nvPr/>
        </p:nvPicPr>
        <p:blipFill>
          <a:blip r:embed="rId1"/>
          <a:stretch>
            <a:fillRect/>
          </a:stretch>
        </p:blipFill>
        <p:spPr>
          <a:xfrm>
            <a:off x="640080" y="6382512"/>
            <a:ext cx="329184" cy="274320"/>
          </a:xfrm>
          <a:prstGeom prst="rect">
            <a:avLst/>
          </a:prstGeom>
        </p:spPr>
      </p:pic>
      <p:sp>
        <p:nvSpPr>
          <p:cNvPr id="50"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51"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18 / 22</a:t>
            </a:r>
            <a:endParaRPr lang="fr-FR" sz="1000" dirty="0"/>
          </a:p>
        </p:txBody>
      </p:sp>
      <p:sp>
        <p:nvSpPr>
          <p:cNvPr id="52"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53" name="!!railline"/>
          <p:cNvSpPr/>
          <p:nvPr/>
        </p:nvSpPr>
        <p:spPr>
          <a:xfrm>
            <a:off x="11795760" y="1600200"/>
            <a:ext cx="914" cy="3383280"/>
          </a:xfrm>
          <a:prstGeom prst="line">
            <a:avLst/>
          </a:prstGeom>
          <a:noFill/>
          <a:ln w="25400">
            <a:solidFill>
              <a:srgbClr val="DDE3EE"/>
            </a:solidFill>
            <a:prstDash val="solid"/>
          </a:ln>
        </p:spPr>
      </p:sp>
      <p:sp>
        <p:nvSpPr>
          <p:cNvPr id="54" name="!!railprog"/>
          <p:cNvSpPr/>
          <p:nvPr/>
        </p:nvSpPr>
        <p:spPr>
          <a:xfrm>
            <a:off x="11795760" y="1600200"/>
            <a:ext cx="914" cy="3383280"/>
          </a:xfrm>
          <a:prstGeom prst="line">
            <a:avLst/>
          </a:prstGeom>
          <a:noFill/>
          <a:ln w="38100">
            <a:solidFill>
              <a:srgbClr val="00923A"/>
            </a:solidFill>
            <a:prstDash val="solid"/>
          </a:ln>
        </p:spPr>
      </p:sp>
      <p:sp>
        <p:nvSpPr>
          <p:cNvPr id="55" name="!!mact"/>
          <p:cNvSpPr/>
          <p:nvPr/>
        </p:nvSpPr>
        <p:spPr>
          <a:xfrm>
            <a:off x="11494008" y="4681728"/>
            <a:ext cx="603504" cy="603504"/>
          </a:xfrm>
          <a:prstGeom prst="ellipse">
            <a:avLst/>
          </a:prstGeom>
          <a:solidFill>
            <a:srgbClr val="FFFFFF">
              <a:alpha val="0"/>
            </a:srgbClr>
          </a:solidFill>
          <a:ln w="38100">
            <a:solidFill>
              <a:srgbClr val="FCC600"/>
            </a:solidFill>
            <a:prstDash val="solid"/>
          </a:ln>
        </p:spPr>
      </p:sp>
      <p:sp>
        <p:nvSpPr>
          <p:cNvPr id="56"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57" name="!!mt1">
            <a:hlinkClick r:id="rId2"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2"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58"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59" name="!!mt2">
            <a:hlinkClick r:id="rId3"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3"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60"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61" name="!!mt3">
            <a:hlinkClick r:id="rId4"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4"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62"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63" name="!!mt4">
            <a:hlinkClick r:id="rId5"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64" name="!!m5"/>
          <p:cNvSpPr/>
          <p:nvPr/>
        </p:nvSpPr>
        <p:spPr>
          <a:xfrm>
            <a:off x="11594592" y="4105656"/>
            <a:ext cx="402336" cy="402336"/>
          </a:xfrm>
          <a:prstGeom prst="ellipse">
            <a:avLst/>
          </a:prstGeom>
          <a:solidFill>
            <a:srgbClr val="00923A"/>
          </a:solidFill>
          <a:ln w="19050">
            <a:solidFill>
              <a:srgbClr val="00923A"/>
            </a:solidFill>
            <a:prstDash val="solid"/>
          </a:ln>
        </p:spPr>
      </p:sp>
      <p:sp>
        <p:nvSpPr>
          <p:cNvPr id="65" name="!!mt5">
            <a:hlinkClick r:id="rId6"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66" name="!!m6"/>
          <p:cNvSpPr/>
          <p:nvPr/>
        </p:nvSpPr>
        <p:spPr>
          <a:xfrm>
            <a:off x="11594592" y="4782312"/>
            <a:ext cx="402336" cy="402336"/>
          </a:xfrm>
          <a:prstGeom prst="ellipse">
            <a:avLst/>
          </a:prstGeom>
          <a:solidFill>
            <a:srgbClr val="1B3F9E"/>
          </a:solidFill>
          <a:ln w="19050">
            <a:solidFill>
              <a:srgbClr val="1B3F9E"/>
            </a:solidFill>
            <a:prstDash val="solid"/>
          </a:ln>
        </p:spPr>
      </p:sp>
      <p:sp>
        <p:nvSpPr>
          <p:cNvPr id="67" name="!!mt6">
            <a:hlinkClick r:id="rId7"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68"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SOLUTIONS ET CONCLUSION</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22" presetClass="entr" presetSubtype="8" fill="hold" grpId="0" nodeType="withEffect">
                                  <p:stCondLst>
                                    <p:cond delay="15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600"/>
                                        <p:tgtEl>
                                          <p:spTgt spid="7"/>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22" presetClass="entr" presetSubtype="8" fill="hold" grpId="0" nodeType="withEffect">
                                  <p:stCondLst>
                                    <p:cond delay="27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600"/>
                                        <p:tgtEl>
                                          <p:spTgt spid="9"/>
                                        </p:tgtEl>
                                      </p:cBhvr>
                                    </p:animEffect>
                                  </p:childTnLst>
                                </p:cTn>
                              </p:par>
                              <p:par>
                                <p:cTn id="20" presetID="10" presetClass="entr" presetSubtype="0" fill="hold" grpId="0" nodeType="withEffect">
                                  <p:stCondLst>
                                    <p:cond delay="27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childTnLst>
                                </p:cTn>
                              </p:par>
                              <p:par>
                                <p:cTn id="23" presetID="22" presetClass="entr" presetSubtype="8" fill="hold" grpId="0" nodeType="withEffect">
                                  <p:stCondLst>
                                    <p:cond delay="39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600"/>
                                        <p:tgtEl>
                                          <p:spTgt spid="11"/>
                                        </p:tgtEl>
                                      </p:cBhvr>
                                    </p:animEffect>
                                  </p:childTnLst>
                                </p:cTn>
                              </p:par>
                              <p:par>
                                <p:cTn id="26" presetID="10" presetClass="entr" presetSubtype="0" fill="hold" grpId="0" nodeType="withEffect">
                                  <p:stCondLst>
                                    <p:cond delay="39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600"/>
                                        <p:tgtEl>
                                          <p:spTgt spid="12"/>
                                        </p:tgtEl>
                                      </p:cBhvr>
                                    </p:animEffect>
                                  </p:childTnLst>
                                </p:cTn>
                              </p:par>
                              <p:par>
                                <p:cTn id="29" presetID="22" presetClass="entr" presetSubtype="8" fill="hold" grpId="0" nodeType="withEffect">
                                  <p:stCondLst>
                                    <p:cond delay="600"/>
                                  </p:stCondLst>
                                  <p:childTnLst>
                                    <p:set>
                                      <p:cBhvr>
                                        <p:cTn id="30" dur="1" fill="hold">
                                          <p:stCondLst>
                                            <p:cond delay="0"/>
                                          </p:stCondLst>
                                        </p:cTn>
                                        <p:tgtEl>
                                          <p:spTgt spid="13"/>
                                        </p:tgtEl>
                                        <p:attrNameLst>
                                          <p:attrName>style.visibility</p:attrName>
                                        </p:attrNameLst>
                                      </p:cBhvr>
                                      <p:to>
                                        <p:strVal val="visible"/>
                                      </p:to>
                                    </p:set>
                                    <p:animEffect transition="in" filter="wipe(left)">
                                      <p:cBhvr>
                                        <p:cTn id="31" dur="600"/>
                                        <p:tgtEl>
                                          <p:spTgt spid="13"/>
                                        </p:tgtEl>
                                      </p:cBhvr>
                                    </p:animEffect>
                                  </p:childTnLst>
                                </p:cTn>
                              </p:par>
                              <p:par>
                                <p:cTn id="32" presetID="10" presetClass="entr" presetSubtype="0" fill="hold" grpId="0" nodeType="withEffect">
                                  <p:stCondLst>
                                    <p:cond delay="6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childTnLst>
                                </p:cTn>
                              </p:par>
                              <p:par>
                                <p:cTn id="35" presetID="22" presetClass="entr" presetSubtype="8" fill="hold" grpId="0" nodeType="withEffect">
                                  <p:stCondLst>
                                    <p:cond delay="690"/>
                                  </p:stCondLst>
                                  <p:childTnLst>
                                    <p:set>
                                      <p:cBhvr>
                                        <p:cTn id="36" dur="1" fill="hold">
                                          <p:stCondLst>
                                            <p:cond delay="0"/>
                                          </p:stCondLst>
                                        </p:cTn>
                                        <p:tgtEl>
                                          <p:spTgt spid="15"/>
                                        </p:tgtEl>
                                        <p:attrNameLst>
                                          <p:attrName>style.visibility</p:attrName>
                                        </p:attrNameLst>
                                      </p:cBhvr>
                                      <p:to>
                                        <p:strVal val="visible"/>
                                      </p:to>
                                    </p:set>
                                    <p:animEffect transition="in" filter="wipe(left)">
                                      <p:cBhvr>
                                        <p:cTn id="37" dur="600"/>
                                        <p:tgtEl>
                                          <p:spTgt spid="15"/>
                                        </p:tgtEl>
                                      </p:cBhvr>
                                    </p:animEffect>
                                  </p:childTnLst>
                                </p:cTn>
                              </p:par>
                              <p:par>
                                <p:cTn id="38" presetID="10" presetClass="entr" presetSubtype="0" fill="hold" grpId="0" nodeType="withEffect">
                                  <p:stCondLst>
                                    <p:cond delay="74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600"/>
                                        <p:tgtEl>
                                          <p:spTgt spid="16"/>
                                        </p:tgtEl>
                                      </p:cBhvr>
                                    </p:animEffect>
                                  </p:childTnLst>
                                </p:cTn>
                              </p:par>
                              <p:par>
                                <p:cTn id="41" presetID="22" presetClass="entr" presetSubtype="8" fill="hold" grpId="0" nodeType="withEffect">
                                  <p:stCondLst>
                                    <p:cond delay="78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600"/>
                                        <p:tgtEl>
                                          <p:spTgt spid="17"/>
                                        </p:tgtEl>
                                      </p:cBhvr>
                                    </p:animEffect>
                                  </p:childTnLst>
                                </p:cTn>
                              </p:par>
                              <p:par>
                                <p:cTn id="44" presetID="10" presetClass="entr" presetSubtype="0" fill="hold" grpId="0" nodeType="withEffect">
                                  <p:stCondLst>
                                    <p:cond delay="83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600"/>
                                        <p:tgtEl>
                                          <p:spTgt spid="18"/>
                                        </p:tgtEl>
                                      </p:cBhvr>
                                    </p:animEffect>
                                  </p:childTnLst>
                                </p:cTn>
                              </p:par>
                              <p:par>
                                <p:cTn id="47" presetID="22" presetClass="entr" presetSubtype="8" fill="hold" grpId="0" nodeType="withEffect">
                                  <p:stCondLst>
                                    <p:cond delay="930"/>
                                  </p:stCondLst>
                                  <p:childTnLst>
                                    <p:set>
                                      <p:cBhvr>
                                        <p:cTn id="48" dur="1" fill="hold">
                                          <p:stCondLst>
                                            <p:cond delay="0"/>
                                          </p:stCondLst>
                                        </p:cTn>
                                        <p:tgtEl>
                                          <p:spTgt spid="19"/>
                                        </p:tgtEl>
                                        <p:attrNameLst>
                                          <p:attrName>style.visibility</p:attrName>
                                        </p:attrNameLst>
                                      </p:cBhvr>
                                      <p:to>
                                        <p:strVal val="visible"/>
                                      </p:to>
                                    </p:set>
                                    <p:animEffect transition="in" filter="wipe(left)">
                                      <p:cBhvr>
                                        <p:cTn id="49" dur="600"/>
                                        <p:tgtEl>
                                          <p:spTgt spid="19"/>
                                        </p:tgtEl>
                                      </p:cBhvr>
                                    </p:animEffect>
                                  </p:childTnLst>
                                </p:cTn>
                              </p:par>
                              <p:par>
                                <p:cTn id="50" presetID="10" presetClass="entr" presetSubtype="0" fill="hold" grpId="0" nodeType="withEffect">
                                  <p:stCondLst>
                                    <p:cond delay="98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600"/>
                                        <p:tgtEl>
                                          <p:spTgt spid="20"/>
                                        </p:tgtEl>
                                      </p:cBhvr>
                                    </p:animEffect>
                                  </p:childTnLst>
                                </p:cTn>
                              </p:par>
                              <p:par>
                                <p:cTn id="53" presetID="22" presetClass="entr" presetSubtype="8" fill="hold" grpId="0" nodeType="withEffect">
                                  <p:stCondLst>
                                    <p:cond delay="102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600"/>
                                        <p:tgtEl>
                                          <p:spTgt spid="21"/>
                                        </p:tgtEl>
                                      </p:cBhvr>
                                    </p:animEffect>
                                  </p:childTnLst>
                                </p:cTn>
                              </p:par>
                              <p:par>
                                <p:cTn id="56" presetID="10" presetClass="entr" presetSubtype="0" fill="hold" grpId="0" nodeType="withEffect">
                                  <p:stCondLst>
                                    <p:cond delay="107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600"/>
                                        <p:tgtEl>
                                          <p:spTgt spid="22"/>
                                        </p:tgtEl>
                                      </p:cBhvr>
                                    </p:animEffect>
                                  </p:childTnLst>
                                </p:cTn>
                              </p:par>
                              <p:par>
                                <p:cTn id="59" presetID="22" presetClass="entr" presetSubtype="8" fill="hold" grpId="0" nodeType="withEffect">
                                  <p:stCondLst>
                                    <p:cond delay="1110"/>
                                  </p:stCondLst>
                                  <p:childTnLst>
                                    <p:set>
                                      <p:cBhvr>
                                        <p:cTn id="60" dur="1" fill="hold">
                                          <p:stCondLst>
                                            <p:cond delay="0"/>
                                          </p:stCondLst>
                                        </p:cTn>
                                        <p:tgtEl>
                                          <p:spTgt spid="23"/>
                                        </p:tgtEl>
                                        <p:attrNameLst>
                                          <p:attrName>style.visibility</p:attrName>
                                        </p:attrNameLst>
                                      </p:cBhvr>
                                      <p:to>
                                        <p:strVal val="visible"/>
                                      </p:to>
                                    </p:set>
                                    <p:animEffect transition="in" filter="wipe(left)">
                                      <p:cBhvr>
                                        <p:cTn id="61" dur="600"/>
                                        <p:tgtEl>
                                          <p:spTgt spid="23"/>
                                        </p:tgtEl>
                                      </p:cBhvr>
                                    </p:animEffect>
                                  </p:childTnLst>
                                </p:cTn>
                              </p:par>
                              <p:par>
                                <p:cTn id="62" presetID="10" presetClass="entr" presetSubtype="0" fill="hold" grpId="0" nodeType="withEffect">
                                  <p:stCondLst>
                                    <p:cond delay="116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600"/>
                                        <p:tgtEl>
                                          <p:spTgt spid="24"/>
                                        </p:tgtEl>
                                      </p:cBhvr>
                                    </p:animEffect>
                                  </p:childTnLst>
                                </p:cTn>
                              </p:par>
                              <p:par>
                                <p:cTn id="65" presetID="22" presetClass="entr" presetSubtype="8" fill="hold" grpId="0" nodeType="withEffect">
                                  <p:stCondLst>
                                    <p:cond delay="1260"/>
                                  </p:stCondLst>
                                  <p:childTnLst>
                                    <p:set>
                                      <p:cBhvr>
                                        <p:cTn id="66" dur="1" fill="hold">
                                          <p:stCondLst>
                                            <p:cond delay="0"/>
                                          </p:stCondLst>
                                        </p:cTn>
                                        <p:tgtEl>
                                          <p:spTgt spid="25"/>
                                        </p:tgtEl>
                                        <p:attrNameLst>
                                          <p:attrName>style.visibility</p:attrName>
                                        </p:attrNameLst>
                                      </p:cBhvr>
                                      <p:to>
                                        <p:strVal val="visible"/>
                                      </p:to>
                                    </p:set>
                                    <p:animEffect transition="in" filter="wipe(left)">
                                      <p:cBhvr>
                                        <p:cTn id="67" dur="600"/>
                                        <p:tgtEl>
                                          <p:spTgt spid="25"/>
                                        </p:tgtEl>
                                      </p:cBhvr>
                                    </p:animEffect>
                                  </p:childTnLst>
                                </p:cTn>
                              </p:par>
                              <p:par>
                                <p:cTn id="68" presetID="10" presetClass="entr" presetSubtype="0" fill="hold" grpId="0" nodeType="withEffect">
                                  <p:stCondLst>
                                    <p:cond delay="131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600"/>
                                        <p:tgtEl>
                                          <p:spTgt spid="26"/>
                                        </p:tgtEl>
                                      </p:cBhvr>
                                    </p:animEffect>
                                  </p:childTnLst>
                                </p:cTn>
                              </p:par>
                              <p:par>
                                <p:cTn id="71" presetID="22" presetClass="entr" presetSubtype="8" fill="hold" grpId="0" nodeType="withEffect">
                                  <p:stCondLst>
                                    <p:cond delay="1350"/>
                                  </p:stCondLst>
                                  <p:childTnLst>
                                    <p:set>
                                      <p:cBhvr>
                                        <p:cTn id="72" dur="1" fill="hold">
                                          <p:stCondLst>
                                            <p:cond delay="0"/>
                                          </p:stCondLst>
                                        </p:cTn>
                                        <p:tgtEl>
                                          <p:spTgt spid="27"/>
                                        </p:tgtEl>
                                        <p:attrNameLst>
                                          <p:attrName>style.visibility</p:attrName>
                                        </p:attrNameLst>
                                      </p:cBhvr>
                                      <p:to>
                                        <p:strVal val="visible"/>
                                      </p:to>
                                    </p:set>
                                    <p:animEffect transition="in" filter="wipe(left)">
                                      <p:cBhvr>
                                        <p:cTn id="73" dur="600"/>
                                        <p:tgtEl>
                                          <p:spTgt spid="27"/>
                                        </p:tgtEl>
                                      </p:cBhvr>
                                    </p:animEffect>
                                  </p:childTnLst>
                                </p:cTn>
                              </p:par>
                              <p:par>
                                <p:cTn id="74" presetID="10" presetClass="entr" presetSubtype="0" fill="hold" grpId="0" nodeType="withEffect">
                                  <p:stCondLst>
                                    <p:cond delay="140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600"/>
                                        <p:tgtEl>
                                          <p:spTgt spid="28"/>
                                        </p:tgtEl>
                                      </p:cBhvr>
                                    </p:animEffect>
                                  </p:childTnLst>
                                </p:cTn>
                              </p:par>
                              <p:par>
                                <p:cTn id="77" presetID="22" presetClass="entr" presetSubtype="8" fill="hold" grpId="0" nodeType="withEffect">
                                  <p:stCondLst>
                                    <p:cond delay="1440"/>
                                  </p:stCondLst>
                                  <p:childTnLst>
                                    <p:set>
                                      <p:cBhvr>
                                        <p:cTn id="78" dur="1" fill="hold">
                                          <p:stCondLst>
                                            <p:cond delay="0"/>
                                          </p:stCondLst>
                                        </p:cTn>
                                        <p:tgtEl>
                                          <p:spTgt spid="29"/>
                                        </p:tgtEl>
                                        <p:attrNameLst>
                                          <p:attrName>style.visibility</p:attrName>
                                        </p:attrNameLst>
                                      </p:cBhvr>
                                      <p:to>
                                        <p:strVal val="visible"/>
                                      </p:to>
                                    </p:set>
                                    <p:animEffect transition="in" filter="wipe(left)">
                                      <p:cBhvr>
                                        <p:cTn id="79" dur="600"/>
                                        <p:tgtEl>
                                          <p:spTgt spid="29"/>
                                        </p:tgtEl>
                                      </p:cBhvr>
                                    </p:animEffect>
                                  </p:childTnLst>
                                </p:cTn>
                              </p:par>
                              <p:par>
                                <p:cTn id="80" presetID="10" presetClass="entr" presetSubtype="0" fill="hold" grpId="0" nodeType="withEffect">
                                  <p:stCondLst>
                                    <p:cond delay="1490"/>
                                  </p:stCondLst>
                                  <p:childTnLst>
                                    <p:set>
                                      <p:cBhvr>
                                        <p:cTn id="81" dur="1" fill="hold">
                                          <p:stCondLst>
                                            <p:cond delay="0"/>
                                          </p:stCondLst>
                                        </p:cTn>
                                        <p:tgtEl>
                                          <p:spTgt spid="30"/>
                                        </p:tgtEl>
                                        <p:attrNameLst>
                                          <p:attrName>style.visibility</p:attrName>
                                        </p:attrNameLst>
                                      </p:cBhvr>
                                      <p:to>
                                        <p:strVal val="visible"/>
                                      </p:to>
                                    </p:set>
                                    <p:animEffect transition="in" filter="fade">
                                      <p:cBhvr>
                                        <p:cTn id="82" dur="600"/>
                                        <p:tgtEl>
                                          <p:spTgt spid="30"/>
                                        </p:tgtEl>
                                      </p:cBhvr>
                                    </p:animEffect>
                                  </p:childTnLst>
                                </p:cTn>
                              </p:par>
                              <p:par>
                                <p:cTn id="83" presetID="22" presetClass="entr" presetSubtype="8" fill="hold" grpId="0" nodeType="withEffect">
                                  <p:stCondLst>
                                    <p:cond delay="1590"/>
                                  </p:stCondLst>
                                  <p:childTnLst>
                                    <p:set>
                                      <p:cBhvr>
                                        <p:cTn id="84" dur="1" fill="hold">
                                          <p:stCondLst>
                                            <p:cond delay="0"/>
                                          </p:stCondLst>
                                        </p:cTn>
                                        <p:tgtEl>
                                          <p:spTgt spid="31"/>
                                        </p:tgtEl>
                                        <p:attrNameLst>
                                          <p:attrName>style.visibility</p:attrName>
                                        </p:attrNameLst>
                                      </p:cBhvr>
                                      <p:to>
                                        <p:strVal val="visible"/>
                                      </p:to>
                                    </p:set>
                                    <p:animEffect transition="in" filter="wipe(left)">
                                      <p:cBhvr>
                                        <p:cTn id="85" dur="600"/>
                                        <p:tgtEl>
                                          <p:spTgt spid="31"/>
                                        </p:tgtEl>
                                      </p:cBhvr>
                                    </p:animEffect>
                                  </p:childTnLst>
                                </p:cTn>
                              </p:par>
                              <p:par>
                                <p:cTn id="86" presetID="10" presetClass="entr" presetSubtype="0" fill="hold" grpId="0" nodeType="withEffect">
                                  <p:stCondLst>
                                    <p:cond delay="164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600"/>
                                        <p:tgtEl>
                                          <p:spTgt spid="32"/>
                                        </p:tgtEl>
                                      </p:cBhvr>
                                    </p:animEffect>
                                  </p:childTnLst>
                                </p:cTn>
                              </p:par>
                              <p:par>
                                <p:cTn id="89" presetID="22" presetClass="entr" presetSubtype="8" fill="hold" grpId="0" nodeType="withEffect">
                                  <p:stCondLst>
                                    <p:cond delay="1680"/>
                                  </p:stCondLst>
                                  <p:childTnLst>
                                    <p:set>
                                      <p:cBhvr>
                                        <p:cTn id="90" dur="1" fill="hold">
                                          <p:stCondLst>
                                            <p:cond delay="0"/>
                                          </p:stCondLst>
                                        </p:cTn>
                                        <p:tgtEl>
                                          <p:spTgt spid="33"/>
                                        </p:tgtEl>
                                        <p:attrNameLst>
                                          <p:attrName>style.visibility</p:attrName>
                                        </p:attrNameLst>
                                      </p:cBhvr>
                                      <p:to>
                                        <p:strVal val="visible"/>
                                      </p:to>
                                    </p:set>
                                    <p:animEffect transition="in" filter="wipe(left)">
                                      <p:cBhvr>
                                        <p:cTn id="91" dur="600"/>
                                        <p:tgtEl>
                                          <p:spTgt spid="33"/>
                                        </p:tgtEl>
                                      </p:cBhvr>
                                    </p:animEffect>
                                  </p:childTnLst>
                                </p:cTn>
                              </p:par>
                              <p:par>
                                <p:cTn id="92" presetID="10" presetClass="entr" presetSubtype="0" fill="hold" grpId="0" nodeType="withEffect">
                                  <p:stCondLst>
                                    <p:cond delay="173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600"/>
                                        <p:tgtEl>
                                          <p:spTgt spid="34"/>
                                        </p:tgtEl>
                                      </p:cBhvr>
                                    </p:animEffect>
                                  </p:childTnLst>
                                </p:cTn>
                              </p:par>
                              <p:par>
                                <p:cTn id="95" presetID="22" presetClass="entr" presetSubtype="8" fill="hold" grpId="0" nodeType="withEffect">
                                  <p:stCondLst>
                                    <p:cond delay="1770"/>
                                  </p:stCondLst>
                                  <p:childTnLst>
                                    <p:set>
                                      <p:cBhvr>
                                        <p:cTn id="96" dur="1" fill="hold">
                                          <p:stCondLst>
                                            <p:cond delay="0"/>
                                          </p:stCondLst>
                                        </p:cTn>
                                        <p:tgtEl>
                                          <p:spTgt spid="35"/>
                                        </p:tgtEl>
                                        <p:attrNameLst>
                                          <p:attrName>style.visibility</p:attrName>
                                        </p:attrNameLst>
                                      </p:cBhvr>
                                      <p:to>
                                        <p:strVal val="visible"/>
                                      </p:to>
                                    </p:set>
                                    <p:animEffect transition="in" filter="wipe(left)">
                                      <p:cBhvr>
                                        <p:cTn id="97" dur="600"/>
                                        <p:tgtEl>
                                          <p:spTgt spid="35"/>
                                        </p:tgtEl>
                                      </p:cBhvr>
                                    </p:animEffect>
                                  </p:childTnLst>
                                </p:cTn>
                              </p:par>
                              <p:par>
                                <p:cTn id="98" presetID="10" presetClass="entr" presetSubtype="0" fill="hold" grpId="0" nodeType="withEffect">
                                  <p:stCondLst>
                                    <p:cond delay="1820"/>
                                  </p:stCondLst>
                                  <p:childTnLst>
                                    <p:set>
                                      <p:cBhvr>
                                        <p:cTn id="99" dur="1" fill="hold">
                                          <p:stCondLst>
                                            <p:cond delay="0"/>
                                          </p:stCondLst>
                                        </p:cTn>
                                        <p:tgtEl>
                                          <p:spTgt spid="36"/>
                                        </p:tgtEl>
                                        <p:attrNameLst>
                                          <p:attrName>style.visibility</p:attrName>
                                        </p:attrNameLst>
                                      </p:cBhvr>
                                      <p:to>
                                        <p:strVal val="visible"/>
                                      </p:to>
                                    </p:set>
                                    <p:animEffect transition="in" filter="fade">
                                      <p:cBhvr>
                                        <p:cTn id="100" dur="600"/>
                                        <p:tgtEl>
                                          <p:spTgt spid="36"/>
                                        </p:tgtEl>
                                      </p:cBhvr>
                                    </p:animEffect>
                                  </p:childTnLst>
                                </p:cTn>
                              </p:par>
                              <p:par>
                                <p:cTn id="101" presetID="22" presetClass="entr" presetSubtype="8" fill="hold" grpId="0" nodeType="withEffect">
                                  <p:stCondLst>
                                    <p:cond delay="1920"/>
                                  </p:stCondLst>
                                  <p:childTnLst>
                                    <p:set>
                                      <p:cBhvr>
                                        <p:cTn id="102" dur="1" fill="hold">
                                          <p:stCondLst>
                                            <p:cond delay="0"/>
                                          </p:stCondLst>
                                        </p:cTn>
                                        <p:tgtEl>
                                          <p:spTgt spid="37"/>
                                        </p:tgtEl>
                                        <p:attrNameLst>
                                          <p:attrName>style.visibility</p:attrName>
                                        </p:attrNameLst>
                                      </p:cBhvr>
                                      <p:to>
                                        <p:strVal val="visible"/>
                                      </p:to>
                                    </p:set>
                                    <p:animEffect transition="in" filter="wipe(left)">
                                      <p:cBhvr>
                                        <p:cTn id="103" dur="600"/>
                                        <p:tgtEl>
                                          <p:spTgt spid="37"/>
                                        </p:tgtEl>
                                      </p:cBhvr>
                                    </p:animEffect>
                                  </p:childTnLst>
                                </p:cTn>
                              </p:par>
                              <p:par>
                                <p:cTn id="104" presetID="10" presetClass="entr" presetSubtype="0" fill="hold" grpId="0" nodeType="withEffect">
                                  <p:stCondLst>
                                    <p:cond delay="197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600"/>
                                        <p:tgtEl>
                                          <p:spTgt spid="38"/>
                                        </p:tgtEl>
                                      </p:cBhvr>
                                    </p:animEffect>
                                  </p:childTnLst>
                                </p:cTn>
                              </p:par>
                              <p:par>
                                <p:cTn id="107" presetID="22" presetClass="entr" presetSubtype="8" fill="hold" grpId="0" nodeType="withEffect">
                                  <p:stCondLst>
                                    <p:cond delay="2010"/>
                                  </p:stCondLst>
                                  <p:childTnLst>
                                    <p:set>
                                      <p:cBhvr>
                                        <p:cTn id="108" dur="1" fill="hold">
                                          <p:stCondLst>
                                            <p:cond delay="0"/>
                                          </p:stCondLst>
                                        </p:cTn>
                                        <p:tgtEl>
                                          <p:spTgt spid="39"/>
                                        </p:tgtEl>
                                        <p:attrNameLst>
                                          <p:attrName>style.visibility</p:attrName>
                                        </p:attrNameLst>
                                      </p:cBhvr>
                                      <p:to>
                                        <p:strVal val="visible"/>
                                      </p:to>
                                    </p:set>
                                    <p:animEffect transition="in" filter="wipe(left)">
                                      <p:cBhvr>
                                        <p:cTn id="109" dur="600"/>
                                        <p:tgtEl>
                                          <p:spTgt spid="39"/>
                                        </p:tgtEl>
                                      </p:cBhvr>
                                    </p:animEffect>
                                  </p:childTnLst>
                                </p:cTn>
                              </p:par>
                              <p:par>
                                <p:cTn id="110" presetID="10" presetClass="entr" presetSubtype="0" fill="hold" grpId="0" nodeType="withEffect">
                                  <p:stCondLst>
                                    <p:cond delay="2060"/>
                                  </p:stCondLst>
                                  <p:childTnLst>
                                    <p:set>
                                      <p:cBhvr>
                                        <p:cTn id="111" dur="1" fill="hold">
                                          <p:stCondLst>
                                            <p:cond delay="0"/>
                                          </p:stCondLst>
                                        </p:cTn>
                                        <p:tgtEl>
                                          <p:spTgt spid="40"/>
                                        </p:tgtEl>
                                        <p:attrNameLst>
                                          <p:attrName>style.visibility</p:attrName>
                                        </p:attrNameLst>
                                      </p:cBhvr>
                                      <p:to>
                                        <p:strVal val="visible"/>
                                      </p:to>
                                    </p:set>
                                    <p:animEffect transition="in" filter="fade">
                                      <p:cBhvr>
                                        <p:cTn id="112" dur="600"/>
                                        <p:tgtEl>
                                          <p:spTgt spid="40"/>
                                        </p:tgtEl>
                                      </p:cBhvr>
                                    </p:animEffect>
                                  </p:childTnLst>
                                </p:cTn>
                              </p:par>
                              <p:par>
                                <p:cTn id="113" presetID="22" presetClass="entr" presetSubtype="8" fill="hold" grpId="0" nodeType="withEffect">
                                  <p:stCondLst>
                                    <p:cond delay="2100"/>
                                  </p:stCondLst>
                                  <p:childTnLst>
                                    <p:set>
                                      <p:cBhvr>
                                        <p:cTn id="114" dur="1" fill="hold">
                                          <p:stCondLst>
                                            <p:cond delay="0"/>
                                          </p:stCondLst>
                                        </p:cTn>
                                        <p:tgtEl>
                                          <p:spTgt spid="41"/>
                                        </p:tgtEl>
                                        <p:attrNameLst>
                                          <p:attrName>style.visibility</p:attrName>
                                        </p:attrNameLst>
                                      </p:cBhvr>
                                      <p:to>
                                        <p:strVal val="visible"/>
                                      </p:to>
                                    </p:set>
                                    <p:animEffect transition="in" filter="wipe(left)">
                                      <p:cBhvr>
                                        <p:cTn id="115" dur="600"/>
                                        <p:tgtEl>
                                          <p:spTgt spid="41"/>
                                        </p:tgtEl>
                                      </p:cBhvr>
                                    </p:animEffect>
                                  </p:childTnLst>
                                </p:cTn>
                              </p:par>
                              <p:par>
                                <p:cTn id="116" presetID="10" presetClass="entr" presetSubtype="0" fill="hold" grpId="0" nodeType="withEffect">
                                  <p:stCondLst>
                                    <p:cond delay="2150"/>
                                  </p:stCondLst>
                                  <p:childTnLst>
                                    <p:set>
                                      <p:cBhvr>
                                        <p:cTn id="117" dur="1" fill="hold">
                                          <p:stCondLst>
                                            <p:cond delay="0"/>
                                          </p:stCondLst>
                                        </p:cTn>
                                        <p:tgtEl>
                                          <p:spTgt spid="42"/>
                                        </p:tgtEl>
                                        <p:attrNameLst>
                                          <p:attrName>style.visibility</p:attrName>
                                        </p:attrNameLst>
                                      </p:cBhvr>
                                      <p:to>
                                        <p:strVal val="visible"/>
                                      </p:to>
                                    </p:set>
                                    <p:animEffect transition="in" filter="fade">
                                      <p:cBhvr>
                                        <p:cTn id="118" dur="600"/>
                                        <p:tgtEl>
                                          <p:spTgt spid="42"/>
                                        </p:tgtEl>
                                      </p:cBhvr>
                                    </p:animEffect>
                                  </p:childTnLst>
                                </p:cTn>
                              </p:par>
                              <p:par>
                                <p:cTn id="119" presetID="22" presetClass="entr" presetSubtype="8" fill="hold" grpId="0" nodeType="withEffect">
                                  <p:stCondLst>
                                    <p:cond delay="2250"/>
                                  </p:stCondLst>
                                  <p:childTnLst>
                                    <p:set>
                                      <p:cBhvr>
                                        <p:cTn id="120" dur="1" fill="hold">
                                          <p:stCondLst>
                                            <p:cond delay="0"/>
                                          </p:stCondLst>
                                        </p:cTn>
                                        <p:tgtEl>
                                          <p:spTgt spid="43"/>
                                        </p:tgtEl>
                                        <p:attrNameLst>
                                          <p:attrName>style.visibility</p:attrName>
                                        </p:attrNameLst>
                                      </p:cBhvr>
                                      <p:to>
                                        <p:strVal val="visible"/>
                                      </p:to>
                                    </p:set>
                                    <p:animEffect transition="in" filter="wipe(left)">
                                      <p:cBhvr>
                                        <p:cTn id="121" dur="600"/>
                                        <p:tgtEl>
                                          <p:spTgt spid="43"/>
                                        </p:tgtEl>
                                      </p:cBhvr>
                                    </p:animEffect>
                                  </p:childTnLst>
                                </p:cTn>
                              </p:par>
                              <p:par>
                                <p:cTn id="122" presetID="10" presetClass="entr" presetSubtype="0" fill="hold" grpId="0" nodeType="withEffect">
                                  <p:stCondLst>
                                    <p:cond delay="2300"/>
                                  </p:stCondLst>
                                  <p:childTnLst>
                                    <p:set>
                                      <p:cBhvr>
                                        <p:cTn id="123" dur="1" fill="hold">
                                          <p:stCondLst>
                                            <p:cond delay="0"/>
                                          </p:stCondLst>
                                        </p:cTn>
                                        <p:tgtEl>
                                          <p:spTgt spid="44"/>
                                        </p:tgtEl>
                                        <p:attrNameLst>
                                          <p:attrName>style.visibility</p:attrName>
                                        </p:attrNameLst>
                                      </p:cBhvr>
                                      <p:to>
                                        <p:strVal val="visible"/>
                                      </p:to>
                                    </p:set>
                                    <p:animEffect transition="in" filter="fade">
                                      <p:cBhvr>
                                        <p:cTn id="124" dur="600"/>
                                        <p:tgtEl>
                                          <p:spTgt spid="44"/>
                                        </p:tgtEl>
                                      </p:cBhvr>
                                    </p:animEffect>
                                  </p:childTnLst>
                                </p:cTn>
                              </p:par>
                              <p:par>
                                <p:cTn id="125" presetID="22" presetClass="entr" presetSubtype="8" fill="hold" grpId="0" nodeType="withEffect">
                                  <p:stCondLst>
                                    <p:cond delay="2340"/>
                                  </p:stCondLst>
                                  <p:childTnLst>
                                    <p:set>
                                      <p:cBhvr>
                                        <p:cTn id="126" dur="1" fill="hold">
                                          <p:stCondLst>
                                            <p:cond delay="0"/>
                                          </p:stCondLst>
                                        </p:cTn>
                                        <p:tgtEl>
                                          <p:spTgt spid="45"/>
                                        </p:tgtEl>
                                        <p:attrNameLst>
                                          <p:attrName>style.visibility</p:attrName>
                                        </p:attrNameLst>
                                      </p:cBhvr>
                                      <p:to>
                                        <p:strVal val="visible"/>
                                      </p:to>
                                    </p:set>
                                    <p:animEffect transition="in" filter="wipe(left)">
                                      <p:cBhvr>
                                        <p:cTn id="127" dur="600"/>
                                        <p:tgtEl>
                                          <p:spTgt spid="45"/>
                                        </p:tgtEl>
                                      </p:cBhvr>
                                    </p:animEffect>
                                  </p:childTnLst>
                                </p:cTn>
                              </p:par>
                              <p:par>
                                <p:cTn id="128" presetID="10" presetClass="entr" presetSubtype="0" fill="hold" grpId="0" nodeType="withEffect">
                                  <p:stCondLst>
                                    <p:cond delay="239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600"/>
                                        <p:tgtEl>
                                          <p:spTgt spid="46"/>
                                        </p:tgtEl>
                                      </p:cBhvr>
                                    </p:animEffect>
                                  </p:childTnLst>
                                </p:cTn>
                              </p:par>
                              <p:par>
                                <p:cTn id="131" presetID="22" presetClass="entr" presetSubtype="8" fill="hold" grpId="0" nodeType="withEffect">
                                  <p:stCondLst>
                                    <p:cond delay="2430"/>
                                  </p:stCondLst>
                                  <p:childTnLst>
                                    <p:set>
                                      <p:cBhvr>
                                        <p:cTn id="132" dur="1" fill="hold">
                                          <p:stCondLst>
                                            <p:cond delay="0"/>
                                          </p:stCondLst>
                                        </p:cTn>
                                        <p:tgtEl>
                                          <p:spTgt spid="47"/>
                                        </p:tgtEl>
                                        <p:attrNameLst>
                                          <p:attrName>style.visibility</p:attrName>
                                        </p:attrNameLst>
                                      </p:cBhvr>
                                      <p:to>
                                        <p:strVal val="visible"/>
                                      </p:to>
                                    </p:set>
                                    <p:animEffect transition="in" filter="wipe(left)">
                                      <p:cBhvr>
                                        <p:cTn id="133" dur="600"/>
                                        <p:tgtEl>
                                          <p:spTgt spid="47"/>
                                        </p:tgtEl>
                                      </p:cBhvr>
                                    </p:animEffect>
                                  </p:childTnLst>
                                </p:cTn>
                              </p:par>
                              <p:par>
                                <p:cTn id="134" presetID="10" presetClass="entr" presetSubtype="0" fill="hold" grpId="0" nodeType="withEffect">
                                  <p:stCondLst>
                                    <p:cond delay="2480"/>
                                  </p:stCondLst>
                                  <p:childTnLst>
                                    <p:set>
                                      <p:cBhvr>
                                        <p:cTn id="135" dur="1" fill="hold">
                                          <p:stCondLst>
                                            <p:cond delay="0"/>
                                          </p:stCondLst>
                                        </p:cTn>
                                        <p:tgtEl>
                                          <p:spTgt spid="48"/>
                                        </p:tgtEl>
                                        <p:attrNameLst>
                                          <p:attrName>style.visibility</p:attrName>
                                        </p:attrNameLst>
                                      </p:cBhvr>
                                      <p:to>
                                        <p:strVal val="visible"/>
                                      </p:to>
                                    </p:set>
                                    <p:animEffect transition="in" filter="fade">
                                      <p:cBhvr>
                                        <p:cTn id="136" dur="6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30" grpId="0" animBg="1"/>
      <p:bldP spid="32" grpId="0" animBg="1"/>
      <p:bldP spid="34" grpId="0" animBg="1"/>
      <p:bldP spid="36" grpId="0" animBg="1"/>
      <p:bldP spid="38" grpId="0" animBg="1"/>
      <p:bldP spid="40" grpId="0" animBg="1"/>
      <p:bldP spid="42" grpId="0" animBg="1"/>
      <p:bldP spid="44" grpId="0" animBg="1"/>
      <p:bldP spid="46" grpId="0" animBg="1"/>
      <p:bldP spid="4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0972800" y="-1005840"/>
            <a:ext cx="1920240" cy="1920240"/>
          </a:xfrm>
          <a:prstGeom prst="ellipse">
            <a:avLst/>
          </a:prstGeom>
          <a:solidFill>
            <a:srgbClr val="1B3F9E"/>
          </a:solidFill>
          <a:ln w="12700">
            <a:solidFill>
              <a:srgbClr val="1B3F9E"/>
            </a:solidFill>
            <a:prstDash val="solid"/>
          </a:ln>
        </p:spPr>
      </p:sp>
      <p:sp>
        <p:nvSpPr>
          <p:cNvPr id="3" name="!!orbG"/>
          <p:cNvSpPr/>
          <p:nvPr/>
        </p:nvSpPr>
        <p:spPr>
          <a:xfrm>
            <a:off x="-822960" y="5989320"/>
            <a:ext cx="1463040" cy="1463040"/>
          </a:xfrm>
          <a:prstGeom prst="ellipse">
            <a:avLst/>
          </a:prstGeom>
          <a:solidFill>
            <a:srgbClr val="00923A"/>
          </a:solidFill>
          <a:ln w="12700">
            <a:solidFill>
              <a:srgbClr val="00923A"/>
            </a:solidFill>
            <a:prstDash val="solid"/>
          </a:ln>
        </p:spPr>
      </p:sp>
      <p:sp>
        <p:nvSpPr>
          <p:cNvPr id="4" name="!!orbY"/>
          <p:cNvSpPr/>
          <p:nvPr/>
        </p:nvSpPr>
        <p:spPr>
          <a:xfrm>
            <a:off x="8778240" y="6569964"/>
            <a:ext cx="640080" cy="640080"/>
          </a:xfrm>
          <a:prstGeom prst="ellipse">
            <a:avLst/>
          </a:prstGeom>
          <a:solidFill>
            <a:srgbClr val="FFFFFF">
              <a:alpha val="0"/>
            </a:srgbClr>
          </a:solidFill>
          <a:ln w="5334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PLAN D’ACTION</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Commencer petit, numériser progressivement</a:t>
            </a:r>
            <a:endParaRPr lang="fr-FR" sz="3200" dirty="0"/>
          </a:p>
        </p:txBody>
      </p:sp>
      <p:sp>
        <p:nvSpPr>
          <p:cNvPr id="7" name="tl"/>
          <p:cNvSpPr/>
          <p:nvPr/>
        </p:nvSpPr>
        <p:spPr>
          <a:xfrm>
            <a:off x="1006846" y="2395728"/>
            <a:ext cx="7990256" cy="73152"/>
          </a:xfrm>
          <a:prstGeom prst="rect">
            <a:avLst/>
          </a:prstGeom>
          <a:solidFill>
            <a:srgbClr val="E3E8F2"/>
          </a:solidFill>
          <a:ln w="12700">
            <a:solidFill>
              <a:srgbClr val="E3E8F2"/>
            </a:solidFill>
            <a:prstDash val="solid"/>
          </a:ln>
        </p:spPr>
      </p:sp>
      <p:sp>
        <p:nvSpPr>
          <p:cNvPr id="8" name="tlseg0"/>
          <p:cNvSpPr/>
          <p:nvPr/>
        </p:nvSpPr>
        <p:spPr>
          <a:xfrm>
            <a:off x="1006846" y="2395728"/>
            <a:ext cx="2663419" cy="73152"/>
          </a:xfrm>
          <a:prstGeom prst="rect">
            <a:avLst/>
          </a:prstGeom>
          <a:solidFill>
            <a:srgbClr val="00923A"/>
          </a:solidFill>
          <a:ln w="12700">
            <a:solidFill>
              <a:srgbClr val="00923A"/>
            </a:solidFill>
            <a:prstDash val="solid"/>
          </a:ln>
        </p:spPr>
      </p:sp>
      <p:sp>
        <p:nvSpPr>
          <p:cNvPr id="9" name="tlseg1"/>
          <p:cNvSpPr/>
          <p:nvPr/>
        </p:nvSpPr>
        <p:spPr>
          <a:xfrm>
            <a:off x="3670264" y="2395728"/>
            <a:ext cx="2663419" cy="73152"/>
          </a:xfrm>
          <a:prstGeom prst="rect">
            <a:avLst/>
          </a:prstGeom>
          <a:solidFill>
            <a:srgbClr val="E2A400"/>
          </a:solidFill>
          <a:ln w="12700">
            <a:solidFill>
              <a:srgbClr val="E2A400"/>
            </a:solidFill>
            <a:prstDash val="solid"/>
          </a:ln>
        </p:spPr>
      </p:sp>
      <p:sp>
        <p:nvSpPr>
          <p:cNvPr id="10" name="tlseg2"/>
          <p:cNvSpPr/>
          <p:nvPr/>
        </p:nvSpPr>
        <p:spPr>
          <a:xfrm>
            <a:off x="6333683" y="2395728"/>
            <a:ext cx="2663419" cy="73152"/>
          </a:xfrm>
          <a:prstGeom prst="rect">
            <a:avLst/>
          </a:prstGeom>
          <a:solidFill>
            <a:srgbClr val="1B3F9E"/>
          </a:solidFill>
          <a:ln w="12700">
            <a:solidFill>
              <a:srgbClr val="1B3F9E"/>
            </a:solidFill>
            <a:prstDash val="solid"/>
          </a:ln>
        </p:spPr>
      </p:sp>
      <p:sp>
        <p:nvSpPr>
          <p:cNvPr id="11" name="pd0"/>
          <p:cNvSpPr/>
          <p:nvPr/>
        </p:nvSpPr>
        <p:spPr>
          <a:xfrm>
            <a:off x="771068" y="2176272"/>
            <a:ext cx="480289" cy="502920"/>
          </a:xfrm>
          <a:prstGeom prst="ellipse">
            <a:avLst/>
          </a:prstGeom>
          <a:solidFill>
            <a:srgbClr val="1B3F9E"/>
          </a:solidFill>
          <a:ln w="38100">
            <a:solidFill>
              <a:srgbClr val="FFFFFF"/>
            </a:solidFill>
            <a:prstDash val="solid"/>
          </a:ln>
        </p:spPr>
      </p:sp>
      <p:sp>
        <p:nvSpPr>
          <p:cNvPr id="12" name="pdn0"/>
          <p:cNvSpPr txBox="1"/>
          <p:nvPr/>
        </p:nvSpPr>
        <p:spPr>
          <a:xfrm>
            <a:off x="771068" y="2176272"/>
            <a:ext cx="480289" cy="502920"/>
          </a:xfrm>
          <a:prstGeom prst="rect">
            <a:avLst/>
          </a:prstGeom>
          <a:noFill/>
          <a:ln/>
        </p:spPr>
        <p:txBody>
          <a:bodyPr wrap="square" lIns="0" tIns="0" rIns="0" bIns="0" rtlCol="0" anchor="ctr"/>
          <a:lstStyle/>
          <a:p>
            <a:pPr algn="ctr" indent="0" marL="0">
              <a:buNone/>
            </a:pPr>
            <a:r>
              <a:rPr lang="fr-FR" altLang="en-US" sz="1500" b="1" dirty="0">
                <a:solidFill>
                  <a:srgbClr val="FFFFFF"/>
                </a:solidFill>
                <a:latin typeface="Calibri" pitchFamily="34" charset="0"/>
                <a:ea typeface="Calibri" pitchFamily="34" charset="-122"/>
                <a:cs typeface="Calibri" pitchFamily="34" charset="-120"/>
              </a:rPr>
              <a:t>1</a:t>
            </a:r>
            <a:endParaRPr lang="fr-FR" sz="1500" dirty="0"/>
          </a:p>
        </p:txBody>
      </p:sp>
      <p:sp>
        <p:nvSpPr>
          <p:cNvPr id="13" name="pc0"/>
          <p:cNvSpPr/>
          <p:nvPr/>
        </p:nvSpPr>
        <p:spPr>
          <a:xfrm>
            <a:off x="640080" y="2971800"/>
            <a:ext cx="2445106" cy="2971800"/>
          </a:xfrm>
          <a:prstGeom prst="roundRect">
            <a:avLst>
              <a:gd name="adj" fmla="val 448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4" name="pct0"/>
          <p:cNvSpPr txBox="1"/>
          <p:nvPr/>
        </p:nvSpPr>
        <p:spPr>
          <a:xfrm>
            <a:off x="858393" y="3154680"/>
            <a:ext cx="2095805" cy="777240"/>
          </a:xfrm>
          <a:prstGeom prst="rect">
            <a:avLst/>
          </a:prstGeom>
          <a:noFill/>
          <a:ln/>
        </p:spPr>
        <p:txBody>
          <a:bodyPr wrap="square" lIns="0" tIns="0" rIns="0" bIns="0" rtlCol="0" anchor="t"/>
          <a:lstStyle/>
          <a:p>
            <a:pPr indent="0" marL="0">
              <a:buNone/>
            </a:pPr>
            <a:r>
              <a:rPr lang="fr-FR" altLang="en-US" sz="1200" b="1" spc="150" kern="0" dirty="0">
                <a:solidFill>
                  <a:srgbClr val="1B3F9E"/>
                </a:solidFill>
                <a:latin typeface="Calibri" pitchFamily="34" charset="0"/>
                <a:ea typeface="Calibri" pitchFamily="34" charset="-122"/>
                <a:cs typeface="Calibri" pitchFamily="34" charset="-120"/>
              </a:rPr>
              <a:t>0 – 3 MOIS</a:t>
            </a:r>
            <a:endParaRPr lang="fr-FR" sz="1200" dirty="0"/>
          </a:p>
          <a:p>
            <a:pPr indent="0" marL="0">
              <a:buNone/>
            </a:pPr>
            <a:r>
              <a:rPr lang="fr-FR" altLang="en-US" sz="2000" b="1" dirty="0">
                <a:solidFill>
                  <a:srgbClr val="0E1C46"/>
                </a:solidFill>
                <a:latin typeface="Calibri" pitchFamily="34" charset="0"/>
                <a:ea typeface="Calibri" pitchFamily="34" charset="-122"/>
                <a:cs typeface="Calibri" pitchFamily="34" charset="-120"/>
              </a:rPr>
              <a:t>Démarrer simple</a:t>
            </a:r>
            <a:endParaRPr lang="fr-FR" sz="1200" dirty="0"/>
          </a:p>
        </p:txBody>
      </p:sp>
      <p:sp>
        <p:nvSpPr>
          <p:cNvPr id="15" name="pci0"/>
          <p:cNvSpPr txBox="1"/>
          <p:nvPr/>
        </p:nvSpPr>
        <p:spPr>
          <a:xfrm>
            <a:off x="858393" y="4023360"/>
            <a:ext cx="2095805" cy="173736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Registre partagé, numéro unique</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Adresses par direction</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Agent de liaison</a:t>
            </a:r>
            <a:endParaRPr lang="fr-FR" sz="1300" dirty="0"/>
          </a:p>
        </p:txBody>
      </p:sp>
      <p:sp>
        <p:nvSpPr>
          <p:cNvPr id="16" name="pd1"/>
          <p:cNvSpPr/>
          <p:nvPr/>
        </p:nvSpPr>
        <p:spPr>
          <a:xfrm>
            <a:off x="3434486" y="2176272"/>
            <a:ext cx="480289" cy="502920"/>
          </a:xfrm>
          <a:prstGeom prst="ellipse">
            <a:avLst/>
          </a:prstGeom>
          <a:solidFill>
            <a:srgbClr val="00923A"/>
          </a:solidFill>
          <a:ln w="38100">
            <a:solidFill>
              <a:srgbClr val="FFFFFF"/>
            </a:solidFill>
            <a:prstDash val="solid"/>
          </a:ln>
        </p:spPr>
      </p:sp>
      <p:sp>
        <p:nvSpPr>
          <p:cNvPr id="17" name="pdn1"/>
          <p:cNvSpPr txBox="1"/>
          <p:nvPr/>
        </p:nvSpPr>
        <p:spPr>
          <a:xfrm>
            <a:off x="3434486" y="2176272"/>
            <a:ext cx="480289" cy="502920"/>
          </a:xfrm>
          <a:prstGeom prst="rect">
            <a:avLst/>
          </a:prstGeom>
          <a:noFill/>
          <a:ln/>
        </p:spPr>
        <p:txBody>
          <a:bodyPr wrap="square" lIns="0" tIns="0" rIns="0" bIns="0" rtlCol="0" anchor="ctr"/>
          <a:lstStyle/>
          <a:p>
            <a:pPr algn="ctr" indent="0" marL="0">
              <a:buNone/>
            </a:pPr>
            <a:r>
              <a:rPr lang="fr-FR" altLang="en-US" sz="1500" b="1" dirty="0">
                <a:solidFill>
                  <a:srgbClr val="FFFFFF"/>
                </a:solidFill>
                <a:latin typeface="Calibri" pitchFamily="34" charset="0"/>
                <a:ea typeface="Calibri" pitchFamily="34" charset="-122"/>
                <a:cs typeface="Calibri" pitchFamily="34" charset="-120"/>
              </a:rPr>
              <a:t>2</a:t>
            </a:r>
            <a:endParaRPr lang="fr-FR" sz="1500" dirty="0"/>
          </a:p>
        </p:txBody>
      </p:sp>
      <p:sp>
        <p:nvSpPr>
          <p:cNvPr id="18" name="pc1"/>
          <p:cNvSpPr/>
          <p:nvPr/>
        </p:nvSpPr>
        <p:spPr>
          <a:xfrm>
            <a:off x="3303499" y="2971800"/>
            <a:ext cx="2445106" cy="2971800"/>
          </a:xfrm>
          <a:prstGeom prst="roundRect">
            <a:avLst>
              <a:gd name="adj" fmla="val 448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9" name="pct1"/>
          <p:cNvSpPr txBox="1"/>
          <p:nvPr/>
        </p:nvSpPr>
        <p:spPr>
          <a:xfrm>
            <a:off x="3521812" y="3154680"/>
            <a:ext cx="2095805" cy="777240"/>
          </a:xfrm>
          <a:prstGeom prst="rect">
            <a:avLst/>
          </a:prstGeom>
          <a:noFill/>
          <a:ln/>
        </p:spPr>
        <p:txBody>
          <a:bodyPr wrap="square" lIns="0" tIns="0" rIns="0" bIns="0" rtlCol="0" anchor="t"/>
          <a:lstStyle/>
          <a:p>
            <a:pPr indent="0" marL="0">
              <a:buNone/>
            </a:pPr>
            <a:r>
              <a:rPr lang="fr-FR" altLang="en-US" sz="1200" b="1" spc="150" kern="0" dirty="0">
                <a:solidFill>
                  <a:srgbClr val="00923A"/>
                </a:solidFill>
                <a:latin typeface="Calibri" pitchFamily="34" charset="0"/>
                <a:ea typeface="Calibri" pitchFamily="34" charset="-122"/>
                <a:cs typeface="Calibri" pitchFamily="34" charset="-120"/>
              </a:rPr>
              <a:t>3 – 6 MOIS</a:t>
            </a:r>
            <a:endParaRPr lang="fr-FR" sz="1200" dirty="0"/>
          </a:p>
          <a:p>
            <a:pPr indent="0" marL="0">
              <a:buNone/>
            </a:pPr>
            <a:r>
              <a:rPr lang="fr-FR" altLang="en-US" sz="2000" b="1" dirty="0">
                <a:solidFill>
                  <a:srgbClr val="0E1C46"/>
                </a:solidFill>
                <a:latin typeface="Calibri" pitchFamily="34" charset="0"/>
                <a:ea typeface="Calibri" pitchFamily="34" charset="-122"/>
                <a:cs typeface="Calibri" pitchFamily="34" charset="-120"/>
              </a:rPr>
              <a:t>Organiser</a:t>
            </a:r>
            <a:endParaRPr lang="fr-FR" sz="1200" dirty="0"/>
          </a:p>
        </p:txBody>
      </p:sp>
      <p:sp>
        <p:nvSpPr>
          <p:cNvPr id="20" name="pci1"/>
          <p:cNvSpPr txBox="1"/>
          <p:nvPr/>
        </p:nvSpPr>
        <p:spPr>
          <a:xfrm>
            <a:off x="3521812" y="4023360"/>
            <a:ext cx="2095805" cy="173736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Formation des agents</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Suppléants et délégations</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Tableau de bord des délais</a:t>
            </a:r>
            <a:endParaRPr lang="fr-FR" sz="1300" dirty="0"/>
          </a:p>
        </p:txBody>
      </p:sp>
      <p:sp>
        <p:nvSpPr>
          <p:cNvPr id="21" name="pd2"/>
          <p:cNvSpPr/>
          <p:nvPr/>
        </p:nvSpPr>
        <p:spPr>
          <a:xfrm>
            <a:off x="6097905" y="2176272"/>
            <a:ext cx="480289" cy="502920"/>
          </a:xfrm>
          <a:prstGeom prst="ellipse">
            <a:avLst/>
          </a:prstGeom>
          <a:solidFill>
            <a:srgbClr val="E2A400"/>
          </a:solidFill>
          <a:ln w="38100">
            <a:solidFill>
              <a:srgbClr val="FFFFFF"/>
            </a:solidFill>
            <a:prstDash val="solid"/>
          </a:ln>
        </p:spPr>
      </p:sp>
      <p:sp>
        <p:nvSpPr>
          <p:cNvPr id="22" name="pdn2"/>
          <p:cNvSpPr txBox="1"/>
          <p:nvPr/>
        </p:nvSpPr>
        <p:spPr>
          <a:xfrm>
            <a:off x="6097905" y="2176272"/>
            <a:ext cx="480289" cy="502920"/>
          </a:xfrm>
          <a:prstGeom prst="rect">
            <a:avLst/>
          </a:prstGeom>
          <a:noFill/>
          <a:ln/>
        </p:spPr>
        <p:txBody>
          <a:bodyPr wrap="square" lIns="0" tIns="0" rIns="0" bIns="0" rtlCol="0" anchor="ctr"/>
          <a:lstStyle/>
          <a:p>
            <a:pPr algn="ctr" indent="0" marL="0">
              <a:buNone/>
            </a:pPr>
            <a:r>
              <a:rPr lang="fr-FR" altLang="en-US" sz="1500" b="1" dirty="0">
                <a:solidFill>
                  <a:srgbClr val="0E1C46"/>
                </a:solidFill>
                <a:latin typeface="Calibri" pitchFamily="34" charset="0"/>
                <a:ea typeface="Calibri" pitchFamily="34" charset="-122"/>
                <a:cs typeface="Calibri" pitchFamily="34" charset="-120"/>
              </a:rPr>
              <a:t>3</a:t>
            </a:r>
            <a:endParaRPr lang="fr-FR" sz="1500" dirty="0"/>
          </a:p>
        </p:txBody>
      </p:sp>
      <p:sp>
        <p:nvSpPr>
          <p:cNvPr id="23" name="pc2"/>
          <p:cNvSpPr/>
          <p:nvPr/>
        </p:nvSpPr>
        <p:spPr>
          <a:xfrm>
            <a:off x="5966917" y="2971800"/>
            <a:ext cx="2445106" cy="2971800"/>
          </a:xfrm>
          <a:prstGeom prst="roundRect">
            <a:avLst>
              <a:gd name="adj" fmla="val 448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4" name="pct2"/>
          <p:cNvSpPr txBox="1"/>
          <p:nvPr/>
        </p:nvSpPr>
        <p:spPr>
          <a:xfrm>
            <a:off x="6185230" y="3154680"/>
            <a:ext cx="2095805" cy="777240"/>
          </a:xfrm>
          <a:prstGeom prst="rect">
            <a:avLst/>
          </a:prstGeom>
          <a:noFill/>
          <a:ln/>
        </p:spPr>
        <p:txBody>
          <a:bodyPr wrap="square" lIns="0" tIns="0" rIns="0" bIns="0" rtlCol="0" anchor="t"/>
          <a:lstStyle/>
          <a:p>
            <a:pPr indent="0" marL="0">
              <a:buNone/>
            </a:pPr>
            <a:r>
              <a:rPr lang="fr-FR" altLang="en-US" sz="1200" b="1" spc="150" kern="0" dirty="0">
                <a:solidFill>
                  <a:srgbClr val="9A6A00"/>
                </a:solidFill>
                <a:latin typeface="Calibri" pitchFamily="34" charset="0"/>
                <a:ea typeface="Calibri" pitchFamily="34" charset="-122"/>
                <a:cs typeface="Calibri" pitchFamily="34" charset="-120"/>
              </a:rPr>
              <a:t>6 – 12 MOIS</a:t>
            </a:r>
            <a:endParaRPr lang="fr-FR" sz="1200" dirty="0"/>
          </a:p>
          <a:p>
            <a:pPr indent="0" marL="0">
              <a:buNone/>
            </a:pPr>
            <a:r>
              <a:rPr lang="fr-FR" altLang="en-US" sz="2000" b="1" dirty="0">
                <a:solidFill>
                  <a:srgbClr val="0E1C46"/>
                </a:solidFill>
                <a:latin typeface="Calibri" pitchFamily="34" charset="0"/>
                <a:ea typeface="Calibri" pitchFamily="34" charset="-122"/>
                <a:cs typeface="Calibri" pitchFamily="34" charset="-120"/>
              </a:rPr>
              <a:t>Dématérialiser</a:t>
            </a:r>
            <a:endParaRPr lang="fr-FR" sz="1200" dirty="0"/>
          </a:p>
        </p:txBody>
      </p:sp>
      <p:sp>
        <p:nvSpPr>
          <p:cNvPr id="25" name="pci2"/>
          <p:cNvSpPr txBox="1"/>
          <p:nvPr/>
        </p:nvSpPr>
        <p:spPr>
          <a:xfrm>
            <a:off x="6185230" y="4023360"/>
            <a:ext cx="2095805" cy="173736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Logiciel de gestion du courrier</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Scanner, visa électronique</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Numéro de suivi pour l’usager</a:t>
            </a:r>
            <a:endParaRPr lang="fr-FR" sz="1300" dirty="0"/>
          </a:p>
        </p:txBody>
      </p:sp>
      <p:sp>
        <p:nvSpPr>
          <p:cNvPr id="26" name="pd3"/>
          <p:cNvSpPr/>
          <p:nvPr/>
        </p:nvSpPr>
        <p:spPr>
          <a:xfrm>
            <a:off x="8761324" y="2176272"/>
            <a:ext cx="480289" cy="502920"/>
          </a:xfrm>
          <a:prstGeom prst="ellipse">
            <a:avLst/>
          </a:prstGeom>
          <a:solidFill>
            <a:srgbClr val="1B3F9E"/>
          </a:solidFill>
          <a:ln w="38100">
            <a:solidFill>
              <a:srgbClr val="FFFFFF"/>
            </a:solidFill>
            <a:prstDash val="solid"/>
          </a:ln>
        </p:spPr>
      </p:sp>
      <p:sp>
        <p:nvSpPr>
          <p:cNvPr id="27" name="pdn3"/>
          <p:cNvSpPr txBox="1"/>
          <p:nvPr/>
        </p:nvSpPr>
        <p:spPr>
          <a:xfrm>
            <a:off x="8761324" y="2176272"/>
            <a:ext cx="480289" cy="502920"/>
          </a:xfrm>
          <a:prstGeom prst="rect">
            <a:avLst/>
          </a:prstGeom>
          <a:noFill/>
          <a:ln/>
        </p:spPr>
        <p:txBody>
          <a:bodyPr wrap="square" lIns="0" tIns="0" rIns="0" bIns="0" rtlCol="0" anchor="ctr"/>
          <a:lstStyle/>
          <a:p>
            <a:pPr algn="ctr" indent="0" marL="0">
              <a:buNone/>
            </a:pPr>
            <a:r>
              <a:rPr lang="fr-FR" altLang="en-US" sz="1500" b="1" dirty="0">
                <a:solidFill>
                  <a:srgbClr val="FFFFFF"/>
                </a:solidFill>
                <a:latin typeface="Calibri" pitchFamily="34" charset="0"/>
                <a:ea typeface="Calibri" pitchFamily="34" charset="-122"/>
                <a:cs typeface="Calibri" pitchFamily="34" charset="-120"/>
              </a:rPr>
              <a:t>4</a:t>
            </a:r>
            <a:endParaRPr lang="fr-FR" sz="1500" dirty="0"/>
          </a:p>
        </p:txBody>
      </p:sp>
      <p:sp>
        <p:nvSpPr>
          <p:cNvPr id="28" name="pc3"/>
          <p:cNvSpPr/>
          <p:nvPr/>
        </p:nvSpPr>
        <p:spPr>
          <a:xfrm>
            <a:off x="8630336" y="2971800"/>
            <a:ext cx="2445106" cy="2971800"/>
          </a:xfrm>
          <a:prstGeom prst="roundRect">
            <a:avLst>
              <a:gd name="adj" fmla="val 4488"/>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9" name="pct3"/>
          <p:cNvSpPr txBox="1"/>
          <p:nvPr/>
        </p:nvSpPr>
        <p:spPr>
          <a:xfrm>
            <a:off x="8848649" y="3154680"/>
            <a:ext cx="2095805" cy="777240"/>
          </a:xfrm>
          <a:prstGeom prst="rect">
            <a:avLst/>
          </a:prstGeom>
          <a:noFill/>
          <a:ln/>
        </p:spPr>
        <p:txBody>
          <a:bodyPr wrap="square" lIns="0" tIns="0" rIns="0" bIns="0" rtlCol="0" anchor="t"/>
          <a:lstStyle/>
          <a:p>
            <a:pPr indent="0" marL="0">
              <a:buNone/>
            </a:pPr>
            <a:r>
              <a:rPr lang="fr-FR" altLang="en-US" sz="1200" b="1" spc="150" kern="0" dirty="0">
                <a:solidFill>
                  <a:srgbClr val="1B3F9E"/>
                </a:solidFill>
                <a:latin typeface="Calibri" pitchFamily="34" charset="0"/>
                <a:ea typeface="Calibri" pitchFamily="34" charset="-122"/>
                <a:cs typeface="Calibri" pitchFamily="34" charset="-120"/>
              </a:rPr>
              <a:t>+ 1 AN</a:t>
            </a:r>
            <a:endParaRPr lang="fr-FR" sz="1200" dirty="0"/>
          </a:p>
          <a:p>
            <a:pPr indent="0" marL="0">
              <a:buNone/>
            </a:pPr>
            <a:r>
              <a:rPr lang="fr-FR" altLang="en-US" sz="2000" b="1" dirty="0">
                <a:solidFill>
                  <a:srgbClr val="0E1C46"/>
                </a:solidFill>
                <a:latin typeface="Calibri" pitchFamily="34" charset="0"/>
                <a:ea typeface="Calibri" pitchFamily="34" charset="-122"/>
                <a:cs typeface="Calibri" pitchFamily="34" charset="-120"/>
              </a:rPr>
              <a:t>Étendre</a:t>
            </a:r>
            <a:endParaRPr lang="fr-FR" sz="1200" dirty="0"/>
          </a:p>
        </p:txBody>
      </p:sp>
      <p:sp>
        <p:nvSpPr>
          <p:cNvPr id="30" name="pci3"/>
          <p:cNvSpPr txBox="1"/>
          <p:nvPr/>
        </p:nvSpPr>
        <p:spPr>
          <a:xfrm>
            <a:off x="8848649" y="4023360"/>
            <a:ext cx="2095805" cy="173736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Toutes les directions</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Lien avec l’état civil</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Archives numérisées</a:t>
            </a:r>
            <a:endParaRPr lang="fr-FR" sz="1300" dirty="0"/>
          </a:p>
        </p:txBody>
      </p:sp>
      <p:pic>
        <p:nvPicPr>
          <p:cNvPr id="31" name="!!flogo" descr="preencoded.png">    </p:cNvPr>
          <p:cNvPicPr>
            <a:picLocks noChangeAspect="1"/>
          </p:cNvPicPr>
          <p:nvPr/>
        </p:nvPicPr>
        <p:blipFill>
          <a:blip r:embed="rId1"/>
          <a:stretch>
            <a:fillRect/>
          </a:stretch>
        </p:blipFill>
        <p:spPr>
          <a:xfrm>
            <a:off x="640080" y="6382512"/>
            <a:ext cx="329184" cy="274320"/>
          </a:xfrm>
          <a:prstGeom prst="rect">
            <a:avLst/>
          </a:prstGeom>
        </p:spPr>
      </p:pic>
      <p:sp>
        <p:nvSpPr>
          <p:cNvPr id="32"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33"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19 / 22</a:t>
            </a:r>
            <a:endParaRPr lang="fr-FR" sz="1000" dirty="0"/>
          </a:p>
        </p:txBody>
      </p:sp>
      <p:sp>
        <p:nvSpPr>
          <p:cNvPr id="34"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35" name="!!railline"/>
          <p:cNvSpPr/>
          <p:nvPr/>
        </p:nvSpPr>
        <p:spPr>
          <a:xfrm>
            <a:off x="11795760" y="1600200"/>
            <a:ext cx="914" cy="3383280"/>
          </a:xfrm>
          <a:prstGeom prst="line">
            <a:avLst/>
          </a:prstGeom>
          <a:noFill/>
          <a:ln w="25400">
            <a:solidFill>
              <a:srgbClr val="DDE3EE"/>
            </a:solidFill>
            <a:prstDash val="solid"/>
          </a:ln>
        </p:spPr>
      </p:sp>
      <p:sp>
        <p:nvSpPr>
          <p:cNvPr id="36" name="!!railprog"/>
          <p:cNvSpPr/>
          <p:nvPr/>
        </p:nvSpPr>
        <p:spPr>
          <a:xfrm>
            <a:off x="11795760" y="1600200"/>
            <a:ext cx="914" cy="3383280"/>
          </a:xfrm>
          <a:prstGeom prst="line">
            <a:avLst/>
          </a:prstGeom>
          <a:noFill/>
          <a:ln w="38100">
            <a:solidFill>
              <a:srgbClr val="00923A"/>
            </a:solidFill>
            <a:prstDash val="solid"/>
          </a:ln>
        </p:spPr>
      </p:sp>
      <p:sp>
        <p:nvSpPr>
          <p:cNvPr id="37" name="!!mact"/>
          <p:cNvSpPr/>
          <p:nvPr/>
        </p:nvSpPr>
        <p:spPr>
          <a:xfrm>
            <a:off x="11494008" y="4681728"/>
            <a:ext cx="603504" cy="603504"/>
          </a:xfrm>
          <a:prstGeom prst="ellipse">
            <a:avLst/>
          </a:prstGeom>
          <a:solidFill>
            <a:srgbClr val="FFFFFF">
              <a:alpha val="0"/>
            </a:srgbClr>
          </a:solidFill>
          <a:ln w="38100">
            <a:solidFill>
              <a:srgbClr val="FCC600"/>
            </a:solidFill>
            <a:prstDash val="solid"/>
          </a:ln>
        </p:spPr>
      </p:sp>
      <p:sp>
        <p:nvSpPr>
          <p:cNvPr id="38"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9" name="!!mt1">
            <a:hlinkClick r:id="rId2"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2"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40"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41" name="!!mt2">
            <a:hlinkClick r:id="rId3"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3"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42"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43" name="!!mt3">
            <a:hlinkClick r:id="rId4"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4"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44"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45" name="!!mt4">
            <a:hlinkClick r:id="rId5"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6" name="!!m5"/>
          <p:cNvSpPr/>
          <p:nvPr/>
        </p:nvSpPr>
        <p:spPr>
          <a:xfrm>
            <a:off x="11594592" y="4105656"/>
            <a:ext cx="402336" cy="402336"/>
          </a:xfrm>
          <a:prstGeom prst="ellipse">
            <a:avLst/>
          </a:prstGeom>
          <a:solidFill>
            <a:srgbClr val="00923A"/>
          </a:solidFill>
          <a:ln w="19050">
            <a:solidFill>
              <a:srgbClr val="00923A"/>
            </a:solidFill>
            <a:prstDash val="solid"/>
          </a:ln>
        </p:spPr>
      </p:sp>
      <p:sp>
        <p:nvSpPr>
          <p:cNvPr id="47" name="!!mt5">
            <a:hlinkClick r:id="rId6"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8" name="!!m6"/>
          <p:cNvSpPr/>
          <p:nvPr/>
        </p:nvSpPr>
        <p:spPr>
          <a:xfrm>
            <a:off x="11594592" y="4782312"/>
            <a:ext cx="402336" cy="402336"/>
          </a:xfrm>
          <a:prstGeom prst="ellipse">
            <a:avLst/>
          </a:prstGeom>
          <a:solidFill>
            <a:srgbClr val="1B3F9E"/>
          </a:solidFill>
          <a:ln w="19050">
            <a:solidFill>
              <a:srgbClr val="1B3F9E"/>
            </a:solidFill>
            <a:prstDash val="solid"/>
          </a:ln>
        </p:spPr>
      </p:sp>
      <p:sp>
        <p:nvSpPr>
          <p:cNvPr id="49" name="!!mt6">
            <a:hlinkClick r:id="rId7"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50"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SOLUTIONS ET CONCLUSION</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53" presetClass="entr" presetSubtype="16" fill="hold" grpId="0" nodeType="withEffect">
                                  <p:stCondLst>
                                    <p:cond delay="300"/>
                                  </p:stCondLst>
                                  <p:childTnLst>
                                    <p:set>
                                      <p:cBhvr>
                                        <p:cTn id="15" dur="1" fill="hold">
                                          <p:stCondLst>
                                            <p:cond delay="0"/>
                                          </p:stCondLst>
                                        </p:cTn>
                                        <p:tgtEl>
                                          <p:spTgt spid="11"/>
                                        </p:tgtEl>
                                        <p:attrNameLst>
                                          <p:attrName>style.visibility</p:attrName>
                                        </p:attrNameLst>
                                      </p:cBhvr>
                                      <p:to>
                                        <p:strVal val="visible"/>
                                      </p:to>
                                    </p:set>
                                    <p:anim calcmode="lin" valueType="num">
                                      <p:cBhvr>
                                        <p:cTn id="16" dur="600" fill="hold"/>
                                        <p:tgtEl>
                                          <p:spTgt spid="11"/>
                                        </p:tgtEl>
                                        <p:attrNameLst>
                                          <p:attrName>ppt_w</p:attrName>
                                        </p:attrNameLst>
                                      </p:cBhvr>
                                      <p:tavLst>
                                        <p:tav tm="0">
                                          <p:val>
                                            <p:fltVal val="0"/>
                                          </p:val>
                                        </p:tav>
                                        <p:tav tm="100000">
                                          <p:val>
                                            <p:strVal val="#ppt_w"/>
                                          </p:val>
                                        </p:tav>
                                      </p:tavLst>
                                    </p:anim>
                                    <p:anim calcmode="lin" valueType="num">
                                      <p:cBhvr>
                                        <p:cTn id="17" dur="600" fill="hold"/>
                                        <p:tgtEl>
                                          <p:spTgt spid="11"/>
                                        </p:tgtEl>
                                        <p:attrNameLst>
                                          <p:attrName>ppt_h</p:attrName>
                                        </p:attrNameLst>
                                      </p:cBhvr>
                                      <p:tavLst>
                                        <p:tav tm="0">
                                          <p:val>
                                            <p:fltVal val="0"/>
                                          </p:val>
                                        </p:tav>
                                        <p:tav tm="100000">
                                          <p:val>
                                            <p:strVal val="#ppt_h"/>
                                          </p:val>
                                        </p:tav>
                                      </p:tavLst>
                                    </p:anim>
                                    <p:animEffect transition="in" filter="fade">
                                      <p:cBhvr>
                                        <p:cTn id="18" dur="600"/>
                                        <p:tgtEl>
                                          <p:spTgt spid="11"/>
                                        </p:tgtEl>
                                      </p:cBhvr>
                                    </p:animEffect>
                                  </p:childTnLst>
                                </p:cTn>
                              </p:par>
                              <p:par>
                                <p:cTn id="19" presetID="53" presetClass="entr" presetSubtype="16"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 calcmode="lin" valueType="num">
                                      <p:cBhvr>
                                        <p:cTn id="21" dur="600" fill="hold"/>
                                        <p:tgtEl>
                                          <p:spTgt spid="12"/>
                                        </p:tgtEl>
                                        <p:attrNameLst>
                                          <p:attrName>ppt_w</p:attrName>
                                        </p:attrNameLst>
                                      </p:cBhvr>
                                      <p:tavLst>
                                        <p:tav tm="0">
                                          <p:val>
                                            <p:fltVal val="0"/>
                                          </p:val>
                                        </p:tav>
                                        <p:tav tm="100000">
                                          <p:val>
                                            <p:strVal val="#ppt_w"/>
                                          </p:val>
                                        </p:tav>
                                      </p:tavLst>
                                    </p:anim>
                                    <p:anim calcmode="lin" valueType="num">
                                      <p:cBhvr>
                                        <p:cTn id="22" dur="600" fill="hold"/>
                                        <p:tgtEl>
                                          <p:spTgt spid="12"/>
                                        </p:tgtEl>
                                        <p:attrNameLst>
                                          <p:attrName>ppt_h</p:attrName>
                                        </p:attrNameLst>
                                      </p:cBhvr>
                                      <p:tavLst>
                                        <p:tav tm="0">
                                          <p:val>
                                            <p:fltVal val="0"/>
                                          </p:val>
                                        </p:tav>
                                        <p:tav tm="100000">
                                          <p:val>
                                            <p:strVal val="#ppt_h"/>
                                          </p:val>
                                        </p:tav>
                                      </p:tavLst>
                                    </p:anim>
                                    <p:animEffect transition="in" filter="fade">
                                      <p:cBhvr>
                                        <p:cTn id="23" dur="600"/>
                                        <p:tgtEl>
                                          <p:spTgt spid="12"/>
                                        </p:tgtEl>
                                      </p:cBhvr>
                                    </p:animEffect>
                                  </p:childTnLst>
                                </p:cTn>
                              </p:par>
                              <p:par>
                                <p:cTn id="24" presetID="10" presetClass="entr" presetSubtype="0" fill="hold" grpId="0" nodeType="withEffect">
                                  <p:stCondLst>
                                    <p:cond delay="4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600"/>
                                        <p:tgtEl>
                                          <p:spTgt spid="13"/>
                                        </p:tgtEl>
                                      </p:cBhvr>
                                    </p:animEffect>
                                  </p:childTnLst>
                                </p:cTn>
                              </p:par>
                              <p:par>
                                <p:cTn id="27" presetID="10" presetClass="entr" presetSubtype="0" fill="hold" grpId="0" nodeType="withEffect">
                                  <p:stCondLst>
                                    <p:cond delay="45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600"/>
                                        <p:tgtEl>
                                          <p:spTgt spid="14"/>
                                        </p:tgtEl>
                                      </p:cBhvr>
                                    </p:animEffect>
                                  </p:childTnLst>
                                </p:cTn>
                              </p:par>
                              <p:par>
                                <p:cTn id="30" presetID="10" presetClass="entr" presetSubtype="0" fill="hold" grpId="0" nodeType="withEffect">
                                  <p:stCondLst>
                                    <p:cond delay="45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600"/>
                                        <p:tgtEl>
                                          <p:spTgt spid="15"/>
                                        </p:tgtEl>
                                      </p:cBhvr>
                                    </p:animEffect>
                                  </p:childTnLst>
                                </p:cTn>
                              </p:par>
                              <p:par>
                                <p:cTn id="33" presetID="22" presetClass="entr" presetSubtype="8" fill="hold" grpId="0" nodeType="withEffect">
                                  <p:stCondLst>
                                    <p:cond delay="900"/>
                                  </p:stCondLst>
                                  <p:childTnLst>
                                    <p:set>
                                      <p:cBhvr>
                                        <p:cTn id="34" dur="1" fill="hold">
                                          <p:stCondLst>
                                            <p:cond delay="0"/>
                                          </p:stCondLst>
                                        </p:cTn>
                                        <p:tgtEl>
                                          <p:spTgt spid="8"/>
                                        </p:tgtEl>
                                        <p:attrNameLst>
                                          <p:attrName>style.visibility</p:attrName>
                                        </p:attrNameLst>
                                      </p:cBhvr>
                                      <p:to>
                                        <p:strVal val="visible"/>
                                      </p:to>
                                    </p:set>
                                    <p:animEffect transition="in" filter="wipe(left)">
                                      <p:cBhvr>
                                        <p:cTn id="35" dur="600"/>
                                        <p:tgtEl>
                                          <p:spTgt spid="8"/>
                                        </p:tgtEl>
                                      </p:cBhvr>
                                    </p:animEffect>
                                  </p:childTnLst>
                                </p:cTn>
                              </p:par>
                              <p:par>
                                <p:cTn id="36" presetID="53" presetClass="entr" presetSubtype="16" fill="hold" grpId="0" nodeType="withEffect">
                                  <p:stCondLst>
                                    <p:cond delay="1000"/>
                                  </p:stCondLst>
                                  <p:childTnLst>
                                    <p:set>
                                      <p:cBhvr>
                                        <p:cTn id="37" dur="1" fill="hold">
                                          <p:stCondLst>
                                            <p:cond delay="0"/>
                                          </p:stCondLst>
                                        </p:cTn>
                                        <p:tgtEl>
                                          <p:spTgt spid="16"/>
                                        </p:tgtEl>
                                        <p:attrNameLst>
                                          <p:attrName>style.visibility</p:attrName>
                                        </p:attrNameLst>
                                      </p:cBhvr>
                                      <p:to>
                                        <p:strVal val="visible"/>
                                      </p:to>
                                    </p:set>
                                    <p:anim calcmode="lin" valueType="num">
                                      <p:cBhvr>
                                        <p:cTn id="38" dur="600" fill="hold"/>
                                        <p:tgtEl>
                                          <p:spTgt spid="16"/>
                                        </p:tgtEl>
                                        <p:attrNameLst>
                                          <p:attrName>ppt_w</p:attrName>
                                        </p:attrNameLst>
                                      </p:cBhvr>
                                      <p:tavLst>
                                        <p:tav tm="0">
                                          <p:val>
                                            <p:fltVal val="0"/>
                                          </p:val>
                                        </p:tav>
                                        <p:tav tm="100000">
                                          <p:val>
                                            <p:strVal val="#ppt_w"/>
                                          </p:val>
                                        </p:tav>
                                      </p:tavLst>
                                    </p:anim>
                                    <p:anim calcmode="lin" valueType="num">
                                      <p:cBhvr>
                                        <p:cTn id="39" dur="600" fill="hold"/>
                                        <p:tgtEl>
                                          <p:spTgt spid="16"/>
                                        </p:tgtEl>
                                        <p:attrNameLst>
                                          <p:attrName>ppt_h</p:attrName>
                                        </p:attrNameLst>
                                      </p:cBhvr>
                                      <p:tavLst>
                                        <p:tav tm="0">
                                          <p:val>
                                            <p:fltVal val="0"/>
                                          </p:val>
                                        </p:tav>
                                        <p:tav tm="100000">
                                          <p:val>
                                            <p:strVal val="#ppt_h"/>
                                          </p:val>
                                        </p:tav>
                                      </p:tavLst>
                                    </p:anim>
                                    <p:animEffect transition="in" filter="fade">
                                      <p:cBhvr>
                                        <p:cTn id="40" dur="600"/>
                                        <p:tgtEl>
                                          <p:spTgt spid="16"/>
                                        </p:tgtEl>
                                      </p:cBhvr>
                                    </p:animEffect>
                                  </p:childTnLst>
                                </p:cTn>
                              </p:par>
                              <p:par>
                                <p:cTn id="41" presetID="53" presetClass="entr" presetSubtype="16" fill="hold" grpId="0" nodeType="withEffect">
                                  <p:stCondLst>
                                    <p:cond delay="1000"/>
                                  </p:stCondLst>
                                  <p:childTnLst>
                                    <p:set>
                                      <p:cBhvr>
                                        <p:cTn id="42" dur="1" fill="hold">
                                          <p:stCondLst>
                                            <p:cond delay="0"/>
                                          </p:stCondLst>
                                        </p:cTn>
                                        <p:tgtEl>
                                          <p:spTgt spid="17"/>
                                        </p:tgtEl>
                                        <p:attrNameLst>
                                          <p:attrName>style.visibility</p:attrName>
                                        </p:attrNameLst>
                                      </p:cBhvr>
                                      <p:to>
                                        <p:strVal val="visible"/>
                                      </p:to>
                                    </p:set>
                                    <p:anim calcmode="lin" valueType="num">
                                      <p:cBhvr>
                                        <p:cTn id="43" dur="600" fill="hold"/>
                                        <p:tgtEl>
                                          <p:spTgt spid="17"/>
                                        </p:tgtEl>
                                        <p:attrNameLst>
                                          <p:attrName>ppt_w</p:attrName>
                                        </p:attrNameLst>
                                      </p:cBhvr>
                                      <p:tavLst>
                                        <p:tav tm="0">
                                          <p:val>
                                            <p:fltVal val="0"/>
                                          </p:val>
                                        </p:tav>
                                        <p:tav tm="100000">
                                          <p:val>
                                            <p:strVal val="#ppt_w"/>
                                          </p:val>
                                        </p:tav>
                                      </p:tavLst>
                                    </p:anim>
                                    <p:anim calcmode="lin" valueType="num">
                                      <p:cBhvr>
                                        <p:cTn id="44" dur="600" fill="hold"/>
                                        <p:tgtEl>
                                          <p:spTgt spid="17"/>
                                        </p:tgtEl>
                                        <p:attrNameLst>
                                          <p:attrName>ppt_h</p:attrName>
                                        </p:attrNameLst>
                                      </p:cBhvr>
                                      <p:tavLst>
                                        <p:tav tm="0">
                                          <p:val>
                                            <p:fltVal val="0"/>
                                          </p:val>
                                        </p:tav>
                                        <p:tav tm="100000">
                                          <p:val>
                                            <p:strVal val="#ppt_h"/>
                                          </p:val>
                                        </p:tav>
                                      </p:tavLst>
                                    </p:anim>
                                    <p:animEffect transition="in" filter="fade">
                                      <p:cBhvr>
                                        <p:cTn id="45" dur="600"/>
                                        <p:tgtEl>
                                          <p:spTgt spid="17"/>
                                        </p:tgtEl>
                                      </p:cBhvr>
                                    </p:animEffect>
                                  </p:childTnLst>
                                </p:cTn>
                              </p:par>
                              <p:par>
                                <p:cTn id="46" presetID="10" presetClass="entr" presetSubtype="0" fill="hold" grpId="0" nodeType="withEffect">
                                  <p:stCondLst>
                                    <p:cond delay="115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600"/>
                                        <p:tgtEl>
                                          <p:spTgt spid="18"/>
                                        </p:tgtEl>
                                      </p:cBhvr>
                                    </p:animEffect>
                                  </p:childTnLst>
                                </p:cTn>
                              </p:par>
                              <p:par>
                                <p:cTn id="49" presetID="10" presetClass="entr" presetSubtype="0" fill="hold" grpId="0" nodeType="withEffect">
                                  <p:stCondLst>
                                    <p:cond delay="115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600"/>
                                        <p:tgtEl>
                                          <p:spTgt spid="19"/>
                                        </p:tgtEl>
                                      </p:cBhvr>
                                    </p:animEffect>
                                  </p:childTnLst>
                                </p:cTn>
                              </p:par>
                              <p:par>
                                <p:cTn id="52" presetID="10" presetClass="entr" presetSubtype="0" fill="hold" grpId="0" nodeType="withEffect">
                                  <p:stCondLst>
                                    <p:cond delay="115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600"/>
                                        <p:tgtEl>
                                          <p:spTgt spid="20"/>
                                        </p:tgtEl>
                                      </p:cBhvr>
                                    </p:animEffect>
                                  </p:childTnLst>
                                </p:cTn>
                              </p:par>
                              <p:par>
                                <p:cTn id="55" presetID="22" presetClass="entr" presetSubtype="8" fill="hold" grpId="0" nodeType="withEffect">
                                  <p:stCondLst>
                                    <p:cond delay="1600"/>
                                  </p:stCondLst>
                                  <p:childTnLst>
                                    <p:set>
                                      <p:cBhvr>
                                        <p:cTn id="56" dur="1" fill="hold">
                                          <p:stCondLst>
                                            <p:cond delay="0"/>
                                          </p:stCondLst>
                                        </p:cTn>
                                        <p:tgtEl>
                                          <p:spTgt spid="9"/>
                                        </p:tgtEl>
                                        <p:attrNameLst>
                                          <p:attrName>style.visibility</p:attrName>
                                        </p:attrNameLst>
                                      </p:cBhvr>
                                      <p:to>
                                        <p:strVal val="visible"/>
                                      </p:to>
                                    </p:set>
                                    <p:animEffect transition="in" filter="wipe(left)">
                                      <p:cBhvr>
                                        <p:cTn id="57" dur="600"/>
                                        <p:tgtEl>
                                          <p:spTgt spid="9"/>
                                        </p:tgtEl>
                                      </p:cBhvr>
                                    </p:animEffect>
                                  </p:childTnLst>
                                </p:cTn>
                              </p:par>
                              <p:par>
                                <p:cTn id="58" presetID="53" presetClass="entr" presetSubtype="16" fill="hold" grpId="0" nodeType="withEffect">
                                  <p:stCondLst>
                                    <p:cond delay="1700"/>
                                  </p:stCondLst>
                                  <p:childTnLst>
                                    <p:set>
                                      <p:cBhvr>
                                        <p:cTn id="59" dur="1" fill="hold">
                                          <p:stCondLst>
                                            <p:cond delay="0"/>
                                          </p:stCondLst>
                                        </p:cTn>
                                        <p:tgtEl>
                                          <p:spTgt spid="21"/>
                                        </p:tgtEl>
                                        <p:attrNameLst>
                                          <p:attrName>style.visibility</p:attrName>
                                        </p:attrNameLst>
                                      </p:cBhvr>
                                      <p:to>
                                        <p:strVal val="visible"/>
                                      </p:to>
                                    </p:set>
                                    <p:anim calcmode="lin" valueType="num">
                                      <p:cBhvr>
                                        <p:cTn id="60" dur="600" fill="hold"/>
                                        <p:tgtEl>
                                          <p:spTgt spid="21"/>
                                        </p:tgtEl>
                                        <p:attrNameLst>
                                          <p:attrName>ppt_w</p:attrName>
                                        </p:attrNameLst>
                                      </p:cBhvr>
                                      <p:tavLst>
                                        <p:tav tm="0">
                                          <p:val>
                                            <p:fltVal val="0"/>
                                          </p:val>
                                        </p:tav>
                                        <p:tav tm="100000">
                                          <p:val>
                                            <p:strVal val="#ppt_w"/>
                                          </p:val>
                                        </p:tav>
                                      </p:tavLst>
                                    </p:anim>
                                    <p:anim calcmode="lin" valueType="num">
                                      <p:cBhvr>
                                        <p:cTn id="61" dur="600" fill="hold"/>
                                        <p:tgtEl>
                                          <p:spTgt spid="21"/>
                                        </p:tgtEl>
                                        <p:attrNameLst>
                                          <p:attrName>ppt_h</p:attrName>
                                        </p:attrNameLst>
                                      </p:cBhvr>
                                      <p:tavLst>
                                        <p:tav tm="0">
                                          <p:val>
                                            <p:fltVal val="0"/>
                                          </p:val>
                                        </p:tav>
                                        <p:tav tm="100000">
                                          <p:val>
                                            <p:strVal val="#ppt_h"/>
                                          </p:val>
                                        </p:tav>
                                      </p:tavLst>
                                    </p:anim>
                                    <p:animEffect transition="in" filter="fade">
                                      <p:cBhvr>
                                        <p:cTn id="62" dur="600"/>
                                        <p:tgtEl>
                                          <p:spTgt spid="21"/>
                                        </p:tgtEl>
                                      </p:cBhvr>
                                    </p:animEffect>
                                  </p:childTnLst>
                                </p:cTn>
                              </p:par>
                              <p:par>
                                <p:cTn id="63" presetID="53" presetClass="entr" presetSubtype="16" fill="hold" grpId="0" nodeType="withEffect">
                                  <p:stCondLst>
                                    <p:cond delay="1700"/>
                                  </p:stCondLst>
                                  <p:childTnLst>
                                    <p:set>
                                      <p:cBhvr>
                                        <p:cTn id="64" dur="1" fill="hold">
                                          <p:stCondLst>
                                            <p:cond delay="0"/>
                                          </p:stCondLst>
                                        </p:cTn>
                                        <p:tgtEl>
                                          <p:spTgt spid="22"/>
                                        </p:tgtEl>
                                        <p:attrNameLst>
                                          <p:attrName>style.visibility</p:attrName>
                                        </p:attrNameLst>
                                      </p:cBhvr>
                                      <p:to>
                                        <p:strVal val="visible"/>
                                      </p:to>
                                    </p:set>
                                    <p:anim calcmode="lin" valueType="num">
                                      <p:cBhvr>
                                        <p:cTn id="65" dur="600" fill="hold"/>
                                        <p:tgtEl>
                                          <p:spTgt spid="22"/>
                                        </p:tgtEl>
                                        <p:attrNameLst>
                                          <p:attrName>ppt_w</p:attrName>
                                        </p:attrNameLst>
                                      </p:cBhvr>
                                      <p:tavLst>
                                        <p:tav tm="0">
                                          <p:val>
                                            <p:fltVal val="0"/>
                                          </p:val>
                                        </p:tav>
                                        <p:tav tm="100000">
                                          <p:val>
                                            <p:strVal val="#ppt_w"/>
                                          </p:val>
                                        </p:tav>
                                      </p:tavLst>
                                    </p:anim>
                                    <p:anim calcmode="lin" valueType="num">
                                      <p:cBhvr>
                                        <p:cTn id="66" dur="600" fill="hold"/>
                                        <p:tgtEl>
                                          <p:spTgt spid="22"/>
                                        </p:tgtEl>
                                        <p:attrNameLst>
                                          <p:attrName>ppt_h</p:attrName>
                                        </p:attrNameLst>
                                      </p:cBhvr>
                                      <p:tavLst>
                                        <p:tav tm="0">
                                          <p:val>
                                            <p:fltVal val="0"/>
                                          </p:val>
                                        </p:tav>
                                        <p:tav tm="100000">
                                          <p:val>
                                            <p:strVal val="#ppt_h"/>
                                          </p:val>
                                        </p:tav>
                                      </p:tavLst>
                                    </p:anim>
                                    <p:animEffect transition="in" filter="fade">
                                      <p:cBhvr>
                                        <p:cTn id="67" dur="600"/>
                                        <p:tgtEl>
                                          <p:spTgt spid="22"/>
                                        </p:tgtEl>
                                      </p:cBhvr>
                                    </p:animEffect>
                                  </p:childTnLst>
                                </p:cTn>
                              </p:par>
                              <p:par>
                                <p:cTn id="68" presetID="10" presetClass="entr" presetSubtype="0" fill="hold" grpId="0" nodeType="withEffect">
                                  <p:stCondLst>
                                    <p:cond delay="18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600"/>
                                        <p:tgtEl>
                                          <p:spTgt spid="23"/>
                                        </p:tgtEl>
                                      </p:cBhvr>
                                    </p:animEffect>
                                  </p:childTnLst>
                                </p:cTn>
                              </p:par>
                              <p:par>
                                <p:cTn id="71" presetID="10" presetClass="entr" presetSubtype="0" fill="hold" grpId="0" nodeType="withEffect">
                                  <p:stCondLst>
                                    <p:cond delay="18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600"/>
                                        <p:tgtEl>
                                          <p:spTgt spid="24"/>
                                        </p:tgtEl>
                                      </p:cBhvr>
                                    </p:animEffect>
                                  </p:childTnLst>
                                </p:cTn>
                              </p:par>
                              <p:par>
                                <p:cTn id="74" presetID="10" presetClass="entr" presetSubtype="0" fill="hold" grpId="0" nodeType="withEffect">
                                  <p:stCondLst>
                                    <p:cond delay="18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600"/>
                                        <p:tgtEl>
                                          <p:spTgt spid="25"/>
                                        </p:tgtEl>
                                      </p:cBhvr>
                                    </p:animEffect>
                                  </p:childTnLst>
                                </p:cTn>
                              </p:par>
                              <p:par>
                                <p:cTn id="77" presetID="22" presetClass="entr" presetSubtype="8" fill="hold" grpId="0" nodeType="withEffect">
                                  <p:stCondLst>
                                    <p:cond delay="2300"/>
                                  </p:stCondLst>
                                  <p:childTnLst>
                                    <p:set>
                                      <p:cBhvr>
                                        <p:cTn id="78" dur="1" fill="hold">
                                          <p:stCondLst>
                                            <p:cond delay="0"/>
                                          </p:stCondLst>
                                        </p:cTn>
                                        <p:tgtEl>
                                          <p:spTgt spid="10"/>
                                        </p:tgtEl>
                                        <p:attrNameLst>
                                          <p:attrName>style.visibility</p:attrName>
                                        </p:attrNameLst>
                                      </p:cBhvr>
                                      <p:to>
                                        <p:strVal val="visible"/>
                                      </p:to>
                                    </p:set>
                                    <p:animEffect transition="in" filter="wipe(left)">
                                      <p:cBhvr>
                                        <p:cTn id="79" dur="600"/>
                                        <p:tgtEl>
                                          <p:spTgt spid="10"/>
                                        </p:tgtEl>
                                      </p:cBhvr>
                                    </p:animEffect>
                                  </p:childTnLst>
                                </p:cTn>
                              </p:par>
                              <p:par>
                                <p:cTn id="80" presetID="53" presetClass="entr" presetSubtype="16" fill="hold" grpId="0" nodeType="withEffect">
                                  <p:stCondLst>
                                    <p:cond delay="2400"/>
                                  </p:stCondLst>
                                  <p:childTnLst>
                                    <p:set>
                                      <p:cBhvr>
                                        <p:cTn id="81" dur="1" fill="hold">
                                          <p:stCondLst>
                                            <p:cond delay="0"/>
                                          </p:stCondLst>
                                        </p:cTn>
                                        <p:tgtEl>
                                          <p:spTgt spid="26"/>
                                        </p:tgtEl>
                                        <p:attrNameLst>
                                          <p:attrName>style.visibility</p:attrName>
                                        </p:attrNameLst>
                                      </p:cBhvr>
                                      <p:to>
                                        <p:strVal val="visible"/>
                                      </p:to>
                                    </p:set>
                                    <p:anim calcmode="lin" valueType="num">
                                      <p:cBhvr>
                                        <p:cTn id="82" dur="600" fill="hold"/>
                                        <p:tgtEl>
                                          <p:spTgt spid="26"/>
                                        </p:tgtEl>
                                        <p:attrNameLst>
                                          <p:attrName>ppt_w</p:attrName>
                                        </p:attrNameLst>
                                      </p:cBhvr>
                                      <p:tavLst>
                                        <p:tav tm="0">
                                          <p:val>
                                            <p:fltVal val="0"/>
                                          </p:val>
                                        </p:tav>
                                        <p:tav tm="100000">
                                          <p:val>
                                            <p:strVal val="#ppt_w"/>
                                          </p:val>
                                        </p:tav>
                                      </p:tavLst>
                                    </p:anim>
                                    <p:anim calcmode="lin" valueType="num">
                                      <p:cBhvr>
                                        <p:cTn id="83" dur="600" fill="hold"/>
                                        <p:tgtEl>
                                          <p:spTgt spid="26"/>
                                        </p:tgtEl>
                                        <p:attrNameLst>
                                          <p:attrName>ppt_h</p:attrName>
                                        </p:attrNameLst>
                                      </p:cBhvr>
                                      <p:tavLst>
                                        <p:tav tm="0">
                                          <p:val>
                                            <p:fltVal val="0"/>
                                          </p:val>
                                        </p:tav>
                                        <p:tav tm="100000">
                                          <p:val>
                                            <p:strVal val="#ppt_h"/>
                                          </p:val>
                                        </p:tav>
                                      </p:tavLst>
                                    </p:anim>
                                    <p:animEffect transition="in" filter="fade">
                                      <p:cBhvr>
                                        <p:cTn id="84" dur="600"/>
                                        <p:tgtEl>
                                          <p:spTgt spid="26"/>
                                        </p:tgtEl>
                                      </p:cBhvr>
                                    </p:animEffect>
                                  </p:childTnLst>
                                </p:cTn>
                              </p:par>
                              <p:par>
                                <p:cTn id="85" presetID="53" presetClass="entr" presetSubtype="16" fill="hold" grpId="0" nodeType="withEffect">
                                  <p:stCondLst>
                                    <p:cond delay="2400"/>
                                  </p:stCondLst>
                                  <p:childTnLst>
                                    <p:set>
                                      <p:cBhvr>
                                        <p:cTn id="86" dur="1" fill="hold">
                                          <p:stCondLst>
                                            <p:cond delay="0"/>
                                          </p:stCondLst>
                                        </p:cTn>
                                        <p:tgtEl>
                                          <p:spTgt spid="27"/>
                                        </p:tgtEl>
                                        <p:attrNameLst>
                                          <p:attrName>style.visibility</p:attrName>
                                        </p:attrNameLst>
                                      </p:cBhvr>
                                      <p:to>
                                        <p:strVal val="visible"/>
                                      </p:to>
                                    </p:set>
                                    <p:anim calcmode="lin" valueType="num">
                                      <p:cBhvr>
                                        <p:cTn id="87" dur="600" fill="hold"/>
                                        <p:tgtEl>
                                          <p:spTgt spid="27"/>
                                        </p:tgtEl>
                                        <p:attrNameLst>
                                          <p:attrName>ppt_w</p:attrName>
                                        </p:attrNameLst>
                                      </p:cBhvr>
                                      <p:tavLst>
                                        <p:tav tm="0">
                                          <p:val>
                                            <p:fltVal val="0"/>
                                          </p:val>
                                        </p:tav>
                                        <p:tav tm="100000">
                                          <p:val>
                                            <p:strVal val="#ppt_w"/>
                                          </p:val>
                                        </p:tav>
                                      </p:tavLst>
                                    </p:anim>
                                    <p:anim calcmode="lin" valueType="num">
                                      <p:cBhvr>
                                        <p:cTn id="88" dur="600" fill="hold"/>
                                        <p:tgtEl>
                                          <p:spTgt spid="27"/>
                                        </p:tgtEl>
                                        <p:attrNameLst>
                                          <p:attrName>ppt_h</p:attrName>
                                        </p:attrNameLst>
                                      </p:cBhvr>
                                      <p:tavLst>
                                        <p:tav tm="0">
                                          <p:val>
                                            <p:fltVal val="0"/>
                                          </p:val>
                                        </p:tav>
                                        <p:tav tm="100000">
                                          <p:val>
                                            <p:strVal val="#ppt_h"/>
                                          </p:val>
                                        </p:tav>
                                      </p:tavLst>
                                    </p:anim>
                                    <p:animEffect transition="in" filter="fade">
                                      <p:cBhvr>
                                        <p:cTn id="89" dur="600"/>
                                        <p:tgtEl>
                                          <p:spTgt spid="27"/>
                                        </p:tgtEl>
                                      </p:cBhvr>
                                    </p:animEffect>
                                  </p:childTnLst>
                                </p:cTn>
                              </p:par>
                              <p:par>
                                <p:cTn id="90" presetID="10" presetClass="entr" presetSubtype="0" fill="hold" grpId="0" nodeType="withEffect">
                                  <p:stCondLst>
                                    <p:cond delay="255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600"/>
                                        <p:tgtEl>
                                          <p:spTgt spid="28"/>
                                        </p:tgtEl>
                                      </p:cBhvr>
                                    </p:animEffect>
                                  </p:childTnLst>
                                </p:cTn>
                              </p:par>
                              <p:par>
                                <p:cTn id="93" presetID="10" presetClass="entr" presetSubtype="0" fill="hold" grpId="0" nodeType="withEffect">
                                  <p:stCondLst>
                                    <p:cond delay="255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600"/>
                                        <p:tgtEl>
                                          <p:spTgt spid="29"/>
                                        </p:tgtEl>
                                      </p:cBhvr>
                                    </p:animEffect>
                                  </p:childTnLst>
                                </p:cTn>
                              </p:par>
                              <p:par>
                                <p:cTn id="96" presetID="10" presetClass="entr" presetSubtype="0" fill="hold" grpId="0" nodeType="withEffect">
                                  <p:stCondLst>
                                    <p:cond delay="2550"/>
                                  </p:stCondLst>
                                  <p:childTnLst>
                                    <p:set>
                                      <p:cBhvr>
                                        <p:cTn id="97" dur="1" fill="hold">
                                          <p:stCondLst>
                                            <p:cond delay="0"/>
                                          </p:stCondLst>
                                        </p:cTn>
                                        <p:tgtEl>
                                          <p:spTgt spid="30"/>
                                        </p:tgtEl>
                                        <p:attrNameLst>
                                          <p:attrName>style.visibility</p:attrName>
                                        </p:attrNameLst>
                                      </p:cBhvr>
                                      <p:to>
                                        <p:strVal val="visible"/>
                                      </p:to>
                                    </p:set>
                                    <p:animEffect transition="in" filter="fade">
                                      <p:cBhvr>
                                        <p:cTn id="98"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2" grpId="0" animBg="1"/>
      <p:bldP spid="14" grpId="0" animBg="1"/>
      <p:bldP spid="15" grpId="0" animBg="1"/>
      <p:bldP spid="17" grpId="0" animBg="1"/>
      <p:bldP spid="19" grpId="0" animBg="1"/>
      <p:bldP spid="20" grpId="0" animBg="1"/>
      <p:bldP spid="22" grpId="0" animBg="1"/>
      <p:bldP spid="24" grpId="0" animBg="1"/>
      <p:bldP spid="25" grpId="0" animBg="1"/>
      <p:bldP spid="27" grpId="0" animBg="1"/>
      <p:bldP spid="29" grpId="0" animBg="1"/>
      <p:bldP spid="3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1094415" y="-1272845"/>
            <a:ext cx="2194560" cy="2194560"/>
          </a:xfrm>
          <a:prstGeom prst="ellipse">
            <a:avLst/>
          </a:prstGeom>
          <a:solidFill>
            <a:srgbClr val="1B3F9E"/>
          </a:solidFill>
          <a:ln w="12700">
            <a:solidFill>
              <a:srgbClr val="1B3F9E"/>
            </a:solidFill>
            <a:prstDash val="solid"/>
          </a:ln>
        </p:spPr>
      </p:sp>
      <p:sp>
        <p:nvSpPr>
          <p:cNvPr id="3" name="!!orbG"/>
          <p:cNvSpPr/>
          <p:nvPr/>
        </p:nvSpPr>
        <p:spPr>
          <a:xfrm>
            <a:off x="-370332" y="6528816"/>
            <a:ext cx="822960" cy="822960"/>
          </a:xfrm>
          <a:prstGeom prst="ellipse">
            <a:avLst/>
          </a:prstGeom>
          <a:solidFill>
            <a:srgbClr val="00923A"/>
          </a:solidFill>
          <a:ln w="12700">
            <a:solidFill>
              <a:srgbClr val="00923A"/>
            </a:solidFill>
            <a:prstDash val="solid"/>
          </a:ln>
        </p:spPr>
      </p:sp>
      <p:sp>
        <p:nvSpPr>
          <p:cNvPr id="4" name="!!orbY"/>
          <p:cNvSpPr/>
          <p:nvPr/>
        </p:nvSpPr>
        <p:spPr>
          <a:xfrm>
            <a:off x="10972800" y="-914400"/>
            <a:ext cx="1463040" cy="1463040"/>
          </a:xfrm>
          <a:prstGeom prst="ellipse">
            <a:avLst/>
          </a:prstGeom>
          <a:solidFill>
            <a:srgbClr val="FFFFFF">
              <a:alpha val="0"/>
            </a:srgbClr>
          </a:solidFill>
          <a:ln w="12192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POUR LA POPULATION</a:t>
            </a:r>
            <a:endParaRPr lang="fr-FR" sz="1200" dirty="0"/>
          </a:p>
        </p:txBody>
      </p:sp>
      <p:sp>
        <p:nvSpPr>
          <p:cNvPr id="6" name="title"/>
          <p:cNvSpPr txBox="1"/>
          <p:nvPr/>
        </p:nvSpPr>
        <p:spPr>
          <a:xfrm>
            <a:off x="640080" y="777240"/>
            <a:ext cx="916914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Ce que les habitants y gagnent</a:t>
            </a:r>
            <a:endParaRPr lang="fr-FR" sz="3200" dirty="0"/>
          </a:p>
        </p:txBody>
      </p:sp>
      <p:sp>
        <p:nvSpPr>
          <p:cNvPr id="7" name="b0"/>
          <p:cNvSpPr/>
          <p:nvPr/>
        </p:nvSpPr>
        <p:spPr>
          <a:xfrm>
            <a:off x="640080" y="1874520"/>
            <a:ext cx="2619756" cy="1828800"/>
          </a:xfrm>
          <a:prstGeom prst="roundRect">
            <a:avLst>
              <a:gd name="adj" fmla="val 6000"/>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8" name="bi0c"/>
          <p:cNvSpPr/>
          <p:nvPr/>
        </p:nvSpPr>
        <p:spPr>
          <a:xfrm>
            <a:off x="858393" y="2103120"/>
            <a:ext cx="611276" cy="640080"/>
          </a:xfrm>
          <a:prstGeom prst="ellipse">
            <a:avLst/>
          </a:prstGeom>
          <a:solidFill>
            <a:srgbClr val="1B3F9E"/>
          </a:solidFill>
          <a:ln w="12700">
            <a:solidFill>
              <a:srgbClr val="1B3F9E"/>
            </a:solidFill>
            <a:prstDash val="solid"/>
          </a:ln>
        </p:spPr>
      </p:sp>
      <p:pic>
        <p:nvPicPr>
          <p:cNvPr id="9" name="bi0i" descr="preencoded.png">    </p:cNvPr>
          <p:cNvPicPr>
            <a:picLocks noChangeAspect="1"/>
          </p:cNvPicPr>
          <p:nvPr/>
        </p:nvPicPr>
        <p:blipFill>
          <a:blip r:embed="rId1"/>
          <a:stretch>
            <a:fillRect/>
          </a:stretch>
        </p:blipFill>
        <p:spPr>
          <a:xfrm>
            <a:off x="1017325" y="2269541"/>
            <a:ext cx="293413" cy="307238"/>
          </a:xfrm>
          <a:prstGeom prst="rect">
            <a:avLst/>
          </a:prstGeom>
        </p:spPr>
      </p:pic>
      <p:sp>
        <p:nvSpPr>
          <p:cNvPr id="10" name="bt0"/>
          <p:cNvSpPr txBox="1"/>
          <p:nvPr/>
        </p:nvSpPr>
        <p:spPr>
          <a:xfrm>
            <a:off x="858393" y="2834640"/>
            <a:ext cx="2270455" cy="777240"/>
          </a:xfrm>
          <a:prstGeom prst="rect">
            <a:avLst/>
          </a:prstGeom>
          <a:noFill/>
          <a:ln/>
        </p:spPr>
        <p:txBody>
          <a:bodyPr wrap="square" lIns="0" tIns="0" rIns="0" bIns="0" rtlCol="0" anchor="t"/>
          <a:lstStyle/>
          <a:p>
            <a:pPr indent="0" marL="0">
              <a:buNone/>
            </a:pPr>
            <a:r>
              <a:rPr lang="fr-FR" altLang="en-US" sz="1600" b="1" dirty="0">
                <a:solidFill>
                  <a:srgbClr val="0E1C46"/>
                </a:solidFill>
                <a:latin typeface="Calibri" pitchFamily="34" charset="0"/>
                <a:ea typeface="Calibri" pitchFamily="34" charset="-122"/>
                <a:cs typeface="Calibri" pitchFamily="34" charset="-120"/>
              </a:rPr>
              <a:t>Savoir où en est son dossier</a:t>
            </a:r>
            <a:endParaRPr lang="fr-FR" sz="1600" dirty="0"/>
          </a:p>
          <a:p>
            <a:pPr indent="0" marL="0">
              <a:buNone/>
            </a:pPr>
            <a:r>
              <a:rPr lang="fr-FR" altLang="en-US" sz="1300" dirty="0">
                <a:solidFill>
                  <a:srgbClr val="56617C"/>
                </a:solidFill>
                <a:latin typeface="Calibri" pitchFamily="34" charset="0"/>
                <a:ea typeface="Calibri" pitchFamily="34" charset="-122"/>
                <a:cs typeface="Calibri" pitchFamily="34" charset="-120"/>
              </a:rPr>
              <a:t>Grâce au numéro remis au dépôt.</a:t>
            </a:r>
            <a:endParaRPr lang="fr-FR" sz="1600" dirty="0"/>
          </a:p>
        </p:txBody>
      </p:sp>
      <p:sp>
        <p:nvSpPr>
          <p:cNvPr id="11" name="b1"/>
          <p:cNvSpPr/>
          <p:nvPr/>
        </p:nvSpPr>
        <p:spPr>
          <a:xfrm>
            <a:off x="3478149" y="1874520"/>
            <a:ext cx="2619756" cy="1828800"/>
          </a:xfrm>
          <a:prstGeom prst="roundRect">
            <a:avLst>
              <a:gd name="adj" fmla="val 6000"/>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2" name="bi1c"/>
          <p:cNvSpPr/>
          <p:nvPr/>
        </p:nvSpPr>
        <p:spPr>
          <a:xfrm>
            <a:off x="3696462" y="2103120"/>
            <a:ext cx="611276" cy="640080"/>
          </a:xfrm>
          <a:prstGeom prst="ellipse">
            <a:avLst/>
          </a:prstGeom>
          <a:solidFill>
            <a:srgbClr val="00923A"/>
          </a:solidFill>
          <a:ln w="12700">
            <a:solidFill>
              <a:srgbClr val="00923A"/>
            </a:solidFill>
            <a:prstDash val="solid"/>
          </a:ln>
        </p:spPr>
      </p:sp>
      <p:pic>
        <p:nvPicPr>
          <p:cNvPr id="13" name="bi1i" descr="preencoded.png">    </p:cNvPr>
          <p:cNvPicPr>
            <a:picLocks noChangeAspect="1"/>
          </p:cNvPicPr>
          <p:nvPr/>
        </p:nvPicPr>
        <p:blipFill>
          <a:blip r:embed="rId2"/>
          <a:stretch>
            <a:fillRect/>
          </a:stretch>
        </p:blipFill>
        <p:spPr>
          <a:xfrm>
            <a:off x="3855394" y="2269541"/>
            <a:ext cx="293413" cy="307238"/>
          </a:xfrm>
          <a:prstGeom prst="rect">
            <a:avLst/>
          </a:prstGeom>
        </p:spPr>
      </p:pic>
      <p:sp>
        <p:nvSpPr>
          <p:cNvPr id="14" name="bt1"/>
          <p:cNvSpPr txBox="1"/>
          <p:nvPr/>
        </p:nvSpPr>
        <p:spPr>
          <a:xfrm>
            <a:off x="3696462" y="2834640"/>
            <a:ext cx="2270455" cy="777240"/>
          </a:xfrm>
          <a:prstGeom prst="rect">
            <a:avLst/>
          </a:prstGeom>
          <a:noFill/>
          <a:ln/>
        </p:spPr>
        <p:txBody>
          <a:bodyPr wrap="square" lIns="0" tIns="0" rIns="0" bIns="0" rtlCol="0" anchor="t"/>
          <a:lstStyle/>
          <a:p>
            <a:pPr indent="0" marL="0">
              <a:buNone/>
            </a:pPr>
            <a:r>
              <a:rPr lang="fr-FR" altLang="en-US" sz="1600" b="1" dirty="0">
                <a:solidFill>
                  <a:srgbClr val="0E1C46"/>
                </a:solidFill>
                <a:latin typeface="Calibri" pitchFamily="34" charset="0"/>
                <a:ea typeface="Calibri" pitchFamily="34" charset="-122"/>
                <a:cs typeface="Calibri" pitchFamily="34" charset="-120"/>
              </a:rPr>
              <a:t>Moins d’allers-retours</a:t>
            </a:r>
            <a:endParaRPr lang="fr-FR" sz="1600" dirty="0"/>
          </a:p>
          <a:p>
            <a:pPr indent="0" marL="0">
              <a:buNone/>
            </a:pPr>
            <a:r>
              <a:rPr lang="fr-FR" altLang="en-US" sz="1300" dirty="0">
                <a:solidFill>
                  <a:srgbClr val="56617C"/>
                </a:solidFill>
                <a:latin typeface="Calibri" pitchFamily="34" charset="0"/>
                <a:ea typeface="Calibri" pitchFamily="34" charset="-122"/>
                <a:cs typeface="Calibri" pitchFamily="34" charset="-120"/>
              </a:rPr>
              <a:t>Plus besoin de revenir pour des nouvelles.</a:t>
            </a:r>
            <a:endParaRPr lang="fr-FR" sz="1600" dirty="0"/>
          </a:p>
        </p:txBody>
      </p:sp>
      <p:sp>
        <p:nvSpPr>
          <p:cNvPr id="15" name="b2"/>
          <p:cNvSpPr/>
          <p:nvPr/>
        </p:nvSpPr>
        <p:spPr>
          <a:xfrm>
            <a:off x="6316218" y="1874520"/>
            <a:ext cx="2619756" cy="1828800"/>
          </a:xfrm>
          <a:prstGeom prst="roundRect">
            <a:avLst>
              <a:gd name="adj" fmla="val 6000"/>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16" name="bi2c"/>
          <p:cNvSpPr/>
          <p:nvPr/>
        </p:nvSpPr>
        <p:spPr>
          <a:xfrm>
            <a:off x="6534531" y="2103120"/>
            <a:ext cx="611276" cy="640080"/>
          </a:xfrm>
          <a:prstGeom prst="ellipse">
            <a:avLst/>
          </a:prstGeom>
          <a:solidFill>
            <a:srgbClr val="E2A400"/>
          </a:solidFill>
          <a:ln w="12700">
            <a:solidFill>
              <a:srgbClr val="E2A400"/>
            </a:solidFill>
            <a:prstDash val="solid"/>
          </a:ln>
        </p:spPr>
      </p:sp>
      <p:pic>
        <p:nvPicPr>
          <p:cNvPr id="17" name="bi2i" descr="preencoded.png">    </p:cNvPr>
          <p:cNvPicPr>
            <a:picLocks noChangeAspect="1"/>
          </p:cNvPicPr>
          <p:nvPr/>
        </p:nvPicPr>
        <p:blipFill>
          <a:blip r:embed="rId3"/>
          <a:stretch>
            <a:fillRect/>
          </a:stretch>
        </p:blipFill>
        <p:spPr>
          <a:xfrm>
            <a:off x="6693463" y="2269541"/>
            <a:ext cx="293413" cy="307238"/>
          </a:xfrm>
          <a:prstGeom prst="rect">
            <a:avLst/>
          </a:prstGeom>
        </p:spPr>
      </p:pic>
      <p:sp>
        <p:nvSpPr>
          <p:cNvPr id="18" name="bt2"/>
          <p:cNvSpPr txBox="1"/>
          <p:nvPr/>
        </p:nvSpPr>
        <p:spPr>
          <a:xfrm>
            <a:off x="6534531" y="2834640"/>
            <a:ext cx="2270455" cy="777240"/>
          </a:xfrm>
          <a:prstGeom prst="rect">
            <a:avLst/>
          </a:prstGeom>
          <a:noFill/>
          <a:ln/>
        </p:spPr>
        <p:txBody>
          <a:bodyPr wrap="square" lIns="0" tIns="0" rIns="0" bIns="0" rtlCol="0" anchor="t"/>
          <a:lstStyle/>
          <a:p>
            <a:pPr indent="0" marL="0">
              <a:buNone/>
            </a:pPr>
            <a:r>
              <a:rPr lang="fr-FR" altLang="en-US" sz="1600" b="1" dirty="0">
                <a:solidFill>
                  <a:srgbClr val="0E1C46"/>
                </a:solidFill>
                <a:latin typeface="Calibri" pitchFamily="34" charset="0"/>
                <a:ea typeface="Calibri" pitchFamily="34" charset="-122"/>
                <a:cs typeface="Calibri" pitchFamily="34" charset="-120"/>
              </a:rPr>
              <a:t>Des réponses plus rapides</a:t>
            </a:r>
            <a:endParaRPr lang="fr-FR" sz="1600" dirty="0"/>
          </a:p>
          <a:p>
            <a:pPr indent="0" marL="0">
              <a:buNone/>
            </a:pPr>
            <a:r>
              <a:rPr lang="fr-FR" altLang="en-US" sz="1300" dirty="0">
                <a:solidFill>
                  <a:srgbClr val="56617C"/>
                </a:solidFill>
                <a:latin typeface="Calibri" pitchFamily="34" charset="0"/>
                <a:ea typeface="Calibri" pitchFamily="34" charset="-122"/>
                <a:cs typeface="Calibri" pitchFamily="34" charset="-120"/>
              </a:rPr>
              <a:t>Transmissions immédiates, retards repérés.</a:t>
            </a:r>
            <a:endParaRPr lang="fr-FR" sz="1600" dirty="0"/>
          </a:p>
        </p:txBody>
      </p:sp>
      <p:sp>
        <p:nvSpPr>
          <p:cNvPr id="19" name="b3"/>
          <p:cNvSpPr/>
          <p:nvPr/>
        </p:nvSpPr>
        <p:spPr>
          <a:xfrm>
            <a:off x="640080" y="3931920"/>
            <a:ext cx="2619756" cy="1828800"/>
          </a:xfrm>
          <a:prstGeom prst="roundRect">
            <a:avLst>
              <a:gd name="adj" fmla="val 6000"/>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0" name="bi3c"/>
          <p:cNvSpPr/>
          <p:nvPr/>
        </p:nvSpPr>
        <p:spPr>
          <a:xfrm>
            <a:off x="858393" y="4160520"/>
            <a:ext cx="611276" cy="640080"/>
          </a:xfrm>
          <a:prstGeom prst="ellipse">
            <a:avLst/>
          </a:prstGeom>
          <a:solidFill>
            <a:srgbClr val="1B3F9E"/>
          </a:solidFill>
          <a:ln w="12700">
            <a:solidFill>
              <a:srgbClr val="1B3F9E"/>
            </a:solidFill>
            <a:prstDash val="solid"/>
          </a:ln>
        </p:spPr>
      </p:sp>
      <p:pic>
        <p:nvPicPr>
          <p:cNvPr id="21" name="bi3i" descr="preencoded.png">    </p:cNvPr>
          <p:cNvPicPr>
            <a:picLocks noChangeAspect="1"/>
          </p:cNvPicPr>
          <p:nvPr/>
        </p:nvPicPr>
        <p:blipFill>
          <a:blip r:embed="rId4"/>
          <a:stretch>
            <a:fillRect/>
          </a:stretch>
        </p:blipFill>
        <p:spPr>
          <a:xfrm>
            <a:off x="1017325" y="4326941"/>
            <a:ext cx="293413" cy="307238"/>
          </a:xfrm>
          <a:prstGeom prst="rect">
            <a:avLst/>
          </a:prstGeom>
        </p:spPr>
      </p:pic>
      <p:sp>
        <p:nvSpPr>
          <p:cNvPr id="22" name="bt3"/>
          <p:cNvSpPr txBox="1"/>
          <p:nvPr/>
        </p:nvSpPr>
        <p:spPr>
          <a:xfrm>
            <a:off x="858393" y="4892040"/>
            <a:ext cx="2270455" cy="777240"/>
          </a:xfrm>
          <a:prstGeom prst="rect">
            <a:avLst/>
          </a:prstGeom>
          <a:noFill/>
          <a:ln/>
        </p:spPr>
        <p:txBody>
          <a:bodyPr wrap="square" lIns="0" tIns="0" rIns="0" bIns="0" rtlCol="0" anchor="t"/>
          <a:lstStyle/>
          <a:p>
            <a:pPr indent="0" marL="0">
              <a:buNone/>
            </a:pPr>
            <a:r>
              <a:rPr lang="fr-FR" altLang="en-US" sz="1600" b="1" dirty="0">
                <a:solidFill>
                  <a:srgbClr val="0E1C46"/>
                </a:solidFill>
                <a:latin typeface="Calibri" pitchFamily="34" charset="0"/>
                <a:ea typeface="Calibri" pitchFamily="34" charset="-122"/>
                <a:cs typeface="Calibri" pitchFamily="34" charset="-120"/>
              </a:rPr>
              <a:t>Aucun dossier oublié</a:t>
            </a:r>
            <a:endParaRPr lang="fr-FR" sz="1600" dirty="0"/>
          </a:p>
          <a:p>
            <a:pPr indent="0" marL="0">
              <a:buNone/>
            </a:pPr>
            <a:r>
              <a:rPr lang="fr-FR" altLang="en-US" sz="1300" dirty="0">
                <a:solidFill>
                  <a:srgbClr val="56617C"/>
                </a:solidFill>
                <a:latin typeface="Calibri" pitchFamily="34" charset="0"/>
                <a:ea typeface="Calibri" pitchFamily="34" charset="-122"/>
                <a:cs typeface="Calibri" pitchFamily="34" charset="-120"/>
              </a:rPr>
              <a:t>Chaque demande est enregistrée et visible.</a:t>
            </a:r>
            <a:endParaRPr lang="fr-FR" sz="1600" dirty="0"/>
          </a:p>
        </p:txBody>
      </p:sp>
      <p:sp>
        <p:nvSpPr>
          <p:cNvPr id="23" name="b4"/>
          <p:cNvSpPr/>
          <p:nvPr/>
        </p:nvSpPr>
        <p:spPr>
          <a:xfrm>
            <a:off x="3478149" y="3931920"/>
            <a:ext cx="2619756" cy="1828800"/>
          </a:xfrm>
          <a:prstGeom prst="roundRect">
            <a:avLst>
              <a:gd name="adj" fmla="val 6000"/>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4" name="bi4c"/>
          <p:cNvSpPr/>
          <p:nvPr/>
        </p:nvSpPr>
        <p:spPr>
          <a:xfrm>
            <a:off x="3696462" y="4160520"/>
            <a:ext cx="611276" cy="640080"/>
          </a:xfrm>
          <a:prstGeom prst="ellipse">
            <a:avLst/>
          </a:prstGeom>
          <a:solidFill>
            <a:srgbClr val="00923A"/>
          </a:solidFill>
          <a:ln w="12700">
            <a:solidFill>
              <a:srgbClr val="00923A"/>
            </a:solidFill>
            <a:prstDash val="solid"/>
          </a:ln>
        </p:spPr>
      </p:sp>
      <p:pic>
        <p:nvPicPr>
          <p:cNvPr id="25" name="bi4i" descr="preencoded.png">    </p:cNvPr>
          <p:cNvPicPr>
            <a:picLocks noChangeAspect="1"/>
          </p:cNvPicPr>
          <p:nvPr/>
        </p:nvPicPr>
        <p:blipFill>
          <a:blip r:embed="rId5"/>
          <a:stretch>
            <a:fillRect/>
          </a:stretch>
        </p:blipFill>
        <p:spPr>
          <a:xfrm>
            <a:off x="3855394" y="4326941"/>
            <a:ext cx="293413" cy="307238"/>
          </a:xfrm>
          <a:prstGeom prst="rect">
            <a:avLst/>
          </a:prstGeom>
        </p:spPr>
      </p:pic>
      <p:sp>
        <p:nvSpPr>
          <p:cNvPr id="26" name="bt4"/>
          <p:cNvSpPr txBox="1"/>
          <p:nvPr/>
        </p:nvSpPr>
        <p:spPr>
          <a:xfrm>
            <a:off x="3696462" y="4892040"/>
            <a:ext cx="2270455" cy="777240"/>
          </a:xfrm>
          <a:prstGeom prst="rect">
            <a:avLst/>
          </a:prstGeom>
          <a:noFill/>
          <a:ln/>
        </p:spPr>
        <p:txBody>
          <a:bodyPr wrap="square" lIns="0" tIns="0" rIns="0" bIns="0" rtlCol="0" anchor="t"/>
          <a:lstStyle/>
          <a:p>
            <a:pPr indent="0" marL="0">
              <a:buNone/>
            </a:pPr>
            <a:r>
              <a:rPr lang="fr-FR" altLang="en-US" sz="1600" b="1" dirty="0">
                <a:solidFill>
                  <a:srgbClr val="0E1C46"/>
                </a:solidFill>
                <a:latin typeface="Calibri" pitchFamily="34" charset="0"/>
                <a:ea typeface="Calibri" pitchFamily="34" charset="-122"/>
                <a:cs typeface="Calibri" pitchFamily="34" charset="-120"/>
              </a:rPr>
              <a:t>Une mairie transparente</a:t>
            </a:r>
            <a:endParaRPr lang="fr-FR" sz="1600" dirty="0"/>
          </a:p>
          <a:p>
            <a:pPr indent="0" marL="0">
              <a:buNone/>
            </a:pPr>
            <a:r>
              <a:rPr lang="fr-FR" altLang="en-US" sz="1300" dirty="0">
                <a:solidFill>
                  <a:srgbClr val="56617C"/>
                </a:solidFill>
                <a:latin typeface="Calibri" pitchFamily="34" charset="0"/>
                <a:ea typeface="Calibri" pitchFamily="34" charset="-122"/>
                <a:cs typeface="Calibri" pitchFamily="34" charset="-120"/>
              </a:rPr>
              <a:t>Des délais mesurés et suivis.</a:t>
            </a:r>
            <a:endParaRPr lang="fr-FR" sz="1600" dirty="0"/>
          </a:p>
        </p:txBody>
      </p:sp>
      <p:sp>
        <p:nvSpPr>
          <p:cNvPr id="27" name="b5"/>
          <p:cNvSpPr/>
          <p:nvPr/>
        </p:nvSpPr>
        <p:spPr>
          <a:xfrm>
            <a:off x="6316218" y="3931920"/>
            <a:ext cx="2619756" cy="1828800"/>
          </a:xfrm>
          <a:prstGeom prst="roundRect">
            <a:avLst>
              <a:gd name="adj" fmla="val 6000"/>
            </a:avLst>
          </a:prstGeom>
          <a:solidFill>
            <a:srgbClr val="FFFFFF"/>
          </a:solidFill>
          <a:ln w="12700">
            <a:solidFill>
              <a:srgbClr val="DDE3EE"/>
            </a:solidFill>
            <a:prstDash val="solid"/>
          </a:ln>
          <a:effectLst>
            <a:outerShdw sx="100000" sy="100000" kx="0" ky="0" algn="bl" rotWithShape="0" blurRad="177800" dist="38100" dir="5400000">
              <a:srgbClr val="0E1C46">
                <a:alpha val="10000"/>
              </a:srgbClr>
            </a:outerShdw>
          </a:effectLst>
        </p:spPr>
      </p:sp>
      <p:sp>
        <p:nvSpPr>
          <p:cNvPr id="28" name="bi5c"/>
          <p:cNvSpPr/>
          <p:nvPr/>
        </p:nvSpPr>
        <p:spPr>
          <a:xfrm>
            <a:off x="6534531" y="4160520"/>
            <a:ext cx="611276" cy="640080"/>
          </a:xfrm>
          <a:prstGeom prst="ellipse">
            <a:avLst/>
          </a:prstGeom>
          <a:solidFill>
            <a:srgbClr val="E2A400"/>
          </a:solidFill>
          <a:ln w="12700">
            <a:solidFill>
              <a:srgbClr val="E2A400"/>
            </a:solidFill>
            <a:prstDash val="solid"/>
          </a:ln>
        </p:spPr>
      </p:sp>
      <p:pic>
        <p:nvPicPr>
          <p:cNvPr id="29" name="bi5i" descr="preencoded.png">    </p:cNvPr>
          <p:cNvPicPr>
            <a:picLocks noChangeAspect="1"/>
          </p:cNvPicPr>
          <p:nvPr/>
        </p:nvPicPr>
        <p:blipFill>
          <a:blip r:embed="rId6"/>
          <a:stretch>
            <a:fillRect/>
          </a:stretch>
        </p:blipFill>
        <p:spPr>
          <a:xfrm>
            <a:off x="6693463" y="4326941"/>
            <a:ext cx="293413" cy="307238"/>
          </a:xfrm>
          <a:prstGeom prst="rect">
            <a:avLst/>
          </a:prstGeom>
        </p:spPr>
      </p:pic>
      <p:sp>
        <p:nvSpPr>
          <p:cNvPr id="30" name="bt5"/>
          <p:cNvSpPr txBox="1"/>
          <p:nvPr/>
        </p:nvSpPr>
        <p:spPr>
          <a:xfrm>
            <a:off x="6534531" y="4892040"/>
            <a:ext cx="2270455" cy="777240"/>
          </a:xfrm>
          <a:prstGeom prst="rect">
            <a:avLst/>
          </a:prstGeom>
          <a:noFill/>
          <a:ln/>
        </p:spPr>
        <p:txBody>
          <a:bodyPr wrap="square" lIns="0" tIns="0" rIns="0" bIns="0" rtlCol="0" anchor="t"/>
          <a:lstStyle/>
          <a:p>
            <a:pPr indent="0" marL="0">
              <a:buNone/>
            </a:pPr>
            <a:r>
              <a:rPr lang="fr-FR" altLang="en-US" sz="1600" b="1" dirty="0">
                <a:solidFill>
                  <a:srgbClr val="0E1C46"/>
                </a:solidFill>
                <a:latin typeface="Calibri" pitchFamily="34" charset="0"/>
                <a:ea typeface="Calibri" pitchFamily="34" charset="-122"/>
                <a:cs typeface="Calibri" pitchFamily="34" charset="-120"/>
              </a:rPr>
              <a:t>Des documents protégés</a:t>
            </a:r>
            <a:endParaRPr lang="fr-FR" sz="1600" dirty="0"/>
          </a:p>
          <a:p>
            <a:pPr indent="0" marL="0">
              <a:buNone/>
            </a:pPr>
            <a:r>
              <a:rPr lang="fr-FR" altLang="en-US" sz="1300" dirty="0">
                <a:solidFill>
                  <a:srgbClr val="56617C"/>
                </a:solidFill>
                <a:latin typeface="Calibri" pitchFamily="34" charset="0"/>
                <a:ea typeface="Calibri" pitchFamily="34" charset="-122"/>
                <a:cs typeface="Calibri" pitchFamily="34" charset="-120"/>
              </a:rPr>
              <a:t>Archives numérisées et sauvegardées.</a:t>
            </a:r>
            <a:endParaRPr lang="fr-FR" sz="1600" dirty="0"/>
          </a:p>
        </p:txBody>
      </p:sp>
      <p:pic>
        <p:nvPicPr>
          <p:cNvPr id="31" name="!!flogo" descr="preencoded.png">    </p:cNvPr>
          <p:cNvPicPr>
            <a:picLocks noChangeAspect="1"/>
          </p:cNvPicPr>
          <p:nvPr/>
        </p:nvPicPr>
        <p:blipFill>
          <a:blip r:embed="rId7"/>
          <a:stretch>
            <a:fillRect/>
          </a:stretch>
        </p:blipFill>
        <p:spPr>
          <a:xfrm>
            <a:off x="640080" y="6382512"/>
            <a:ext cx="329184" cy="274320"/>
          </a:xfrm>
          <a:prstGeom prst="rect">
            <a:avLst/>
          </a:prstGeom>
        </p:spPr>
      </p:pic>
      <p:sp>
        <p:nvSpPr>
          <p:cNvPr id="32"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33"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20 / 22</a:t>
            </a:r>
            <a:endParaRPr lang="fr-FR" sz="1000" dirty="0"/>
          </a:p>
        </p:txBody>
      </p:sp>
      <p:sp>
        <p:nvSpPr>
          <p:cNvPr id="34"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35" name="!!railline"/>
          <p:cNvSpPr/>
          <p:nvPr/>
        </p:nvSpPr>
        <p:spPr>
          <a:xfrm>
            <a:off x="11795760" y="1600200"/>
            <a:ext cx="914" cy="3383280"/>
          </a:xfrm>
          <a:prstGeom prst="line">
            <a:avLst/>
          </a:prstGeom>
          <a:noFill/>
          <a:ln w="25400">
            <a:solidFill>
              <a:srgbClr val="DDE3EE"/>
            </a:solidFill>
            <a:prstDash val="solid"/>
          </a:ln>
        </p:spPr>
      </p:sp>
      <p:sp>
        <p:nvSpPr>
          <p:cNvPr id="36" name="!!railprog"/>
          <p:cNvSpPr/>
          <p:nvPr/>
        </p:nvSpPr>
        <p:spPr>
          <a:xfrm>
            <a:off x="11795760" y="1600200"/>
            <a:ext cx="914" cy="3383280"/>
          </a:xfrm>
          <a:prstGeom prst="line">
            <a:avLst/>
          </a:prstGeom>
          <a:noFill/>
          <a:ln w="38100">
            <a:solidFill>
              <a:srgbClr val="00923A"/>
            </a:solidFill>
            <a:prstDash val="solid"/>
          </a:ln>
        </p:spPr>
      </p:sp>
      <p:sp>
        <p:nvSpPr>
          <p:cNvPr id="37" name="!!mact"/>
          <p:cNvSpPr/>
          <p:nvPr/>
        </p:nvSpPr>
        <p:spPr>
          <a:xfrm>
            <a:off x="11494008" y="4681728"/>
            <a:ext cx="603504" cy="603504"/>
          </a:xfrm>
          <a:prstGeom prst="ellipse">
            <a:avLst/>
          </a:prstGeom>
          <a:solidFill>
            <a:srgbClr val="FFFFFF">
              <a:alpha val="0"/>
            </a:srgbClr>
          </a:solidFill>
          <a:ln w="38100">
            <a:solidFill>
              <a:srgbClr val="FCC600"/>
            </a:solidFill>
            <a:prstDash val="solid"/>
          </a:ln>
        </p:spPr>
      </p:sp>
      <p:sp>
        <p:nvSpPr>
          <p:cNvPr id="38"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9" name="!!mt1">
            <a:hlinkClick r:id="rId8"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8"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40"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41" name="!!mt2">
            <a:hlinkClick r:id="rId9"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9"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42"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43" name="!!mt3">
            <a:hlinkClick r:id="rId10"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0"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44"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45" name="!!mt4">
            <a:hlinkClick r:id="rId11"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1"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46" name="!!m5"/>
          <p:cNvSpPr/>
          <p:nvPr/>
        </p:nvSpPr>
        <p:spPr>
          <a:xfrm>
            <a:off x="11594592" y="4105656"/>
            <a:ext cx="402336" cy="402336"/>
          </a:xfrm>
          <a:prstGeom prst="ellipse">
            <a:avLst/>
          </a:prstGeom>
          <a:solidFill>
            <a:srgbClr val="00923A"/>
          </a:solidFill>
          <a:ln w="19050">
            <a:solidFill>
              <a:srgbClr val="00923A"/>
            </a:solidFill>
            <a:prstDash val="solid"/>
          </a:ln>
        </p:spPr>
      </p:sp>
      <p:sp>
        <p:nvSpPr>
          <p:cNvPr id="47" name="!!mt5">
            <a:hlinkClick r:id="rId12"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2"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48" name="!!m6"/>
          <p:cNvSpPr/>
          <p:nvPr/>
        </p:nvSpPr>
        <p:spPr>
          <a:xfrm>
            <a:off x="11594592" y="4782312"/>
            <a:ext cx="402336" cy="402336"/>
          </a:xfrm>
          <a:prstGeom prst="ellipse">
            <a:avLst/>
          </a:prstGeom>
          <a:solidFill>
            <a:srgbClr val="1B3F9E"/>
          </a:solidFill>
          <a:ln w="19050">
            <a:solidFill>
              <a:srgbClr val="1B3F9E"/>
            </a:solidFill>
            <a:prstDash val="solid"/>
          </a:ln>
        </p:spPr>
      </p:sp>
      <p:sp>
        <p:nvSpPr>
          <p:cNvPr id="49" name="!!mt6">
            <a:hlinkClick r:id="rId13"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13"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50"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SOLUTIONS ET CONCLUSION</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53" presetClass="entr" presetSubtype="16"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p:tgtEl>
                                          <p:spTgt spid="8"/>
                                        </p:tgtEl>
                                        <p:attrNameLst>
                                          <p:attrName>ppt_w</p:attrName>
                                        </p:attrNameLst>
                                      </p:cBhvr>
                                      <p:tavLst>
                                        <p:tav tm="0">
                                          <p:val>
                                            <p:fltVal val="0"/>
                                          </p:val>
                                        </p:tav>
                                        <p:tav tm="100000">
                                          <p:val>
                                            <p:strVal val="#ppt_w"/>
                                          </p:val>
                                        </p:tav>
                                      </p:tavLst>
                                    </p:anim>
                                    <p:anim calcmode="lin" valueType="num">
                                      <p:cBhvr>
                                        <p:cTn id="17" dur="600" fill="hold"/>
                                        <p:tgtEl>
                                          <p:spTgt spid="8"/>
                                        </p:tgtEl>
                                        <p:attrNameLst>
                                          <p:attrName>ppt_h</p:attrName>
                                        </p:attrNameLst>
                                      </p:cBhvr>
                                      <p:tavLst>
                                        <p:tav tm="0">
                                          <p:val>
                                            <p:fltVal val="0"/>
                                          </p:val>
                                        </p:tav>
                                        <p:tav tm="100000">
                                          <p:val>
                                            <p:strVal val="#ppt_h"/>
                                          </p:val>
                                        </p:tav>
                                      </p:tavLst>
                                    </p:anim>
                                    <p:animEffect transition="in" filter="fade">
                                      <p:cBhvr>
                                        <p:cTn id="18" dur="600"/>
                                        <p:tgtEl>
                                          <p:spTgt spid="8"/>
                                        </p:tgtEl>
                                      </p:cBhvr>
                                    </p:animEffect>
                                  </p:childTnLst>
                                </p:cTn>
                              </p:par>
                              <p:par>
                                <p:cTn id="19" presetID="53" presetClass="entr" presetSubtype="16" fill="hold" grpId="0" nodeType="withEffect">
                                  <p:stCondLst>
                                    <p:cond delay="200"/>
                                  </p:stCondLst>
                                  <p:childTnLst>
                                    <p:set>
                                      <p:cBhvr>
                                        <p:cTn id="20" dur="1" fill="hold">
                                          <p:stCondLst>
                                            <p:cond delay="0"/>
                                          </p:stCondLst>
                                        </p:cTn>
                                        <p:tgtEl>
                                          <p:spTgt spid="9"/>
                                        </p:tgtEl>
                                        <p:attrNameLst>
                                          <p:attrName>style.visibility</p:attrName>
                                        </p:attrNameLst>
                                      </p:cBhvr>
                                      <p:to>
                                        <p:strVal val="visible"/>
                                      </p:to>
                                    </p:set>
                                    <p:anim calcmode="lin" valueType="num">
                                      <p:cBhvr>
                                        <p:cTn id="21" dur="600" fill="hold"/>
                                        <p:tgtEl>
                                          <p:spTgt spid="9"/>
                                        </p:tgtEl>
                                        <p:attrNameLst>
                                          <p:attrName>ppt_w</p:attrName>
                                        </p:attrNameLst>
                                      </p:cBhvr>
                                      <p:tavLst>
                                        <p:tav tm="0">
                                          <p:val>
                                            <p:fltVal val="0"/>
                                          </p:val>
                                        </p:tav>
                                        <p:tav tm="100000">
                                          <p:val>
                                            <p:strVal val="#ppt_w"/>
                                          </p:val>
                                        </p:tav>
                                      </p:tavLst>
                                    </p:anim>
                                    <p:anim calcmode="lin" valueType="num">
                                      <p:cBhvr>
                                        <p:cTn id="22" dur="600" fill="hold"/>
                                        <p:tgtEl>
                                          <p:spTgt spid="9"/>
                                        </p:tgtEl>
                                        <p:attrNameLst>
                                          <p:attrName>ppt_h</p:attrName>
                                        </p:attrNameLst>
                                      </p:cBhvr>
                                      <p:tavLst>
                                        <p:tav tm="0">
                                          <p:val>
                                            <p:fltVal val="0"/>
                                          </p:val>
                                        </p:tav>
                                        <p:tav tm="100000">
                                          <p:val>
                                            <p:strVal val="#ppt_h"/>
                                          </p:val>
                                        </p:tav>
                                      </p:tavLst>
                                    </p:anim>
                                    <p:animEffect transition="in" filter="fade">
                                      <p:cBhvr>
                                        <p:cTn id="23" dur="600"/>
                                        <p:tgtEl>
                                          <p:spTgt spid="9"/>
                                        </p:tgtEl>
                                      </p:cBhvr>
                                    </p:animEffect>
                                  </p:childTnLst>
                                </p:cTn>
                              </p:par>
                              <p:par>
                                <p:cTn id="24" presetID="10" presetClass="entr" presetSubtype="0" fill="hold" grpId="0" nodeType="withEffect">
                                  <p:stCondLst>
                                    <p:cond delay="2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p:tgtEl>
                                          <p:spTgt spid="10"/>
                                        </p:tgtEl>
                                      </p:cBhvr>
                                    </p:animEffect>
                                  </p:childTnLst>
                                </p:cTn>
                              </p:par>
                              <p:par>
                                <p:cTn id="27" presetID="10" presetClass="entr" presetSubtype="0" fill="hold" grpId="0" nodeType="withEffect">
                                  <p:stCondLst>
                                    <p:cond delay="4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53" presetClass="entr" presetSubtype="16" fill="hold" grpId="0" nodeType="withEffect">
                                  <p:stCondLst>
                                    <p:cond delay="400"/>
                                  </p:stCondLst>
                                  <p:childTnLst>
                                    <p:set>
                                      <p:cBhvr>
                                        <p:cTn id="31" dur="1" fill="hold">
                                          <p:stCondLst>
                                            <p:cond delay="0"/>
                                          </p:stCondLst>
                                        </p:cTn>
                                        <p:tgtEl>
                                          <p:spTgt spid="12"/>
                                        </p:tgtEl>
                                        <p:attrNameLst>
                                          <p:attrName>style.visibility</p:attrName>
                                        </p:attrNameLst>
                                      </p:cBhvr>
                                      <p:to>
                                        <p:strVal val="visible"/>
                                      </p:to>
                                    </p:set>
                                    <p:anim calcmode="lin" valueType="num">
                                      <p:cBhvr>
                                        <p:cTn id="32" dur="600" fill="hold"/>
                                        <p:tgtEl>
                                          <p:spTgt spid="12"/>
                                        </p:tgtEl>
                                        <p:attrNameLst>
                                          <p:attrName>ppt_w</p:attrName>
                                        </p:attrNameLst>
                                      </p:cBhvr>
                                      <p:tavLst>
                                        <p:tav tm="0">
                                          <p:val>
                                            <p:fltVal val="0"/>
                                          </p:val>
                                        </p:tav>
                                        <p:tav tm="100000">
                                          <p:val>
                                            <p:strVal val="#ppt_w"/>
                                          </p:val>
                                        </p:tav>
                                      </p:tavLst>
                                    </p:anim>
                                    <p:anim calcmode="lin" valueType="num">
                                      <p:cBhvr>
                                        <p:cTn id="33" dur="600" fill="hold"/>
                                        <p:tgtEl>
                                          <p:spTgt spid="12"/>
                                        </p:tgtEl>
                                        <p:attrNameLst>
                                          <p:attrName>ppt_h</p:attrName>
                                        </p:attrNameLst>
                                      </p:cBhvr>
                                      <p:tavLst>
                                        <p:tav tm="0">
                                          <p:val>
                                            <p:fltVal val="0"/>
                                          </p:val>
                                        </p:tav>
                                        <p:tav tm="100000">
                                          <p:val>
                                            <p:strVal val="#ppt_h"/>
                                          </p:val>
                                        </p:tav>
                                      </p:tavLst>
                                    </p:anim>
                                    <p:animEffect transition="in" filter="fade">
                                      <p:cBhvr>
                                        <p:cTn id="34" dur="600"/>
                                        <p:tgtEl>
                                          <p:spTgt spid="12"/>
                                        </p:tgtEl>
                                      </p:cBhvr>
                                    </p:animEffect>
                                  </p:childTnLst>
                                </p:cTn>
                              </p:par>
                              <p:par>
                                <p:cTn id="35" presetID="53" presetClass="entr" presetSubtype="16" fill="hold" grpId="0" nodeType="withEffect">
                                  <p:stCondLst>
                                    <p:cond delay="400"/>
                                  </p:stCondLst>
                                  <p:childTnLst>
                                    <p:set>
                                      <p:cBhvr>
                                        <p:cTn id="36" dur="1" fill="hold">
                                          <p:stCondLst>
                                            <p:cond delay="0"/>
                                          </p:stCondLst>
                                        </p:cTn>
                                        <p:tgtEl>
                                          <p:spTgt spid="13"/>
                                        </p:tgtEl>
                                        <p:attrNameLst>
                                          <p:attrName>style.visibility</p:attrName>
                                        </p:attrNameLst>
                                      </p:cBhvr>
                                      <p:to>
                                        <p:strVal val="visible"/>
                                      </p:to>
                                    </p:set>
                                    <p:anim calcmode="lin" valueType="num">
                                      <p:cBhvr>
                                        <p:cTn id="37" dur="600" fill="hold"/>
                                        <p:tgtEl>
                                          <p:spTgt spid="13"/>
                                        </p:tgtEl>
                                        <p:attrNameLst>
                                          <p:attrName>ppt_w</p:attrName>
                                        </p:attrNameLst>
                                      </p:cBhvr>
                                      <p:tavLst>
                                        <p:tav tm="0">
                                          <p:val>
                                            <p:fltVal val="0"/>
                                          </p:val>
                                        </p:tav>
                                        <p:tav tm="100000">
                                          <p:val>
                                            <p:strVal val="#ppt_w"/>
                                          </p:val>
                                        </p:tav>
                                      </p:tavLst>
                                    </p:anim>
                                    <p:anim calcmode="lin" valueType="num">
                                      <p:cBhvr>
                                        <p:cTn id="38" dur="600" fill="hold"/>
                                        <p:tgtEl>
                                          <p:spTgt spid="13"/>
                                        </p:tgtEl>
                                        <p:attrNameLst>
                                          <p:attrName>ppt_h</p:attrName>
                                        </p:attrNameLst>
                                      </p:cBhvr>
                                      <p:tavLst>
                                        <p:tav tm="0">
                                          <p:val>
                                            <p:fltVal val="0"/>
                                          </p:val>
                                        </p:tav>
                                        <p:tav tm="100000">
                                          <p:val>
                                            <p:strVal val="#ppt_h"/>
                                          </p:val>
                                        </p:tav>
                                      </p:tavLst>
                                    </p:anim>
                                    <p:animEffect transition="in" filter="fade">
                                      <p:cBhvr>
                                        <p:cTn id="39" dur="600"/>
                                        <p:tgtEl>
                                          <p:spTgt spid="13"/>
                                        </p:tgtEl>
                                      </p:cBhvr>
                                    </p:animEffect>
                                  </p:childTnLst>
                                </p:cTn>
                              </p:par>
                              <p:par>
                                <p:cTn id="40" presetID="10" presetClass="entr" presetSubtype="0" fill="hold" grpId="0" nodeType="withEffect">
                                  <p:stCondLst>
                                    <p:cond delay="4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600"/>
                                        <p:tgtEl>
                                          <p:spTgt spid="14"/>
                                        </p:tgtEl>
                                      </p:cBhvr>
                                    </p:animEffect>
                                  </p:childTnLst>
                                </p:cTn>
                              </p:par>
                              <p:par>
                                <p:cTn id="43" presetID="10" presetClass="entr" presetSubtype="0" fill="hold" grpId="0" nodeType="withEffect">
                                  <p:stCondLst>
                                    <p:cond delay="6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00"/>
                                        <p:tgtEl>
                                          <p:spTgt spid="15"/>
                                        </p:tgtEl>
                                      </p:cBhvr>
                                    </p:animEffect>
                                  </p:childTnLst>
                                </p:cTn>
                              </p:par>
                              <p:par>
                                <p:cTn id="46" presetID="53" presetClass="entr" presetSubtype="16"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 calcmode="lin" valueType="num">
                                      <p:cBhvr>
                                        <p:cTn id="48" dur="600" fill="hold"/>
                                        <p:tgtEl>
                                          <p:spTgt spid="16"/>
                                        </p:tgtEl>
                                        <p:attrNameLst>
                                          <p:attrName>ppt_w</p:attrName>
                                        </p:attrNameLst>
                                      </p:cBhvr>
                                      <p:tavLst>
                                        <p:tav tm="0">
                                          <p:val>
                                            <p:fltVal val="0"/>
                                          </p:val>
                                        </p:tav>
                                        <p:tav tm="100000">
                                          <p:val>
                                            <p:strVal val="#ppt_w"/>
                                          </p:val>
                                        </p:tav>
                                      </p:tavLst>
                                    </p:anim>
                                    <p:anim calcmode="lin" valueType="num">
                                      <p:cBhvr>
                                        <p:cTn id="49" dur="600" fill="hold"/>
                                        <p:tgtEl>
                                          <p:spTgt spid="16"/>
                                        </p:tgtEl>
                                        <p:attrNameLst>
                                          <p:attrName>ppt_h</p:attrName>
                                        </p:attrNameLst>
                                      </p:cBhvr>
                                      <p:tavLst>
                                        <p:tav tm="0">
                                          <p:val>
                                            <p:fltVal val="0"/>
                                          </p:val>
                                        </p:tav>
                                        <p:tav tm="100000">
                                          <p:val>
                                            <p:strVal val="#ppt_h"/>
                                          </p:val>
                                        </p:tav>
                                      </p:tavLst>
                                    </p:anim>
                                    <p:animEffect transition="in" filter="fade">
                                      <p:cBhvr>
                                        <p:cTn id="50" dur="600"/>
                                        <p:tgtEl>
                                          <p:spTgt spid="16"/>
                                        </p:tgtEl>
                                      </p:cBhvr>
                                    </p:animEffect>
                                  </p:childTnLst>
                                </p:cTn>
                              </p:par>
                              <p:par>
                                <p:cTn id="51" presetID="53" presetClass="entr" presetSubtype="16" fill="hold" grpId="0" nodeType="withEffect">
                                  <p:stCondLst>
                                    <p:cond delay="600"/>
                                  </p:stCondLst>
                                  <p:childTnLst>
                                    <p:set>
                                      <p:cBhvr>
                                        <p:cTn id="52" dur="1" fill="hold">
                                          <p:stCondLst>
                                            <p:cond delay="0"/>
                                          </p:stCondLst>
                                        </p:cTn>
                                        <p:tgtEl>
                                          <p:spTgt spid="17"/>
                                        </p:tgtEl>
                                        <p:attrNameLst>
                                          <p:attrName>style.visibility</p:attrName>
                                        </p:attrNameLst>
                                      </p:cBhvr>
                                      <p:to>
                                        <p:strVal val="visible"/>
                                      </p:to>
                                    </p:set>
                                    <p:anim calcmode="lin" valueType="num">
                                      <p:cBhvr>
                                        <p:cTn id="53" dur="600" fill="hold"/>
                                        <p:tgtEl>
                                          <p:spTgt spid="17"/>
                                        </p:tgtEl>
                                        <p:attrNameLst>
                                          <p:attrName>ppt_w</p:attrName>
                                        </p:attrNameLst>
                                      </p:cBhvr>
                                      <p:tavLst>
                                        <p:tav tm="0">
                                          <p:val>
                                            <p:fltVal val="0"/>
                                          </p:val>
                                        </p:tav>
                                        <p:tav tm="100000">
                                          <p:val>
                                            <p:strVal val="#ppt_w"/>
                                          </p:val>
                                        </p:tav>
                                      </p:tavLst>
                                    </p:anim>
                                    <p:anim calcmode="lin" valueType="num">
                                      <p:cBhvr>
                                        <p:cTn id="54" dur="600" fill="hold"/>
                                        <p:tgtEl>
                                          <p:spTgt spid="17"/>
                                        </p:tgtEl>
                                        <p:attrNameLst>
                                          <p:attrName>ppt_h</p:attrName>
                                        </p:attrNameLst>
                                      </p:cBhvr>
                                      <p:tavLst>
                                        <p:tav tm="0">
                                          <p:val>
                                            <p:fltVal val="0"/>
                                          </p:val>
                                        </p:tav>
                                        <p:tav tm="100000">
                                          <p:val>
                                            <p:strVal val="#ppt_h"/>
                                          </p:val>
                                        </p:tav>
                                      </p:tavLst>
                                    </p:anim>
                                    <p:animEffect transition="in" filter="fade">
                                      <p:cBhvr>
                                        <p:cTn id="55" dur="600"/>
                                        <p:tgtEl>
                                          <p:spTgt spid="17"/>
                                        </p:tgtEl>
                                      </p:cBhvr>
                                    </p:animEffect>
                                  </p:childTnLst>
                                </p:cTn>
                              </p:par>
                              <p:par>
                                <p:cTn id="56" presetID="10" presetClass="entr" presetSubtype="0" fill="hold" grpId="0" nodeType="withEffect">
                                  <p:stCondLst>
                                    <p:cond delay="60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par>
                                <p:cTn id="59" presetID="10" presetClass="entr" presetSubtype="0" fill="hold" grpId="0" nodeType="withEffect">
                                  <p:stCondLst>
                                    <p:cond delay="80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53" presetClass="entr" presetSubtype="16" fill="hold" grpId="0" nodeType="withEffect">
                                  <p:stCondLst>
                                    <p:cond delay="800"/>
                                  </p:stCondLst>
                                  <p:childTnLst>
                                    <p:set>
                                      <p:cBhvr>
                                        <p:cTn id="63" dur="1" fill="hold">
                                          <p:stCondLst>
                                            <p:cond delay="0"/>
                                          </p:stCondLst>
                                        </p:cTn>
                                        <p:tgtEl>
                                          <p:spTgt spid="20"/>
                                        </p:tgtEl>
                                        <p:attrNameLst>
                                          <p:attrName>style.visibility</p:attrName>
                                        </p:attrNameLst>
                                      </p:cBhvr>
                                      <p:to>
                                        <p:strVal val="visible"/>
                                      </p:to>
                                    </p:set>
                                    <p:anim calcmode="lin" valueType="num">
                                      <p:cBhvr>
                                        <p:cTn id="64" dur="600" fill="hold"/>
                                        <p:tgtEl>
                                          <p:spTgt spid="20"/>
                                        </p:tgtEl>
                                        <p:attrNameLst>
                                          <p:attrName>ppt_w</p:attrName>
                                        </p:attrNameLst>
                                      </p:cBhvr>
                                      <p:tavLst>
                                        <p:tav tm="0">
                                          <p:val>
                                            <p:fltVal val="0"/>
                                          </p:val>
                                        </p:tav>
                                        <p:tav tm="100000">
                                          <p:val>
                                            <p:strVal val="#ppt_w"/>
                                          </p:val>
                                        </p:tav>
                                      </p:tavLst>
                                    </p:anim>
                                    <p:anim calcmode="lin" valueType="num">
                                      <p:cBhvr>
                                        <p:cTn id="65" dur="600" fill="hold"/>
                                        <p:tgtEl>
                                          <p:spTgt spid="20"/>
                                        </p:tgtEl>
                                        <p:attrNameLst>
                                          <p:attrName>ppt_h</p:attrName>
                                        </p:attrNameLst>
                                      </p:cBhvr>
                                      <p:tavLst>
                                        <p:tav tm="0">
                                          <p:val>
                                            <p:fltVal val="0"/>
                                          </p:val>
                                        </p:tav>
                                        <p:tav tm="100000">
                                          <p:val>
                                            <p:strVal val="#ppt_h"/>
                                          </p:val>
                                        </p:tav>
                                      </p:tavLst>
                                    </p:anim>
                                    <p:animEffect transition="in" filter="fade">
                                      <p:cBhvr>
                                        <p:cTn id="66" dur="600"/>
                                        <p:tgtEl>
                                          <p:spTgt spid="20"/>
                                        </p:tgtEl>
                                      </p:cBhvr>
                                    </p:animEffect>
                                  </p:childTnLst>
                                </p:cTn>
                              </p:par>
                              <p:par>
                                <p:cTn id="67" presetID="53" presetClass="entr" presetSubtype="16" fill="hold" grpId="0" nodeType="withEffect">
                                  <p:stCondLst>
                                    <p:cond delay="800"/>
                                  </p:stCondLst>
                                  <p:childTnLst>
                                    <p:set>
                                      <p:cBhvr>
                                        <p:cTn id="68" dur="1" fill="hold">
                                          <p:stCondLst>
                                            <p:cond delay="0"/>
                                          </p:stCondLst>
                                        </p:cTn>
                                        <p:tgtEl>
                                          <p:spTgt spid="21"/>
                                        </p:tgtEl>
                                        <p:attrNameLst>
                                          <p:attrName>style.visibility</p:attrName>
                                        </p:attrNameLst>
                                      </p:cBhvr>
                                      <p:to>
                                        <p:strVal val="visible"/>
                                      </p:to>
                                    </p:set>
                                    <p:anim calcmode="lin" valueType="num">
                                      <p:cBhvr>
                                        <p:cTn id="69" dur="600" fill="hold"/>
                                        <p:tgtEl>
                                          <p:spTgt spid="21"/>
                                        </p:tgtEl>
                                        <p:attrNameLst>
                                          <p:attrName>ppt_w</p:attrName>
                                        </p:attrNameLst>
                                      </p:cBhvr>
                                      <p:tavLst>
                                        <p:tav tm="0">
                                          <p:val>
                                            <p:fltVal val="0"/>
                                          </p:val>
                                        </p:tav>
                                        <p:tav tm="100000">
                                          <p:val>
                                            <p:strVal val="#ppt_w"/>
                                          </p:val>
                                        </p:tav>
                                      </p:tavLst>
                                    </p:anim>
                                    <p:anim calcmode="lin" valueType="num">
                                      <p:cBhvr>
                                        <p:cTn id="70" dur="600" fill="hold"/>
                                        <p:tgtEl>
                                          <p:spTgt spid="21"/>
                                        </p:tgtEl>
                                        <p:attrNameLst>
                                          <p:attrName>ppt_h</p:attrName>
                                        </p:attrNameLst>
                                      </p:cBhvr>
                                      <p:tavLst>
                                        <p:tav tm="0">
                                          <p:val>
                                            <p:fltVal val="0"/>
                                          </p:val>
                                        </p:tav>
                                        <p:tav tm="100000">
                                          <p:val>
                                            <p:strVal val="#ppt_h"/>
                                          </p:val>
                                        </p:tav>
                                      </p:tavLst>
                                    </p:anim>
                                    <p:animEffect transition="in" filter="fade">
                                      <p:cBhvr>
                                        <p:cTn id="71" dur="600"/>
                                        <p:tgtEl>
                                          <p:spTgt spid="21"/>
                                        </p:tgtEl>
                                      </p:cBhvr>
                                    </p:animEffect>
                                  </p:childTnLst>
                                </p:cTn>
                              </p:par>
                              <p:par>
                                <p:cTn id="72" presetID="10" presetClass="entr" presetSubtype="0" fill="hold" grpId="0" nodeType="withEffect">
                                  <p:stCondLst>
                                    <p:cond delay="80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fill="hold" grpId="0" nodeType="withEffect">
                                  <p:stCondLst>
                                    <p:cond delay="100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par>
                                <p:cTn id="78" presetID="53" presetClass="entr" presetSubtype="16" fill="hold" grpId="0" nodeType="withEffect">
                                  <p:stCondLst>
                                    <p:cond delay="1000"/>
                                  </p:stCondLst>
                                  <p:childTnLst>
                                    <p:set>
                                      <p:cBhvr>
                                        <p:cTn id="79" dur="1" fill="hold">
                                          <p:stCondLst>
                                            <p:cond delay="0"/>
                                          </p:stCondLst>
                                        </p:cTn>
                                        <p:tgtEl>
                                          <p:spTgt spid="24"/>
                                        </p:tgtEl>
                                        <p:attrNameLst>
                                          <p:attrName>style.visibility</p:attrName>
                                        </p:attrNameLst>
                                      </p:cBhvr>
                                      <p:to>
                                        <p:strVal val="visible"/>
                                      </p:to>
                                    </p:set>
                                    <p:anim calcmode="lin" valueType="num">
                                      <p:cBhvr>
                                        <p:cTn id="80" dur="600" fill="hold"/>
                                        <p:tgtEl>
                                          <p:spTgt spid="24"/>
                                        </p:tgtEl>
                                        <p:attrNameLst>
                                          <p:attrName>ppt_w</p:attrName>
                                        </p:attrNameLst>
                                      </p:cBhvr>
                                      <p:tavLst>
                                        <p:tav tm="0">
                                          <p:val>
                                            <p:fltVal val="0"/>
                                          </p:val>
                                        </p:tav>
                                        <p:tav tm="100000">
                                          <p:val>
                                            <p:strVal val="#ppt_w"/>
                                          </p:val>
                                        </p:tav>
                                      </p:tavLst>
                                    </p:anim>
                                    <p:anim calcmode="lin" valueType="num">
                                      <p:cBhvr>
                                        <p:cTn id="81" dur="600" fill="hold"/>
                                        <p:tgtEl>
                                          <p:spTgt spid="24"/>
                                        </p:tgtEl>
                                        <p:attrNameLst>
                                          <p:attrName>ppt_h</p:attrName>
                                        </p:attrNameLst>
                                      </p:cBhvr>
                                      <p:tavLst>
                                        <p:tav tm="0">
                                          <p:val>
                                            <p:fltVal val="0"/>
                                          </p:val>
                                        </p:tav>
                                        <p:tav tm="100000">
                                          <p:val>
                                            <p:strVal val="#ppt_h"/>
                                          </p:val>
                                        </p:tav>
                                      </p:tavLst>
                                    </p:anim>
                                    <p:animEffect transition="in" filter="fade">
                                      <p:cBhvr>
                                        <p:cTn id="82" dur="600"/>
                                        <p:tgtEl>
                                          <p:spTgt spid="24"/>
                                        </p:tgtEl>
                                      </p:cBhvr>
                                    </p:animEffect>
                                  </p:childTnLst>
                                </p:cTn>
                              </p:par>
                              <p:par>
                                <p:cTn id="83" presetID="53" presetClass="entr" presetSubtype="16" fill="hold" grpId="0" nodeType="withEffect">
                                  <p:stCondLst>
                                    <p:cond delay="1000"/>
                                  </p:stCondLst>
                                  <p:childTnLst>
                                    <p:set>
                                      <p:cBhvr>
                                        <p:cTn id="84" dur="1" fill="hold">
                                          <p:stCondLst>
                                            <p:cond delay="0"/>
                                          </p:stCondLst>
                                        </p:cTn>
                                        <p:tgtEl>
                                          <p:spTgt spid="25"/>
                                        </p:tgtEl>
                                        <p:attrNameLst>
                                          <p:attrName>style.visibility</p:attrName>
                                        </p:attrNameLst>
                                      </p:cBhvr>
                                      <p:to>
                                        <p:strVal val="visible"/>
                                      </p:to>
                                    </p:set>
                                    <p:anim calcmode="lin" valueType="num">
                                      <p:cBhvr>
                                        <p:cTn id="85" dur="600" fill="hold"/>
                                        <p:tgtEl>
                                          <p:spTgt spid="25"/>
                                        </p:tgtEl>
                                        <p:attrNameLst>
                                          <p:attrName>ppt_w</p:attrName>
                                        </p:attrNameLst>
                                      </p:cBhvr>
                                      <p:tavLst>
                                        <p:tav tm="0">
                                          <p:val>
                                            <p:fltVal val="0"/>
                                          </p:val>
                                        </p:tav>
                                        <p:tav tm="100000">
                                          <p:val>
                                            <p:strVal val="#ppt_w"/>
                                          </p:val>
                                        </p:tav>
                                      </p:tavLst>
                                    </p:anim>
                                    <p:anim calcmode="lin" valueType="num">
                                      <p:cBhvr>
                                        <p:cTn id="86" dur="600" fill="hold"/>
                                        <p:tgtEl>
                                          <p:spTgt spid="25"/>
                                        </p:tgtEl>
                                        <p:attrNameLst>
                                          <p:attrName>ppt_h</p:attrName>
                                        </p:attrNameLst>
                                      </p:cBhvr>
                                      <p:tavLst>
                                        <p:tav tm="0">
                                          <p:val>
                                            <p:fltVal val="0"/>
                                          </p:val>
                                        </p:tav>
                                        <p:tav tm="100000">
                                          <p:val>
                                            <p:strVal val="#ppt_h"/>
                                          </p:val>
                                        </p:tav>
                                      </p:tavLst>
                                    </p:anim>
                                    <p:animEffect transition="in" filter="fade">
                                      <p:cBhvr>
                                        <p:cTn id="87" dur="600"/>
                                        <p:tgtEl>
                                          <p:spTgt spid="25"/>
                                        </p:tgtEl>
                                      </p:cBhvr>
                                    </p:animEffect>
                                  </p:childTnLst>
                                </p:cTn>
                              </p:par>
                              <p:par>
                                <p:cTn id="88" presetID="10" presetClass="entr" presetSubtype="0" fill="hold" grpId="0" nodeType="withEffect">
                                  <p:stCondLst>
                                    <p:cond delay="100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600"/>
                                        <p:tgtEl>
                                          <p:spTgt spid="26"/>
                                        </p:tgtEl>
                                      </p:cBhvr>
                                    </p:animEffect>
                                  </p:childTnLst>
                                </p:cTn>
                              </p:par>
                              <p:par>
                                <p:cTn id="91" presetID="10" presetClass="entr" presetSubtype="0" fill="hold" grpId="0" nodeType="withEffect">
                                  <p:stCondLst>
                                    <p:cond delay="120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600"/>
                                        <p:tgtEl>
                                          <p:spTgt spid="27"/>
                                        </p:tgtEl>
                                      </p:cBhvr>
                                    </p:animEffect>
                                  </p:childTnLst>
                                </p:cTn>
                              </p:par>
                              <p:par>
                                <p:cTn id="94" presetID="53" presetClass="entr" presetSubtype="16" fill="hold" grpId="0" nodeType="withEffect">
                                  <p:stCondLst>
                                    <p:cond delay="1200"/>
                                  </p:stCondLst>
                                  <p:childTnLst>
                                    <p:set>
                                      <p:cBhvr>
                                        <p:cTn id="95" dur="1" fill="hold">
                                          <p:stCondLst>
                                            <p:cond delay="0"/>
                                          </p:stCondLst>
                                        </p:cTn>
                                        <p:tgtEl>
                                          <p:spTgt spid="28"/>
                                        </p:tgtEl>
                                        <p:attrNameLst>
                                          <p:attrName>style.visibility</p:attrName>
                                        </p:attrNameLst>
                                      </p:cBhvr>
                                      <p:to>
                                        <p:strVal val="visible"/>
                                      </p:to>
                                    </p:set>
                                    <p:anim calcmode="lin" valueType="num">
                                      <p:cBhvr>
                                        <p:cTn id="96" dur="600" fill="hold"/>
                                        <p:tgtEl>
                                          <p:spTgt spid="28"/>
                                        </p:tgtEl>
                                        <p:attrNameLst>
                                          <p:attrName>ppt_w</p:attrName>
                                        </p:attrNameLst>
                                      </p:cBhvr>
                                      <p:tavLst>
                                        <p:tav tm="0">
                                          <p:val>
                                            <p:fltVal val="0"/>
                                          </p:val>
                                        </p:tav>
                                        <p:tav tm="100000">
                                          <p:val>
                                            <p:strVal val="#ppt_w"/>
                                          </p:val>
                                        </p:tav>
                                      </p:tavLst>
                                    </p:anim>
                                    <p:anim calcmode="lin" valueType="num">
                                      <p:cBhvr>
                                        <p:cTn id="97" dur="600" fill="hold"/>
                                        <p:tgtEl>
                                          <p:spTgt spid="28"/>
                                        </p:tgtEl>
                                        <p:attrNameLst>
                                          <p:attrName>ppt_h</p:attrName>
                                        </p:attrNameLst>
                                      </p:cBhvr>
                                      <p:tavLst>
                                        <p:tav tm="0">
                                          <p:val>
                                            <p:fltVal val="0"/>
                                          </p:val>
                                        </p:tav>
                                        <p:tav tm="100000">
                                          <p:val>
                                            <p:strVal val="#ppt_h"/>
                                          </p:val>
                                        </p:tav>
                                      </p:tavLst>
                                    </p:anim>
                                    <p:animEffect transition="in" filter="fade">
                                      <p:cBhvr>
                                        <p:cTn id="98" dur="600"/>
                                        <p:tgtEl>
                                          <p:spTgt spid="28"/>
                                        </p:tgtEl>
                                      </p:cBhvr>
                                    </p:animEffect>
                                  </p:childTnLst>
                                </p:cTn>
                              </p:par>
                              <p:par>
                                <p:cTn id="99" presetID="53" presetClass="entr" presetSubtype="16" fill="hold" grpId="0" nodeType="withEffect">
                                  <p:stCondLst>
                                    <p:cond delay="1200"/>
                                  </p:stCondLst>
                                  <p:childTnLst>
                                    <p:set>
                                      <p:cBhvr>
                                        <p:cTn id="100" dur="1" fill="hold">
                                          <p:stCondLst>
                                            <p:cond delay="0"/>
                                          </p:stCondLst>
                                        </p:cTn>
                                        <p:tgtEl>
                                          <p:spTgt spid="29"/>
                                        </p:tgtEl>
                                        <p:attrNameLst>
                                          <p:attrName>style.visibility</p:attrName>
                                        </p:attrNameLst>
                                      </p:cBhvr>
                                      <p:to>
                                        <p:strVal val="visible"/>
                                      </p:to>
                                    </p:set>
                                    <p:anim calcmode="lin" valueType="num">
                                      <p:cBhvr>
                                        <p:cTn id="101" dur="600" fill="hold"/>
                                        <p:tgtEl>
                                          <p:spTgt spid="29"/>
                                        </p:tgtEl>
                                        <p:attrNameLst>
                                          <p:attrName>ppt_w</p:attrName>
                                        </p:attrNameLst>
                                      </p:cBhvr>
                                      <p:tavLst>
                                        <p:tav tm="0">
                                          <p:val>
                                            <p:fltVal val="0"/>
                                          </p:val>
                                        </p:tav>
                                        <p:tav tm="100000">
                                          <p:val>
                                            <p:strVal val="#ppt_w"/>
                                          </p:val>
                                        </p:tav>
                                      </p:tavLst>
                                    </p:anim>
                                    <p:anim calcmode="lin" valueType="num">
                                      <p:cBhvr>
                                        <p:cTn id="102" dur="600" fill="hold"/>
                                        <p:tgtEl>
                                          <p:spTgt spid="29"/>
                                        </p:tgtEl>
                                        <p:attrNameLst>
                                          <p:attrName>ppt_h</p:attrName>
                                        </p:attrNameLst>
                                      </p:cBhvr>
                                      <p:tavLst>
                                        <p:tav tm="0">
                                          <p:val>
                                            <p:fltVal val="0"/>
                                          </p:val>
                                        </p:tav>
                                        <p:tav tm="100000">
                                          <p:val>
                                            <p:strVal val="#ppt_h"/>
                                          </p:val>
                                        </p:tav>
                                      </p:tavLst>
                                    </p:anim>
                                    <p:animEffect transition="in" filter="fade">
                                      <p:cBhvr>
                                        <p:cTn id="103" dur="600"/>
                                        <p:tgtEl>
                                          <p:spTgt spid="29"/>
                                        </p:tgtEl>
                                      </p:cBhvr>
                                    </p:animEffect>
                                  </p:childTnLst>
                                </p:cTn>
                              </p:par>
                              <p:par>
                                <p:cTn id="104" presetID="10" presetClass="entr" presetSubtype="0" fill="hold" grpId="0" nodeType="withEffect">
                                  <p:stCondLst>
                                    <p:cond delay="120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14" grpId="0" animBg="1"/>
      <p:bldP spid="18" grpId="0" animBg="1"/>
      <p:bldP spid="22" grpId="0" animBg="1"/>
      <p:bldP spid="26" grpId="0" animBg="1"/>
      <p:bldP spid="3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8138160" y="-1371600"/>
            <a:ext cx="4754880" cy="4754880"/>
          </a:xfrm>
          <a:prstGeom prst="ellipse">
            <a:avLst/>
          </a:prstGeom>
          <a:solidFill>
            <a:srgbClr val="1B3F9E"/>
          </a:solidFill>
          <a:ln w="12700">
            <a:solidFill>
              <a:srgbClr val="1B3F9E"/>
            </a:solidFill>
            <a:prstDash val="solid"/>
          </a:ln>
        </p:spPr>
      </p:sp>
      <p:sp>
        <p:nvSpPr>
          <p:cNvPr id="3" name="!!orbG"/>
          <p:cNvSpPr/>
          <p:nvPr/>
        </p:nvSpPr>
        <p:spPr>
          <a:xfrm>
            <a:off x="-914400" y="5943600"/>
            <a:ext cx="1554480" cy="1554480"/>
          </a:xfrm>
          <a:prstGeom prst="ellipse">
            <a:avLst/>
          </a:prstGeom>
          <a:solidFill>
            <a:srgbClr val="00923A"/>
          </a:solidFill>
          <a:ln w="12700">
            <a:solidFill>
              <a:srgbClr val="00923A"/>
            </a:solidFill>
            <a:prstDash val="solid"/>
          </a:ln>
        </p:spPr>
      </p:sp>
      <p:sp>
        <p:nvSpPr>
          <p:cNvPr id="4" name="!!orbY"/>
          <p:cNvSpPr/>
          <p:nvPr/>
        </p:nvSpPr>
        <p:spPr>
          <a:xfrm>
            <a:off x="7498080" y="4480560"/>
            <a:ext cx="1280160" cy="1280160"/>
          </a:xfrm>
          <a:prstGeom prst="ellipse">
            <a:avLst/>
          </a:prstGeom>
          <a:solidFill>
            <a:srgbClr val="FFFFFF">
              <a:alpha val="0"/>
            </a:srgbClr>
          </a:solidFill>
          <a:ln w="106680">
            <a:solidFill>
              <a:srgbClr val="FCC600"/>
            </a:solidFill>
            <a:prstDash val="solid"/>
          </a:ln>
        </p:spPr>
      </p:sp>
      <p:sp>
        <p:nvSpPr>
          <p:cNvPr id="5" name="kicker"/>
          <p:cNvSpPr txBox="1"/>
          <p:nvPr/>
        </p:nvSpPr>
        <p:spPr>
          <a:xfrm>
            <a:off x="640080" y="502920"/>
            <a:ext cx="7859268" cy="274320"/>
          </a:xfrm>
          <a:prstGeom prst="rect">
            <a:avLst/>
          </a:prstGeom>
          <a:noFill/>
          <a:ln/>
        </p:spPr>
        <p:txBody>
          <a:bodyPr wrap="square" lIns="0" tIns="0" rIns="0" bIns="0" rtlCol="0" anchor="t"/>
          <a:lstStyle/>
          <a:p>
            <a:pPr indent="0" marL="0">
              <a:buNone/>
            </a:pPr>
            <a:r>
              <a:rPr lang="fr-FR" altLang="en-US" sz="1200" b="1" spc="300" kern="0" dirty="0">
                <a:solidFill>
                  <a:srgbClr val="00923A"/>
                </a:solidFill>
                <a:latin typeface="Calibri" pitchFamily="34" charset="0"/>
                <a:ea typeface="Calibri" pitchFamily="34" charset="-122"/>
                <a:cs typeface="Calibri" pitchFamily="34" charset="-120"/>
              </a:rPr>
              <a:t>CONCLUSION</a:t>
            </a:r>
            <a:endParaRPr lang="fr-FR" sz="1200" dirty="0"/>
          </a:p>
        </p:txBody>
      </p:sp>
      <p:sp>
        <p:nvSpPr>
          <p:cNvPr id="6" name="title"/>
          <p:cNvSpPr txBox="1"/>
          <p:nvPr/>
        </p:nvSpPr>
        <p:spPr>
          <a:xfrm>
            <a:off x="640080" y="777240"/>
            <a:ext cx="6986016" cy="868680"/>
          </a:xfrm>
          <a:prstGeom prst="rect">
            <a:avLst/>
          </a:prstGeom>
          <a:noFill/>
          <a:ln/>
        </p:spPr>
        <p:txBody>
          <a:bodyPr wrap="square" lIns="0" tIns="0" rIns="0" bIns="0" rtlCol="0" anchor="t"/>
          <a:lstStyle/>
          <a:p>
            <a:pPr indent="0" marL="0">
              <a:buNone/>
            </a:pPr>
            <a:r>
              <a:rPr lang="fr-FR" altLang="en-US" sz="3200" b="1" dirty="0">
                <a:solidFill>
                  <a:srgbClr val="0E1C46"/>
                </a:solidFill>
                <a:latin typeface="Calibri" pitchFamily="34" charset="0"/>
                <a:ea typeface="Calibri" pitchFamily="34" charset="-122"/>
                <a:cs typeface="Calibri" pitchFamily="34" charset="-120"/>
              </a:rPr>
              <a:t>Un circuit sérieux, à moderniser</a:t>
            </a:r>
            <a:endParaRPr lang="fr-FR" sz="3200" dirty="0"/>
          </a:p>
        </p:txBody>
      </p:sp>
      <p:sp>
        <p:nvSpPr>
          <p:cNvPr id="7" name="cb0"/>
          <p:cNvSpPr/>
          <p:nvPr/>
        </p:nvSpPr>
        <p:spPr>
          <a:xfrm>
            <a:off x="1426007" y="1874520"/>
            <a:ext cx="5763463" cy="1097280"/>
          </a:xfrm>
          <a:prstGeom prst="roundRect">
            <a:avLst>
              <a:gd name="adj" fmla="val 11667"/>
            </a:avLst>
          </a:prstGeom>
          <a:solidFill>
            <a:srgbClr val="E9F6EE"/>
          </a:solidFill>
          <a:ln w="15875">
            <a:solidFill>
              <a:srgbClr val="00923A"/>
            </a:solidFill>
            <a:prstDash val="solid"/>
          </a:ln>
          <a:effectLst>
            <a:outerShdw sx="100000" sy="100000" kx="0" ky="0" algn="bl" rotWithShape="0" blurRad="127000" dist="25400" dir="5400000">
              <a:srgbClr val="0E1C46">
                <a:alpha val="8000"/>
              </a:srgbClr>
            </a:outerShdw>
          </a:effectLst>
        </p:spPr>
      </p:sp>
      <p:sp>
        <p:nvSpPr>
          <p:cNvPr id="8" name="cn0"/>
          <p:cNvSpPr/>
          <p:nvPr/>
        </p:nvSpPr>
        <p:spPr>
          <a:xfrm>
            <a:off x="640080" y="1828800"/>
            <a:ext cx="1004240" cy="1188720"/>
          </a:xfrm>
          <a:prstGeom prst="roundRect">
            <a:avLst>
              <a:gd name="adj" fmla="val 14569"/>
            </a:avLst>
          </a:prstGeom>
          <a:solidFill>
            <a:srgbClr val="00923A"/>
          </a:solidFill>
          <a:ln w="12700">
            <a:solidFill>
              <a:srgbClr val="00923A"/>
            </a:solidFill>
            <a:prstDash val="solid"/>
          </a:ln>
        </p:spPr>
      </p:sp>
      <p:sp>
        <p:nvSpPr>
          <p:cNvPr id="9" name="cnt0"/>
          <p:cNvSpPr txBox="1"/>
          <p:nvPr/>
        </p:nvSpPr>
        <p:spPr>
          <a:xfrm>
            <a:off x="640080" y="1828800"/>
            <a:ext cx="1004240" cy="1188720"/>
          </a:xfrm>
          <a:prstGeom prst="rect">
            <a:avLst/>
          </a:prstGeom>
          <a:noFill/>
          <a:ln/>
        </p:spPr>
        <p:txBody>
          <a:bodyPr wrap="square" lIns="0" tIns="0" rIns="0" bIns="0" rtlCol="0" anchor="ctr"/>
          <a:lstStyle/>
          <a:p>
            <a:pPr algn="ctr" indent="0" marL="0">
              <a:buNone/>
            </a:pPr>
            <a:r>
              <a:rPr lang="fr-FR" altLang="en-US" sz="3400" b="1" dirty="0">
                <a:solidFill>
                  <a:srgbClr val="FFFFFF"/>
                </a:solidFill>
                <a:latin typeface="Calibri" pitchFamily="34" charset="0"/>
                <a:ea typeface="Calibri" pitchFamily="34" charset="-122"/>
                <a:cs typeface="Calibri" pitchFamily="34" charset="-120"/>
              </a:rPr>
              <a:t>01</a:t>
            </a:r>
            <a:endParaRPr lang="fr-FR" sz="3400" dirty="0"/>
          </a:p>
        </p:txBody>
      </p:sp>
      <p:sp>
        <p:nvSpPr>
          <p:cNvPr id="10" name="ct0"/>
          <p:cNvSpPr txBox="1"/>
          <p:nvPr/>
        </p:nvSpPr>
        <p:spPr>
          <a:xfrm>
            <a:off x="1862633" y="2029968"/>
            <a:ext cx="5152187" cy="82296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Un circuit fiable</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Étapes claires, décharges systématiques, aucune perte constatée.</a:t>
            </a:r>
            <a:endParaRPr lang="fr-FR" sz="2000" dirty="0"/>
          </a:p>
        </p:txBody>
      </p:sp>
      <p:sp>
        <p:nvSpPr>
          <p:cNvPr id="11" name="cb1"/>
          <p:cNvSpPr/>
          <p:nvPr/>
        </p:nvSpPr>
        <p:spPr>
          <a:xfrm>
            <a:off x="1731645" y="3200400"/>
            <a:ext cx="5763463" cy="1097280"/>
          </a:xfrm>
          <a:prstGeom prst="roundRect">
            <a:avLst>
              <a:gd name="adj" fmla="val 11667"/>
            </a:avLst>
          </a:prstGeom>
          <a:solidFill>
            <a:srgbClr val="FFF8E1"/>
          </a:solidFill>
          <a:ln w="15875">
            <a:solidFill>
              <a:srgbClr val="E2A400"/>
            </a:solidFill>
            <a:prstDash val="solid"/>
          </a:ln>
          <a:effectLst>
            <a:outerShdw sx="100000" sy="100000" kx="0" ky="0" algn="bl" rotWithShape="0" blurRad="127000" dist="25400" dir="5400000">
              <a:srgbClr val="0E1C46">
                <a:alpha val="8000"/>
              </a:srgbClr>
            </a:outerShdw>
          </a:effectLst>
        </p:spPr>
      </p:sp>
      <p:sp>
        <p:nvSpPr>
          <p:cNvPr id="12" name="cn1"/>
          <p:cNvSpPr/>
          <p:nvPr/>
        </p:nvSpPr>
        <p:spPr>
          <a:xfrm>
            <a:off x="945718" y="3154680"/>
            <a:ext cx="1004240" cy="1188720"/>
          </a:xfrm>
          <a:prstGeom prst="roundRect">
            <a:avLst>
              <a:gd name="adj" fmla="val 14569"/>
            </a:avLst>
          </a:prstGeom>
          <a:solidFill>
            <a:srgbClr val="E2A400"/>
          </a:solidFill>
          <a:ln w="12700">
            <a:solidFill>
              <a:srgbClr val="E2A400"/>
            </a:solidFill>
            <a:prstDash val="solid"/>
          </a:ln>
        </p:spPr>
      </p:sp>
      <p:sp>
        <p:nvSpPr>
          <p:cNvPr id="13" name="cnt1"/>
          <p:cNvSpPr txBox="1"/>
          <p:nvPr/>
        </p:nvSpPr>
        <p:spPr>
          <a:xfrm>
            <a:off x="945718" y="3154680"/>
            <a:ext cx="1004240" cy="1188720"/>
          </a:xfrm>
          <a:prstGeom prst="rect">
            <a:avLst/>
          </a:prstGeom>
          <a:noFill/>
          <a:ln/>
        </p:spPr>
        <p:txBody>
          <a:bodyPr wrap="square" lIns="0" tIns="0" rIns="0" bIns="0" rtlCol="0" anchor="ctr"/>
          <a:lstStyle/>
          <a:p>
            <a:pPr algn="ctr" indent="0" marL="0">
              <a:buNone/>
            </a:pPr>
            <a:r>
              <a:rPr lang="fr-FR" altLang="en-US" sz="3400" b="1" dirty="0">
                <a:solidFill>
                  <a:srgbClr val="0E1C46"/>
                </a:solidFill>
                <a:latin typeface="Calibri" pitchFamily="34" charset="0"/>
                <a:ea typeface="Calibri" pitchFamily="34" charset="-122"/>
                <a:cs typeface="Calibri" pitchFamily="34" charset="-120"/>
              </a:rPr>
              <a:t>02</a:t>
            </a:r>
            <a:endParaRPr lang="fr-FR" sz="3400" dirty="0"/>
          </a:p>
        </p:txBody>
      </p:sp>
      <p:sp>
        <p:nvSpPr>
          <p:cNvPr id="14" name="ct1"/>
          <p:cNvSpPr txBox="1"/>
          <p:nvPr/>
        </p:nvSpPr>
        <p:spPr>
          <a:xfrm>
            <a:off x="2168271" y="3355848"/>
            <a:ext cx="5152187" cy="82296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Mais lent et fragile</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Dépendance envers quelques responsables, moyens limités, suivi manuel.</a:t>
            </a:r>
            <a:endParaRPr lang="fr-FR" sz="2000" dirty="0"/>
          </a:p>
        </p:txBody>
      </p:sp>
      <p:sp>
        <p:nvSpPr>
          <p:cNvPr id="15" name="cb2"/>
          <p:cNvSpPr/>
          <p:nvPr/>
        </p:nvSpPr>
        <p:spPr>
          <a:xfrm>
            <a:off x="2037283" y="4526280"/>
            <a:ext cx="5763463" cy="1097280"/>
          </a:xfrm>
          <a:prstGeom prst="roundRect">
            <a:avLst>
              <a:gd name="adj" fmla="val 11667"/>
            </a:avLst>
          </a:prstGeom>
          <a:solidFill>
            <a:srgbClr val="EAF0FC"/>
          </a:solidFill>
          <a:ln w="15875">
            <a:solidFill>
              <a:srgbClr val="1B3F9E"/>
            </a:solidFill>
            <a:prstDash val="solid"/>
          </a:ln>
          <a:effectLst>
            <a:outerShdw sx="100000" sy="100000" kx="0" ky="0" algn="bl" rotWithShape="0" blurRad="127000" dist="25400" dir="5400000">
              <a:srgbClr val="0E1C46">
                <a:alpha val="8000"/>
              </a:srgbClr>
            </a:outerShdw>
          </a:effectLst>
        </p:spPr>
      </p:sp>
      <p:sp>
        <p:nvSpPr>
          <p:cNvPr id="16" name="cn2"/>
          <p:cNvSpPr/>
          <p:nvPr/>
        </p:nvSpPr>
        <p:spPr>
          <a:xfrm>
            <a:off x="1251356" y="4480560"/>
            <a:ext cx="1004240" cy="1188720"/>
          </a:xfrm>
          <a:prstGeom prst="roundRect">
            <a:avLst>
              <a:gd name="adj" fmla="val 14569"/>
            </a:avLst>
          </a:prstGeom>
          <a:solidFill>
            <a:srgbClr val="1B3F9E"/>
          </a:solidFill>
          <a:ln w="12700">
            <a:solidFill>
              <a:srgbClr val="1B3F9E"/>
            </a:solidFill>
            <a:prstDash val="solid"/>
          </a:ln>
        </p:spPr>
      </p:sp>
      <p:sp>
        <p:nvSpPr>
          <p:cNvPr id="17" name="cnt2"/>
          <p:cNvSpPr txBox="1"/>
          <p:nvPr/>
        </p:nvSpPr>
        <p:spPr>
          <a:xfrm>
            <a:off x="1251356" y="4480560"/>
            <a:ext cx="1004240" cy="1188720"/>
          </a:xfrm>
          <a:prstGeom prst="rect">
            <a:avLst/>
          </a:prstGeom>
          <a:noFill/>
          <a:ln/>
        </p:spPr>
        <p:txBody>
          <a:bodyPr wrap="square" lIns="0" tIns="0" rIns="0" bIns="0" rtlCol="0" anchor="ctr"/>
          <a:lstStyle/>
          <a:p>
            <a:pPr algn="ctr" indent="0" marL="0">
              <a:buNone/>
            </a:pPr>
            <a:r>
              <a:rPr lang="fr-FR" altLang="en-US" sz="3400" b="1" dirty="0">
                <a:solidFill>
                  <a:srgbClr val="FFFFFF"/>
                </a:solidFill>
                <a:latin typeface="Calibri" pitchFamily="34" charset="0"/>
                <a:ea typeface="Calibri" pitchFamily="34" charset="-122"/>
                <a:cs typeface="Calibri" pitchFamily="34" charset="-120"/>
              </a:rPr>
              <a:t>03</a:t>
            </a:r>
            <a:endParaRPr lang="fr-FR" sz="3400" dirty="0"/>
          </a:p>
        </p:txBody>
      </p:sp>
      <p:sp>
        <p:nvSpPr>
          <p:cNvPr id="18" name="ct2"/>
          <p:cNvSpPr txBox="1"/>
          <p:nvPr/>
        </p:nvSpPr>
        <p:spPr>
          <a:xfrm>
            <a:off x="2473909" y="4681728"/>
            <a:ext cx="5152187" cy="82296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Une voie claire</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Registre numérique, procédures écrites, puis GED : progressif et peu coûteux.</a:t>
            </a:r>
            <a:endParaRPr lang="fr-FR" sz="2000" dirty="0"/>
          </a:p>
        </p:txBody>
      </p:sp>
      <p:sp>
        <p:nvSpPr>
          <p:cNvPr id="19" name="!!photo"/>
          <p:cNvSpPr/>
          <p:nvPr/>
        </p:nvSpPr>
        <p:spPr>
          <a:xfrm>
            <a:off x="7844409" y="1463040"/>
            <a:ext cx="2881732" cy="3017520"/>
          </a:xfrm>
          <a:prstGeom prst="ellipse">
            <a:avLst/>
          </a:prstGeom>
          <a:solidFill>
            <a:srgbClr val="FFFFFF"/>
          </a:solidFill>
          <a:ln w="12700">
            <a:solidFill>
              <a:srgbClr val="FFFFFF"/>
            </a:solidFill>
            <a:prstDash val="solid"/>
          </a:ln>
          <a:effectLst>
            <a:outerShdw sx="100000" sy="100000" kx="0" ky="0" algn="bl" rotWithShape="0" blurRad="228600" dist="50800" dir="5400000">
              <a:srgbClr val="0E1C46">
                <a:alpha val="22000"/>
              </a:srgbClr>
            </a:outerShdw>
          </a:effectLst>
        </p:spPr>
      </p:sp>
      <p:sp>
        <p:nvSpPr>
          <p:cNvPr id="20" name="!!photoring"/>
          <p:cNvSpPr/>
          <p:nvPr/>
        </p:nvSpPr>
        <p:spPr>
          <a:xfrm>
            <a:off x="8074948" y="1704442"/>
            <a:ext cx="2420655" cy="2534717"/>
          </a:xfrm>
          <a:prstGeom prst="ellipse">
            <a:avLst/>
          </a:prstGeom>
          <a:solidFill>
            <a:srgbClr val="FFFFFF">
              <a:alpha val="0"/>
            </a:srgbClr>
          </a:solidFill>
          <a:ln w="38100">
            <a:solidFill>
              <a:srgbClr val="00923A"/>
            </a:solidFill>
            <a:prstDash val="solid"/>
          </a:ln>
        </p:spPr>
      </p:sp>
      <p:pic>
        <p:nvPicPr>
          <p:cNvPr id="21" name="!!photoi" descr="preencoded.png">    </p:cNvPr>
          <p:cNvPicPr>
            <a:picLocks noChangeAspect="1"/>
          </p:cNvPicPr>
          <p:nvPr/>
        </p:nvPicPr>
        <p:blipFill>
          <a:blip r:embed="rId1"/>
          <a:stretch>
            <a:fillRect/>
          </a:stretch>
        </p:blipFill>
        <p:spPr>
          <a:xfrm>
            <a:off x="8680111" y="2338121"/>
            <a:ext cx="1210327" cy="1267358"/>
          </a:xfrm>
          <a:prstGeom prst="rect">
            <a:avLst/>
          </a:prstGeom>
        </p:spPr>
      </p:pic>
      <p:pic>
        <p:nvPicPr>
          <p:cNvPr id="22" name="!!flogo" descr="preencoded.png">    </p:cNvPr>
          <p:cNvPicPr>
            <a:picLocks noChangeAspect="1"/>
          </p:cNvPicPr>
          <p:nvPr/>
        </p:nvPicPr>
        <p:blipFill>
          <a:blip r:embed="rId2"/>
          <a:stretch>
            <a:fillRect/>
          </a:stretch>
        </p:blipFill>
        <p:spPr>
          <a:xfrm>
            <a:off x="640080" y="6382512"/>
            <a:ext cx="329184" cy="274320"/>
          </a:xfrm>
          <a:prstGeom prst="rect">
            <a:avLst/>
          </a:prstGeom>
        </p:spPr>
      </p:pic>
      <p:sp>
        <p:nvSpPr>
          <p:cNvPr id="23" name="!!ftext"/>
          <p:cNvSpPr txBox="1"/>
          <p:nvPr/>
        </p:nvSpPr>
        <p:spPr>
          <a:xfrm>
            <a:off x="1051560" y="6400800"/>
            <a:ext cx="64008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Mairie de Doumassessé · Gestion du courrier administratif</a:t>
            </a:r>
            <a:endParaRPr lang="fr-FR" sz="1000" dirty="0"/>
          </a:p>
        </p:txBody>
      </p:sp>
      <p:sp>
        <p:nvSpPr>
          <p:cNvPr id="24" name="!!fnum"/>
          <p:cNvSpPr txBox="1"/>
          <p:nvPr/>
        </p:nvSpPr>
        <p:spPr>
          <a:xfrm>
            <a:off x="10241280" y="6400800"/>
            <a:ext cx="100584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21 / 22</a:t>
            </a:r>
            <a:endParaRPr lang="fr-FR" sz="1000" dirty="0"/>
          </a:p>
        </p:txBody>
      </p:sp>
      <p:sp>
        <p:nvSpPr>
          <p:cNvPr id="25" name="!!railbg"/>
          <p:cNvSpPr/>
          <p:nvPr/>
        </p:nvSpPr>
        <p:spPr>
          <a:xfrm>
            <a:off x="11521440" y="1280160"/>
            <a:ext cx="548640" cy="4023360"/>
          </a:xfrm>
          <a:prstGeom prst="roundRect">
            <a:avLst>
              <a:gd name="adj" fmla="val 50000"/>
            </a:avLst>
          </a:prstGeom>
          <a:solidFill>
            <a:srgbClr val="FFFFFF"/>
          </a:solidFill>
          <a:ln w="12700">
            <a:solidFill>
              <a:srgbClr val="DDE3EE"/>
            </a:solidFill>
            <a:prstDash val="solid"/>
          </a:ln>
          <a:effectLst>
            <a:outerShdw sx="100000" sy="100000" kx="0" ky="0" algn="bl" rotWithShape="0" blurRad="127000" dist="25400" dir="5400000">
              <a:srgbClr val="0E1C46">
                <a:alpha val="12000"/>
              </a:srgbClr>
            </a:outerShdw>
          </a:effectLst>
        </p:spPr>
      </p:sp>
      <p:sp>
        <p:nvSpPr>
          <p:cNvPr id="26" name="!!railline"/>
          <p:cNvSpPr/>
          <p:nvPr/>
        </p:nvSpPr>
        <p:spPr>
          <a:xfrm>
            <a:off x="11795760" y="1600200"/>
            <a:ext cx="914" cy="3383280"/>
          </a:xfrm>
          <a:prstGeom prst="line">
            <a:avLst/>
          </a:prstGeom>
          <a:noFill/>
          <a:ln w="25400">
            <a:solidFill>
              <a:srgbClr val="DDE3EE"/>
            </a:solidFill>
            <a:prstDash val="solid"/>
          </a:ln>
        </p:spPr>
      </p:sp>
      <p:sp>
        <p:nvSpPr>
          <p:cNvPr id="27" name="!!railprog"/>
          <p:cNvSpPr/>
          <p:nvPr/>
        </p:nvSpPr>
        <p:spPr>
          <a:xfrm>
            <a:off x="11795760" y="1600200"/>
            <a:ext cx="914" cy="3383280"/>
          </a:xfrm>
          <a:prstGeom prst="line">
            <a:avLst/>
          </a:prstGeom>
          <a:noFill/>
          <a:ln w="38100">
            <a:solidFill>
              <a:srgbClr val="00923A"/>
            </a:solidFill>
            <a:prstDash val="solid"/>
          </a:ln>
        </p:spPr>
      </p:sp>
      <p:sp>
        <p:nvSpPr>
          <p:cNvPr id="28" name="!!mact"/>
          <p:cNvSpPr/>
          <p:nvPr/>
        </p:nvSpPr>
        <p:spPr>
          <a:xfrm>
            <a:off x="11494008" y="4681728"/>
            <a:ext cx="603504" cy="603504"/>
          </a:xfrm>
          <a:prstGeom prst="ellipse">
            <a:avLst/>
          </a:prstGeom>
          <a:solidFill>
            <a:srgbClr val="FFFFFF">
              <a:alpha val="0"/>
            </a:srgbClr>
          </a:solidFill>
          <a:ln w="38100">
            <a:solidFill>
              <a:srgbClr val="FCC600"/>
            </a:solidFill>
            <a:prstDash val="solid"/>
          </a:ln>
        </p:spPr>
      </p:sp>
      <p:sp>
        <p:nvSpPr>
          <p:cNvPr id="29" name="!!m1"/>
          <p:cNvSpPr/>
          <p:nvPr/>
        </p:nvSpPr>
        <p:spPr>
          <a:xfrm>
            <a:off x="11594592" y="1399032"/>
            <a:ext cx="402336" cy="402336"/>
          </a:xfrm>
          <a:prstGeom prst="ellipse">
            <a:avLst/>
          </a:prstGeom>
          <a:solidFill>
            <a:srgbClr val="00923A"/>
          </a:solidFill>
          <a:ln w="19050">
            <a:solidFill>
              <a:srgbClr val="00923A"/>
            </a:solidFill>
            <a:prstDash val="solid"/>
          </a:ln>
        </p:spPr>
      </p:sp>
      <p:sp>
        <p:nvSpPr>
          <p:cNvPr id="30" name="!!mt1">
            <a:hlinkClick r:id="rId3" tooltip="Introduction" action="ppaction://hlinksldjump"/>
          </p:cNvPr>
          <p:cNvSpPr txBox="1"/>
          <p:nvPr/>
        </p:nvSpPr>
        <p:spPr>
          <a:xfrm>
            <a:off x="11594592" y="139903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3" action="ppaction://hlinksldjump" tooltip="Introduction">
                  <a:extLst>
                    <a:ext uri="{A12FA001-AC4F-418D-AE19-62706E023703}">
                      <ahyp:hlinkClr xmlns:ahyp="http://schemas.microsoft.com/office/drawing/2018/hyperlinkcolor" val="tx"/>
                    </a:ext>
                  </a:extLst>
                </a:hlinkClick>
              </a:rPr>
              <a:t>1</a:t>
            </a:r>
            <a:endParaRPr lang="en-US" sz="1300" dirty="0"/>
          </a:p>
        </p:txBody>
      </p:sp>
      <p:sp>
        <p:nvSpPr>
          <p:cNvPr id="31" name="!!m2"/>
          <p:cNvSpPr/>
          <p:nvPr/>
        </p:nvSpPr>
        <p:spPr>
          <a:xfrm>
            <a:off x="11594592" y="2075688"/>
            <a:ext cx="402336" cy="402336"/>
          </a:xfrm>
          <a:prstGeom prst="ellipse">
            <a:avLst/>
          </a:prstGeom>
          <a:solidFill>
            <a:srgbClr val="00923A"/>
          </a:solidFill>
          <a:ln w="19050">
            <a:solidFill>
              <a:srgbClr val="00923A"/>
            </a:solidFill>
            <a:prstDash val="solid"/>
          </a:ln>
        </p:spPr>
      </p:sp>
      <p:sp>
        <p:nvSpPr>
          <p:cNvPr id="32" name="!!mt2">
            <a:hlinkClick r:id="rId4" tooltip="Structure d’accueil" action="ppaction://hlinksldjump"/>
          </p:cNvPr>
          <p:cNvSpPr txBox="1"/>
          <p:nvPr/>
        </p:nvSpPr>
        <p:spPr>
          <a:xfrm>
            <a:off x="11594592" y="2075688"/>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4" action="ppaction://hlinksldjump" tooltip="Structure d’accueil">
                  <a:extLst>
                    <a:ext uri="{A12FA001-AC4F-418D-AE19-62706E023703}">
                      <ahyp:hlinkClr xmlns:ahyp="http://schemas.microsoft.com/office/drawing/2018/hyperlinkcolor" val="tx"/>
                    </a:ext>
                  </a:extLst>
                </a:hlinkClick>
              </a:rPr>
              <a:t>2</a:t>
            </a:r>
            <a:endParaRPr lang="en-US" sz="1300" dirty="0"/>
          </a:p>
        </p:txBody>
      </p:sp>
      <p:sp>
        <p:nvSpPr>
          <p:cNvPr id="33" name="!!m3"/>
          <p:cNvSpPr/>
          <p:nvPr/>
        </p:nvSpPr>
        <p:spPr>
          <a:xfrm>
            <a:off x="11594592" y="2752344"/>
            <a:ext cx="402336" cy="402336"/>
          </a:xfrm>
          <a:prstGeom prst="ellipse">
            <a:avLst/>
          </a:prstGeom>
          <a:solidFill>
            <a:srgbClr val="00923A"/>
          </a:solidFill>
          <a:ln w="19050">
            <a:solidFill>
              <a:srgbClr val="00923A"/>
            </a:solidFill>
            <a:prstDash val="solid"/>
          </a:ln>
        </p:spPr>
      </p:sp>
      <p:sp>
        <p:nvSpPr>
          <p:cNvPr id="34" name="!!mt3">
            <a:hlinkClick r:id="rId5" tooltip="Travaux effectués" action="ppaction://hlinksldjump"/>
          </p:cNvPr>
          <p:cNvSpPr txBox="1"/>
          <p:nvPr/>
        </p:nvSpPr>
        <p:spPr>
          <a:xfrm>
            <a:off x="11594592" y="2752344"/>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5" action="ppaction://hlinksldjump" tooltip="Travaux effectués">
                  <a:extLst>
                    <a:ext uri="{A12FA001-AC4F-418D-AE19-62706E023703}">
                      <ahyp:hlinkClr xmlns:ahyp="http://schemas.microsoft.com/office/drawing/2018/hyperlinkcolor" val="tx"/>
                    </a:ext>
                  </a:extLst>
                </a:hlinkClick>
              </a:rPr>
              <a:t>3</a:t>
            </a:r>
            <a:endParaRPr lang="en-US" sz="1300" dirty="0"/>
          </a:p>
        </p:txBody>
      </p:sp>
      <p:sp>
        <p:nvSpPr>
          <p:cNvPr id="35" name="!!m4"/>
          <p:cNvSpPr/>
          <p:nvPr/>
        </p:nvSpPr>
        <p:spPr>
          <a:xfrm>
            <a:off x="11594592" y="3429000"/>
            <a:ext cx="402336" cy="402336"/>
          </a:xfrm>
          <a:prstGeom prst="ellipse">
            <a:avLst/>
          </a:prstGeom>
          <a:solidFill>
            <a:srgbClr val="00923A"/>
          </a:solidFill>
          <a:ln w="19050">
            <a:solidFill>
              <a:srgbClr val="00923A"/>
            </a:solidFill>
            <a:prstDash val="solid"/>
          </a:ln>
        </p:spPr>
      </p:sp>
      <p:sp>
        <p:nvSpPr>
          <p:cNvPr id="36" name="!!mt4">
            <a:hlinkClick r:id="rId6" tooltip="Objet d’étude" action="ppaction://hlinksldjump"/>
          </p:cNvPr>
          <p:cNvSpPr txBox="1"/>
          <p:nvPr/>
        </p:nvSpPr>
        <p:spPr>
          <a:xfrm>
            <a:off x="11594592" y="3429000"/>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6" action="ppaction://hlinksldjump" tooltip="Objet d’étude">
                  <a:extLst>
                    <a:ext uri="{A12FA001-AC4F-418D-AE19-62706E023703}">
                      <ahyp:hlinkClr xmlns:ahyp="http://schemas.microsoft.com/office/drawing/2018/hyperlinkcolor" val="tx"/>
                    </a:ext>
                  </a:extLst>
                </a:hlinkClick>
              </a:rPr>
              <a:t>4</a:t>
            </a:r>
            <a:endParaRPr lang="en-US" sz="1300" dirty="0"/>
          </a:p>
        </p:txBody>
      </p:sp>
      <p:sp>
        <p:nvSpPr>
          <p:cNvPr id="37" name="!!m5"/>
          <p:cNvSpPr/>
          <p:nvPr/>
        </p:nvSpPr>
        <p:spPr>
          <a:xfrm>
            <a:off x="11594592" y="4105656"/>
            <a:ext cx="402336" cy="402336"/>
          </a:xfrm>
          <a:prstGeom prst="ellipse">
            <a:avLst/>
          </a:prstGeom>
          <a:solidFill>
            <a:srgbClr val="00923A"/>
          </a:solidFill>
          <a:ln w="19050">
            <a:solidFill>
              <a:srgbClr val="00923A"/>
            </a:solidFill>
            <a:prstDash val="solid"/>
          </a:ln>
        </p:spPr>
      </p:sp>
      <p:sp>
        <p:nvSpPr>
          <p:cNvPr id="38" name="!!mt5">
            <a:hlinkClick r:id="rId7" tooltip="Résultats" action="ppaction://hlinksldjump"/>
          </p:cNvPr>
          <p:cNvSpPr txBox="1"/>
          <p:nvPr/>
        </p:nvSpPr>
        <p:spPr>
          <a:xfrm>
            <a:off x="11594592" y="4105656"/>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7" action="ppaction://hlinksldjump" tooltip="Résultats">
                  <a:extLst>
                    <a:ext uri="{A12FA001-AC4F-418D-AE19-62706E023703}">
                      <ahyp:hlinkClr xmlns:ahyp="http://schemas.microsoft.com/office/drawing/2018/hyperlinkcolor" val="tx"/>
                    </a:ext>
                  </a:extLst>
                </a:hlinkClick>
              </a:rPr>
              <a:t>5</a:t>
            </a:r>
            <a:endParaRPr lang="en-US" sz="1300" dirty="0"/>
          </a:p>
        </p:txBody>
      </p:sp>
      <p:sp>
        <p:nvSpPr>
          <p:cNvPr id="39" name="!!m6"/>
          <p:cNvSpPr/>
          <p:nvPr/>
        </p:nvSpPr>
        <p:spPr>
          <a:xfrm>
            <a:off x="11594592" y="4782312"/>
            <a:ext cx="402336" cy="402336"/>
          </a:xfrm>
          <a:prstGeom prst="ellipse">
            <a:avLst/>
          </a:prstGeom>
          <a:solidFill>
            <a:srgbClr val="1B3F9E"/>
          </a:solidFill>
          <a:ln w="19050">
            <a:solidFill>
              <a:srgbClr val="1B3F9E"/>
            </a:solidFill>
            <a:prstDash val="solid"/>
          </a:ln>
        </p:spPr>
      </p:sp>
      <p:sp>
        <p:nvSpPr>
          <p:cNvPr id="40" name="!!mt6">
            <a:hlinkClick r:id="rId8" tooltip="Solutions et conclusion" action="ppaction://hlinksldjump"/>
          </p:cNvPr>
          <p:cNvSpPr txBox="1"/>
          <p:nvPr/>
        </p:nvSpPr>
        <p:spPr>
          <a:xfrm>
            <a:off x="11594592" y="4782312"/>
            <a:ext cx="402336" cy="402336"/>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8" action="ppaction://hlinksldjump" tooltip="Solutions et conclusion">
                  <a:extLst>
                    <a:ext uri="{A12FA001-AC4F-418D-AE19-62706E023703}">
                      <ahyp:hlinkClr xmlns:ahyp="http://schemas.microsoft.com/office/drawing/2018/hyperlinkcolor" val="tx"/>
                    </a:ext>
                  </a:extLst>
                </a:hlinkClick>
              </a:rPr>
              <a:t>6</a:t>
            </a:r>
            <a:endParaRPr lang="en-US" sz="1300" dirty="0"/>
          </a:p>
        </p:txBody>
      </p:sp>
      <p:sp>
        <p:nvSpPr>
          <p:cNvPr id="41" name="!!mlabel"/>
          <p:cNvSpPr txBox="1"/>
          <p:nvPr/>
        </p:nvSpPr>
        <p:spPr>
          <a:xfrm>
            <a:off x="11567160" y="5440680"/>
            <a:ext cx="457200" cy="1188720"/>
          </a:xfrm>
          <a:prstGeom prst="rect">
            <a:avLst/>
          </a:prstGeom>
          <a:noFill/>
          <a:ln/>
        </p:spPr>
        <p:txBody>
          <a:bodyPr wrap="square" lIns="0" tIns="0" rIns="0" bIns="0" rtlCol="0" anchor="t" vert="vert270"/>
          <a:lstStyle/>
          <a:p>
            <a:pPr algn="ctr" indent="0" marL="0">
              <a:buNone/>
            </a:pPr>
            <a:r>
              <a:rPr lang="en-US" sz="900" b="1" dirty="0">
                <a:solidFill>
                  <a:srgbClr val="1B3F9E"/>
                </a:solidFill>
                <a:latin typeface="Calibri" pitchFamily="34" charset="0"/>
                <a:ea typeface="Calibri" pitchFamily="34" charset="-122"/>
                <a:cs typeface="Calibri" pitchFamily="34" charset="-120"/>
              </a:rPr>
              <a:t>SOLUTIONS ET CONCLUSION</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00"/>
                                        <p:tgtEl>
                                          <p:spTgt spid="6"/>
                                        </p:tgtEl>
                                      </p:cBhvr>
                                    </p:animEffect>
                                  </p:childTnLst>
                                </p:cTn>
                              </p:par>
                              <p:par>
                                <p:cTn id="11" presetID="53" presetClass="entr" presetSubtype="16" fill="hold" grpId="0" nodeType="withEffect">
                                  <p:stCondLst>
                                    <p:cond delay="250"/>
                                  </p:stCondLst>
                                  <p:childTnLst>
                                    <p:set>
                                      <p:cBhvr>
                                        <p:cTn id="12" dur="1" fill="hold">
                                          <p:stCondLst>
                                            <p:cond delay="0"/>
                                          </p:stCondLst>
                                        </p:cTn>
                                        <p:tgtEl>
                                          <p:spTgt spid="8"/>
                                        </p:tgtEl>
                                        <p:attrNameLst>
                                          <p:attrName>style.visibility</p:attrName>
                                        </p:attrNameLst>
                                      </p:cBhvr>
                                      <p:to>
                                        <p:strVal val="visible"/>
                                      </p:to>
                                    </p:set>
                                    <p:anim calcmode="lin" valueType="num">
                                      <p:cBhvr>
                                        <p:cTn id="13" dur="600" fill="hold"/>
                                        <p:tgtEl>
                                          <p:spTgt spid="8"/>
                                        </p:tgtEl>
                                        <p:attrNameLst>
                                          <p:attrName>ppt_w</p:attrName>
                                        </p:attrNameLst>
                                      </p:cBhvr>
                                      <p:tavLst>
                                        <p:tav tm="0">
                                          <p:val>
                                            <p:fltVal val="0"/>
                                          </p:val>
                                        </p:tav>
                                        <p:tav tm="100000">
                                          <p:val>
                                            <p:strVal val="#ppt_w"/>
                                          </p:val>
                                        </p:tav>
                                      </p:tavLst>
                                    </p:anim>
                                    <p:anim calcmode="lin" valueType="num">
                                      <p:cBhvr>
                                        <p:cTn id="14" dur="600" fill="hold"/>
                                        <p:tgtEl>
                                          <p:spTgt spid="8"/>
                                        </p:tgtEl>
                                        <p:attrNameLst>
                                          <p:attrName>ppt_h</p:attrName>
                                        </p:attrNameLst>
                                      </p:cBhvr>
                                      <p:tavLst>
                                        <p:tav tm="0">
                                          <p:val>
                                            <p:fltVal val="0"/>
                                          </p:val>
                                        </p:tav>
                                        <p:tav tm="100000">
                                          <p:val>
                                            <p:strVal val="#ppt_h"/>
                                          </p:val>
                                        </p:tav>
                                      </p:tavLst>
                                    </p:anim>
                                    <p:animEffect transition="in" filter="fade">
                                      <p:cBhvr>
                                        <p:cTn id="15" dur="600"/>
                                        <p:tgtEl>
                                          <p:spTgt spid="8"/>
                                        </p:tgtEl>
                                      </p:cBhvr>
                                    </p:animEffect>
                                  </p:childTnLst>
                                </p:cTn>
                              </p:par>
                              <p:par>
                                <p:cTn id="16" presetID="53" presetClass="entr" presetSubtype="16" fill="hold" grpId="0" nodeType="withEffect">
                                  <p:stCondLst>
                                    <p:cond delay="250"/>
                                  </p:stCondLst>
                                  <p:childTnLst>
                                    <p:set>
                                      <p:cBhvr>
                                        <p:cTn id="17" dur="1" fill="hold">
                                          <p:stCondLst>
                                            <p:cond delay="0"/>
                                          </p:stCondLst>
                                        </p:cTn>
                                        <p:tgtEl>
                                          <p:spTgt spid="9"/>
                                        </p:tgtEl>
                                        <p:attrNameLst>
                                          <p:attrName>style.visibility</p:attrName>
                                        </p:attrNameLst>
                                      </p:cBhvr>
                                      <p:to>
                                        <p:strVal val="visible"/>
                                      </p:to>
                                    </p:set>
                                    <p:anim calcmode="lin" valueType="num">
                                      <p:cBhvr>
                                        <p:cTn id="18" dur="600" fill="hold"/>
                                        <p:tgtEl>
                                          <p:spTgt spid="9"/>
                                        </p:tgtEl>
                                        <p:attrNameLst>
                                          <p:attrName>ppt_w</p:attrName>
                                        </p:attrNameLst>
                                      </p:cBhvr>
                                      <p:tavLst>
                                        <p:tav tm="0">
                                          <p:val>
                                            <p:fltVal val="0"/>
                                          </p:val>
                                        </p:tav>
                                        <p:tav tm="100000">
                                          <p:val>
                                            <p:strVal val="#ppt_w"/>
                                          </p:val>
                                        </p:tav>
                                      </p:tavLst>
                                    </p:anim>
                                    <p:anim calcmode="lin" valueType="num">
                                      <p:cBhvr>
                                        <p:cTn id="19" dur="600" fill="hold"/>
                                        <p:tgtEl>
                                          <p:spTgt spid="9"/>
                                        </p:tgtEl>
                                        <p:attrNameLst>
                                          <p:attrName>ppt_h</p:attrName>
                                        </p:attrNameLst>
                                      </p:cBhvr>
                                      <p:tavLst>
                                        <p:tav tm="0">
                                          <p:val>
                                            <p:fltVal val="0"/>
                                          </p:val>
                                        </p:tav>
                                        <p:tav tm="100000">
                                          <p:val>
                                            <p:strVal val="#ppt_h"/>
                                          </p:val>
                                        </p:tav>
                                      </p:tavLst>
                                    </p:anim>
                                    <p:animEffect transition="in" filter="fade">
                                      <p:cBhvr>
                                        <p:cTn id="20" dur="600"/>
                                        <p:tgtEl>
                                          <p:spTgt spid="9"/>
                                        </p:tgtEl>
                                      </p:cBhvr>
                                    </p:animEffect>
                                  </p:childTnLst>
                                </p:cTn>
                              </p:par>
                              <p:par>
                                <p:cTn id="21" presetID="22" presetClass="entr" presetSubtype="8" fill="hold" grpId="0" nodeType="withEffect">
                                  <p:stCondLst>
                                    <p:cond delay="45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600"/>
                                        <p:tgtEl>
                                          <p:spTgt spid="7"/>
                                        </p:tgtEl>
                                      </p:cBhvr>
                                    </p:animEffect>
                                  </p:childTnLst>
                                </p:cTn>
                              </p:par>
                              <p:par>
                                <p:cTn id="24" presetID="10" presetClass="entr" presetSubtype="0" fill="hold" grpId="0" nodeType="withEffect">
                                  <p:stCondLst>
                                    <p:cond delay="55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p:tgtEl>
                                          <p:spTgt spid="10"/>
                                        </p:tgtEl>
                                      </p:cBhvr>
                                    </p:animEffect>
                                  </p:childTnLst>
                                </p:cTn>
                              </p:par>
                              <p:par>
                                <p:cTn id="27" presetID="53" presetClass="entr" presetSubtype="16" fill="hold" grpId="0" nodeType="withEffect">
                                  <p:stCondLst>
                                    <p:cond delay="850"/>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p:tgtEl>
                                          <p:spTgt spid="12"/>
                                        </p:tgtEl>
                                        <p:attrNameLst>
                                          <p:attrName>ppt_w</p:attrName>
                                        </p:attrNameLst>
                                      </p:cBhvr>
                                      <p:tavLst>
                                        <p:tav tm="0">
                                          <p:val>
                                            <p:fltVal val="0"/>
                                          </p:val>
                                        </p:tav>
                                        <p:tav tm="100000">
                                          <p:val>
                                            <p:strVal val="#ppt_w"/>
                                          </p:val>
                                        </p:tav>
                                      </p:tavLst>
                                    </p:anim>
                                    <p:anim calcmode="lin" valueType="num">
                                      <p:cBhvr>
                                        <p:cTn id="30" dur="600" fill="hold"/>
                                        <p:tgtEl>
                                          <p:spTgt spid="12"/>
                                        </p:tgtEl>
                                        <p:attrNameLst>
                                          <p:attrName>ppt_h</p:attrName>
                                        </p:attrNameLst>
                                      </p:cBhvr>
                                      <p:tavLst>
                                        <p:tav tm="0">
                                          <p:val>
                                            <p:fltVal val="0"/>
                                          </p:val>
                                        </p:tav>
                                        <p:tav tm="100000">
                                          <p:val>
                                            <p:strVal val="#ppt_h"/>
                                          </p:val>
                                        </p:tav>
                                      </p:tavLst>
                                    </p:anim>
                                    <p:animEffect transition="in" filter="fade">
                                      <p:cBhvr>
                                        <p:cTn id="31" dur="600"/>
                                        <p:tgtEl>
                                          <p:spTgt spid="12"/>
                                        </p:tgtEl>
                                      </p:cBhvr>
                                    </p:animEffect>
                                  </p:childTnLst>
                                </p:cTn>
                              </p:par>
                              <p:par>
                                <p:cTn id="32" presetID="53" presetClass="entr" presetSubtype="16" fill="hold" grpId="0" nodeType="withEffect">
                                  <p:stCondLst>
                                    <p:cond delay="850"/>
                                  </p:stCondLst>
                                  <p:childTnLst>
                                    <p:set>
                                      <p:cBhvr>
                                        <p:cTn id="33" dur="1" fill="hold">
                                          <p:stCondLst>
                                            <p:cond delay="0"/>
                                          </p:stCondLst>
                                        </p:cTn>
                                        <p:tgtEl>
                                          <p:spTgt spid="13"/>
                                        </p:tgtEl>
                                        <p:attrNameLst>
                                          <p:attrName>style.visibility</p:attrName>
                                        </p:attrNameLst>
                                      </p:cBhvr>
                                      <p:to>
                                        <p:strVal val="visible"/>
                                      </p:to>
                                    </p:set>
                                    <p:anim calcmode="lin" valueType="num">
                                      <p:cBhvr>
                                        <p:cTn id="34" dur="600" fill="hold"/>
                                        <p:tgtEl>
                                          <p:spTgt spid="13"/>
                                        </p:tgtEl>
                                        <p:attrNameLst>
                                          <p:attrName>ppt_w</p:attrName>
                                        </p:attrNameLst>
                                      </p:cBhvr>
                                      <p:tavLst>
                                        <p:tav tm="0">
                                          <p:val>
                                            <p:fltVal val="0"/>
                                          </p:val>
                                        </p:tav>
                                        <p:tav tm="100000">
                                          <p:val>
                                            <p:strVal val="#ppt_w"/>
                                          </p:val>
                                        </p:tav>
                                      </p:tavLst>
                                    </p:anim>
                                    <p:anim calcmode="lin" valueType="num">
                                      <p:cBhvr>
                                        <p:cTn id="35" dur="600" fill="hold"/>
                                        <p:tgtEl>
                                          <p:spTgt spid="13"/>
                                        </p:tgtEl>
                                        <p:attrNameLst>
                                          <p:attrName>ppt_h</p:attrName>
                                        </p:attrNameLst>
                                      </p:cBhvr>
                                      <p:tavLst>
                                        <p:tav tm="0">
                                          <p:val>
                                            <p:fltVal val="0"/>
                                          </p:val>
                                        </p:tav>
                                        <p:tav tm="100000">
                                          <p:val>
                                            <p:strVal val="#ppt_h"/>
                                          </p:val>
                                        </p:tav>
                                      </p:tavLst>
                                    </p:anim>
                                    <p:animEffect transition="in" filter="fade">
                                      <p:cBhvr>
                                        <p:cTn id="36" dur="600"/>
                                        <p:tgtEl>
                                          <p:spTgt spid="13"/>
                                        </p:tgtEl>
                                      </p:cBhvr>
                                    </p:animEffect>
                                  </p:childTnLst>
                                </p:cTn>
                              </p:par>
                              <p:par>
                                <p:cTn id="37" presetID="22" presetClass="entr" presetSubtype="8" fill="hold" grpId="0" nodeType="withEffect">
                                  <p:stCondLst>
                                    <p:cond delay="1050"/>
                                  </p:stCondLst>
                                  <p:childTnLst>
                                    <p:set>
                                      <p:cBhvr>
                                        <p:cTn id="38" dur="1" fill="hold">
                                          <p:stCondLst>
                                            <p:cond delay="0"/>
                                          </p:stCondLst>
                                        </p:cTn>
                                        <p:tgtEl>
                                          <p:spTgt spid="11"/>
                                        </p:tgtEl>
                                        <p:attrNameLst>
                                          <p:attrName>style.visibility</p:attrName>
                                        </p:attrNameLst>
                                      </p:cBhvr>
                                      <p:to>
                                        <p:strVal val="visible"/>
                                      </p:to>
                                    </p:set>
                                    <p:animEffect transition="in" filter="wipe(left)">
                                      <p:cBhvr>
                                        <p:cTn id="39" dur="600"/>
                                        <p:tgtEl>
                                          <p:spTgt spid="11"/>
                                        </p:tgtEl>
                                      </p:cBhvr>
                                    </p:animEffect>
                                  </p:childTnLst>
                                </p:cTn>
                              </p:par>
                              <p:par>
                                <p:cTn id="40" presetID="10" presetClass="entr" presetSubtype="0" fill="hold" grpId="0" nodeType="withEffect">
                                  <p:stCondLst>
                                    <p:cond delay="115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600"/>
                                        <p:tgtEl>
                                          <p:spTgt spid="14"/>
                                        </p:tgtEl>
                                      </p:cBhvr>
                                    </p:animEffect>
                                  </p:childTnLst>
                                </p:cTn>
                              </p:par>
                              <p:par>
                                <p:cTn id="43" presetID="53" presetClass="entr" presetSubtype="16" fill="hold" grpId="0" nodeType="withEffect">
                                  <p:stCondLst>
                                    <p:cond delay="1450"/>
                                  </p:stCondLst>
                                  <p:childTnLst>
                                    <p:set>
                                      <p:cBhvr>
                                        <p:cTn id="44" dur="1" fill="hold">
                                          <p:stCondLst>
                                            <p:cond delay="0"/>
                                          </p:stCondLst>
                                        </p:cTn>
                                        <p:tgtEl>
                                          <p:spTgt spid="16"/>
                                        </p:tgtEl>
                                        <p:attrNameLst>
                                          <p:attrName>style.visibility</p:attrName>
                                        </p:attrNameLst>
                                      </p:cBhvr>
                                      <p:to>
                                        <p:strVal val="visible"/>
                                      </p:to>
                                    </p:set>
                                    <p:anim calcmode="lin" valueType="num">
                                      <p:cBhvr>
                                        <p:cTn id="45" dur="600" fill="hold"/>
                                        <p:tgtEl>
                                          <p:spTgt spid="16"/>
                                        </p:tgtEl>
                                        <p:attrNameLst>
                                          <p:attrName>ppt_w</p:attrName>
                                        </p:attrNameLst>
                                      </p:cBhvr>
                                      <p:tavLst>
                                        <p:tav tm="0">
                                          <p:val>
                                            <p:fltVal val="0"/>
                                          </p:val>
                                        </p:tav>
                                        <p:tav tm="100000">
                                          <p:val>
                                            <p:strVal val="#ppt_w"/>
                                          </p:val>
                                        </p:tav>
                                      </p:tavLst>
                                    </p:anim>
                                    <p:anim calcmode="lin" valueType="num">
                                      <p:cBhvr>
                                        <p:cTn id="46" dur="600" fill="hold"/>
                                        <p:tgtEl>
                                          <p:spTgt spid="16"/>
                                        </p:tgtEl>
                                        <p:attrNameLst>
                                          <p:attrName>ppt_h</p:attrName>
                                        </p:attrNameLst>
                                      </p:cBhvr>
                                      <p:tavLst>
                                        <p:tav tm="0">
                                          <p:val>
                                            <p:fltVal val="0"/>
                                          </p:val>
                                        </p:tav>
                                        <p:tav tm="100000">
                                          <p:val>
                                            <p:strVal val="#ppt_h"/>
                                          </p:val>
                                        </p:tav>
                                      </p:tavLst>
                                    </p:anim>
                                    <p:animEffect transition="in" filter="fade">
                                      <p:cBhvr>
                                        <p:cTn id="47" dur="600"/>
                                        <p:tgtEl>
                                          <p:spTgt spid="16"/>
                                        </p:tgtEl>
                                      </p:cBhvr>
                                    </p:animEffect>
                                  </p:childTnLst>
                                </p:cTn>
                              </p:par>
                              <p:par>
                                <p:cTn id="48" presetID="53" presetClass="entr" presetSubtype="16" fill="hold" grpId="0" nodeType="withEffect">
                                  <p:stCondLst>
                                    <p:cond delay="1450"/>
                                  </p:stCondLst>
                                  <p:childTnLst>
                                    <p:set>
                                      <p:cBhvr>
                                        <p:cTn id="49" dur="1" fill="hold">
                                          <p:stCondLst>
                                            <p:cond delay="0"/>
                                          </p:stCondLst>
                                        </p:cTn>
                                        <p:tgtEl>
                                          <p:spTgt spid="17"/>
                                        </p:tgtEl>
                                        <p:attrNameLst>
                                          <p:attrName>style.visibility</p:attrName>
                                        </p:attrNameLst>
                                      </p:cBhvr>
                                      <p:to>
                                        <p:strVal val="visible"/>
                                      </p:to>
                                    </p:set>
                                    <p:anim calcmode="lin" valueType="num">
                                      <p:cBhvr>
                                        <p:cTn id="50" dur="600" fill="hold"/>
                                        <p:tgtEl>
                                          <p:spTgt spid="17"/>
                                        </p:tgtEl>
                                        <p:attrNameLst>
                                          <p:attrName>ppt_w</p:attrName>
                                        </p:attrNameLst>
                                      </p:cBhvr>
                                      <p:tavLst>
                                        <p:tav tm="0">
                                          <p:val>
                                            <p:fltVal val="0"/>
                                          </p:val>
                                        </p:tav>
                                        <p:tav tm="100000">
                                          <p:val>
                                            <p:strVal val="#ppt_w"/>
                                          </p:val>
                                        </p:tav>
                                      </p:tavLst>
                                    </p:anim>
                                    <p:anim calcmode="lin" valueType="num">
                                      <p:cBhvr>
                                        <p:cTn id="51" dur="600" fill="hold"/>
                                        <p:tgtEl>
                                          <p:spTgt spid="17"/>
                                        </p:tgtEl>
                                        <p:attrNameLst>
                                          <p:attrName>ppt_h</p:attrName>
                                        </p:attrNameLst>
                                      </p:cBhvr>
                                      <p:tavLst>
                                        <p:tav tm="0">
                                          <p:val>
                                            <p:fltVal val="0"/>
                                          </p:val>
                                        </p:tav>
                                        <p:tav tm="100000">
                                          <p:val>
                                            <p:strVal val="#ppt_h"/>
                                          </p:val>
                                        </p:tav>
                                      </p:tavLst>
                                    </p:anim>
                                    <p:animEffect transition="in" filter="fade">
                                      <p:cBhvr>
                                        <p:cTn id="52" dur="600"/>
                                        <p:tgtEl>
                                          <p:spTgt spid="17"/>
                                        </p:tgtEl>
                                      </p:cBhvr>
                                    </p:animEffect>
                                  </p:childTnLst>
                                </p:cTn>
                              </p:par>
                              <p:par>
                                <p:cTn id="53" presetID="22" presetClass="entr" presetSubtype="8" fill="hold" grpId="0" nodeType="withEffect">
                                  <p:stCondLst>
                                    <p:cond delay="1650"/>
                                  </p:stCondLst>
                                  <p:childTnLst>
                                    <p:set>
                                      <p:cBhvr>
                                        <p:cTn id="54" dur="1" fill="hold">
                                          <p:stCondLst>
                                            <p:cond delay="0"/>
                                          </p:stCondLst>
                                        </p:cTn>
                                        <p:tgtEl>
                                          <p:spTgt spid="15"/>
                                        </p:tgtEl>
                                        <p:attrNameLst>
                                          <p:attrName>style.visibility</p:attrName>
                                        </p:attrNameLst>
                                      </p:cBhvr>
                                      <p:to>
                                        <p:strVal val="visible"/>
                                      </p:to>
                                    </p:set>
                                    <p:animEffect transition="in" filter="wipe(left)">
                                      <p:cBhvr>
                                        <p:cTn id="55" dur="600"/>
                                        <p:tgtEl>
                                          <p:spTgt spid="15"/>
                                        </p:tgtEl>
                                      </p:cBhvr>
                                    </p:animEffect>
                                  </p:childTnLst>
                                </p:cTn>
                              </p:par>
                              <p:par>
                                <p:cTn id="56" presetID="10" presetClass="entr" presetSubtype="0" fill="hold" grpId="0" nodeType="withEffect">
                                  <p:stCondLst>
                                    <p:cond delay="17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animBg="1"/>
      <p:bldP spid="10" grpId="0" animBg="1"/>
      <p:bldP spid="13" grpId="0" animBg="1"/>
      <p:bldP spid="14"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orbB"/>
          <p:cNvSpPr/>
          <p:nvPr/>
        </p:nvSpPr>
        <p:spPr>
          <a:xfrm>
            <a:off x="-1645920" y="-1645920"/>
            <a:ext cx="5486400" cy="5486400"/>
          </a:xfrm>
          <a:prstGeom prst="ellipse">
            <a:avLst/>
          </a:prstGeom>
          <a:solidFill>
            <a:srgbClr val="1B3F9E"/>
          </a:solidFill>
          <a:ln w="12700">
            <a:solidFill>
              <a:srgbClr val="1B3F9E"/>
            </a:solidFill>
            <a:prstDash val="solid"/>
          </a:ln>
        </p:spPr>
      </p:sp>
      <p:sp>
        <p:nvSpPr>
          <p:cNvPr id="3" name="!!orbG"/>
          <p:cNvSpPr/>
          <p:nvPr/>
        </p:nvSpPr>
        <p:spPr>
          <a:xfrm>
            <a:off x="9509760" y="3931920"/>
            <a:ext cx="3291840" cy="3291840"/>
          </a:xfrm>
          <a:prstGeom prst="ellipse">
            <a:avLst/>
          </a:prstGeom>
          <a:solidFill>
            <a:srgbClr val="00923A"/>
          </a:solidFill>
          <a:ln w="12700">
            <a:solidFill>
              <a:srgbClr val="00923A"/>
            </a:solidFill>
            <a:prstDash val="solid"/>
          </a:ln>
        </p:spPr>
      </p:sp>
      <p:sp>
        <p:nvSpPr>
          <p:cNvPr id="4" name="!!orbY"/>
          <p:cNvSpPr/>
          <p:nvPr/>
        </p:nvSpPr>
        <p:spPr>
          <a:xfrm>
            <a:off x="8686800" y="548640"/>
            <a:ext cx="1463040" cy="1463040"/>
          </a:xfrm>
          <a:prstGeom prst="ellipse">
            <a:avLst/>
          </a:prstGeom>
          <a:solidFill>
            <a:srgbClr val="FFFFFF">
              <a:alpha val="0"/>
            </a:srgbClr>
          </a:solidFill>
          <a:ln w="121920">
            <a:solidFill>
              <a:srgbClr val="FCC600"/>
            </a:solidFill>
            <a:prstDash val="solid"/>
          </a:ln>
        </p:spPr>
      </p:sp>
      <p:sp>
        <p:nvSpPr>
          <p:cNvPr id="5" name="!!photo"/>
          <p:cNvSpPr/>
          <p:nvPr/>
        </p:nvSpPr>
        <p:spPr>
          <a:xfrm>
            <a:off x="4544568" y="822960"/>
            <a:ext cx="3108960" cy="3108960"/>
          </a:xfrm>
          <a:prstGeom prst="ellipse">
            <a:avLst/>
          </a:prstGeom>
          <a:solidFill>
            <a:srgbClr val="FFFFFF"/>
          </a:solidFill>
          <a:ln w="12700">
            <a:solidFill>
              <a:srgbClr val="FFFFFF"/>
            </a:solidFill>
            <a:prstDash val="solid"/>
          </a:ln>
          <a:effectLst>
            <a:outerShdw sx="100000" sy="100000" kx="0" ky="0" algn="bl" rotWithShape="0" blurRad="228600" dist="50800" dir="5400000">
              <a:srgbClr val="0E1C46">
                <a:alpha val="22000"/>
              </a:srgbClr>
            </a:outerShdw>
          </a:effectLst>
        </p:spPr>
      </p:sp>
      <p:sp>
        <p:nvSpPr>
          <p:cNvPr id="6" name="!!photoring"/>
          <p:cNvSpPr/>
          <p:nvPr/>
        </p:nvSpPr>
        <p:spPr>
          <a:xfrm>
            <a:off x="4793285" y="1071677"/>
            <a:ext cx="2611526" cy="2611526"/>
          </a:xfrm>
          <a:prstGeom prst="ellipse">
            <a:avLst/>
          </a:prstGeom>
          <a:solidFill>
            <a:srgbClr val="FFFFFF">
              <a:alpha val="0"/>
            </a:srgbClr>
          </a:solidFill>
          <a:ln w="38100">
            <a:solidFill>
              <a:srgbClr val="00923A"/>
            </a:solidFill>
            <a:prstDash val="solid"/>
          </a:ln>
        </p:spPr>
      </p:sp>
      <p:pic>
        <p:nvPicPr>
          <p:cNvPr id="7" name="!!photoi" descr="preencoded.png">    </p:cNvPr>
          <p:cNvPicPr>
            <a:picLocks noChangeAspect="1"/>
          </p:cNvPicPr>
          <p:nvPr/>
        </p:nvPicPr>
        <p:blipFill>
          <a:blip r:embed="rId1"/>
          <a:stretch>
            <a:fillRect/>
          </a:stretch>
        </p:blipFill>
        <p:spPr>
          <a:xfrm>
            <a:off x="5446166" y="1724558"/>
            <a:ext cx="1305763" cy="1305763"/>
          </a:xfrm>
          <a:prstGeom prst="rect">
            <a:avLst/>
          </a:prstGeom>
        </p:spPr>
      </p:pic>
      <p:sp>
        <p:nvSpPr>
          <p:cNvPr id="8" name="!!maintitle"/>
          <p:cNvSpPr txBox="1"/>
          <p:nvPr/>
        </p:nvSpPr>
        <p:spPr>
          <a:xfrm>
            <a:off x="1371600" y="4114800"/>
            <a:ext cx="9445752" cy="822960"/>
          </a:xfrm>
          <a:prstGeom prst="rect">
            <a:avLst/>
          </a:prstGeom>
          <a:noFill/>
          <a:ln/>
        </p:spPr>
        <p:txBody>
          <a:bodyPr wrap="square" lIns="0" tIns="0" rIns="0" bIns="0" rtlCol="0" anchor="t"/>
          <a:lstStyle/>
          <a:p>
            <a:pPr algn="ctr" indent="0" marL="0">
              <a:buNone/>
            </a:pPr>
            <a:r>
              <a:rPr lang="fr-FR" altLang="en-US" sz="4000" b="1" dirty="0">
                <a:solidFill>
                  <a:srgbClr val="0E1C46"/>
                </a:solidFill>
                <a:latin typeface="Calibri" pitchFamily="34" charset="0"/>
                <a:ea typeface="Calibri" pitchFamily="34" charset="-122"/>
                <a:cs typeface="Calibri" pitchFamily="34" charset="-120"/>
              </a:rPr>
              <a:t>Merci pour votre attention</a:t>
            </a:r>
            <a:endParaRPr lang="fr-FR" sz="4000" dirty="0"/>
          </a:p>
        </p:txBody>
      </p:sp>
      <p:sp>
        <p:nvSpPr>
          <p:cNvPr id="9" name="thx"/>
          <p:cNvSpPr txBox="1"/>
          <p:nvPr/>
        </p:nvSpPr>
        <p:spPr>
          <a:xfrm>
            <a:off x="1371600" y="4937760"/>
            <a:ext cx="9445752" cy="457200"/>
          </a:xfrm>
          <a:prstGeom prst="rect">
            <a:avLst/>
          </a:prstGeom>
          <a:noFill/>
          <a:ln/>
        </p:spPr>
        <p:txBody>
          <a:bodyPr wrap="square" lIns="0" tIns="0" rIns="0" bIns="0" rtlCol="0" anchor="t"/>
          <a:lstStyle/>
          <a:p>
            <a:pPr algn="ctr" indent="0" marL="0">
              <a:buNone/>
            </a:pPr>
            <a:r>
              <a:rPr lang="fr-FR" altLang="en-US" sz="1800" dirty="0">
                <a:solidFill>
                  <a:srgbClr val="56617C"/>
                </a:solidFill>
                <a:latin typeface="Calibri" pitchFamily="34" charset="0"/>
                <a:ea typeface="Calibri" pitchFamily="34" charset="-122"/>
                <a:cs typeface="Calibri" pitchFamily="34" charset="-120"/>
              </a:rPr>
              <a:t>Je reste à votre disposition pour vos questions et remarques.</a:t>
            </a:r>
            <a:endParaRPr lang="fr-FR" sz="1800" dirty="0"/>
          </a:p>
        </p:txBody>
      </p:sp>
      <p:sp>
        <p:nvSpPr>
          <p:cNvPr id="10" name="sig"/>
          <p:cNvSpPr txBox="1"/>
          <p:nvPr/>
        </p:nvSpPr>
        <p:spPr>
          <a:xfrm>
            <a:off x="1371600" y="5715000"/>
            <a:ext cx="9445752" cy="365760"/>
          </a:xfrm>
          <a:prstGeom prst="rect">
            <a:avLst/>
          </a:prstGeom>
          <a:noFill/>
          <a:ln/>
        </p:spPr>
        <p:txBody>
          <a:bodyPr wrap="square" lIns="0" tIns="0" rIns="0" bIns="0" rtlCol="0" anchor="t"/>
          <a:lstStyle/>
          <a:p>
            <a:pPr algn="ctr" indent="0" marL="0">
              <a:buNone/>
            </a:pPr>
            <a:r>
              <a:rPr lang="fr-FR" altLang="en-US" sz="1300" b="1" dirty="0">
                <a:solidFill>
                  <a:srgbClr val="1B3F9E"/>
                </a:solidFill>
                <a:latin typeface="Calibri" pitchFamily="34" charset="0"/>
                <a:ea typeface="Calibri" pitchFamily="34" charset="-122"/>
                <a:cs typeface="Calibri" pitchFamily="34" charset="-120"/>
              </a:rPr>
              <a:t>TCHAKONDO Aïcha · Université de Kara · 2025-2026</a:t>
            </a:r>
            <a:endParaRPr lang="fr-FR" sz="1300" dirty="0"/>
          </a:p>
        </p:txBody>
      </p:sp>
      <p:pic>
        <p:nvPicPr>
          <p:cNvPr id="11" name="!!logo" descr="preencoded.png">    </p:cNvPr>
          <p:cNvPicPr>
            <a:picLocks noChangeAspect="1"/>
          </p:cNvPicPr>
          <p:nvPr/>
        </p:nvPicPr>
        <p:blipFill>
          <a:blip r:embed="rId2"/>
          <a:stretch>
            <a:fillRect/>
          </a:stretch>
        </p:blipFill>
        <p:spPr>
          <a:xfrm>
            <a:off x="5760720" y="6172200"/>
            <a:ext cx="640080" cy="530352"/>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6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Analyse du système de gestion du courrier administratif – Mairie de Doumassessé</dc:title>
  <dc:subject>PptxGenJS Presentation</dc:subject>
  <dc:creator>TCHAKONDO Aïcha</dc:creator>
  <cp:lastModifiedBy>TCHAKONDO Aïcha</cp:lastModifiedBy>
  <cp:revision>1</cp:revision>
  <dcterms:created xsi:type="dcterms:W3CDTF">2026-10-02T00:02:02Z</dcterms:created>
  <dcterms:modified xsi:type="dcterms:W3CDTF">2026-10-02T00:02:02Z</dcterms:modified>
</cp:coreProperties>
</file>